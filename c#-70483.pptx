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67" r:id="rId5"/>
    <p:sldId id="268" r:id="rId6"/>
    <p:sldId id="269" r:id="rId7"/>
    <p:sldId id="270" r:id="rId8"/>
    <p:sldId id="259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302" r:id="rId40"/>
    <p:sldId id="260" r:id="rId41"/>
    <p:sldId id="303" r:id="rId42"/>
    <p:sldId id="304" r:id="rId43"/>
    <p:sldId id="305" r:id="rId44"/>
    <p:sldId id="306" r:id="rId45"/>
    <p:sldId id="307" r:id="rId46"/>
    <p:sldId id="309" r:id="rId47"/>
    <p:sldId id="308" r:id="rId48"/>
    <p:sldId id="310" r:id="rId49"/>
    <p:sldId id="311" r:id="rId50"/>
    <p:sldId id="312" r:id="rId51"/>
    <p:sldId id="313" r:id="rId52"/>
    <p:sldId id="314" r:id="rId53"/>
    <p:sldId id="316" r:id="rId54"/>
    <p:sldId id="315" r:id="rId55"/>
    <p:sldId id="317" r:id="rId56"/>
    <p:sldId id="318" r:id="rId57"/>
    <p:sldId id="319" r:id="rId58"/>
    <p:sldId id="320" r:id="rId59"/>
    <p:sldId id="323" r:id="rId60"/>
    <p:sldId id="322" r:id="rId61"/>
    <p:sldId id="324" r:id="rId62"/>
    <p:sldId id="321" r:id="rId63"/>
    <p:sldId id="325" r:id="rId64"/>
    <p:sldId id="326" r:id="rId65"/>
    <p:sldId id="327" r:id="rId66"/>
    <p:sldId id="261" r:id="rId67"/>
    <p:sldId id="328" r:id="rId68"/>
    <p:sldId id="329" r:id="rId69"/>
    <p:sldId id="330" r:id="rId70"/>
    <p:sldId id="262" r:id="rId71"/>
    <p:sldId id="263" r:id="rId72"/>
    <p:sldId id="264" r:id="rId73"/>
    <p:sldId id="331" r:id="rId74"/>
    <p:sldId id="332" r:id="rId75"/>
    <p:sldId id="335" r:id="rId76"/>
    <p:sldId id="333" r:id="rId77"/>
    <p:sldId id="337" r:id="rId78"/>
    <p:sldId id="336" r:id="rId79"/>
    <p:sldId id="338" r:id="rId80"/>
    <p:sldId id="339" r:id="rId81"/>
    <p:sldId id="340" r:id="rId82"/>
    <p:sldId id="341" r:id="rId83"/>
    <p:sldId id="265" r:id="rId84"/>
    <p:sldId id="266" r:id="rId8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D8AB8-875A-4462-8D96-94E6206B5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5CFE06-75F4-4FCF-BC4E-7A5C19362B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AA0CE7-1228-4704-98D4-0BDE03443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FEC0B9-48D5-44BD-9B1D-06B713DD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CFBF6B-A5A8-466D-938A-ABAA601D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73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72691-7589-40DE-A480-70E202E8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068164-CA6F-4C9A-ACF3-44C062831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04A94A-CD18-466F-8CE9-9638946BC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9CE24AE-5D35-4356-829E-78C7A13D9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985E8E-F27A-41E1-8ED5-5AE0F1D40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7941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76D828-C6AF-4B5F-97F0-983DB2C5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D1FE00-7AC5-4982-B9CA-61FDAD48C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6C57FE-D57D-451E-A74A-91756370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117ED8-5500-4C53-BFCC-696993F2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99ACA2-9750-4991-928E-1627E663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02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B8715-43DB-40B2-B72D-66D1532BA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6B03F6-9829-4635-AD32-197158908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533B82-AF6F-4F57-90C5-DDB2C1AB8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AD7566-92E0-4108-8275-D39ACE63F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714694-B4F2-4CE5-896E-EE16437F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C0D14B-5514-4703-9D4C-8C9573E99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60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CFFDD0-59E6-4C6E-B79F-7ABA97147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375ECB-5161-4E3F-901B-7D468D3BE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EE3A7A-F5AA-434D-85B2-3A57EC33A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45CA2A-86CD-4F32-9DBE-71F45DB8E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C06D42-A0C3-44E7-8621-B4B22415C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6625CCB-7D23-4ED0-9BCD-9D6FC5FD2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7326C04-ED3E-4A33-91FD-FE1341E2A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E18A88C-3FA1-44E8-8798-61E08B57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68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AD6638-9E58-415D-BFA6-807DF544C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8151DC-6AD8-4659-A681-A3A85B0D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76F8382-BE9D-43D5-AE0C-E1C1722B5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045B52-B1EE-4306-A6BB-FA2999FE7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469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E95275-42DF-4198-AA8C-26F0534D1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1F84286-A0A1-48EA-A75E-DC4C846F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90DC01-7925-4013-A123-5C53C67E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499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63BBE-C585-4DDF-AF0E-BF39833A9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8713B0-8FF8-463B-839F-C8CBD354E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1DD0E1-6B8E-4CA9-8F9B-97DECF31D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347F20-DF5D-4C96-A350-B4E65C09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2D6BDB-9919-4B73-9E4D-D9EA916B2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19FFB0B-049A-424C-8200-F5CA6D68A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891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4A287-DB32-40BB-A7B1-512967A43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3C98FB-B5A6-44C7-911C-82B50C2C97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868046-54F7-4912-9CCE-DF0FB93D3E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6C01E9-8BD0-45A1-A66C-2AEFEC50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F18AD3-FE07-49C5-812F-64256E270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518A60-5E81-415D-B1B0-9B2C7B373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38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72999-45A1-4E1C-A1D3-C03D617A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2C1F0E-D23F-404A-8C8F-A9F65BD28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C48331-C0BD-4B0A-AEB8-A4C1F9F74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BEFDD6-311B-4FBE-B544-D89154F9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ACCC9E-BB1F-4806-95C3-08B4006F2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513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FC3BF3-0969-41C1-B36E-2E10BE599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2FDA9C-7B8A-462B-BFEB-FC145270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7481E8-EA2B-4272-83A5-BEB275AF7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8509F0-FF85-4272-BE04-18276BA89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80E017-FC36-4511-9368-98C31813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578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A26F6D4-531B-4C4B-9B3E-207E79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2320ED-B04A-4A31-8432-55A141EB0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8F02D2-7179-4179-93DC-876215C7E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E0ED6-5EC9-48F0-8E77-36992AFB9872}" type="datetimeFigureOut">
              <a:rPr lang="pt-BR" smtClean="0"/>
              <a:t>14/11/2019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ADFD76-C7DD-4E24-A5A5-D1198CE349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DBED7B-F0B1-4C36-998D-7A3122931A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239A7-7218-4DAA-B2E0-834E4008AED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66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icrosoft.com/pt-br/learning/default.aspx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studio.microsoft.com/vs/professional" TargetMode="External"/><Relationship Id="rId2" Type="http://schemas.openxmlformats.org/officeDocument/2006/relationships/hyperlink" Target="https://visualstudio.microsoft.com/vs/communit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isualstudio.microsoft.com/vs/enterpris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FD41F-797D-4A27-9E14-1C775F5CC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E966D7-61EC-4765-889D-E6DB9A44F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/>
              <a:t>Seção 1: Introdução – 18 minutos</a:t>
            </a:r>
          </a:p>
          <a:p>
            <a:r>
              <a:rPr lang="pt-BR" b="1" dirty="0"/>
              <a:t>Seção 2: Setup, preparar o ambiente – 43 minutos</a:t>
            </a:r>
          </a:p>
          <a:p>
            <a:r>
              <a:rPr lang="pt-BR" b="1" dirty="0"/>
              <a:t>Seção 3: C# </a:t>
            </a:r>
            <a:r>
              <a:rPr lang="pt-BR" b="1" dirty="0" err="1"/>
              <a:t>Basico</a:t>
            </a:r>
            <a:r>
              <a:rPr lang="pt-BR" b="1" dirty="0"/>
              <a:t> – 1:35 minutos</a:t>
            </a:r>
          </a:p>
          <a:p>
            <a:r>
              <a:rPr lang="pt-BR" b="1" dirty="0"/>
              <a:t>Seção 4: Tipificação C# - 1:33 minutos</a:t>
            </a:r>
          </a:p>
          <a:p>
            <a:r>
              <a:rPr lang="pt-BR" b="1" dirty="0"/>
              <a:t>Seção 5: Classes e Hierarquias – 1:30 minutos</a:t>
            </a:r>
          </a:p>
          <a:p>
            <a:r>
              <a:rPr lang="pt-BR" b="1" dirty="0"/>
              <a:t>Seção 6: </a:t>
            </a:r>
            <a:r>
              <a:rPr lang="pt-BR" b="1" dirty="0" err="1"/>
              <a:t>Delegates</a:t>
            </a:r>
            <a:r>
              <a:rPr lang="pt-BR" b="1" dirty="0"/>
              <a:t> </a:t>
            </a:r>
            <a:r>
              <a:rPr lang="pt-BR" b="1" dirty="0" err="1"/>
              <a:t>c#</a:t>
            </a:r>
            <a:r>
              <a:rPr lang="pt-BR" b="1" dirty="0"/>
              <a:t> - 26 minutos</a:t>
            </a:r>
          </a:p>
          <a:p>
            <a:r>
              <a:rPr lang="pt-BR" b="1" dirty="0"/>
              <a:t>Seção 7: Eventos C# - 28 minutos</a:t>
            </a:r>
          </a:p>
          <a:p>
            <a:r>
              <a:rPr lang="pt-BR" b="1" dirty="0"/>
              <a:t>Seção 8: </a:t>
            </a:r>
            <a:r>
              <a:rPr lang="pt-BR" b="1" dirty="0" err="1"/>
              <a:t>Garbage</a:t>
            </a:r>
            <a:r>
              <a:rPr lang="pt-BR" b="1" dirty="0"/>
              <a:t> </a:t>
            </a:r>
            <a:r>
              <a:rPr lang="pt-BR" b="1" dirty="0" err="1"/>
              <a:t>Collection</a:t>
            </a:r>
            <a:r>
              <a:rPr lang="pt-BR" b="1" dirty="0"/>
              <a:t> – 28 minutos</a:t>
            </a:r>
          </a:p>
          <a:p>
            <a:r>
              <a:rPr lang="pt-BR" b="1" dirty="0"/>
              <a:t>Seção 9: Programação assíncrona – 39 minutos</a:t>
            </a:r>
          </a:p>
          <a:p>
            <a:r>
              <a:rPr lang="pt-BR" b="1" dirty="0"/>
              <a:t>Seção 10: Data Security – 34 minutos</a:t>
            </a:r>
          </a:p>
          <a:p>
            <a:r>
              <a:rPr lang="pt-BR" b="1" dirty="0"/>
              <a:t>Seção 11: Conclusão – 5 minutos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0044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ADB294-C36C-47CC-B013-A33E1908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Seção 1 - 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C9B556-C9F2-4561-A9DC-07AA56A86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Certificação Microsoft</a:t>
            </a:r>
          </a:p>
          <a:p>
            <a:r>
              <a:rPr lang="pt-BR" dirty="0"/>
              <a:t>Visual Studio</a:t>
            </a:r>
          </a:p>
          <a:p>
            <a:pPr lvl="1"/>
            <a:r>
              <a:rPr lang="pt-BR" dirty="0"/>
              <a:t>Download e instalação</a:t>
            </a:r>
          </a:p>
          <a:p>
            <a:pPr lvl="1"/>
            <a:r>
              <a:rPr lang="pt-BR" dirty="0"/>
              <a:t>Funções Básicas </a:t>
            </a:r>
          </a:p>
          <a:p>
            <a:pPr lvl="1"/>
            <a:r>
              <a:rPr lang="pt-BR" dirty="0"/>
              <a:t>Configurações</a:t>
            </a:r>
          </a:p>
        </p:txBody>
      </p:sp>
    </p:spTree>
    <p:extLst>
      <p:ext uri="{BB962C8B-B14F-4D97-AF65-F5344CB8AC3E}">
        <p14:creationId xmlns:p14="http://schemas.microsoft.com/office/powerpoint/2010/main" val="1445873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726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E633CEA-2354-4435-8D05-4DBB5C21D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00438" y="162875"/>
            <a:ext cx="670560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Microsoft Certified Solutions Developer</a:t>
            </a:r>
            <a:br>
              <a:rPr lang="en-US" sz="31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</a:br>
            <a:r>
              <a:rPr lang="en-US" sz="31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MCSD</a:t>
            </a:r>
          </a:p>
        </p:txBody>
      </p:sp>
      <p:sp>
        <p:nvSpPr>
          <p:cNvPr id="31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8414B34-BA26-43DB-A63D-D3336A58C9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/>
          </a:blip>
          <a:srcRect t="9259" r="2" b="20092"/>
          <a:stretch/>
        </p:blipFill>
        <p:spPr>
          <a:xfrm>
            <a:off x="585861" y="2202114"/>
            <a:ext cx="3661831" cy="2093709"/>
          </a:xfrm>
          <a:prstGeom prst="rect">
            <a:avLst/>
          </a:prstGeom>
          <a:ln w="50800">
            <a:solidFill>
              <a:schemeClr val="bg1"/>
            </a:solidFill>
          </a:ln>
        </p:spPr>
      </p:pic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F79BDCD7-89CB-483A-B55E-620E1FA654B9}"/>
              </a:ext>
            </a:extLst>
          </p:cNvPr>
          <p:cNvSpPr txBox="1">
            <a:spLocks/>
          </p:cNvSpPr>
          <p:nvPr/>
        </p:nvSpPr>
        <p:spPr>
          <a:xfrm>
            <a:off x="7771214" y="1534416"/>
            <a:ext cx="4977578" cy="1215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kern="1200" dirty="0" err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Obrigatório</a:t>
            </a:r>
            <a:r>
              <a:rPr lang="en-US" sz="2000" kern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3 </a:t>
            </a:r>
            <a:r>
              <a:rPr lang="en-US" sz="2000" kern="1200" dirty="0" err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Provas</a:t>
            </a:r>
            <a:endParaRPr lang="en-US" sz="2000" kern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Programing C# (70483)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kern="1200" dirty="0" err="1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Outras</a:t>
            </a:r>
            <a:r>
              <a:rPr lang="en-US" sz="2000" kern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BF2107BF-2BC2-4054-AE40-A64A339E3065}"/>
              </a:ext>
            </a:extLst>
          </p:cNvPr>
          <p:cNvSpPr txBox="1">
            <a:spLocks/>
          </p:cNvSpPr>
          <p:nvPr/>
        </p:nvSpPr>
        <p:spPr>
          <a:xfrm>
            <a:off x="5376415" y="3349955"/>
            <a:ext cx="5728465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solidFill>
                  <a:srgbClr val="000000"/>
                </a:solidFill>
              </a:rPr>
              <a:t>Microsoft Specialist Certification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7D3CE841-33AF-4E78-8D68-4C8F8DA5D4C1}"/>
              </a:ext>
            </a:extLst>
          </p:cNvPr>
          <p:cNvSpPr txBox="1">
            <a:spLocks/>
          </p:cNvSpPr>
          <p:nvPr/>
        </p:nvSpPr>
        <p:spPr>
          <a:xfrm>
            <a:off x="7236460" y="4483043"/>
            <a:ext cx="4977578" cy="12155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kern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Programing C# (70483) 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D58EA6F-6684-42AC-852E-39C5EEEDB385}"/>
              </a:ext>
            </a:extLst>
          </p:cNvPr>
          <p:cNvSpPr/>
          <p:nvPr/>
        </p:nvSpPr>
        <p:spPr>
          <a:xfrm>
            <a:off x="3777262" y="6325793"/>
            <a:ext cx="5450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hlinkClick r:id="rId4"/>
              </a:rPr>
              <a:t>https://www.microsoft.com/pt-br/learning/default.aspx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4864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C8676-D915-4FCC-B408-6BEC862C0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4568"/>
            <a:ext cx="3766457" cy="5412920"/>
          </a:xfrm>
        </p:spPr>
        <p:txBody>
          <a:bodyPr>
            <a:normAutofit/>
          </a:bodyPr>
          <a:lstStyle/>
          <a:p>
            <a:r>
              <a:rPr lang="pt-BR" sz="4400"/>
              <a:t>Visual Studio - Download e instalação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F0795A-10FB-43A8-98E4-C577D8AAF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0" y="624568"/>
            <a:ext cx="6324598" cy="5412920"/>
          </a:xfrm>
        </p:spPr>
        <p:txBody>
          <a:bodyPr anchor="ctr">
            <a:normAutofit/>
          </a:bodyPr>
          <a:lstStyle/>
          <a:p>
            <a:r>
              <a:rPr lang="pt-BR" sz="1700" b="1" dirty="0"/>
              <a:t>Community</a:t>
            </a:r>
            <a:endParaRPr lang="pt-BR" sz="1700" b="1" dirty="0">
              <a:hlinkClick r:id="rId2"/>
            </a:endParaRPr>
          </a:p>
          <a:p>
            <a:pPr lvl="1"/>
            <a:r>
              <a:rPr lang="pt-BR" sz="1700" dirty="0"/>
              <a:t>IDE avançado, gratuito para alunos, colaboradores de software livre e indivíduos.</a:t>
            </a:r>
          </a:p>
          <a:p>
            <a:r>
              <a:rPr lang="pt-BR" sz="1700" b="1" dirty="0"/>
              <a:t>Professional</a:t>
            </a:r>
            <a:endParaRPr lang="pt-BR" sz="1700" b="1" dirty="0">
              <a:hlinkClick r:id="rId3"/>
            </a:endParaRPr>
          </a:p>
          <a:p>
            <a:pPr lvl="1"/>
            <a:r>
              <a:rPr lang="pt-BR" sz="1700" dirty="0"/>
              <a:t>IDE profissional mais indicado para equipes pequenas</a:t>
            </a:r>
          </a:p>
          <a:p>
            <a:r>
              <a:rPr lang="pt-BR" sz="1700" b="1" dirty="0"/>
              <a:t>Enterprise</a:t>
            </a:r>
            <a:endParaRPr lang="pt-BR" sz="1700" b="1" dirty="0">
              <a:hlinkClick r:id="rId4"/>
            </a:endParaRPr>
          </a:p>
          <a:p>
            <a:pPr lvl="1"/>
            <a:r>
              <a:rPr lang="pt-BR" sz="1700" dirty="0"/>
              <a:t>Solução </a:t>
            </a:r>
            <a:r>
              <a:rPr lang="pt-BR" sz="1700" dirty="0" err="1"/>
              <a:t>escalonável</a:t>
            </a:r>
            <a:r>
              <a:rPr lang="pt-BR" sz="1700" dirty="0"/>
              <a:t> de ponta a ponta para equipes de qualquer tamanho, solução </a:t>
            </a:r>
            <a:r>
              <a:rPr lang="pt-BR" sz="1700" dirty="0" err="1"/>
              <a:t>escalonável</a:t>
            </a:r>
            <a:r>
              <a:rPr lang="pt-BR" sz="1700" dirty="0"/>
              <a:t> de ponta a ponta para equipes de qualquer tamanho</a:t>
            </a:r>
          </a:p>
          <a:p>
            <a:r>
              <a:rPr lang="pt-BR" sz="1700" b="1" dirty="0"/>
              <a:t>Visual Studio </a:t>
            </a:r>
            <a:r>
              <a:rPr lang="pt-BR" sz="1700" b="1" dirty="0" err="1"/>
              <a:t>Code</a:t>
            </a:r>
            <a:endParaRPr lang="pt-BR" sz="1700" b="1" dirty="0"/>
          </a:p>
          <a:p>
            <a:pPr lvl="1"/>
            <a:r>
              <a:rPr lang="pt-BR" sz="1700" dirty="0"/>
              <a:t>O editor de código rápido, gratuito e de open-</a:t>
            </a:r>
            <a:r>
              <a:rPr lang="pt-BR" sz="1700" dirty="0" err="1"/>
              <a:t>source</a:t>
            </a:r>
            <a:r>
              <a:rPr lang="pt-BR" sz="1700" dirty="0"/>
              <a:t> que se adapta às suas necessidades</a:t>
            </a:r>
          </a:p>
          <a:p>
            <a:r>
              <a:rPr lang="pt-BR" sz="1700" b="1" dirty="0"/>
              <a:t>Visual Studio para Mac</a:t>
            </a:r>
          </a:p>
          <a:p>
            <a:pPr lvl="1"/>
            <a:r>
              <a:rPr lang="pt-BR" sz="1700" dirty="0"/>
              <a:t>Desenvolva aplicativos e jogos para iOS, Android e Web usando .NET</a:t>
            </a:r>
          </a:p>
          <a:p>
            <a:endParaRPr lang="pt-BR" sz="1700" dirty="0"/>
          </a:p>
          <a:p>
            <a:r>
              <a:rPr lang="pt-BR" sz="1700" dirty="0"/>
              <a:t>https://visualstudio.microsoft.com/pt-br/downloads/</a:t>
            </a:r>
          </a:p>
        </p:txBody>
      </p:sp>
    </p:spTree>
    <p:extLst>
      <p:ext uri="{BB962C8B-B14F-4D97-AF65-F5344CB8AC3E}">
        <p14:creationId xmlns:p14="http://schemas.microsoft.com/office/powerpoint/2010/main" val="3197518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BCDAE5-CF49-446B-858C-98BCB9DB3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Funções Básicas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E8F684-2E48-4351-BDC2-35473F0E2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0" y="668338"/>
            <a:ext cx="2840038" cy="203993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C28ED34-915A-4B98-B88E-2DDC276F0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300" y="2790825"/>
            <a:ext cx="6470650" cy="340360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C96E434-5DF6-4A01-9ECA-2845C6E869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6888" y="668338"/>
            <a:ext cx="3546475" cy="203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04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2BC9D-6F16-451F-86AD-AAED2819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821" y="4004732"/>
            <a:ext cx="6465287" cy="132423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Funções Básicas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E2D1B8-0887-4D2B-8C42-999040132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17634" y="321733"/>
            <a:ext cx="4129237" cy="6060017"/>
          </a:xfrm>
          <a:prstGeom prst="rect">
            <a:avLst/>
          </a:prstGeom>
          <a:solidFill>
            <a:srgbClr val="FFFFFF"/>
          </a:solidFill>
          <a:ln w="127000" cap="sq" cmpd="thinThick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BE17DCD-E427-45E2-92F7-EADE354BF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66" y="1351838"/>
            <a:ext cx="3483526" cy="119310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A085277-BAF7-40CC-A608-B030CA969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811469" y="321733"/>
            <a:ext cx="3375479" cy="3259667"/>
          </a:xfrm>
          <a:prstGeom prst="rect">
            <a:avLst/>
          </a:prstGeom>
          <a:solidFill>
            <a:srgbClr val="FFFFFF"/>
          </a:solidFill>
          <a:ln w="127000" cap="sq" cmpd="thinThick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7EDFE33-C43D-407D-B691-2A73EF70C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338" y="1317424"/>
            <a:ext cx="2804299" cy="126193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4009F90-86BF-44AE-B0EB-D68140E0E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8508682" y="321733"/>
            <a:ext cx="3375478" cy="3259667"/>
          </a:xfrm>
          <a:prstGeom prst="rect">
            <a:avLst/>
          </a:prstGeom>
          <a:solidFill>
            <a:srgbClr val="FFFFFF"/>
          </a:solidFill>
          <a:ln w="127000" cap="sq" cmpd="thinThick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2535097-486A-46EC-9366-6B7EFAA19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415" y="1018654"/>
            <a:ext cx="2775335" cy="185947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3BBA9FA-9153-4382-8DE4-D092FDC19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366" y="4119876"/>
            <a:ext cx="3483526" cy="138470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4254369-4B26-4D6A-A4CD-BE3438297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38287" y="5443086"/>
            <a:ext cx="6400800" cy="0"/>
          </a:xfrm>
          <a:prstGeom prst="line">
            <a:avLst/>
          </a:prstGeom>
          <a:ln w="22225">
            <a:solidFill>
              <a:schemeClr val="tx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582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29">
            <a:extLst>
              <a:ext uri="{FF2B5EF4-FFF2-40B4-BE49-F238E27FC236}">
                <a16:creationId xmlns:a16="http://schemas.microsoft.com/office/drawing/2014/main" id="{72257994-BD97-4691-8B89-198A6D2BA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8669A5-EECA-4A65-86D5-1230F968F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  <a:solidFill>
            <a:srgbClr val="FFFFFF"/>
          </a:solidFill>
          <a:ln w="38100">
            <a:solidFill>
              <a:srgbClr val="404040"/>
            </a:solidFill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rgbClr val="404040"/>
                </a:solidFill>
                <a:latin typeface="+mj-lt"/>
                <a:ea typeface="+mj-ea"/>
                <a:cs typeface="+mj-cs"/>
              </a:rPr>
              <a:t>Configurações</a:t>
            </a:r>
          </a:p>
        </p:txBody>
      </p:sp>
      <p:pic>
        <p:nvPicPr>
          <p:cNvPr id="6" name="Imagem 5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8090FC68-E4D8-441B-A2F8-B80302F12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328" y="587857"/>
            <a:ext cx="2475980" cy="3301307"/>
          </a:xfrm>
          <a:prstGeom prst="rect">
            <a:avLst/>
          </a:prstGeom>
        </p:spPr>
      </p:pic>
      <p:pic>
        <p:nvPicPr>
          <p:cNvPr id="5" name="Imagem 4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2C892BD6-5489-4ABF-BF66-12BB1FB3A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593" y="1059012"/>
            <a:ext cx="3494813" cy="2358998"/>
          </a:xfrm>
          <a:prstGeom prst="rect">
            <a:avLst/>
          </a:prstGeom>
        </p:spPr>
      </p:pic>
      <p:pic>
        <p:nvPicPr>
          <p:cNvPr id="4" name="Imagem 3" descr="Uma imagem contendo captura de tela, interior, computador&#10;&#10;Descrição gerada automaticamente">
            <a:extLst>
              <a:ext uri="{FF2B5EF4-FFF2-40B4-BE49-F238E27FC236}">
                <a16:creationId xmlns:a16="http://schemas.microsoft.com/office/drawing/2014/main" id="{4830380D-5707-4934-8ABF-1FCF74712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273" y="1408492"/>
            <a:ext cx="3494815" cy="166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39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781CE-4979-4584-BDE7-6A650B4C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Seção 3 - C# </a:t>
            </a:r>
            <a:r>
              <a:rPr lang="pt-BR" dirty="0" err="1"/>
              <a:t>Basico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B5700C-C48E-44CE-8352-2DD4F3B53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Programação orientada a objeto</a:t>
            </a:r>
          </a:p>
          <a:p>
            <a:r>
              <a:rPr lang="pt-BR" dirty="0"/>
              <a:t>Classes e objetos</a:t>
            </a:r>
          </a:p>
          <a:p>
            <a:r>
              <a:rPr lang="pt-BR" dirty="0"/>
              <a:t>Tipos e valores de referencia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8574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DF677-DE11-40A0-B58C-ECBBB0DCB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Principios</a:t>
            </a:r>
            <a:r>
              <a:rPr lang="pt-BR" dirty="0"/>
              <a:t> C#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BD2E20-08D7-4F96-8BF1-EC6FF7A1B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Simples</a:t>
            </a:r>
          </a:p>
          <a:p>
            <a:pPr lvl="1"/>
            <a:r>
              <a:rPr lang="pt-BR" dirty="0"/>
              <a:t>Trabalha virtualizado.</a:t>
            </a:r>
          </a:p>
          <a:p>
            <a:r>
              <a:rPr lang="pt-BR" dirty="0"/>
              <a:t>Moderno</a:t>
            </a:r>
          </a:p>
          <a:p>
            <a:pPr lvl="1"/>
            <a:r>
              <a:rPr lang="pt-BR" dirty="0" err="1"/>
              <a:t>Garbage</a:t>
            </a:r>
            <a:r>
              <a:rPr lang="pt-BR" dirty="0"/>
              <a:t> </a:t>
            </a:r>
            <a:r>
              <a:rPr lang="pt-BR" dirty="0" err="1"/>
              <a:t>Collection</a:t>
            </a:r>
            <a:r>
              <a:rPr lang="pt-BR" dirty="0"/>
              <a:t>, e seguro.</a:t>
            </a:r>
          </a:p>
          <a:p>
            <a:r>
              <a:rPr lang="pt-BR" dirty="0" err="1"/>
              <a:t>Versionável</a:t>
            </a:r>
            <a:endParaRPr lang="pt-BR" dirty="0"/>
          </a:p>
          <a:p>
            <a:pPr lvl="1"/>
            <a:r>
              <a:rPr lang="pt-BR" dirty="0"/>
              <a:t>CLS (Common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Specification</a:t>
            </a:r>
            <a:r>
              <a:rPr lang="pt-BR" dirty="0"/>
              <a:t>)</a:t>
            </a:r>
          </a:p>
          <a:p>
            <a:r>
              <a:rPr lang="pt-BR" dirty="0"/>
              <a:t>Tipo seguro (</a:t>
            </a:r>
            <a:r>
              <a:rPr lang="pt-BR" dirty="0" err="1"/>
              <a:t>Type</a:t>
            </a:r>
            <a:r>
              <a:rPr lang="pt-BR" dirty="0"/>
              <a:t>-safe)</a:t>
            </a:r>
          </a:p>
          <a:p>
            <a:pPr lvl="1"/>
            <a:r>
              <a:rPr lang="pt-BR" dirty="0" err="1"/>
              <a:t>Cast</a:t>
            </a:r>
            <a:r>
              <a:rPr lang="pt-BR" dirty="0"/>
              <a:t> seguros e variáveis gerenciadas.</a:t>
            </a:r>
          </a:p>
          <a:p>
            <a:r>
              <a:rPr lang="pt-BR" dirty="0"/>
              <a:t>Orientado a objeto</a:t>
            </a:r>
          </a:p>
          <a:p>
            <a:pPr lvl="1"/>
            <a:r>
              <a:rPr lang="pt-BR" dirty="0"/>
              <a:t>Herança, polimorfismo, encapsulamento</a:t>
            </a:r>
          </a:p>
          <a:p>
            <a:r>
              <a:rPr lang="pt-BR" dirty="0"/>
              <a:t>Compatível</a:t>
            </a:r>
          </a:p>
          <a:p>
            <a:pPr lvl="1"/>
            <a:r>
              <a:rPr lang="pt-BR" dirty="0"/>
              <a:t>Acesso a diferentes API, integração com diferentes linguagens.</a:t>
            </a:r>
          </a:p>
          <a:p>
            <a:r>
              <a:rPr lang="pt-BR" dirty="0"/>
              <a:t>Flexível</a:t>
            </a:r>
          </a:p>
          <a:p>
            <a:pPr lvl="1"/>
            <a:r>
              <a:rPr lang="pt-BR" dirty="0"/>
              <a:t>Disponível em diferentes sistemas operacionais.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77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1D0F43-0840-4FC6-9DC7-6B0B709A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orientada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E64D72-497D-4F49-A4F0-9C5E60A55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código é dividido em grupos independentes</a:t>
            </a:r>
          </a:p>
          <a:p>
            <a:r>
              <a:rPr lang="pt-BR" dirty="0"/>
              <a:t>código pode ser facilmente reutilizado</a:t>
            </a:r>
          </a:p>
          <a:p>
            <a:r>
              <a:rPr lang="pt-BR" dirty="0"/>
              <a:t>Complexidade reduzida</a:t>
            </a:r>
          </a:p>
          <a:p>
            <a:r>
              <a:rPr lang="pt-BR" dirty="0"/>
              <a:t>dissociação pode ser alcançada</a:t>
            </a:r>
          </a:p>
          <a:p>
            <a:r>
              <a:rPr lang="pt-BR" dirty="0"/>
              <a:t>extensibilidade</a:t>
            </a:r>
          </a:p>
        </p:txBody>
      </p:sp>
    </p:spTree>
    <p:extLst>
      <p:ext uri="{BB962C8B-B14F-4D97-AF65-F5344CB8AC3E}">
        <p14:creationId xmlns:p14="http://schemas.microsoft.com/office/powerpoint/2010/main" val="1597734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194BEA-5015-4A08-BC7B-201F3ECB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0"/>
            <a:ext cx="10515600" cy="1325563"/>
          </a:xfrm>
        </p:spPr>
        <p:txBody>
          <a:bodyPr/>
          <a:lstStyle/>
          <a:p>
            <a:r>
              <a:rPr lang="pt-BR" dirty="0"/>
              <a:t>Pilares da orientação a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B0B4B-CFB7-412F-ADB9-058D02E20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6320"/>
            <a:ext cx="10515600" cy="5516880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Encapsulamento</a:t>
            </a:r>
          </a:p>
          <a:p>
            <a:pPr lvl="1"/>
            <a:r>
              <a:rPr lang="pt-BR" dirty="0"/>
              <a:t>agrupamento de dados e funções em um único componente</a:t>
            </a:r>
          </a:p>
          <a:p>
            <a:pPr lvl="1"/>
            <a:r>
              <a:rPr lang="pt-BR" dirty="0"/>
              <a:t>permite ocultar seletivamente dados e funcionalidades</a:t>
            </a:r>
          </a:p>
          <a:p>
            <a:pPr lvl="1"/>
            <a:r>
              <a:rPr lang="pt-BR" dirty="0"/>
              <a:t>fornece segurança e facilidade de uso para objetos</a:t>
            </a:r>
          </a:p>
          <a:p>
            <a:r>
              <a:rPr lang="pt-BR" dirty="0"/>
              <a:t>Herança</a:t>
            </a:r>
          </a:p>
          <a:p>
            <a:pPr lvl="1"/>
            <a:r>
              <a:rPr lang="pt-BR" dirty="0"/>
              <a:t>permite que uma classe reutilize o código de outra classe</a:t>
            </a:r>
          </a:p>
          <a:p>
            <a:pPr lvl="1"/>
            <a:r>
              <a:rPr lang="pt-BR" dirty="0"/>
              <a:t>um único objeto pode possuir a funcionalidade de várias classes</a:t>
            </a:r>
          </a:p>
          <a:p>
            <a:pPr lvl="1"/>
            <a:r>
              <a:rPr lang="pt-BR" dirty="0"/>
              <a:t>evita duplicação de código</a:t>
            </a:r>
          </a:p>
          <a:p>
            <a:pPr lvl="1"/>
            <a:r>
              <a:rPr lang="pt-BR" dirty="0"/>
              <a:t>fornece a capacidade de estender e modificar o comportamento em um ambiente de fácil manutenção</a:t>
            </a:r>
          </a:p>
          <a:p>
            <a:r>
              <a:rPr lang="pt-BR" dirty="0"/>
              <a:t>Polimorfismo</a:t>
            </a:r>
          </a:p>
          <a:p>
            <a:pPr lvl="1"/>
            <a:r>
              <a:rPr lang="pt-BR" dirty="0"/>
              <a:t>o resultado da herança e encapsulamento</a:t>
            </a:r>
          </a:p>
          <a:p>
            <a:pPr lvl="1"/>
            <a:r>
              <a:rPr lang="pt-BR" dirty="0"/>
              <a:t>a capacidade de fornecer funcionalidades diferentes para o mesmo nome de método</a:t>
            </a:r>
          </a:p>
          <a:p>
            <a:pPr lvl="1"/>
            <a:r>
              <a:rPr lang="pt-BR" dirty="0"/>
              <a:t>com base no contexto de como o método é chamado</a:t>
            </a:r>
          </a:p>
          <a:p>
            <a:pPr lvl="1"/>
            <a:r>
              <a:rPr lang="pt-BR" dirty="0"/>
              <a:t>uma hierarquia de herança de classes e objetos pode fornecer várias funções com o mesmo nome, mas diferentes funcionalidades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6944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1E4C1-18E4-43DF-A59C-04017F87F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D9E3DC-1CAB-44BC-B8A3-E8665886E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classe é um modelo usado para criar objetos</a:t>
            </a:r>
          </a:p>
          <a:p>
            <a:r>
              <a:rPr lang="pt-BR" dirty="0"/>
              <a:t>Fornece detalhes necessários para a construção de objetos de software</a:t>
            </a:r>
          </a:p>
          <a:p>
            <a:r>
              <a:rPr lang="pt-BR" dirty="0"/>
              <a:t>Uma classe é a versão do software</a:t>
            </a:r>
          </a:p>
        </p:txBody>
      </p:sp>
    </p:spTree>
    <p:extLst>
      <p:ext uri="{BB962C8B-B14F-4D97-AF65-F5344CB8AC3E}">
        <p14:creationId xmlns:p14="http://schemas.microsoft.com/office/powerpoint/2010/main" val="1277429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A940D-D6A9-402C-AC61-4186F354F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93F511-BF41-40DA-AB98-375867E6E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classe é semelhante ao </a:t>
            </a:r>
            <a:r>
              <a:rPr lang="pt-BR" dirty="0" err="1"/>
              <a:t>blueprint</a:t>
            </a:r>
            <a:r>
              <a:rPr lang="pt-BR" dirty="0"/>
              <a:t> usado para construir edifícios</a:t>
            </a:r>
          </a:p>
          <a:p>
            <a:r>
              <a:rPr lang="pt-BR" dirty="0"/>
              <a:t>Um modelo, pode ser usado para construir vários edifícios</a:t>
            </a:r>
          </a:p>
          <a:p>
            <a:r>
              <a:rPr lang="pt-BR" dirty="0"/>
              <a:t>Uma classe pode ser usada para criar vários objetos</a:t>
            </a:r>
          </a:p>
          <a:p>
            <a:r>
              <a:rPr lang="pt-BR" dirty="0"/>
              <a:t>Criaremos uma classe e a usaremos para criar um objeto posteriormente.</a:t>
            </a:r>
          </a:p>
        </p:txBody>
      </p:sp>
    </p:spTree>
    <p:extLst>
      <p:ext uri="{BB962C8B-B14F-4D97-AF65-F5344CB8AC3E}">
        <p14:creationId xmlns:p14="http://schemas.microsoft.com/office/powerpoint/2010/main" val="4012737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D09EC-A57C-4705-9981-B7C416E61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9CDA13-6499-460A-B8AC-BE451ADA9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objeto é uma variável que contém duas coisas</a:t>
            </a:r>
          </a:p>
          <a:p>
            <a:pPr lvl="1"/>
            <a:r>
              <a:rPr lang="pt-BR" dirty="0"/>
              <a:t>As propriedades que foram definidas na classe</a:t>
            </a:r>
          </a:p>
          <a:p>
            <a:pPr lvl="1"/>
            <a:r>
              <a:rPr lang="pt-BR" dirty="0"/>
              <a:t>As habilidades definidas como métodos na classe</a:t>
            </a:r>
          </a:p>
          <a:p>
            <a:pPr lvl="1"/>
            <a:endParaRPr lang="pt-BR" dirty="0"/>
          </a:p>
          <a:p>
            <a:r>
              <a:rPr lang="pt-BR" dirty="0"/>
              <a:t>Vários objetos podem ser criados com base em uma única classe</a:t>
            </a:r>
          </a:p>
          <a:p>
            <a:r>
              <a:rPr lang="pt-BR" dirty="0"/>
              <a:t>Cada objeto tem seu próprio estado ou coleção exclusiva de valores de dados</a:t>
            </a:r>
          </a:p>
          <a:p>
            <a:r>
              <a:rPr lang="pt-BR" dirty="0"/>
              <a:t>já que todos os objetos são baseados em classes, fazer uma alteração em uma classe afetará todos os objetos criados a partir dessa classe</a:t>
            </a:r>
          </a:p>
        </p:txBody>
      </p:sp>
    </p:spTree>
    <p:extLst>
      <p:ext uri="{BB962C8B-B14F-4D97-AF65-F5344CB8AC3E}">
        <p14:creationId xmlns:p14="http://schemas.microsoft.com/office/powerpoint/2010/main" val="2141741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lowchart: Document 15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367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6C70A1-F527-4308-8719-972BC5BD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Classe e Objeto Exemplo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53D21F5-344D-4224-B9D3-A22EE6BEC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120" y="28255"/>
            <a:ext cx="5974080" cy="680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193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90A2A-F373-4510-A4A0-1CC21B8B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C# </a:t>
            </a:r>
            <a:r>
              <a:rPr lang="pt-BR" dirty="0" err="1"/>
              <a:t>Types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422235-F64F-420F-9094-13AF8A51D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C# é uma linguagem fortemente </a:t>
            </a:r>
            <a:r>
              <a:rPr lang="pt-BR" dirty="0" err="1"/>
              <a:t>tipada</a:t>
            </a:r>
            <a:r>
              <a:rPr lang="pt-BR" dirty="0"/>
              <a:t> (</a:t>
            </a:r>
            <a:r>
              <a:rPr lang="pt-BR" dirty="0" err="1"/>
              <a:t>Type</a:t>
            </a:r>
            <a:r>
              <a:rPr lang="pt-BR" dirty="0"/>
              <a:t>-safe).</a:t>
            </a:r>
          </a:p>
          <a:p>
            <a:pPr lvl="1"/>
            <a:r>
              <a:rPr lang="pt-BR" dirty="0"/>
              <a:t>Cada variável ou constante tem um tipo especifico</a:t>
            </a:r>
          </a:p>
          <a:p>
            <a:pPr lvl="1"/>
            <a:r>
              <a:rPr lang="pt-BR" dirty="0"/>
              <a:t>expressões que avaliam um valor têm um tipo</a:t>
            </a:r>
          </a:p>
          <a:p>
            <a:pPr lvl="1"/>
            <a:endParaRPr lang="pt-BR" dirty="0"/>
          </a:p>
          <a:p>
            <a:r>
              <a:rPr lang="pt-BR" dirty="0"/>
              <a:t>um tipo especifica até quatro características principais de dados que podem ser armazenadas</a:t>
            </a:r>
          </a:p>
          <a:p>
            <a:pPr lvl="1"/>
            <a:r>
              <a:rPr lang="pt-BR" dirty="0"/>
              <a:t>o espaço de armazenamento que uma variável do tipo requer</a:t>
            </a:r>
          </a:p>
          <a:p>
            <a:pPr lvl="1"/>
            <a:r>
              <a:rPr lang="pt-BR" dirty="0"/>
              <a:t>os valores máximos e mínimos que ele pode representar</a:t>
            </a:r>
          </a:p>
          <a:p>
            <a:pPr lvl="1"/>
            <a:r>
              <a:rPr lang="pt-BR" dirty="0"/>
              <a:t>os membros (métodos, campos, eventos e assim por diante) que ele contém</a:t>
            </a:r>
          </a:p>
          <a:p>
            <a:pPr lvl="1"/>
            <a:r>
              <a:rPr lang="pt-BR" dirty="0"/>
              <a:t>o tipo de base que herda</a:t>
            </a:r>
          </a:p>
          <a:p>
            <a:r>
              <a:rPr lang="pt-BR" dirty="0"/>
              <a:t>C# fornece um conjunto padrão de tipos internos</a:t>
            </a:r>
          </a:p>
          <a:p>
            <a:pPr lvl="1"/>
            <a:r>
              <a:rPr lang="pt-BR" dirty="0" err="1"/>
              <a:t>Numeric</a:t>
            </a:r>
            <a:r>
              <a:rPr lang="pt-BR" dirty="0"/>
              <a:t>, </a:t>
            </a:r>
            <a:r>
              <a:rPr lang="pt-BR" dirty="0" err="1"/>
              <a:t>String</a:t>
            </a:r>
            <a:r>
              <a:rPr lang="pt-BR" dirty="0"/>
              <a:t> e </a:t>
            </a:r>
            <a:r>
              <a:rPr lang="pt-BR" dirty="0" err="1"/>
              <a:t>Objects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2889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207BB-3DAF-484C-9E27-F5CF5E15A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Types</a:t>
            </a:r>
            <a:r>
              <a:rPr lang="pt-BR" dirty="0"/>
              <a:t> </a:t>
            </a:r>
            <a:r>
              <a:rPr lang="pt-BR" dirty="0" err="1"/>
              <a:t>Reference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A23CFB-6736-4EF4-8161-E7E8BFEBC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Tipos de Valor</a:t>
            </a:r>
          </a:p>
          <a:p>
            <a:endParaRPr lang="pt-BR" dirty="0"/>
          </a:p>
          <a:p>
            <a:r>
              <a:rPr lang="pt-BR" dirty="0"/>
              <a:t>Tipos de Referencia</a:t>
            </a:r>
          </a:p>
          <a:p>
            <a:pPr lvl="1"/>
            <a:r>
              <a:rPr lang="pt-BR" dirty="0" err="1"/>
              <a:t>Stack</a:t>
            </a:r>
            <a:endParaRPr lang="pt-BR" dirty="0"/>
          </a:p>
          <a:p>
            <a:pPr lvl="1"/>
            <a:r>
              <a:rPr lang="pt-BR" dirty="0" err="1"/>
              <a:t>Heap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5908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188BD9-CD94-4C3B-BFCA-51AA49F10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Types Reference Exemplo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40AD8EF-A60B-4116-8489-D0F2F0E0F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054" y="1675227"/>
            <a:ext cx="944989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348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90770-314F-4B8E-8142-F1AD5C665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Collections</a:t>
            </a:r>
            <a:r>
              <a:rPr lang="pt-BR" dirty="0"/>
              <a:t> e </a:t>
            </a:r>
            <a:r>
              <a:rPr lang="pt-BR" dirty="0" err="1"/>
              <a:t>Arrays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8EDE66-E871-4278-A1FC-6E3B59E11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Existem duas maneiras de criar e gerenciar grupos de objetos relacionados no C#</a:t>
            </a:r>
          </a:p>
          <a:p>
            <a:pPr lvl="1"/>
            <a:r>
              <a:rPr lang="pt-BR" dirty="0"/>
              <a:t>criar uma </a:t>
            </a:r>
            <a:r>
              <a:rPr lang="pt-BR" dirty="0" err="1"/>
              <a:t>array</a:t>
            </a:r>
            <a:r>
              <a:rPr lang="pt-BR" dirty="0"/>
              <a:t> de objetos </a:t>
            </a:r>
          </a:p>
          <a:p>
            <a:pPr lvl="1"/>
            <a:r>
              <a:rPr lang="pt-BR" dirty="0"/>
              <a:t>criar uma coleção de objetos.</a:t>
            </a:r>
          </a:p>
          <a:p>
            <a:r>
              <a:rPr lang="pt-BR" dirty="0" err="1"/>
              <a:t>Arrays</a:t>
            </a:r>
            <a:r>
              <a:rPr lang="pt-BR" dirty="0"/>
              <a:t> armazenam várias variáveis do mesmo tipo em uma estrutura de dados da </a:t>
            </a:r>
            <a:r>
              <a:rPr lang="pt-BR" dirty="0" err="1"/>
              <a:t>array</a:t>
            </a:r>
            <a:endParaRPr lang="pt-BR" dirty="0"/>
          </a:p>
          <a:p>
            <a:r>
              <a:rPr lang="pt-BR" dirty="0" err="1"/>
              <a:t>Collections</a:t>
            </a:r>
            <a:r>
              <a:rPr lang="pt-BR" dirty="0"/>
              <a:t> fornecem uma maneira flexível de trabalhar com grupos de objetos</a:t>
            </a:r>
          </a:p>
          <a:p>
            <a:pPr lvl="1"/>
            <a:r>
              <a:rPr lang="pt-BR" dirty="0"/>
              <a:t>ao contrário de matrizes, os grupos de objetos podem crescer e encolher dinamicamente</a:t>
            </a:r>
          </a:p>
          <a:p>
            <a:pPr lvl="1"/>
            <a:r>
              <a:rPr lang="pt-BR" dirty="0"/>
              <a:t>existem vários tipos diferentes de coleções</a:t>
            </a:r>
          </a:p>
        </p:txBody>
      </p:sp>
    </p:spTree>
    <p:extLst>
      <p:ext uri="{BB962C8B-B14F-4D97-AF65-F5344CB8AC3E}">
        <p14:creationId xmlns:p14="http://schemas.microsoft.com/office/powerpoint/2010/main" val="624915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lowchart: Document 2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C42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9290770-314F-4B8E-8142-F1AD5C665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Collections e Arrays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575DBDB-C48E-4AF3-9469-555404553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853" y="526727"/>
            <a:ext cx="9383380" cy="494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466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D135A-F3C1-494D-AC54-43A14E774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Manipulação de exceção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3638B1-D502-4BA0-ACBD-BD47C4FCF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em </a:t>
            </a:r>
            <a:r>
              <a:rPr lang="pt-BR" dirty="0" err="1"/>
              <a:t>c#</a:t>
            </a:r>
            <a:r>
              <a:rPr lang="pt-BR" dirty="0"/>
              <a:t> uma situação inesperada ou de exceção são chamadas de exceções</a:t>
            </a:r>
          </a:p>
          <a:p>
            <a:pPr lvl="1"/>
            <a:r>
              <a:rPr lang="pt-BR" dirty="0"/>
              <a:t>quando ocorre uma exceção, ela caminha através da pilha de chamadas, procurando códigos que capturam e manipulam a exceção</a:t>
            </a:r>
          </a:p>
          <a:p>
            <a:r>
              <a:rPr lang="pt-BR" dirty="0"/>
              <a:t>lidar com erros ou exceções, gera algumas conversas interessantes entre os desenvolvedores.</a:t>
            </a:r>
          </a:p>
          <a:p>
            <a:pPr lvl="1"/>
            <a:r>
              <a:rPr lang="pt-BR" dirty="0"/>
              <a:t>devemos verificar todas as linhas de código em busca de exceções?</a:t>
            </a:r>
          </a:p>
          <a:p>
            <a:pPr lvl="1"/>
            <a:r>
              <a:rPr lang="pt-BR" dirty="0"/>
              <a:t>qual código devemos verificar?</a:t>
            </a:r>
          </a:p>
          <a:p>
            <a:r>
              <a:rPr lang="pt-BR" dirty="0"/>
              <a:t>c # fornece o bloco </a:t>
            </a:r>
            <a:r>
              <a:rPr lang="pt-BR" dirty="0" err="1"/>
              <a:t>try</a:t>
            </a:r>
            <a:r>
              <a:rPr lang="pt-BR" dirty="0"/>
              <a:t> catch </a:t>
            </a:r>
            <a:r>
              <a:rPr lang="pt-BR" dirty="0" err="1"/>
              <a:t>finaly</a:t>
            </a:r>
            <a:r>
              <a:rPr lang="pt-BR" dirty="0"/>
              <a:t> para lidar com exceções</a:t>
            </a:r>
          </a:p>
          <a:p>
            <a:pPr lvl="1"/>
            <a:r>
              <a:rPr lang="pt-BR" dirty="0"/>
              <a:t>deve ser usado em torno de instruções que podem chamar em uma exceção</a:t>
            </a:r>
          </a:p>
          <a:p>
            <a:r>
              <a:rPr lang="pt-BR" dirty="0"/>
              <a:t>exceções são representadas por classes</a:t>
            </a:r>
          </a:p>
          <a:p>
            <a:pPr lvl="1"/>
            <a:r>
              <a:rPr lang="pt-BR" dirty="0"/>
              <a:t>essas classes são derivadas de exceção</a:t>
            </a:r>
          </a:p>
          <a:p>
            <a:pPr lvl="1"/>
            <a:r>
              <a:rPr lang="pt-BR" dirty="0"/>
              <a:t>essa classe identifica o tipo de exceções e contém propriedades que possuem detalhes sobre a exceção</a:t>
            </a:r>
          </a:p>
        </p:txBody>
      </p:sp>
    </p:spTree>
    <p:extLst>
      <p:ext uri="{BB962C8B-B14F-4D97-AF65-F5344CB8AC3E}">
        <p14:creationId xmlns:p14="http://schemas.microsoft.com/office/powerpoint/2010/main" val="791462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7655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4D135A-F3C1-494D-AC54-43A14E774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Manipulação de exceção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BE9329D-883C-4C96-8D7E-1E1C3001C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199" y="171162"/>
            <a:ext cx="9023633" cy="557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14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294D3-428F-4F03-A902-8DDD9837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String</a:t>
            </a:r>
            <a:r>
              <a:rPr lang="pt-BR" dirty="0"/>
              <a:t> e </a:t>
            </a:r>
            <a:r>
              <a:rPr lang="pt-BR" dirty="0" err="1"/>
              <a:t>StringBuilider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C3166D-3BE3-4818-8400-068FEBC0C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 C #, uma </a:t>
            </a:r>
            <a:r>
              <a:rPr lang="pt-BR" dirty="0" err="1"/>
              <a:t>string</a:t>
            </a:r>
            <a:r>
              <a:rPr lang="pt-BR" dirty="0"/>
              <a:t> é um objeto do tipo </a:t>
            </a:r>
            <a:r>
              <a:rPr lang="pt-BR" dirty="0" err="1"/>
              <a:t>String</a:t>
            </a:r>
            <a:r>
              <a:rPr lang="pt-BR" dirty="0"/>
              <a:t> cujo valor é texto</a:t>
            </a:r>
          </a:p>
          <a:p>
            <a:pPr lvl="1"/>
            <a:r>
              <a:rPr lang="pt-BR" dirty="0"/>
              <a:t>Internamente, o texto é armazenado como uma coleção sequencial de somente leitura de objetos Char</a:t>
            </a:r>
          </a:p>
          <a:p>
            <a:r>
              <a:rPr lang="pt-BR" dirty="0"/>
              <a:t>a </a:t>
            </a:r>
            <a:r>
              <a:rPr lang="pt-BR" dirty="0" err="1"/>
              <a:t>string</a:t>
            </a:r>
            <a:r>
              <a:rPr lang="pt-BR" dirty="0"/>
              <a:t> Keywords é um alias para </a:t>
            </a:r>
            <a:r>
              <a:rPr lang="pt-BR" dirty="0" err="1"/>
              <a:t>String</a:t>
            </a:r>
            <a:endParaRPr lang="pt-BR" dirty="0"/>
          </a:p>
          <a:p>
            <a:r>
              <a:rPr lang="pt-BR" dirty="0"/>
              <a:t>a classe </a:t>
            </a:r>
            <a:r>
              <a:rPr lang="pt-BR" dirty="0" err="1"/>
              <a:t>String</a:t>
            </a:r>
            <a:r>
              <a:rPr lang="pt-BR" dirty="0"/>
              <a:t> fornece muitos métodos para criar, manipular e comparar </a:t>
            </a:r>
            <a:r>
              <a:rPr lang="pt-BR" dirty="0" err="1"/>
              <a:t>seqüências</a:t>
            </a:r>
            <a:r>
              <a:rPr lang="pt-BR" dirty="0"/>
              <a:t> de caracteres com segurança</a:t>
            </a:r>
          </a:p>
          <a:p>
            <a:r>
              <a:rPr lang="pt-BR" dirty="0"/>
              <a:t>Objetos </a:t>
            </a:r>
            <a:r>
              <a:rPr lang="pt-BR" dirty="0" err="1"/>
              <a:t>string</a:t>
            </a:r>
            <a:r>
              <a:rPr lang="pt-BR" dirty="0"/>
              <a:t> são imutáveis.</a:t>
            </a:r>
          </a:p>
          <a:p>
            <a:pPr lvl="1"/>
            <a:r>
              <a:rPr lang="pt-BR" dirty="0"/>
              <a:t>Eles não podem ser alterados depois de terem sido criados</a:t>
            </a:r>
          </a:p>
          <a:p>
            <a:pPr lvl="1"/>
            <a:r>
              <a:rPr lang="pt-BR" dirty="0"/>
              <a:t>Todos os métodos e operadores que parecem modificar uma </a:t>
            </a:r>
            <a:r>
              <a:rPr lang="pt-BR" dirty="0" err="1"/>
              <a:t>string</a:t>
            </a:r>
            <a:r>
              <a:rPr lang="pt-BR" dirty="0"/>
              <a:t> na realidade criam uma nova </a:t>
            </a:r>
            <a:r>
              <a:rPr lang="pt-BR" dirty="0" err="1"/>
              <a:t>string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7484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294D3-428F-4F03-A902-8DDD9837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String</a:t>
            </a:r>
            <a:r>
              <a:rPr lang="pt-BR" dirty="0"/>
              <a:t> e </a:t>
            </a:r>
            <a:r>
              <a:rPr lang="pt-BR" dirty="0" err="1"/>
              <a:t>StringBuilider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C3166D-3BE3-4818-8400-068FEBC0C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Operações de </a:t>
            </a:r>
            <a:r>
              <a:rPr lang="pt-BR" dirty="0" err="1"/>
              <a:t>string</a:t>
            </a:r>
            <a:r>
              <a:rPr lang="pt-BR" dirty="0"/>
              <a:t> em. Net são altamente otimizadas</a:t>
            </a:r>
          </a:p>
          <a:p>
            <a:pPr lvl="1"/>
            <a:r>
              <a:rPr lang="pt-BR" dirty="0"/>
              <a:t>Na maioria das condições, seu uso não afetará o desempenho.</a:t>
            </a:r>
          </a:p>
          <a:p>
            <a:pPr lvl="1"/>
            <a:r>
              <a:rPr lang="pt-BR" dirty="0"/>
              <a:t>Um loop funcional que é executado centenas ou milhares de vezes executando operações em cadeia pode afetar a performasse.</a:t>
            </a:r>
          </a:p>
          <a:p>
            <a:endParaRPr lang="pt-BR" dirty="0"/>
          </a:p>
          <a:p>
            <a:r>
              <a:rPr lang="pt-BR" dirty="0"/>
              <a:t>A classe </a:t>
            </a:r>
            <a:r>
              <a:rPr lang="pt-BR" dirty="0" err="1"/>
              <a:t>stringbuilder</a:t>
            </a:r>
            <a:r>
              <a:rPr lang="pt-BR" dirty="0"/>
              <a:t> cria um buffer de </a:t>
            </a:r>
            <a:r>
              <a:rPr lang="pt-BR" dirty="0" err="1"/>
              <a:t>string</a:t>
            </a:r>
            <a:r>
              <a:rPr lang="pt-BR" dirty="0"/>
              <a:t> que fornece melhor desempenho nessas situações.</a:t>
            </a:r>
          </a:p>
        </p:txBody>
      </p:sp>
    </p:spTree>
    <p:extLst>
      <p:ext uri="{BB962C8B-B14F-4D97-AF65-F5344CB8AC3E}">
        <p14:creationId xmlns:p14="http://schemas.microsoft.com/office/powerpoint/2010/main" val="2840675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294D3-428F-4F03-A902-8DDD9837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String</a:t>
            </a:r>
            <a:r>
              <a:rPr lang="pt-BR" dirty="0"/>
              <a:t> e </a:t>
            </a:r>
            <a:r>
              <a:rPr lang="pt-BR" dirty="0" err="1"/>
              <a:t>StringBuilider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AD47BB-5500-4F30-9F71-61B26E812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419845"/>
            <a:ext cx="11468100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57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F1A2A-AE65-4FA2-956F-BC10559F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StreamWriter</a:t>
            </a:r>
            <a:r>
              <a:rPr lang="pt-BR" dirty="0"/>
              <a:t> e </a:t>
            </a:r>
            <a:r>
              <a:rPr lang="pt-BR" dirty="0" err="1"/>
              <a:t>StreamReader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3E1BC0-131C-430C-A9D7-65E330141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Essas classes fornecem a capacidade de manipular dados de </a:t>
            </a:r>
            <a:r>
              <a:rPr lang="pt-BR" dirty="0" err="1"/>
              <a:t>string</a:t>
            </a:r>
            <a:r>
              <a:rPr lang="pt-BR" dirty="0"/>
              <a:t> dentro de um arquivo</a:t>
            </a:r>
          </a:p>
          <a:p>
            <a:r>
              <a:rPr lang="pt-BR" dirty="0" err="1"/>
              <a:t>Stringwriter</a:t>
            </a:r>
            <a:r>
              <a:rPr lang="pt-BR" dirty="0"/>
              <a:t> grava dados de </a:t>
            </a:r>
            <a:r>
              <a:rPr lang="pt-BR" dirty="0" err="1"/>
              <a:t>string</a:t>
            </a:r>
            <a:r>
              <a:rPr lang="pt-BR" dirty="0"/>
              <a:t> em um arquivo de texto</a:t>
            </a:r>
          </a:p>
          <a:p>
            <a:r>
              <a:rPr lang="pt-BR" dirty="0" err="1"/>
              <a:t>Stringreader</a:t>
            </a:r>
            <a:r>
              <a:rPr lang="pt-BR" dirty="0"/>
              <a:t> lê dados de </a:t>
            </a:r>
            <a:r>
              <a:rPr lang="pt-BR" dirty="0" err="1"/>
              <a:t>string</a:t>
            </a:r>
            <a:r>
              <a:rPr lang="pt-BR" dirty="0"/>
              <a:t> dos arquivos de texto</a:t>
            </a:r>
          </a:p>
          <a:p>
            <a:r>
              <a:rPr lang="pt-BR" dirty="0"/>
              <a:t>use-os quando estiver lidando com armazenamento de dados em arquivos</a:t>
            </a:r>
          </a:p>
        </p:txBody>
      </p:sp>
    </p:spTree>
    <p:extLst>
      <p:ext uri="{BB962C8B-B14F-4D97-AF65-F5344CB8AC3E}">
        <p14:creationId xmlns:p14="http://schemas.microsoft.com/office/powerpoint/2010/main" val="3145841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ocument 11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1F1A2A-AE65-4FA2-956F-BC10559F9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StreamWriter</a:t>
            </a:r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32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StreamReader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0B523F2-54EE-4DD1-BF2C-A03032C7F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584" y="99391"/>
            <a:ext cx="8055311" cy="670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6712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31449-B884-4028-B13D-F71C54A0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e campos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819B8A-CA96-4AD9-8B4E-281F90A6F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 Visual Studio facilita o trabalho com propriedades e campos</a:t>
            </a:r>
          </a:p>
          <a:p>
            <a:pPr lvl="1"/>
            <a:r>
              <a:rPr lang="pt-BR" dirty="0"/>
              <a:t>talvez fácil demais</a:t>
            </a:r>
          </a:p>
          <a:p>
            <a:pPr lvl="1"/>
            <a:r>
              <a:rPr lang="pt-BR" dirty="0"/>
              <a:t>você precisa entender o que está acontecendo em segundo plano</a:t>
            </a:r>
          </a:p>
        </p:txBody>
      </p:sp>
    </p:spTree>
    <p:extLst>
      <p:ext uri="{BB962C8B-B14F-4D97-AF65-F5344CB8AC3E}">
        <p14:creationId xmlns:p14="http://schemas.microsoft.com/office/powerpoint/2010/main" val="2908410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31449-B884-4028-B13D-F71C54A0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 e campos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737C2F0-4422-4EE9-9F2D-E3AEABCA6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77412"/>
            <a:ext cx="10099040" cy="550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087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73292B-4A41-4421-8751-CB731658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0B1F5D-2DF5-4DC7-83C1-72A716C4A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método é um bloco de código nomeado que executa uma série de instruções</a:t>
            </a:r>
          </a:p>
          <a:p>
            <a:pPr lvl="1"/>
            <a:r>
              <a:rPr lang="pt-BR" dirty="0"/>
              <a:t>um programa faz com que as instruções sejam executadas chamando o método e especificando quaisquer argumentos de método necessários</a:t>
            </a:r>
          </a:p>
          <a:p>
            <a:pPr lvl="1"/>
            <a:r>
              <a:rPr lang="pt-BR" dirty="0"/>
              <a:t>semelhante a sub-rotinas em outras linguagens</a:t>
            </a:r>
          </a:p>
          <a:p>
            <a:pPr lvl="1"/>
            <a:r>
              <a:rPr lang="pt-BR" dirty="0"/>
              <a:t>Em C #, todas as instruções executadas são executadas no contexto de um método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08557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34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573292B-4A41-4421-8751-CB731658A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0080"/>
            <a:ext cx="3096427" cy="5613236"/>
          </a:xfrm>
        </p:spPr>
        <p:txBody>
          <a:bodyPr anchor="ctr"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Métodos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0B1F5D-2DF5-4DC7-83C1-72A716C4A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818" y="640081"/>
            <a:ext cx="6848715" cy="6138405"/>
          </a:xfrm>
        </p:spPr>
        <p:txBody>
          <a:bodyPr anchor="ctr">
            <a:normAutofit/>
          </a:bodyPr>
          <a:lstStyle/>
          <a:p>
            <a:r>
              <a:rPr lang="pt-BR" sz="1600" dirty="0"/>
              <a:t>Access </a:t>
            </a:r>
            <a:r>
              <a:rPr lang="pt-BR" sz="1600" dirty="0" err="1"/>
              <a:t>Modifier</a:t>
            </a:r>
            <a:r>
              <a:rPr lang="pt-BR" sz="1600" dirty="0"/>
              <a:t> =&gt; </a:t>
            </a:r>
            <a:r>
              <a:rPr lang="pt-BR" sz="1600" dirty="0" err="1"/>
              <a:t>public</a:t>
            </a:r>
            <a:endParaRPr lang="pt-BR" sz="1600" dirty="0"/>
          </a:p>
          <a:p>
            <a:pPr lvl="1"/>
            <a:r>
              <a:rPr lang="pt-BR" sz="1600" dirty="0"/>
              <a:t>Controla a disponibilidade do método para outro código</a:t>
            </a:r>
          </a:p>
          <a:p>
            <a:r>
              <a:rPr lang="pt-BR" sz="1600" dirty="0" err="1"/>
              <a:t>Return</a:t>
            </a:r>
            <a:r>
              <a:rPr lang="pt-BR" sz="1600" dirty="0"/>
              <a:t> </a:t>
            </a:r>
            <a:r>
              <a:rPr lang="pt-BR" sz="1600" dirty="0" err="1"/>
              <a:t>Type</a:t>
            </a:r>
            <a:r>
              <a:rPr lang="pt-BR" sz="1600" dirty="0"/>
              <a:t> =&gt; </a:t>
            </a:r>
            <a:r>
              <a:rPr lang="pt-BR" sz="1600" dirty="0" err="1"/>
              <a:t>int</a:t>
            </a:r>
            <a:endParaRPr lang="pt-BR" sz="1600" dirty="0"/>
          </a:p>
          <a:p>
            <a:pPr lvl="1"/>
            <a:r>
              <a:rPr lang="pt-BR" sz="1600" dirty="0"/>
              <a:t>Os métodos podem retornar um valor para o código de chamada</a:t>
            </a:r>
          </a:p>
          <a:p>
            <a:pPr lvl="1"/>
            <a:r>
              <a:rPr lang="pt-BR" sz="1600" dirty="0"/>
              <a:t>Às vezes chamada de função quando retorna um valor</a:t>
            </a:r>
          </a:p>
          <a:p>
            <a:pPr lvl="1"/>
            <a:r>
              <a:rPr lang="pt-BR" sz="1600" dirty="0"/>
              <a:t>se o tipo de retorno não for nulo, o método retornará um valor</a:t>
            </a:r>
          </a:p>
          <a:p>
            <a:pPr lvl="1"/>
            <a:r>
              <a:rPr lang="pt-BR" sz="1600" dirty="0"/>
              <a:t>Uma declaração de retorno dentro do método interromperá a execução e retornará um valor ao chamador se o valor corresponder ao tipo de retorno</a:t>
            </a:r>
          </a:p>
          <a:p>
            <a:r>
              <a:rPr lang="pt-BR" sz="1600" dirty="0" err="1"/>
              <a:t>Parameters</a:t>
            </a:r>
            <a:r>
              <a:rPr lang="pt-BR" sz="1600" dirty="0"/>
              <a:t> =&gt; (</a:t>
            </a:r>
            <a:r>
              <a:rPr lang="pt-BR" sz="1600" dirty="0" err="1"/>
              <a:t>int</a:t>
            </a:r>
            <a:r>
              <a:rPr lang="pt-BR" sz="1600" dirty="0"/>
              <a:t> a, </a:t>
            </a:r>
            <a:r>
              <a:rPr lang="pt-BR" sz="1600" dirty="0" err="1"/>
              <a:t>int</a:t>
            </a:r>
            <a:r>
              <a:rPr lang="pt-BR" sz="1600" dirty="0"/>
              <a:t> b)</a:t>
            </a:r>
          </a:p>
          <a:p>
            <a:pPr lvl="1"/>
            <a:r>
              <a:rPr lang="pt-BR" sz="1600" dirty="0"/>
              <a:t>Especifica o nome e o tipo de dados dos valores que devem ser fornecidos quando o método é chamado</a:t>
            </a:r>
          </a:p>
          <a:p>
            <a:pPr lvl="1"/>
            <a:r>
              <a:rPr lang="pt-BR" sz="1600" dirty="0"/>
              <a:t>Os valores passados para os parâmetros do método são chamados de argumentos</a:t>
            </a:r>
          </a:p>
          <a:p>
            <a:pPr lvl="1"/>
            <a:r>
              <a:rPr lang="pt-BR" sz="1600" dirty="0"/>
              <a:t>Os argumentos devem ser compatíveis com o tipo de dados do parâmetro</a:t>
            </a:r>
          </a:p>
          <a:p>
            <a:r>
              <a:rPr lang="pt-BR" sz="1600" dirty="0" err="1"/>
              <a:t>Signature</a:t>
            </a:r>
            <a:r>
              <a:rPr lang="pt-BR" sz="1600" dirty="0"/>
              <a:t> =&gt; </a:t>
            </a:r>
            <a:r>
              <a:rPr lang="pt-BR" sz="1600" dirty="0" err="1"/>
              <a:t>int</a:t>
            </a:r>
            <a:r>
              <a:rPr lang="pt-BR" sz="1600" dirty="0"/>
              <a:t> Soma(</a:t>
            </a:r>
            <a:r>
              <a:rPr lang="pt-BR" sz="1600" dirty="0" err="1"/>
              <a:t>int</a:t>
            </a:r>
            <a:r>
              <a:rPr lang="pt-BR" sz="1600" dirty="0"/>
              <a:t> a, </a:t>
            </a:r>
            <a:r>
              <a:rPr lang="pt-BR" sz="1600" dirty="0" err="1"/>
              <a:t>int</a:t>
            </a:r>
            <a:r>
              <a:rPr lang="pt-BR" sz="1600" dirty="0"/>
              <a:t> b)</a:t>
            </a:r>
          </a:p>
          <a:p>
            <a:pPr lvl="1"/>
            <a:r>
              <a:rPr lang="pt-BR" sz="1600" dirty="0"/>
              <a:t>Refere-se à estrutura do método</a:t>
            </a:r>
          </a:p>
          <a:p>
            <a:pPr lvl="1"/>
            <a:r>
              <a:rPr lang="pt-BR" sz="1600" dirty="0"/>
              <a:t>Para </a:t>
            </a:r>
            <a:r>
              <a:rPr lang="pt-BR" sz="1600" dirty="0" err="1"/>
              <a:t>overloads</a:t>
            </a:r>
            <a:r>
              <a:rPr lang="pt-BR" sz="1600" dirty="0"/>
              <a:t>, a assinatura inclui o nome do método e os tipos de parâmetros</a:t>
            </a:r>
          </a:p>
          <a:p>
            <a:pPr lvl="1"/>
            <a:r>
              <a:rPr lang="pt-BR" sz="1600" dirty="0"/>
              <a:t>Para </a:t>
            </a:r>
            <a:r>
              <a:rPr lang="pt-BR" sz="1600" dirty="0" err="1"/>
              <a:t>delegates</a:t>
            </a:r>
            <a:r>
              <a:rPr lang="pt-BR" sz="1600" dirty="0"/>
              <a:t>, a assinatura inclui o tipo de retorno e os tipos de parâmetro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E88FEFC-C842-4B04-9DFB-AF0A6940B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76" y="3695475"/>
            <a:ext cx="2607370" cy="7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10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73F0EA-86E1-47F3-BB05-F05E2C34D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argumentos nomeados e opcionais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E1E76C-62EA-4B7A-A1C2-00CEE3A21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Os parâmetros de um método são geralmente utilizados posicionalmente</a:t>
            </a:r>
          </a:p>
          <a:p>
            <a:r>
              <a:rPr lang="pt-BR" dirty="0"/>
              <a:t>argumentos nomeados podem ser usados em vez de posicionais</a:t>
            </a:r>
          </a:p>
          <a:p>
            <a:r>
              <a:rPr lang="pt-BR" dirty="0"/>
              <a:t>Por padrão, todos os parâmetros listados são requeridos ao chamar o método</a:t>
            </a:r>
          </a:p>
          <a:p>
            <a:pPr lvl="1"/>
            <a:r>
              <a:rPr lang="pt-BR" dirty="0"/>
              <a:t>Parâmetros opcionais podem ser definidos</a:t>
            </a:r>
          </a:p>
          <a:p>
            <a:pPr lvl="1"/>
            <a:r>
              <a:rPr lang="pt-BR" dirty="0"/>
              <a:t>Cada parâmetro opcional possui um valor padrão como parte de sua definição</a:t>
            </a:r>
          </a:p>
          <a:p>
            <a:pPr lvl="1"/>
            <a:r>
              <a:rPr lang="pt-BR" dirty="0"/>
              <a:t>se nenhum argumento for enviado para esse parâmetro, o valor padrão será usado</a:t>
            </a:r>
          </a:p>
          <a:p>
            <a:pPr lvl="1"/>
            <a:r>
              <a:rPr lang="pt-BR" dirty="0"/>
              <a:t>Parâmetros opcionais são definidos no final da lista de parâmetros, após todos os parâmetros necessários</a:t>
            </a:r>
          </a:p>
        </p:txBody>
      </p:sp>
    </p:spTree>
    <p:extLst>
      <p:ext uri="{BB962C8B-B14F-4D97-AF65-F5344CB8AC3E}">
        <p14:creationId xmlns:p14="http://schemas.microsoft.com/office/powerpoint/2010/main" val="2724076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855D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73F0EA-86E1-47F3-BB05-F05E2C34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Argumentos Nomeados e Opcionais</a:t>
            </a:r>
          </a:p>
        </p:txBody>
      </p:sp>
      <p:pic>
        <p:nvPicPr>
          <p:cNvPr id="6" name="Imagem 5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3ADCB02D-2643-4C75-9419-E94E04FF0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588" y="961812"/>
            <a:ext cx="5870222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14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99122-0800-4C99-8E40-AAF25DC9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FAB17E-2558-43FA-8D09-7AF775A7A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método que é executado automaticamente toda vez que um objeto é instanciado da classe</a:t>
            </a:r>
          </a:p>
          <a:p>
            <a:r>
              <a:rPr lang="pt-BR" dirty="0"/>
              <a:t>Um método com o mesmo nome da classe</a:t>
            </a:r>
          </a:p>
          <a:p>
            <a:r>
              <a:rPr lang="pt-BR" dirty="0"/>
              <a:t>toda classe ou estrutura c # tem um construtor, se um construtor não é fornecido pelo programador, o C # cria um construtor padrão</a:t>
            </a:r>
          </a:p>
          <a:p>
            <a:r>
              <a:rPr lang="pt-BR" dirty="0"/>
              <a:t>O construtor pode estar sobrecarregado</a:t>
            </a:r>
          </a:p>
        </p:txBody>
      </p:sp>
    </p:spTree>
    <p:extLst>
      <p:ext uri="{BB962C8B-B14F-4D97-AF65-F5344CB8AC3E}">
        <p14:creationId xmlns:p14="http://schemas.microsoft.com/office/powerpoint/2010/main" val="38216789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DA30A3-CD03-40DA-B2E4-85F08783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Construtores.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06663A-334F-455A-AF1B-F4846B333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Construtores são uteis para:</a:t>
            </a:r>
          </a:p>
          <a:p>
            <a:pPr lvl="1"/>
            <a:r>
              <a:rPr lang="pt-BR" dirty="0"/>
              <a:t>permite que ações sejam executadas quando um objeto é criado com base na classe</a:t>
            </a:r>
          </a:p>
          <a:p>
            <a:pPr lvl="1"/>
            <a:r>
              <a:rPr lang="pt-BR" dirty="0"/>
              <a:t>Definir valores padrão</a:t>
            </a:r>
          </a:p>
          <a:p>
            <a:pPr lvl="1"/>
            <a:r>
              <a:rPr lang="pt-BR" dirty="0"/>
              <a:t>Instanciar limite</a:t>
            </a:r>
          </a:p>
          <a:p>
            <a:pPr lvl="1"/>
            <a:r>
              <a:rPr lang="pt-BR" dirty="0"/>
              <a:t>Tome uma ação específica</a:t>
            </a:r>
          </a:p>
        </p:txBody>
      </p:sp>
    </p:spTree>
    <p:extLst>
      <p:ext uri="{BB962C8B-B14F-4D97-AF65-F5344CB8AC3E}">
        <p14:creationId xmlns:p14="http://schemas.microsoft.com/office/powerpoint/2010/main" val="4276053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64CCCF-6D79-4EE2-ABE4-FE678D102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 Principais Tipos de Construtores.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01B43F-8911-454F-BAD0-17BFE3778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Instance</a:t>
            </a:r>
            <a:endParaRPr lang="pt-BR" dirty="0"/>
          </a:p>
          <a:p>
            <a:pPr lvl="1"/>
            <a:r>
              <a:rPr lang="pt-BR" dirty="0"/>
              <a:t>Usado para criar e inicializar qualquer variável de membro da instância quando você usa a nova expressão para criar um objeto de uma classe</a:t>
            </a:r>
          </a:p>
          <a:p>
            <a:r>
              <a:rPr lang="pt-BR" dirty="0"/>
              <a:t>Private</a:t>
            </a:r>
          </a:p>
          <a:p>
            <a:pPr lvl="1"/>
            <a:r>
              <a:rPr lang="pt-BR" dirty="0"/>
              <a:t>Impede que outras classes criem instâncias dessa classe</a:t>
            </a:r>
          </a:p>
          <a:p>
            <a:pPr lvl="1"/>
            <a:r>
              <a:rPr lang="pt-BR" dirty="0"/>
              <a:t>Somente classes aninhadas podem criar uma instância dessa classe</a:t>
            </a:r>
          </a:p>
          <a:p>
            <a:r>
              <a:rPr lang="pt-BR" dirty="0" err="1"/>
              <a:t>Static</a:t>
            </a:r>
            <a:endParaRPr lang="pt-BR" dirty="0"/>
          </a:p>
          <a:p>
            <a:pPr lvl="1"/>
            <a:r>
              <a:rPr lang="pt-BR" dirty="0"/>
              <a:t>Usado para inicializar qualquer dado estático</a:t>
            </a:r>
          </a:p>
          <a:p>
            <a:pPr lvl="1"/>
            <a:r>
              <a:rPr lang="pt-BR" dirty="0"/>
              <a:t>Um construtor estático é chamado apenas uma vez antes da criação da primeira instância da classe ou da referência a qualquer membro estático</a:t>
            </a:r>
          </a:p>
        </p:txBody>
      </p:sp>
    </p:spTree>
    <p:extLst>
      <p:ext uri="{BB962C8B-B14F-4D97-AF65-F5344CB8AC3E}">
        <p14:creationId xmlns:p14="http://schemas.microsoft.com/office/powerpoint/2010/main" val="506416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F99122-0800-4C99-8E40-AAF25DC90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Construtores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9E33C570-D1A7-4604-851F-B9AF9498A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71" y="1500238"/>
            <a:ext cx="11139853" cy="537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8450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17AF0-E410-4ED9-8D80-6B0CC8633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Modificador Estático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D29D56-FC34-441A-86B6-3AAC38A88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O modificador estático altera o comportamento dos tipos e membros de C #</a:t>
            </a:r>
          </a:p>
          <a:p>
            <a:r>
              <a:rPr lang="pt-BR" dirty="0"/>
              <a:t>Uma classe ou membro estático não pode ser acessado através de uma instância.</a:t>
            </a:r>
          </a:p>
          <a:p>
            <a:r>
              <a:rPr lang="pt-BR" dirty="0"/>
              <a:t>Uma classe não estática é usada para criar vários objetos com base no tipo não estático</a:t>
            </a:r>
          </a:p>
          <a:p>
            <a:pPr lvl="1"/>
            <a:r>
              <a:rPr lang="pt-BR" dirty="0"/>
              <a:t>objetos são criados usando a nova palavra-chave</a:t>
            </a:r>
          </a:p>
          <a:p>
            <a:r>
              <a:rPr lang="pt-BR" dirty="0"/>
              <a:t>Em uma classe estática, todos os membros devem ser marcados como estático.</a:t>
            </a:r>
          </a:p>
          <a:p>
            <a:r>
              <a:rPr lang="pt-BR" dirty="0"/>
              <a:t>Você não pode usar a nova palavra-chave com uma classe estática</a:t>
            </a:r>
          </a:p>
          <a:p>
            <a:r>
              <a:rPr lang="pt-BR" dirty="0"/>
              <a:t>Classes e membros </a:t>
            </a:r>
            <a:r>
              <a:rPr lang="pt-BR" dirty="0" err="1"/>
              <a:t>poApenas</a:t>
            </a:r>
            <a:r>
              <a:rPr lang="pt-BR" dirty="0"/>
              <a:t> uma instância do objeto estático existe</a:t>
            </a:r>
          </a:p>
          <a:p>
            <a:r>
              <a:rPr lang="pt-BR" dirty="0" err="1"/>
              <a:t>dem</a:t>
            </a:r>
            <a:r>
              <a:rPr lang="pt-BR" dirty="0"/>
              <a:t> ser marcados como estáticos</a:t>
            </a:r>
          </a:p>
        </p:txBody>
      </p:sp>
    </p:spTree>
    <p:extLst>
      <p:ext uri="{BB962C8B-B14F-4D97-AF65-F5344CB8AC3E}">
        <p14:creationId xmlns:p14="http://schemas.microsoft.com/office/powerpoint/2010/main" val="3687598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C5F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917AF0-E410-4ED9-8D80-6B0CC8633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Modificador Estático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EFE859A-7FCD-49C6-92B9-1E2A4AD8C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403" y="961812"/>
            <a:ext cx="6848593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9395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966765-8AEC-4958-A11B-4C9E0641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Structs</a:t>
            </a:r>
            <a:r>
              <a:rPr lang="pt-BR" b="1" dirty="0"/>
              <a:t> C#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4C732C-05E1-4197-8C2B-2B2BC0732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Uma estrutura é muito semelhante a uma classe</a:t>
            </a:r>
          </a:p>
          <a:p>
            <a:pPr lvl="1"/>
            <a:r>
              <a:rPr lang="pt-BR" dirty="0"/>
              <a:t>parece e age como uma classe</a:t>
            </a:r>
          </a:p>
          <a:p>
            <a:pPr lvl="1"/>
            <a:r>
              <a:rPr lang="pt-BR" dirty="0"/>
              <a:t>mas é um tipo de valor, não um tipo de referência</a:t>
            </a:r>
          </a:p>
          <a:p>
            <a:r>
              <a:rPr lang="pt-BR" dirty="0" err="1"/>
              <a:t>Struct</a:t>
            </a:r>
            <a:r>
              <a:rPr lang="pt-BR" dirty="0"/>
              <a:t> compartilha muitas funcionalidades de classes</a:t>
            </a:r>
          </a:p>
          <a:p>
            <a:pPr lvl="1"/>
            <a:r>
              <a:rPr lang="pt-BR" dirty="0"/>
              <a:t>Campos, propriedades, métodos e eventos.</a:t>
            </a:r>
          </a:p>
          <a:p>
            <a:pPr lvl="1"/>
            <a:r>
              <a:rPr lang="pt-BR" dirty="0"/>
              <a:t>Podem implementar interfaces.</a:t>
            </a:r>
          </a:p>
          <a:p>
            <a:r>
              <a:rPr lang="pt-BR" dirty="0"/>
              <a:t>Diferenças da </a:t>
            </a:r>
            <a:r>
              <a:rPr lang="pt-BR" dirty="0" err="1"/>
              <a:t>Struct</a:t>
            </a:r>
            <a:r>
              <a:rPr lang="pt-BR" dirty="0"/>
              <a:t> para Classe</a:t>
            </a:r>
          </a:p>
          <a:p>
            <a:pPr lvl="1"/>
            <a:r>
              <a:rPr lang="pt-BR" dirty="0"/>
              <a:t>Não é possível declarar um construtor padrão</a:t>
            </a:r>
          </a:p>
          <a:p>
            <a:pPr lvl="1"/>
            <a:r>
              <a:rPr lang="pt-BR" dirty="0"/>
              <a:t>Não é possível herdar de outra estrutura ou classe</a:t>
            </a:r>
          </a:p>
          <a:p>
            <a:pPr lvl="1"/>
            <a:r>
              <a:rPr lang="pt-BR" dirty="0"/>
              <a:t>Pode ser instanciado sem a palavra-chave new, mas não há chamada do construtor e todos os campos devem ser inicializados antes que o objeto possa ser usado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54111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966765-8AEC-4958-A11B-4C9E06414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Structs</a:t>
            </a:r>
            <a:r>
              <a:rPr lang="en-US" sz="5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C#</a:t>
            </a:r>
            <a:endParaRPr lang="en-US" sz="5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6763190E-6890-4060-BD93-05C9EF432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61" y="1500237"/>
            <a:ext cx="11915239" cy="512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7415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D0C03C-2BF7-4D1B-8590-7587F7076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Generics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50E1D2-3016-4900-B308-987C72DBB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Coleções que são de tipo seguro em tempo de compilação</a:t>
            </a:r>
          </a:p>
          <a:p>
            <a:r>
              <a:rPr lang="pt-BR" dirty="0"/>
              <a:t>Uma maneira mais rápida, segura e eficiente de lidar com coleções</a:t>
            </a:r>
          </a:p>
          <a:p>
            <a:r>
              <a:rPr lang="pt-BR" dirty="0"/>
              <a:t>Introduzido no C # versão 2.0</a:t>
            </a:r>
          </a:p>
          <a:p>
            <a:r>
              <a:rPr lang="pt-BR" dirty="0"/>
              <a:t>Torne possível projetar classes e métodos que adiam a especificação de um ou mais tipos até que a classe ou método seja declarado e instanciado pelo código</a:t>
            </a:r>
          </a:p>
          <a:p>
            <a:r>
              <a:rPr lang="pt-BR" dirty="0"/>
              <a:t>A generalização realizada do tipos de em questão para o objeto do tipo base universal</a:t>
            </a:r>
          </a:p>
        </p:txBody>
      </p:sp>
    </p:spTree>
    <p:extLst>
      <p:ext uri="{BB962C8B-B14F-4D97-AF65-F5344CB8AC3E}">
        <p14:creationId xmlns:p14="http://schemas.microsoft.com/office/powerpoint/2010/main" val="28416582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03C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D0C03C-2BF7-4D1B-8590-7587F7076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Generics</a:t>
            </a:r>
          </a:p>
        </p:txBody>
      </p:sp>
      <p:pic>
        <p:nvPicPr>
          <p:cNvPr id="6" name="Imagem 5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038EEBC9-05B7-4B58-A73E-3AD491235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163023"/>
            <a:ext cx="7188199" cy="452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817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DC4E2-1F15-4A9D-93BE-44697D8B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9675"/>
          </a:xfrm>
        </p:spPr>
        <p:txBody>
          <a:bodyPr>
            <a:normAutofit/>
          </a:bodyPr>
          <a:lstStyle/>
          <a:p>
            <a:r>
              <a:rPr lang="pt-BR" dirty="0"/>
              <a:t>Conversão e Casting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1D2DF4-FD4B-44BA-8D05-D5E5E04C8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Variáveis C # são estaticamente </a:t>
            </a:r>
            <a:r>
              <a:rPr lang="pt-BR" dirty="0" err="1"/>
              <a:t>tipadas</a:t>
            </a:r>
            <a:endParaRPr lang="pt-BR" dirty="0"/>
          </a:p>
          <a:p>
            <a:pPr lvl="1"/>
            <a:r>
              <a:rPr lang="pt-BR" dirty="0"/>
              <a:t>Tipos de dados são atribuídos a variáveis e verificados em tempo de compilação</a:t>
            </a:r>
          </a:p>
          <a:p>
            <a:r>
              <a:rPr lang="pt-BR" dirty="0"/>
              <a:t>Essa verificação de tipo ajuda a evitar erros</a:t>
            </a:r>
          </a:p>
          <a:p>
            <a:r>
              <a:rPr lang="pt-BR" dirty="0"/>
              <a:t>Há muitos casos em que uma variável de um tipo específico precisa armazenar dados de um tipo diferente</a:t>
            </a:r>
          </a:p>
          <a:p>
            <a:r>
              <a:rPr lang="pt-BR" dirty="0"/>
              <a:t>Casting e conversão são os processos fornecidos para alterar o tipo de dados</a:t>
            </a:r>
          </a:p>
          <a:p>
            <a:r>
              <a:rPr lang="pt-BR" dirty="0"/>
              <a:t>Existem dois tipos principais de conversões de tipo em C #</a:t>
            </a:r>
          </a:p>
          <a:p>
            <a:pPr lvl="1"/>
            <a:r>
              <a:rPr lang="pt-BR" dirty="0"/>
              <a:t>implícito e explícito</a:t>
            </a:r>
          </a:p>
        </p:txBody>
      </p:sp>
    </p:spTree>
    <p:extLst>
      <p:ext uri="{BB962C8B-B14F-4D97-AF65-F5344CB8AC3E}">
        <p14:creationId xmlns:p14="http://schemas.microsoft.com/office/powerpoint/2010/main" val="14467859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DC4E2-1F15-4A9D-93BE-44697D8B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pt-BR" sz="4100" dirty="0"/>
              <a:t>Conversão e </a:t>
            </a:r>
            <a:r>
              <a:rPr lang="pt-BR" sz="4100" dirty="0" err="1"/>
              <a:t>Cast</a:t>
            </a:r>
            <a:r>
              <a:rPr lang="pt-BR" sz="4100" dirty="0"/>
              <a:t> - Implícito e Explicito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D88F739-D5F0-4FEE-9000-1A4DF841CE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644" b="-2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FF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1D2DF4-FD4B-44BA-8D05-D5E5E04C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lang="pt-BR" sz="2000" dirty="0"/>
              <a:t>Implícito</a:t>
            </a:r>
          </a:p>
          <a:p>
            <a:pPr lvl="1"/>
            <a:r>
              <a:rPr lang="pt-BR" sz="2000" dirty="0"/>
              <a:t>Essas conversões ocorrem automaticamente porque não há risco de perda de dados</a:t>
            </a:r>
          </a:p>
          <a:p>
            <a:pPr lvl="1"/>
            <a:r>
              <a:rPr lang="pt-BR" sz="2000" dirty="0"/>
              <a:t>Uma variável do tipo </a:t>
            </a:r>
            <a:r>
              <a:rPr lang="pt-BR" sz="2000" dirty="0" err="1"/>
              <a:t>long</a:t>
            </a:r>
            <a:r>
              <a:rPr lang="pt-BR" sz="2000" dirty="0"/>
              <a:t> (8 bytes inteiro) pode armazenar qualquer valor que um </a:t>
            </a:r>
            <a:r>
              <a:rPr lang="pt-BR" sz="2000" dirty="0" err="1"/>
              <a:t>int</a:t>
            </a:r>
            <a:r>
              <a:rPr lang="pt-BR" sz="2000" dirty="0"/>
              <a:t> (4 bytes) possa armazenar</a:t>
            </a:r>
          </a:p>
          <a:p>
            <a:r>
              <a:rPr lang="pt-BR" sz="2000" dirty="0"/>
              <a:t>Explicito</a:t>
            </a:r>
          </a:p>
          <a:p>
            <a:pPr lvl="1"/>
            <a:r>
              <a:rPr lang="pt-BR" sz="2000" dirty="0"/>
              <a:t>Se a conversão não puder ser feita sem o risco de perda de informações (tipo de dados maior para menor), é necessária uma conversão explícita</a:t>
            </a:r>
          </a:p>
          <a:p>
            <a:pPr lvl="1"/>
            <a:r>
              <a:rPr lang="pt-BR" sz="2000" dirty="0"/>
              <a:t>Informa o compilador que você entende que pode ocorrer perda de dados</a:t>
            </a:r>
          </a:p>
          <a:p>
            <a:pPr lvl="1"/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8741588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DC4E2-1F15-4A9D-93BE-44697D8B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09675"/>
          </a:xfrm>
        </p:spPr>
        <p:txBody>
          <a:bodyPr>
            <a:normAutofit/>
          </a:bodyPr>
          <a:lstStyle/>
          <a:p>
            <a:r>
              <a:rPr lang="pt-BR" dirty="0"/>
              <a:t>Conversão e Casting - Classe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31D2DF4-FD4B-44BA-8D05-D5E5E04C8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 # também fornece a classe </a:t>
            </a:r>
            <a:r>
              <a:rPr lang="pt-BR" dirty="0" err="1"/>
              <a:t>Convert</a:t>
            </a:r>
            <a:r>
              <a:rPr lang="pt-BR" dirty="0"/>
              <a:t> para converter tipos de dados</a:t>
            </a:r>
          </a:p>
          <a:p>
            <a:pPr lvl="1"/>
            <a:r>
              <a:rPr lang="pt-BR" dirty="0"/>
              <a:t>O </a:t>
            </a:r>
            <a:r>
              <a:rPr lang="pt-BR" dirty="0" err="1"/>
              <a:t>Convert</a:t>
            </a:r>
            <a:r>
              <a:rPr lang="pt-BR" dirty="0"/>
              <a:t> oferece funcionalidade semelhante, mas fica um pouco mais complexo a conversão.</a:t>
            </a:r>
          </a:p>
          <a:p>
            <a:pPr lvl="1"/>
            <a:r>
              <a:rPr lang="pt-BR" dirty="0"/>
              <a:t>O </a:t>
            </a:r>
            <a:r>
              <a:rPr lang="pt-BR" dirty="0" err="1"/>
              <a:t>Convert</a:t>
            </a:r>
            <a:r>
              <a:rPr lang="pt-BR" dirty="0"/>
              <a:t> é ótimo quando se trabalha com </a:t>
            </a:r>
            <a:r>
              <a:rPr lang="pt-BR" dirty="0" err="1"/>
              <a:t>strings</a:t>
            </a:r>
            <a:endParaRPr lang="pt-BR" dirty="0"/>
          </a:p>
          <a:p>
            <a:pPr lvl="1"/>
            <a:r>
              <a:rPr lang="pt-BR" dirty="0"/>
              <a:t>Resposta mais simples: tente </a:t>
            </a:r>
            <a:r>
              <a:rPr lang="pt-BR" dirty="0" err="1"/>
              <a:t>cast</a:t>
            </a:r>
            <a:r>
              <a:rPr lang="pt-BR" dirty="0"/>
              <a:t>, se falhar, tente converter</a:t>
            </a:r>
          </a:p>
        </p:txBody>
      </p:sp>
    </p:spTree>
    <p:extLst>
      <p:ext uri="{BB962C8B-B14F-4D97-AF65-F5344CB8AC3E}">
        <p14:creationId xmlns:p14="http://schemas.microsoft.com/office/powerpoint/2010/main" val="26029928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C44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3DC4E2-1F15-4A9D-93BE-44697D8B8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Conversão e Casting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62D306-3489-407C-A51F-68F759C59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160" y="53208"/>
            <a:ext cx="7731760" cy="684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987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02BC9A-576E-42A5-8CAF-B86DC18E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Boxing</a:t>
            </a:r>
            <a:r>
              <a:rPr lang="pt-BR" dirty="0"/>
              <a:t> e Unboxing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172306-630F-4829-9C33-368212337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C # é baseado em um sistema de tipo unificado</a:t>
            </a:r>
          </a:p>
          <a:p>
            <a:pPr lvl="1"/>
            <a:r>
              <a:rPr lang="pt-BR" dirty="0"/>
              <a:t>Tudo pode ser um objeto</a:t>
            </a:r>
          </a:p>
          <a:p>
            <a:pPr lvl="1"/>
            <a:r>
              <a:rPr lang="pt-BR" dirty="0"/>
              <a:t>Mas existem dois tipos principais, valor e referência</a:t>
            </a:r>
          </a:p>
          <a:p>
            <a:pPr lvl="1"/>
            <a:r>
              <a:rPr lang="pt-BR" dirty="0"/>
              <a:t>Os tipos de valor e referência são armazenados e gerenciados de maneira diferente</a:t>
            </a:r>
          </a:p>
          <a:p>
            <a:pPr lvl="1"/>
            <a:r>
              <a:rPr lang="pt-BR" dirty="0" err="1"/>
              <a:t>Boxing</a:t>
            </a:r>
            <a:r>
              <a:rPr lang="pt-BR" dirty="0"/>
              <a:t> fornece uma maneira comum de lidar com ambos os tipos</a:t>
            </a:r>
          </a:p>
          <a:p>
            <a:r>
              <a:rPr lang="pt-BR" dirty="0"/>
              <a:t>Uma coleção de objetos foi criada</a:t>
            </a:r>
          </a:p>
          <a:p>
            <a:pPr lvl="1"/>
            <a:r>
              <a:rPr lang="pt-BR" dirty="0"/>
              <a:t>e queremos adicionar uma variável </a:t>
            </a:r>
            <a:r>
              <a:rPr lang="pt-BR" dirty="0" err="1"/>
              <a:t>integer</a:t>
            </a:r>
            <a:r>
              <a:rPr lang="pt-BR" dirty="0"/>
              <a:t> na coleção </a:t>
            </a:r>
          </a:p>
          <a:p>
            <a:pPr lvl="1"/>
            <a:r>
              <a:rPr lang="pt-BR" dirty="0" err="1"/>
              <a:t>Boxing</a:t>
            </a:r>
            <a:r>
              <a:rPr lang="pt-BR" dirty="0"/>
              <a:t> permitir isso a variável </a:t>
            </a:r>
            <a:r>
              <a:rPr lang="pt-BR" dirty="0" err="1"/>
              <a:t>integer</a:t>
            </a:r>
            <a:r>
              <a:rPr lang="pt-BR" dirty="0"/>
              <a:t> é quebrada em um </a:t>
            </a:r>
            <a:r>
              <a:rPr lang="pt-BR" dirty="0" err="1"/>
              <a:t>System.Object</a:t>
            </a:r>
            <a:endParaRPr lang="pt-BR" dirty="0"/>
          </a:p>
          <a:p>
            <a:pPr lvl="1"/>
            <a:r>
              <a:rPr lang="pt-BR" dirty="0"/>
              <a:t>Agora ele é armazenado no </a:t>
            </a:r>
            <a:r>
              <a:rPr lang="pt-BR" dirty="0" err="1"/>
              <a:t>heap</a:t>
            </a:r>
            <a:r>
              <a:rPr lang="pt-BR" dirty="0"/>
              <a:t> como um tipo de referência e não no </a:t>
            </a:r>
            <a:r>
              <a:rPr lang="pt-BR" dirty="0" err="1"/>
              <a:t>stack</a:t>
            </a:r>
            <a:r>
              <a:rPr lang="pt-BR" dirty="0"/>
              <a:t> como um tipo de valor</a:t>
            </a:r>
          </a:p>
          <a:p>
            <a:r>
              <a:rPr lang="pt-BR" dirty="0" err="1"/>
              <a:t>Boxing</a:t>
            </a:r>
            <a:r>
              <a:rPr lang="pt-BR" dirty="0"/>
              <a:t> é uma conversão implícita</a:t>
            </a:r>
          </a:p>
          <a:p>
            <a:r>
              <a:rPr lang="pt-BR" dirty="0"/>
              <a:t>Unboxing é uma conversão explícita</a:t>
            </a:r>
          </a:p>
          <a:p>
            <a:r>
              <a:rPr lang="pt-BR" dirty="0" err="1"/>
              <a:t>Boxing</a:t>
            </a:r>
            <a:r>
              <a:rPr lang="pt-BR" dirty="0"/>
              <a:t> excessivo pode ficar caro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79933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D3D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02BC9A-576E-42A5-8CAF-B86DC18E6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Boxing e Unboxing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1A09CE1-50B7-4290-8119-88E2BF408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14" y="69386"/>
            <a:ext cx="7285726" cy="679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2492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DB646-DC50-4BE8-ABA5-01B5E609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Indexers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C31D1C-0B78-49D1-9060-E0D3B65E1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indexador fornece a capacidade de acessar um tipo usando um índice semelhante a uma </a:t>
            </a:r>
            <a:r>
              <a:rPr lang="pt-BR" dirty="0" err="1"/>
              <a:t>array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691034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4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5DB646-DC50-4BE8-ABA5-01B5E6094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Indexers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7EC213A3-AB10-4D21-BB7C-D4166EBBAC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6563"/>
            <a:ext cx="12167365" cy="501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784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8A4132F-DEC6-4332-A00C-A11AD4519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81CF895-9B2A-4276-B1C3-E98C5B318D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72" r="-3" b="5567"/>
          <a:stretch/>
        </p:blipFill>
        <p:spPr>
          <a:xfrm>
            <a:off x="7092985" y="2598701"/>
            <a:ext cx="4260814" cy="2479445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4965EAE-E41A-435F-B993-07E824B6C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0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52F8994-E6D4-4311-9548-C3607BC43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F78045-8B96-4FC2-8271-7A2A7488D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529943" cy="1325563"/>
          </a:xfrm>
        </p:spPr>
        <p:txBody>
          <a:bodyPr>
            <a:normAutofit/>
          </a:bodyPr>
          <a:lstStyle/>
          <a:p>
            <a:r>
              <a:rPr lang="pt-BR"/>
              <a:t>Herança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6519C-B5A8-47FD-BBCF-ABE33E64B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128169" cy="3399518"/>
          </a:xfrm>
        </p:spPr>
        <p:txBody>
          <a:bodyPr>
            <a:normAutofit/>
          </a:bodyPr>
          <a:lstStyle/>
          <a:p>
            <a:r>
              <a:rPr lang="pt-BR" sz="2000"/>
              <a:t>A herança é um dos três pilares da programação orientada a objetos</a:t>
            </a:r>
          </a:p>
          <a:p>
            <a:r>
              <a:rPr lang="pt-BR" sz="2000"/>
              <a:t>A herança permite criar novas classes que reutilizam, estendem e modificam o comportamento definido em outras classes.</a:t>
            </a:r>
          </a:p>
          <a:p>
            <a:r>
              <a:rPr lang="pt-BR" sz="2000"/>
              <a:t>Vejamos as classes de pacientes médicos:</a:t>
            </a:r>
          </a:p>
        </p:txBody>
      </p:sp>
    </p:spTree>
    <p:extLst>
      <p:ext uri="{BB962C8B-B14F-4D97-AF65-F5344CB8AC3E}">
        <p14:creationId xmlns:p14="http://schemas.microsoft.com/office/powerpoint/2010/main" val="2246481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8A4132F-DEC6-4332-A00C-A11AD4519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20B4133-7EB4-4DD2-84BE-9868C40AA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445" y="3332480"/>
            <a:ext cx="7265282" cy="3160395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64965EAE-E41A-435F-B993-07E824B6C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" y="0"/>
            <a:ext cx="7539895" cy="6858000"/>
          </a:xfrm>
          <a:custGeom>
            <a:avLst/>
            <a:gdLst>
              <a:gd name="connsiteX0" fmla="*/ 7539895 w 7539895"/>
              <a:gd name="connsiteY0" fmla="*/ 6858000 h 6858000"/>
              <a:gd name="connsiteX1" fmla="*/ 0 w 7539895"/>
              <a:gd name="connsiteY1" fmla="*/ 6858000 h 6858000"/>
              <a:gd name="connsiteX2" fmla="*/ 0 w 7539895"/>
              <a:gd name="connsiteY2" fmla="*/ 0 h 6858000"/>
              <a:gd name="connsiteX3" fmla="*/ 4363741 w 753989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39895" h="6858000">
                <a:moveTo>
                  <a:pt x="753989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436374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152F8994-E6D4-4311-9548-C3607BC43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7092985" cy="6858000"/>
          </a:xfrm>
          <a:custGeom>
            <a:avLst/>
            <a:gdLst>
              <a:gd name="connsiteX0" fmla="*/ 7092985 w 7092985"/>
              <a:gd name="connsiteY0" fmla="*/ 6858000 h 6858000"/>
              <a:gd name="connsiteX1" fmla="*/ 0 w 7092985"/>
              <a:gd name="connsiteY1" fmla="*/ 6858000 h 6858000"/>
              <a:gd name="connsiteX2" fmla="*/ 0 w 7092985"/>
              <a:gd name="connsiteY2" fmla="*/ 0 h 6858000"/>
              <a:gd name="connsiteX3" fmla="*/ 3916831 w 7092985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92985" h="6858000">
                <a:moveTo>
                  <a:pt x="709298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916831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F78045-8B96-4FC2-8271-7A2A7488D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5529943" cy="1325563"/>
          </a:xfrm>
        </p:spPr>
        <p:txBody>
          <a:bodyPr>
            <a:normAutofit/>
          </a:bodyPr>
          <a:lstStyle/>
          <a:p>
            <a:r>
              <a:rPr lang="pt-BR"/>
              <a:t>Herança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6519C-B5A8-47FD-BBCF-ABE33E64B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128169" cy="3399518"/>
          </a:xfrm>
        </p:spPr>
        <p:txBody>
          <a:bodyPr>
            <a:normAutofit/>
          </a:bodyPr>
          <a:lstStyle/>
          <a:p>
            <a:r>
              <a:rPr lang="pt-BR" sz="1700"/>
              <a:t>escrever o mesmo código em duas classes diferentes se tornará um problema</a:t>
            </a:r>
          </a:p>
          <a:p>
            <a:pPr lvl="1"/>
            <a:r>
              <a:rPr lang="pt-BR" sz="1700"/>
              <a:t>Alterações nas propriedades ou métodos devem ser feitas em duas classes</a:t>
            </a:r>
          </a:p>
          <a:p>
            <a:pPr lvl="1"/>
            <a:r>
              <a:rPr lang="pt-BR" sz="1700"/>
              <a:t>E se mais classes forem adicionadas com itens duplicados?</a:t>
            </a:r>
          </a:p>
          <a:p>
            <a:r>
              <a:rPr lang="pt-BR" sz="1700"/>
              <a:t>E se pudéssemos compartilhar a mesma funcionalidade entre as duas classes?</a:t>
            </a:r>
          </a:p>
          <a:p>
            <a:r>
              <a:rPr lang="pt-BR" sz="1700"/>
              <a:t>Herança torna isso possível.</a:t>
            </a:r>
          </a:p>
          <a:p>
            <a:r>
              <a:rPr lang="pt-BR" sz="1700"/>
              <a:t>Redesenho das classes de pacientes médico</a:t>
            </a:r>
          </a:p>
          <a:p>
            <a:endParaRPr lang="pt-BR" sz="1700"/>
          </a:p>
        </p:txBody>
      </p:sp>
    </p:spTree>
    <p:extLst>
      <p:ext uri="{BB962C8B-B14F-4D97-AF65-F5344CB8AC3E}">
        <p14:creationId xmlns:p14="http://schemas.microsoft.com/office/powerpoint/2010/main" val="430504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78045-8B96-4FC2-8271-7A2A7488D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Herança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6519C-B5A8-47FD-BBCF-ABE33E64B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Nomemclatura</a:t>
            </a:r>
            <a:endParaRPr lang="pt-BR" dirty="0"/>
          </a:p>
          <a:p>
            <a:pPr lvl="1"/>
            <a:r>
              <a:rPr lang="pt-BR" dirty="0"/>
              <a:t>Base </a:t>
            </a:r>
            <a:r>
              <a:rPr lang="pt-BR" dirty="0" err="1"/>
              <a:t>Class</a:t>
            </a:r>
            <a:r>
              <a:rPr lang="pt-BR" dirty="0"/>
              <a:t> – é a classe da qual outras classes herdarão.</a:t>
            </a:r>
          </a:p>
          <a:p>
            <a:pPr lvl="1"/>
            <a:r>
              <a:rPr lang="pt-BR" dirty="0" err="1"/>
              <a:t>SubClass</a:t>
            </a:r>
            <a:r>
              <a:rPr lang="pt-BR" dirty="0"/>
              <a:t> – é a classe que herda da classe base.</a:t>
            </a:r>
          </a:p>
          <a:p>
            <a:pPr lvl="1"/>
            <a:r>
              <a:rPr lang="pt-BR" dirty="0" err="1"/>
              <a:t>Derived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– é o mesmo que </a:t>
            </a:r>
            <a:r>
              <a:rPr lang="pt-BR" dirty="0" err="1"/>
              <a:t>SubClass</a:t>
            </a:r>
            <a:r>
              <a:rPr lang="pt-BR" dirty="0"/>
              <a:t>.</a:t>
            </a:r>
          </a:p>
          <a:p>
            <a:r>
              <a:rPr lang="pt-BR" dirty="0"/>
              <a:t>Uma classe pode herdar somente de uma única outra classe.</a:t>
            </a:r>
          </a:p>
          <a:p>
            <a:r>
              <a:rPr lang="pt-BR" dirty="0"/>
              <a:t>Mais de uma classe pode herdar de uma única classe.</a:t>
            </a:r>
          </a:p>
          <a:p>
            <a:r>
              <a:rPr lang="pt-BR" dirty="0"/>
              <a:t>Herança é transitiva (pai, filho, neto).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58724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88521" y="381403"/>
            <a:ext cx="2200313" cy="3342508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8F78045-8B96-4FC2-8271-7A2A7488D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52" y="1204108"/>
            <a:ext cx="2669406" cy="178117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Herança</a:t>
            </a:r>
          </a:p>
        </p:txBody>
      </p:sp>
      <p:pic>
        <p:nvPicPr>
          <p:cNvPr id="8" name="Imagem 7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6905F978-7517-4687-BC67-2D2DB2EB9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461" y="152399"/>
            <a:ext cx="4473032" cy="2044174"/>
          </a:xfrm>
          <a:prstGeom prst="rect">
            <a:avLst/>
          </a:prstGeom>
        </p:spPr>
      </p:pic>
      <p:pic>
        <p:nvPicPr>
          <p:cNvPr id="9" name="Imagem 8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B7778ECD-2AD3-4C27-82FF-5FC7B59EF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739" y="1955800"/>
            <a:ext cx="3034572" cy="1473200"/>
          </a:xfrm>
          <a:prstGeom prst="rect">
            <a:avLst/>
          </a:prstGeom>
        </p:spPr>
      </p:pic>
      <p:pic>
        <p:nvPicPr>
          <p:cNvPr id="6" name="Imagem 5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50B1C820-D97A-4DF1-A0AA-D49F332A6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4075" y="1923034"/>
            <a:ext cx="4985748" cy="4907280"/>
          </a:xfrm>
          <a:prstGeom prst="rect">
            <a:avLst/>
          </a:prstGeom>
        </p:spPr>
      </p:pic>
      <p:pic>
        <p:nvPicPr>
          <p:cNvPr id="7" name="Imagem 6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DCA5D0BF-F28A-451E-A1C7-4B191A66A3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3540101"/>
            <a:ext cx="6532563" cy="313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103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86A4F-705B-420A-916B-869925AE3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Overloading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F4FE32-5717-4A99-AFB3-4699545C5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Um método é um bloco de código que contém uma série de instruções</a:t>
            </a:r>
          </a:p>
          <a:p>
            <a:pPr lvl="1"/>
            <a:r>
              <a:rPr lang="pt-BR" dirty="0"/>
              <a:t>todo método tem uma assinatura</a:t>
            </a:r>
          </a:p>
          <a:p>
            <a:pPr lvl="1"/>
            <a:r>
              <a:rPr lang="pt-BR" dirty="0"/>
              <a:t>assim como sua assinatura, é exclusivo para o método</a:t>
            </a:r>
          </a:p>
          <a:p>
            <a:r>
              <a:rPr lang="pt-BR" dirty="0"/>
              <a:t>Pode ser usado para identificar o método</a:t>
            </a:r>
          </a:p>
          <a:p>
            <a:endParaRPr lang="pt-BR" dirty="0"/>
          </a:p>
          <a:p>
            <a:r>
              <a:rPr lang="pt-BR" dirty="0"/>
              <a:t>Vários métodos podem ser criados usando o mesmo nome</a:t>
            </a:r>
          </a:p>
          <a:p>
            <a:pPr lvl="1"/>
            <a:r>
              <a:rPr lang="pt-BR" dirty="0"/>
              <a:t>desde que a assinatura seja única</a:t>
            </a:r>
          </a:p>
          <a:p>
            <a:r>
              <a:rPr lang="pt-BR" dirty="0"/>
              <a:t>podemos sobrecarregar métodos com base em suas assinaturas exclusivas</a:t>
            </a:r>
          </a:p>
          <a:p>
            <a:pPr lvl="1"/>
            <a:r>
              <a:rPr lang="pt-BR" dirty="0"/>
              <a:t>com o objetivo de sobrecarregar, a assinatura de um método é seu nome e os parâmetros que ele aceita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20908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D86A4F-705B-420A-916B-869925AE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pt-BR" sz="5400" dirty="0" err="1">
                <a:solidFill>
                  <a:srgbClr val="FFFFFF"/>
                </a:solidFill>
              </a:rPr>
              <a:t>Overloading</a:t>
            </a:r>
            <a:endParaRPr lang="en-US" sz="5400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B3E7C241-B11B-49F7-9CC4-06703E843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6928" y="1561563"/>
            <a:ext cx="12725855" cy="400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0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9D631-1566-4DA4-8CDC-4BA69A82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Overrinding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B6909F-4B76-4002-9FD3-835665490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A herança oferece muitas vantagens para o design de aplicativos e a reutilização de código.</a:t>
            </a:r>
          </a:p>
          <a:p>
            <a:r>
              <a:rPr lang="pt-BR" dirty="0"/>
              <a:t>também introduz algumas considerações de design.</a:t>
            </a:r>
          </a:p>
          <a:p>
            <a:r>
              <a:rPr lang="pt-BR" dirty="0"/>
              <a:t>Imagine que você herdou uma classe.</a:t>
            </a:r>
          </a:p>
          <a:p>
            <a:r>
              <a:rPr lang="pt-BR" dirty="0"/>
              <a:t>Imagine que todos os métodos e propriedades são uteis, menos um deles que você precisa mudar.</a:t>
            </a:r>
          </a:p>
          <a:p>
            <a:r>
              <a:rPr lang="pt-BR" dirty="0"/>
              <a:t>É para isso que </a:t>
            </a:r>
            <a:r>
              <a:rPr lang="pt-BR" dirty="0" err="1"/>
              <a:t>overrinding</a:t>
            </a:r>
            <a:r>
              <a:rPr lang="pt-BR" dirty="0"/>
              <a:t> pode ajudar.</a:t>
            </a:r>
          </a:p>
          <a:p>
            <a:r>
              <a:rPr lang="pt-BR" dirty="0"/>
              <a:t>Um </a:t>
            </a:r>
            <a:r>
              <a:rPr lang="pt-BR" dirty="0" err="1"/>
              <a:t>overrinding</a:t>
            </a:r>
            <a:r>
              <a:rPr lang="pt-BR" dirty="0"/>
              <a:t> de método fornece uma nova implementação de um membro que é herdado de uma classe base</a:t>
            </a:r>
          </a:p>
          <a:p>
            <a:r>
              <a:rPr lang="pt-BR" dirty="0"/>
              <a:t>substituir um método requer o uso de duas palavras-chave</a:t>
            </a:r>
          </a:p>
          <a:p>
            <a:pPr lvl="1"/>
            <a:r>
              <a:rPr lang="pt-BR" dirty="0"/>
              <a:t>o método base que está sendo substituído ou substituído deve incluir a palavra-chave virtual</a:t>
            </a:r>
          </a:p>
          <a:p>
            <a:pPr lvl="1"/>
            <a:r>
              <a:rPr lang="pt-BR" dirty="0"/>
              <a:t>o método de substituição deve incluir a palavra-chave </a:t>
            </a:r>
            <a:r>
              <a:rPr lang="pt-BR"/>
              <a:t>override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95842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A9D631-1566-4DA4-8CDC-4BA69A82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Overrinding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638C1F7F-393B-4507-BA4F-1C21D493B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71" y="1520117"/>
            <a:ext cx="11060956" cy="536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191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9D631-1566-4DA4-8CDC-4BA69A82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Extensions</a:t>
            </a:r>
            <a:r>
              <a:rPr lang="pt-BR" dirty="0"/>
              <a:t> </a:t>
            </a:r>
            <a:r>
              <a:rPr lang="pt-BR" dirty="0" err="1"/>
              <a:t>Methods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B6909F-4B76-4002-9FD3-835665490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Às vezes, você deseja adicionar uma funcionalidade específica a uma classe que já existe</a:t>
            </a:r>
          </a:p>
          <a:p>
            <a:r>
              <a:rPr lang="pt-BR" dirty="0"/>
              <a:t>Os métodos de extensão fornecem uma maneira de fazer isso</a:t>
            </a:r>
          </a:p>
          <a:p>
            <a:pPr lvl="1"/>
            <a:r>
              <a:rPr lang="pt-BR" dirty="0"/>
              <a:t>sem criar um novo tipo derivado</a:t>
            </a:r>
          </a:p>
          <a:p>
            <a:pPr lvl="1"/>
            <a:r>
              <a:rPr lang="pt-BR" dirty="0"/>
              <a:t>sem recompilar</a:t>
            </a:r>
          </a:p>
          <a:p>
            <a:pPr lvl="1"/>
            <a:r>
              <a:rPr lang="pt-BR" dirty="0"/>
              <a:t>sem modificar o tipo original</a:t>
            </a:r>
          </a:p>
          <a:p>
            <a:r>
              <a:rPr lang="pt-BR" dirty="0"/>
              <a:t>Um método de extensão é realmente um método estático em uma classe estática</a:t>
            </a:r>
          </a:p>
          <a:p>
            <a:pPr lvl="1"/>
            <a:r>
              <a:rPr lang="pt-BR" dirty="0"/>
              <a:t>o modificador </a:t>
            </a:r>
            <a:r>
              <a:rPr lang="pt-BR" dirty="0" err="1"/>
              <a:t>this</a:t>
            </a:r>
            <a:r>
              <a:rPr lang="pt-BR" dirty="0"/>
              <a:t> é aplicado ao primeiro parâmetro do método</a:t>
            </a:r>
          </a:p>
          <a:p>
            <a:pPr lvl="1"/>
            <a:r>
              <a:rPr lang="pt-BR" dirty="0"/>
              <a:t>o tipo do primeiro parâmetro é o tipo que será estendido</a:t>
            </a:r>
          </a:p>
        </p:txBody>
      </p:sp>
    </p:spTree>
    <p:extLst>
      <p:ext uri="{BB962C8B-B14F-4D97-AF65-F5344CB8AC3E}">
        <p14:creationId xmlns:p14="http://schemas.microsoft.com/office/powerpoint/2010/main" val="3300330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A9D631-1566-4DA4-8CDC-4BA69A82C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Extensions Methods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432EA19-A22B-4384-B8B2-76A35EF81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846" y="1388303"/>
            <a:ext cx="8138308" cy="553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781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DE58C-ED0D-484B-B7D2-9F15E0EE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C66FAC-DB8B-4A67-9238-D0ADD0640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interface é um contrato que requer uma classe para implementar funcionalidades específicas.</a:t>
            </a:r>
          </a:p>
          <a:p>
            <a:r>
              <a:rPr lang="pt-BR" dirty="0"/>
              <a:t>Objetiva realizar funcionalidade consistente</a:t>
            </a:r>
          </a:p>
          <a:p>
            <a:r>
              <a:rPr lang="pt-BR" dirty="0"/>
              <a:t>Objetiva realizar polimorfismo</a:t>
            </a:r>
          </a:p>
          <a:p>
            <a:r>
              <a:rPr lang="pt-BR" dirty="0"/>
              <a:t>Uma interface em C # fornece funcionalidade semelhante para nossas classes</a:t>
            </a:r>
          </a:p>
          <a:p>
            <a:pPr lvl="1"/>
            <a:r>
              <a:rPr lang="pt-BR" dirty="0"/>
              <a:t>define quais funcionalidades uma classe deve fornecer</a:t>
            </a:r>
          </a:p>
          <a:p>
            <a:pPr lvl="1"/>
            <a:r>
              <a:rPr lang="pt-BR" dirty="0"/>
              <a:t>mas não fornece as funcionalidades específicas</a:t>
            </a:r>
          </a:p>
          <a:p>
            <a:r>
              <a:rPr lang="pt-BR" dirty="0"/>
              <a:t>Uma observação importante sobre interfaces:</a:t>
            </a:r>
          </a:p>
          <a:p>
            <a:pPr lvl="1"/>
            <a:r>
              <a:rPr lang="pt-BR" dirty="0"/>
              <a:t>Classes não podem herdar de mais de uma classe.</a:t>
            </a:r>
          </a:p>
          <a:p>
            <a:pPr lvl="1"/>
            <a:r>
              <a:rPr lang="pt-BR" dirty="0"/>
              <a:t>As classes podem implementar mais de uma interface.</a:t>
            </a:r>
          </a:p>
        </p:txBody>
      </p:sp>
    </p:spTree>
    <p:extLst>
      <p:ext uri="{BB962C8B-B14F-4D97-AF65-F5344CB8AC3E}">
        <p14:creationId xmlns:p14="http://schemas.microsoft.com/office/powerpoint/2010/main" val="23047775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DE58C-ED0D-484B-B7D2-9F15E0EE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C66FAC-DB8B-4A67-9238-D0ADD0640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0"/>
            <a:ext cx="10515600" cy="4846003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uma interface contém definições para um grupo de funcionalidades relacionadas que a classe ou estrutura deve fornecer</a:t>
            </a:r>
          </a:p>
          <a:p>
            <a:pPr lvl="1"/>
            <a:r>
              <a:rPr lang="pt-BR" dirty="0"/>
              <a:t>versão de software de um contrato</a:t>
            </a:r>
          </a:p>
          <a:p>
            <a:r>
              <a:rPr lang="pt-BR" dirty="0"/>
              <a:t>uma interface diz a uma classe o que ela deve fazer</a:t>
            </a:r>
          </a:p>
          <a:p>
            <a:pPr lvl="1"/>
            <a:r>
              <a:rPr lang="pt-BR" dirty="0"/>
              <a:t>não diz à classe como fazê-lo</a:t>
            </a:r>
          </a:p>
          <a:p>
            <a:r>
              <a:rPr lang="en-US" dirty="0"/>
              <a:t>Uma interface define:</a:t>
            </a:r>
          </a:p>
          <a:p>
            <a:pPr lvl="1"/>
            <a:r>
              <a:rPr lang="en-US" dirty="0"/>
              <a:t>Methods</a:t>
            </a:r>
          </a:p>
          <a:p>
            <a:pPr lvl="1"/>
            <a:r>
              <a:rPr lang="en-US" dirty="0"/>
              <a:t>Properties</a:t>
            </a:r>
          </a:p>
          <a:p>
            <a:pPr lvl="1"/>
            <a:r>
              <a:rPr lang="en-US" dirty="0"/>
              <a:t>Events</a:t>
            </a:r>
          </a:p>
          <a:p>
            <a:pPr lvl="1"/>
            <a:r>
              <a:rPr lang="en-US" dirty="0"/>
              <a:t>Indexers</a:t>
            </a:r>
          </a:p>
          <a:p>
            <a:r>
              <a:rPr lang="pt-BR" dirty="0"/>
              <a:t>membros da interface são automaticamente públicos</a:t>
            </a:r>
          </a:p>
          <a:p>
            <a:r>
              <a:rPr lang="pt-BR" dirty="0"/>
              <a:t>membros da interface não podem incluir nenhum modificador de acesso</a:t>
            </a:r>
          </a:p>
        </p:txBody>
      </p:sp>
    </p:spTree>
    <p:extLst>
      <p:ext uri="{BB962C8B-B14F-4D97-AF65-F5344CB8AC3E}">
        <p14:creationId xmlns:p14="http://schemas.microsoft.com/office/powerpoint/2010/main" val="11139552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DE58C-ED0D-484B-B7D2-9F15E0EE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C66FAC-DB8B-4A67-9238-D0ADD0640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960"/>
            <a:ext cx="10515600" cy="4846003"/>
          </a:xfrm>
        </p:spPr>
        <p:txBody>
          <a:bodyPr>
            <a:normAutofit/>
          </a:bodyPr>
          <a:lstStyle/>
          <a:p>
            <a:r>
              <a:rPr lang="pt-BR" dirty="0"/>
              <a:t>uma classe que implementa uma interface</a:t>
            </a:r>
          </a:p>
          <a:p>
            <a:pPr lvl="1"/>
            <a:r>
              <a:rPr lang="pt-BR" dirty="0"/>
              <a:t>concorda com os termos do contrato</a:t>
            </a:r>
          </a:p>
          <a:p>
            <a:pPr lvl="1"/>
            <a:r>
              <a:rPr lang="pt-BR" dirty="0"/>
              <a:t>deve fornecer uma implementação para todos os membros definidos na interface</a:t>
            </a:r>
          </a:p>
        </p:txBody>
      </p:sp>
    </p:spTree>
    <p:extLst>
      <p:ext uri="{BB962C8B-B14F-4D97-AF65-F5344CB8AC3E}">
        <p14:creationId xmlns:p14="http://schemas.microsoft.com/office/powerpoint/2010/main" val="41946418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5DE58C-ED0D-484B-B7D2-9F15E0EE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Interfaces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08D1E93-C860-4A26-8CFE-82A5982E7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7620"/>
            <a:ext cx="6238875" cy="37338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F157286-2FE7-4B98-9480-BD9E6AD4E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745" y="290335"/>
            <a:ext cx="3911542" cy="307516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40EF09C-CC5F-48BD-88EB-874EE1834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3101" y="2759074"/>
            <a:ext cx="3637887" cy="3733801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8EC5528-4B61-448E-A6A8-C687BC53C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3170" y="3749675"/>
            <a:ext cx="3662577" cy="297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374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41D56-2110-4DB3-99F2-C685D7D2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IEnumerable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4566598-9989-455C-B34A-763F2C293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300480"/>
            <a:ext cx="11480800" cy="5405120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Os programas de computador lidam com várias coleções de dados</a:t>
            </a:r>
          </a:p>
          <a:p>
            <a:pPr lvl="1"/>
            <a:r>
              <a:rPr lang="pt-BR" dirty="0"/>
              <a:t>Estruturas de dados simples</a:t>
            </a:r>
          </a:p>
          <a:p>
            <a:pPr lvl="1"/>
            <a:r>
              <a:rPr lang="pt-BR" dirty="0"/>
              <a:t>Matrizes</a:t>
            </a:r>
          </a:p>
          <a:p>
            <a:pPr lvl="1"/>
            <a:r>
              <a:rPr lang="pt-BR" dirty="0"/>
              <a:t>Listas</a:t>
            </a:r>
          </a:p>
          <a:p>
            <a:r>
              <a:rPr lang="pt-BR" dirty="0"/>
              <a:t>O interno dessas coleções pode ser muito diferente</a:t>
            </a:r>
          </a:p>
          <a:p>
            <a:r>
              <a:rPr lang="pt-BR" dirty="0"/>
              <a:t>A necessidade de percorrer o conteúdo dessas coleções é universal</a:t>
            </a:r>
          </a:p>
          <a:p>
            <a:pPr lvl="1"/>
            <a:r>
              <a:rPr lang="pt-BR" dirty="0"/>
              <a:t>Localize itens, preencha controles, etc.</a:t>
            </a:r>
          </a:p>
          <a:p>
            <a:r>
              <a:rPr lang="pt-BR" dirty="0"/>
              <a:t>O C # fornece a construção </a:t>
            </a:r>
            <a:r>
              <a:rPr lang="pt-BR" dirty="0" err="1"/>
              <a:t>foreach</a:t>
            </a:r>
            <a:r>
              <a:rPr lang="pt-BR" dirty="0"/>
              <a:t> para simplificar a iteração da coleção em vários tipos de coleção</a:t>
            </a:r>
          </a:p>
          <a:p>
            <a:r>
              <a:rPr lang="pt-BR" dirty="0"/>
              <a:t>A estrutura .NET fornece duas interfaces para fornecer um método padronizado de acessar dados de coleta</a:t>
            </a:r>
          </a:p>
          <a:p>
            <a:pPr lvl="1"/>
            <a:r>
              <a:rPr lang="pt-BR" dirty="0" err="1"/>
              <a:t>IEnumarable</a:t>
            </a:r>
            <a:endParaRPr lang="pt-BR" dirty="0"/>
          </a:p>
          <a:p>
            <a:pPr lvl="1"/>
            <a:r>
              <a:rPr lang="pt-BR" dirty="0" err="1"/>
              <a:t>IEnumarator</a:t>
            </a:r>
            <a:endParaRPr lang="pt-BR" dirty="0"/>
          </a:p>
          <a:p>
            <a:r>
              <a:rPr lang="pt-BR" dirty="0"/>
              <a:t>Observe que, como estamos usando interfaces, o código para fornecer iluminação reside em uma classe separada.</a:t>
            </a:r>
          </a:p>
          <a:p>
            <a:r>
              <a:rPr lang="pt-BR" dirty="0"/>
              <a:t>Vários enumeradores podem objetos podem ser executados simultaneamente</a:t>
            </a:r>
          </a:p>
        </p:txBody>
      </p:sp>
    </p:spTree>
    <p:extLst>
      <p:ext uri="{BB962C8B-B14F-4D97-AF65-F5344CB8AC3E}">
        <p14:creationId xmlns:p14="http://schemas.microsoft.com/office/powerpoint/2010/main" val="241856401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41D56-2110-4DB3-99F2-C685D7D2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IEnumerable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83EB248-698E-467A-BC23-E717EC8D4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a interface </a:t>
            </a:r>
            <a:r>
              <a:rPr lang="pt-BR" dirty="0" err="1"/>
              <a:t>IEnumerable</a:t>
            </a:r>
            <a:r>
              <a:rPr lang="pt-BR" dirty="0"/>
              <a:t> define um método para integrar através de uma coleção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IEnumerator</a:t>
            </a:r>
            <a:r>
              <a:rPr lang="pt-BR" dirty="0"/>
              <a:t> </a:t>
            </a:r>
            <a:r>
              <a:rPr lang="pt-BR" dirty="0" err="1"/>
              <a:t>GetEnumerator</a:t>
            </a:r>
            <a:r>
              <a:rPr lang="pt-BR" dirty="0"/>
              <a:t> ()</a:t>
            </a:r>
          </a:p>
          <a:p>
            <a:r>
              <a:rPr lang="pt-BR" dirty="0"/>
              <a:t>Observe que </a:t>
            </a:r>
            <a:r>
              <a:rPr lang="pt-BR" dirty="0" err="1"/>
              <a:t>GetEnumerator</a:t>
            </a:r>
            <a:r>
              <a:rPr lang="pt-BR" dirty="0"/>
              <a:t> aparece para retornar um enumerador</a:t>
            </a:r>
          </a:p>
          <a:p>
            <a:r>
              <a:rPr lang="pt-BR" dirty="0"/>
              <a:t>Observe que </a:t>
            </a:r>
            <a:r>
              <a:rPr lang="pt-BR" dirty="0" err="1"/>
              <a:t>GetEnumarator</a:t>
            </a:r>
            <a:r>
              <a:rPr lang="pt-BR" dirty="0"/>
              <a:t> () parece retornar um enumerador</a:t>
            </a:r>
          </a:p>
          <a:p>
            <a:r>
              <a:rPr lang="pt-BR" dirty="0"/>
              <a:t>A interface </a:t>
            </a:r>
            <a:r>
              <a:rPr lang="pt-BR" dirty="0" err="1"/>
              <a:t>IEnumerator</a:t>
            </a:r>
            <a:r>
              <a:rPr lang="pt-BR" dirty="0"/>
              <a:t> define três métodos que fornecem a funcionalidade para iterar por meio de uma coleção</a:t>
            </a:r>
          </a:p>
          <a:p>
            <a:r>
              <a:rPr lang="pt-BR" dirty="0"/>
              <a:t>O </a:t>
            </a:r>
            <a:r>
              <a:rPr lang="pt-BR" dirty="0" err="1"/>
              <a:t>IEnumerable</a:t>
            </a:r>
            <a:r>
              <a:rPr lang="pt-BR" dirty="0"/>
              <a:t> </a:t>
            </a:r>
            <a:r>
              <a:rPr lang="pt-BR" dirty="0" err="1"/>
              <a:t>GetEnumerator</a:t>
            </a:r>
            <a:r>
              <a:rPr lang="pt-BR" dirty="0"/>
              <a:t> ()</a:t>
            </a:r>
          </a:p>
          <a:p>
            <a:r>
              <a:rPr lang="pt-BR" dirty="0"/>
              <a:t>Observe que </a:t>
            </a:r>
            <a:r>
              <a:rPr lang="pt-BR" dirty="0" err="1"/>
              <a:t>GetEnumerator</a:t>
            </a:r>
            <a:r>
              <a:rPr lang="pt-BR" dirty="0"/>
              <a:t> () aparece para retornar um enumerador</a:t>
            </a:r>
          </a:p>
          <a:p>
            <a:pPr lvl="1"/>
            <a:r>
              <a:rPr lang="pt-BR" dirty="0" err="1"/>
              <a:t>bool</a:t>
            </a:r>
            <a:r>
              <a:rPr lang="pt-BR" dirty="0"/>
              <a:t> </a:t>
            </a:r>
            <a:r>
              <a:rPr lang="pt-BR" dirty="0" err="1"/>
              <a:t>MoveNext</a:t>
            </a:r>
            <a:r>
              <a:rPr lang="pt-BR" dirty="0"/>
              <a:t> ()</a:t>
            </a:r>
          </a:p>
          <a:p>
            <a:pPr lvl="1"/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Current</a:t>
            </a:r>
            <a:r>
              <a:rPr lang="pt-BR" dirty="0"/>
              <a:t> {</a:t>
            </a:r>
            <a:r>
              <a:rPr lang="pt-BR" dirty="0" err="1"/>
              <a:t>get</a:t>
            </a:r>
            <a:r>
              <a:rPr lang="pt-BR" dirty="0"/>
              <a:t>;}</a:t>
            </a:r>
          </a:p>
          <a:p>
            <a:pPr lvl="1"/>
            <a:r>
              <a:rPr lang="pt-BR" dirty="0" err="1"/>
              <a:t>void</a:t>
            </a:r>
            <a:r>
              <a:rPr lang="pt-BR" dirty="0"/>
              <a:t> Reset()</a:t>
            </a:r>
          </a:p>
        </p:txBody>
      </p:sp>
    </p:spTree>
    <p:extLst>
      <p:ext uri="{BB962C8B-B14F-4D97-AF65-F5344CB8AC3E}">
        <p14:creationId xmlns:p14="http://schemas.microsoft.com/office/powerpoint/2010/main" val="134710357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41D56-2110-4DB3-99F2-C685D7D2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IEnumerable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83EB248-698E-467A-BC23-E717EC8D4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implementar </a:t>
            </a:r>
            <a:r>
              <a:rPr lang="pt-BR" dirty="0" err="1"/>
              <a:t>IEnumerable</a:t>
            </a:r>
            <a:r>
              <a:rPr lang="pt-BR" dirty="0"/>
              <a:t> requer que você forneça um enumerador</a:t>
            </a:r>
          </a:p>
          <a:p>
            <a:r>
              <a:rPr lang="pt-BR" dirty="0"/>
              <a:t>Existem três maneiras de conseguir isso</a:t>
            </a:r>
          </a:p>
          <a:p>
            <a:pPr lvl="1"/>
            <a:r>
              <a:rPr lang="pt-BR" dirty="0"/>
              <a:t>se a classe estiver 'agrupando' outra coleção, você poderá retornar o enumerador de coleções agrupadas</a:t>
            </a:r>
          </a:p>
          <a:p>
            <a:pPr lvl="1"/>
            <a:r>
              <a:rPr lang="pt-BR" dirty="0"/>
              <a:t>Crie um </a:t>
            </a:r>
            <a:r>
              <a:rPr lang="pt-BR" dirty="0" err="1"/>
              <a:t>iterador</a:t>
            </a:r>
            <a:r>
              <a:rPr lang="pt-BR" dirty="0"/>
              <a:t> usando '</a:t>
            </a:r>
            <a:r>
              <a:rPr lang="pt-BR" dirty="0" err="1"/>
              <a:t>yield</a:t>
            </a:r>
            <a:r>
              <a:rPr lang="pt-BR" dirty="0"/>
              <a:t> </a:t>
            </a:r>
            <a:r>
              <a:rPr lang="pt-BR" dirty="0" err="1"/>
              <a:t>return</a:t>
            </a:r>
            <a:r>
              <a:rPr lang="pt-BR" dirty="0"/>
              <a:t>'</a:t>
            </a:r>
          </a:p>
          <a:p>
            <a:pPr lvl="1"/>
            <a:r>
              <a:rPr lang="pt-BR" dirty="0"/>
              <a:t>Criando sua própria implementação completa do </a:t>
            </a:r>
            <a:r>
              <a:rPr lang="pt-BR" dirty="0" err="1"/>
              <a:t>IEnumerator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37387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D41D56-2110-4DB3-99F2-C685D7D29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IEnumerable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A6A139ED-3F3D-42A5-A064-B15C123DF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08" y="1520117"/>
            <a:ext cx="10671232" cy="496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024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257AD3-5B7B-463D-9B29-937340F0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Delegates</a:t>
            </a:r>
            <a:r>
              <a:rPr lang="pt-BR" b="1" dirty="0"/>
              <a:t> </a:t>
            </a:r>
            <a:r>
              <a:rPr lang="pt-BR" b="1" dirty="0" err="1"/>
              <a:t>c#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96112F-E6C5-4F8C-98A1-D7F181462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e porque?</a:t>
            </a:r>
          </a:p>
          <a:p>
            <a:r>
              <a:rPr lang="pt-BR" dirty="0"/>
              <a:t>Criar um </a:t>
            </a:r>
            <a:r>
              <a:rPr lang="pt-BR" dirty="0" err="1"/>
              <a:t>delegate</a:t>
            </a:r>
            <a:endParaRPr lang="pt-BR" dirty="0"/>
          </a:p>
          <a:p>
            <a:r>
              <a:rPr lang="pt-BR" dirty="0" err="1"/>
              <a:t>Multicast</a:t>
            </a:r>
            <a:r>
              <a:rPr lang="pt-BR" dirty="0"/>
              <a:t> </a:t>
            </a:r>
            <a:r>
              <a:rPr lang="pt-BR" dirty="0" err="1"/>
              <a:t>Delegate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079132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5C337-7C88-453F-819F-7E1383B66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Eventos C#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97A729-FC8F-4729-B385-6C30B7017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e porque?</a:t>
            </a:r>
          </a:p>
          <a:p>
            <a:r>
              <a:rPr lang="pt-BR" dirty="0"/>
              <a:t>Criar eventos</a:t>
            </a:r>
          </a:p>
        </p:txBody>
      </p:sp>
    </p:spTree>
    <p:extLst>
      <p:ext uri="{BB962C8B-B14F-4D97-AF65-F5344CB8AC3E}">
        <p14:creationId xmlns:p14="http://schemas.microsoft.com/office/powerpoint/2010/main" val="12258762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7525B-F2B2-471F-9D93-40440810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Garbage</a:t>
            </a:r>
            <a:r>
              <a:rPr lang="pt-BR" b="1" dirty="0"/>
              <a:t> </a:t>
            </a:r>
            <a:r>
              <a:rPr lang="pt-BR" b="1" dirty="0" err="1"/>
              <a:t>Collection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6F9F9-3B03-45D6-A5FF-3347909FF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O gerenciamento de memória é uma grande preocupação para os desenvolvedores</a:t>
            </a:r>
          </a:p>
          <a:p>
            <a:r>
              <a:rPr lang="pt-BR" dirty="0"/>
              <a:t>Linguagens de programação não gerenciadas geralmente exibem um comportamento sério</a:t>
            </a:r>
          </a:p>
          <a:p>
            <a:pPr lvl="1"/>
            <a:r>
              <a:rPr lang="pt-BR" dirty="0"/>
              <a:t>Vazamentos de memória (</a:t>
            </a:r>
            <a:r>
              <a:rPr lang="pt-BR" dirty="0" err="1"/>
              <a:t>Memory</a:t>
            </a:r>
            <a:r>
              <a:rPr lang="pt-BR" dirty="0"/>
              <a:t> </a:t>
            </a:r>
            <a:r>
              <a:rPr lang="pt-BR" dirty="0" err="1"/>
              <a:t>leaks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Memória alocada que nunca é recuperada</a:t>
            </a:r>
          </a:p>
          <a:p>
            <a:r>
              <a:rPr lang="pt-BR" dirty="0"/>
              <a:t>O .NET Framework fornece uma funcionalidade chamada </a:t>
            </a:r>
            <a:r>
              <a:rPr lang="pt-BR" dirty="0" err="1"/>
              <a:t>Garbage</a:t>
            </a:r>
            <a:r>
              <a:rPr lang="pt-BR" dirty="0"/>
              <a:t> </a:t>
            </a:r>
            <a:r>
              <a:rPr lang="pt-BR" dirty="0" err="1"/>
              <a:t>Collection</a:t>
            </a:r>
            <a:r>
              <a:rPr lang="pt-BR" dirty="0"/>
              <a:t> (GC) para evitar a grande maioria dos vazamentos de memória</a:t>
            </a:r>
          </a:p>
          <a:p>
            <a:pPr lvl="1"/>
            <a:r>
              <a:rPr lang="pt-BR" dirty="0"/>
              <a:t>Objetos não utilizados e não referenciados são automaticamente removidos da memória</a:t>
            </a:r>
          </a:p>
          <a:p>
            <a:pPr lvl="1"/>
            <a:r>
              <a:rPr lang="pt-BR" dirty="0"/>
              <a:t>O GC funciona apenas em objetos de memória gerenciada</a:t>
            </a:r>
          </a:p>
        </p:txBody>
      </p:sp>
    </p:spTree>
    <p:extLst>
      <p:ext uri="{BB962C8B-B14F-4D97-AF65-F5344CB8AC3E}">
        <p14:creationId xmlns:p14="http://schemas.microsoft.com/office/powerpoint/2010/main" val="41977441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7525B-F2B2-471F-9D93-40440810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Garbage</a:t>
            </a:r>
            <a:r>
              <a:rPr lang="pt-BR" b="1" dirty="0"/>
              <a:t> </a:t>
            </a:r>
            <a:r>
              <a:rPr lang="pt-BR" b="1" dirty="0" err="1"/>
              <a:t>Collection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6F9F9-3B03-45D6-A5FF-3347909FF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alguns detalhes sobre o GC que você deve saber</a:t>
            </a:r>
          </a:p>
          <a:p>
            <a:r>
              <a:rPr lang="pt-BR" dirty="0"/>
              <a:t>O GC não acontece imediatamente quando um objeto fica órfão</a:t>
            </a:r>
          </a:p>
          <a:p>
            <a:r>
              <a:rPr lang="pt-BR" dirty="0"/>
              <a:t>O GC ocorre periodicamente com base na memória disponível, na alocação de memória atual e no tempo desde a última coleta</a:t>
            </a:r>
          </a:p>
          <a:p>
            <a:r>
              <a:rPr lang="pt-BR" dirty="0"/>
              <a:t>o atraso entre as coletas pode variar de segundos a dias</a:t>
            </a:r>
          </a:p>
          <a:p>
            <a:r>
              <a:rPr lang="pt-BR" dirty="0"/>
              <a:t>nem todos os objetos órfãos são recuperados a cada coleta</a:t>
            </a:r>
          </a:p>
          <a:p>
            <a:r>
              <a:rPr lang="pt-BR" dirty="0"/>
              <a:t>existem alguns casos em que é necessário ajudar o GC</a:t>
            </a:r>
          </a:p>
          <a:p>
            <a:r>
              <a:rPr lang="pt-BR" dirty="0"/>
              <a:t>você pode forçar a coleta de lixo chamando </a:t>
            </a:r>
            <a:r>
              <a:rPr lang="pt-BR" dirty="0" err="1"/>
              <a:t>GC.Collect</a:t>
            </a:r>
            <a:r>
              <a:rPr lang="pt-BR" dirty="0"/>
              <a:t> ();</a:t>
            </a:r>
          </a:p>
        </p:txBody>
      </p:sp>
    </p:spTree>
    <p:extLst>
      <p:ext uri="{BB962C8B-B14F-4D97-AF65-F5344CB8AC3E}">
        <p14:creationId xmlns:p14="http://schemas.microsoft.com/office/powerpoint/2010/main" val="468036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7525B-F2B2-471F-9D93-40440810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Dispose</a:t>
            </a:r>
            <a:r>
              <a:rPr lang="pt-BR" b="1" dirty="0"/>
              <a:t> - </a:t>
            </a:r>
            <a:r>
              <a:rPr lang="pt-BR" b="1" dirty="0" err="1"/>
              <a:t>Garbage</a:t>
            </a:r>
            <a:r>
              <a:rPr lang="pt-BR" b="1" dirty="0"/>
              <a:t> </a:t>
            </a:r>
            <a:r>
              <a:rPr lang="pt-BR" b="1" dirty="0" err="1"/>
              <a:t>Collection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6F9F9-3B03-45D6-A5FF-3347909FF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C # fornece duas maneiras de lidar com o gerenciamento de memória</a:t>
            </a:r>
          </a:p>
          <a:p>
            <a:r>
              <a:rPr lang="pt-BR" dirty="0"/>
              <a:t>Coleta de lixo</a:t>
            </a:r>
          </a:p>
          <a:p>
            <a:pPr lvl="1"/>
            <a:r>
              <a:rPr lang="pt-BR" dirty="0"/>
              <a:t>é um processo automático que cuida da memória.</a:t>
            </a:r>
          </a:p>
          <a:p>
            <a:r>
              <a:rPr lang="pt-BR" dirty="0"/>
              <a:t>Descarte (</a:t>
            </a:r>
            <a:r>
              <a:rPr lang="pt-BR" dirty="0" err="1"/>
              <a:t>Disposal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alguns recursos requerem código explícito para liberar recursos mais rapidamente</a:t>
            </a:r>
          </a:p>
          <a:p>
            <a:pPr lvl="1"/>
            <a:r>
              <a:rPr lang="pt-BR" dirty="0"/>
              <a:t>Abrir arquivos, conexões de banco de dados e objetos não gerenciados</a:t>
            </a:r>
          </a:p>
          <a:p>
            <a:pPr lvl="1"/>
            <a:r>
              <a:rPr lang="pt-BR" dirty="0" err="1"/>
              <a:t>Disposal</a:t>
            </a:r>
            <a:r>
              <a:rPr lang="pt-BR" dirty="0"/>
              <a:t> fornece o código de desmontagem para liberar recursos e o GC recupera a memória posteriormente</a:t>
            </a:r>
          </a:p>
        </p:txBody>
      </p:sp>
    </p:spTree>
    <p:extLst>
      <p:ext uri="{BB962C8B-B14F-4D97-AF65-F5344CB8AC3E}">
        <p14:creationId xmlns:p14="http://schemas.microsoft.com/office/powerpoint/2010/main" val="29179200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7525B-F2B2-471F-9D93-40440810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Dispose</a:t>
            </a:r>
            <a:r>
              <a:rPr lang="pt-BR" b="1" dirty="0"/>
              <a:t> - </a:t>
            </a:r>
            <a:r>
              <a:rPr lang="pt-BR" b="1" dirty="0" err="1"/>
              <a:t>Garbage</a:t>
            </a:r>
            <a:r>
              <a:rPr lang="pt-BR" b="1" dirty="0"/>
              <a:t> </a:t>
            </a:r>
            <a:r>
              <a:rPr lang="pt-BR" b="1" dirty="0" err="1"/>
              <a:t>Collection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6F9F9-3B03-45D6-A5FF-3347909FF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O descarte é suportado via interface </a:t>
            </a:r>
            <a:r>
              <a:rPr lang="pt-BR" dirty="0" err="1"/>
              <a:t>IDisposable</a:t>
            </a:r>
            <a:endParaRPr lang="pt-BR" dirty="0"/>
          </a:p>
          <a:p>
            <a:pPr lvl="1"/>
            <a:r>
              <a:rPr lang="pt-BR" dirty="0"/>
              <a:t>Inclui o método único -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Dispose</a:t>
            </a:r>
            <a:r>
              <a:rPr lang="pt-BR" dirty="0"/>
              <a:t> ();</a:t>
            </a:r>
          </a:p>
          <a:p>
            <a:r>
              <a:rPr lang="pt-BR" dirty="0"/>
              <a:t>Existem duas maneiras de implementar o descarte</a:t>
            </a:r>
          </a:p>
          <a:p>
            <a:r>
              <a:rPr lang="pt-BR" dirty="0"/>
              <a:t>Chamando o método </a:t>
            </a:r>
            <a:r>
              <a:rPr lang="pt-BR" dirty="0" err="1"/>
              <a:t>Dispose</a:t>
            </a:r>
            <a:r>
              <a:rPr lang="pt-BR" dirty="0"/>
              <a:t> ();</a:t>
            </a:r>
          </a:p>
          <a:p>
            <a:r>
              <a:rPr lang="pt-BR" dirty="0"/>
              <a:t>A instrução '</a:t>
            </a:r>
            <a:r>
              <a:rPr lang="pt-BR" dirty="0" err="1"/>
              <a:t>using</a:t>
            </a:r>
            <a:r>
              <a:rPr lang="pt-BR" dirty="0"/>
              <a:t>' chama automaticamente </a:t>
            </a:r>
            <a:r>
              <a:rPr lang="pt-BR" dirty="0" err="1"/>
              <a:t>Dispose</a:t>
            </a:r>
            <a:r>
              <a:rPr lang="pt-BR" dirty="0"/>
              <a:t> em objetos que implementam </a:t>
            </a:r>
            <a:r>
              <a:rPr lang="pt-BR" dirty="0" err="1"/>
              <a:t>IDisposable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O compilador converte isso em uma construção </a:t>
            </a:r>
            <a:r>
              <a:rPr lang="pt-BR" dirty="0" err="1"/>
              <a:t>try</a:t>
            </a:r>
            <a:r>
              <a:rPr lang="pt-BR" dirty="0"/>
              <a:t> / </a:t>
            </a:r>
            <a:r>
              <a:rPr lang="pt-BR" dirty="0" err="1"/>
              <a:t>finally</a:t>
            </a:r>
            <a:r>
              <a:rPr lang="pt-BR" dirty="0"/>
              <a:t> que inclui </a:t>
            </a:r>
            <a:r>
              <a:rPr lang="pt-BR" dirty="0" err="1"/>
              <a:t>Dispose</a:t>
            </a:r>
            <a:r>
              <a:rPr lang="pt-BR" dirty="0"/>
              <a:t>() no bloco </a:t>
            </a:r>
            <a:r>
              <a:rPr lang="pt-BR" dirty="0" err="1"/>
              <a:t>finally</a:t>
            </a:r>
            <a:endParaRPr lang="pt-BR" dirty="0"/>
          </a:p>
          <a:p>
            <a:pPr lvl="1"/>
            <a:r>
              <a:rPr lang="pt-BR" dirty="0"/>
              <a:t>Garante que </a:t>
            </a:r>
            <a:r>
              <a:rPr lang="pt-BR" dirty="0" err="1"/>
              <a:t>Dispose</a:t>
            </a:r>
            <a:r>
              <a:rPr lang="pt-BR" dirty="0"/>
              <a:t> seja chamado mesmo quando uma exceção for lançada ou o código sair do bloco </a:t>
            </a:r>
            <a:r>
              <a:rPr lang="pt-BR" dirty="0" err="1"/>
              <a:t>try</a:t>
            </a:r>
            <a:r>
              <a:rPr lang="pt-BR" dirty="0"/>
              <a:t> mais cedo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0F431E8-AE08-49BE-BFD8-444831FFF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605" y="3700462"/>
            <a:ext cx="699135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331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7525B-F2B2-471F-9D93-40440810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pt-BR" b="1" dirty="0" err="1"/>
              <a:t>Finalizers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6F9F9-3B03-45D6-A5FF-3347909FF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018723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Um </a:t>
            </a:r>
            <a:r>
              <a:rPr lang="pt-BR" dirty="0" err="1"/>
              <a:t>finalizers</a:t>
            </a:r>
            <a:r>
              <a:rPr lang="pt-BR" dirty="0"/>
              <a:t> é o oposto de um construtor</a:t>
            </a:r>
          </a:p>
          <a:p>
            <a:pPr lvl="1"/>
            <a:r>
              <a:rPr lang="pt-BR" dirty="0"/>
              <a:t>um construtor é a primeira oportunidade de trabalhar com um objeto</a:t>
            </a:r>
          </a:p>
          <a:p>
            <a:pPr lvl="1"/>
            <a:r>
              <a:rPr lang="pt-BR" dirty="0"/>
              <a:t>um finalizador é a ultima oportunidade de trabalhar com um objeto</a:t>
            </a:r>
          </a:p>
          <a:p>
            <a:pPr lvl="1"/>
            <a:r>
              <a:rPr lang="en-US" dirty="0"/>
              <a:t>A finalizer is a method you whose name begins with a ~</a:t>
            </a:r>
          </a:p>
          <a:p>
            <a:r>
              <a:rPr lang="pt-BR" dirty="0"/>
              <a:t>Os objetos utilizam um ponteiro no </a:t>
            </a:r>
            <a:r>
              <a:rPr lang="pt-BR" dirty="0" err="1"/>
              <a:t>stack</a:t>
            </a:r>
            <a:r>
              <a:rPr lang="pt-BR" dirty="0"/>
              <a:t> que referencia os dados armazenados no </a:t>
            </a:r>
            <a:r>
              <a:rPr lang="pt-BR" dirty="0" err="1"/>
              <a:t>heap</a:t>
            </a:r>
            <a:r>
              <a:rPr lang="pt-BR" dirty="0"/>
              <a:t>. Quando o GC é executado, ele verifica se os objetos na memória </a:t>
            </a:r>
            <a:r>
              <a:rPr lang="pt-BR" dirty="0" err="1"/>
              <a:t>heap</a:t>
            </a:r>
            <a:r>
              <a:rPr lang="pt-BR" dirty="0"/>
              <a:t> têm referências, se sim nenhuma ação é tomada.</a:t>
            </a:r>
          </a:p>
          <a:p>
            <a:r>
              <a:rPr lang="pt-BR" dirty="0"/>
              <a:t>Suponha que na próxima vez que o GC seja executado, os objetos não tenham mais nenhuma referência</a:t>
            </a:r>
          </a:p>
          <a:p>
            <a:pPr lvl="1"/>
            <a:r>
              <a:rPr lang="en-US" dirty="0"/>
              <a:t>Um </a:t>
            </a:r>
            <a:r>
              <a:rPr lang="en-US" dirty="0" err="1"/>
              <a:t>objeto</a:t>
            </a:r>
            <a:r>
              <a:rPr lang="en-US" dirty="0"/>
              <a:t> que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um </a:t>
            </a:r>
            <a:r>
              <a:rPr lang="en-US" dirty="0" err="1"/>
              <a:t>Finalizador</a:t>
            </a:r>
            <a:r>
              <a:rPr lang="en-US" dirty="0"/>
              <a:t>, é </a:t>
            </a:r>
            <a:r>
              <a:rPr lang="en-US" dirty="0" err="1"/>
              <a:t>removido</a:t>
            </a:r>
            <a:endParaRPr lang="en-US" dirty="0"/>
          </a:p>
          <a:p>
            <a:pPr lvl="1"/>
            <a:r>
              <a:rPr lang="pt-BR" dirty="0"/>
              <a:t>Outro objeto que possui um Finalizador, é colocado em uma fila e mantido vivo, então o encadeamento do finalizador executa e identifica objetos na fila e executa seus métodos de finalização</a:t>
            </a:r>
          </a:p>
          <a:p>
            <a:pPr lvl="1"/>
            <a:r>
              <a:rPr lang="pt-BR" dirty="0"/>
              <a:t>Só então o GC remove o objeto que tem finalizador.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758393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7525B-F2B2-471F-9D93-40440810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pt-BR" b="1" dirty="0" err="1"/>
              <a:t>Finalizers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6F9F9-3B03-45D6-A5FF-3347909FF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960"/>
            <a:ext cx="10515600" cy="4592003"/>
          </a:xfrm>
        </p:spPr>
        <p:txBody>
          <a:bodyPr>
            <a:normAutofit/>
          </a:bodyPr>
          <a:lstStyle/>
          <a:p>
            <a:pPr lvl="1"/>
            <a:r>
              <a:rPr lang="pt-BR" dirty="0"/>
              <a:t>Os finalizadores devem ser usados somente quando necessário</a:t>
            </a:r>
          </a:p>
          <a:p>
            <a:pPr lvl="1"/>
            <a:r>
              <a:rPr lang="pt-BR" dirty="0"/>
              <a:t>Finalizadores retardam a alocação e coleção de memória</a:t>
            </a:r>
          </a:p>
          <a:p>
            <a:pPr lvl="1"/>
            <a:r>
              <a:rPr lang="pt-BR" dirty="0"/>
              <a:t>Finalizadores prolongam a vida dos objetos</a:t>
            </a:r>
          </a:p>
          <a:p>
            <a:pPr lvl="1"/>
            <a:r>
              <a:rPr lang="pt-BR" dirty="0"/>
              <a:t>Impossível prever a ordem na qual os finalizadores de um conjunto de objetos serão chamados</a:t>
            </a:r>
          </a:p>
          <a:p>
            <a:pPr lvl="1"/>
            <a:r>
              <a:rPr lang="pt-BR" dirty="0"/>
              <a:t>se o código em um finalizador bloquear, referenciar outros objetos finalizáveis ou lançar exceções, a finalização não ocorrerá</a:t>
            </a:r>
          </a:p>
        </p:txBody>
      </p:sp>
    </p:spTree>
    <p:extLst>
      <p:ext uri="{BB962C8B-B14F-4D97-AF65-F5344CB8AC3E}">
        <p14:creationId xmlns:p14="http://schemas.microsoft.com/office/powerpoint/2010/main" val="268699509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7525B-F2B2-471F-9D93-40440810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IDispose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6F9F9-3B03-45D6-A5FF-3347909FF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Aplicativos funcionam criando objetos</a:t>
            </a:r>
          </a:p>
          <a:p>
            <a:r>
              <a:rPr lang="pt-BR" dirty="0"/>
              <a:t>Criar e manter conexões com recursos</a:t>
            </a:r>
          </a:p>
          <a:p>
            <a:r>
              <a:rPr lang="pt-BR" dirty="0"/>
              <a:t>Requer memória</a:t>
            </a:r>
          </a:p>
          <a:p>
            <a:r>
              <a:rPr lang="pt-BR" dirty="0"/>
              <a:t>Os objetos devem ser limpos quando seu uso não for mais necessário</a:t>
            </a:r>
          </a:p>
          <a:p>
            <a:r>
              <a:rPr lang="pt-BR" dirty="0"/>
              <a:t>Os objetos se enquadram em duas categorias em um aplicativo .NET</a:t>
            </a:r>
          </a:p>
          <a:p>
            <a:pPr lvl="1"/>
            <a:r>
              <a:rPr lang="pt-BR" dirty="0"/>
              <a:t>Gerenciado - os objetos são limpos automaticamente pela funcionalidade do GC</a:t>
            </a:r>
          </a:p>
          <a:p>
            <a:pPr lvl="1"/>
            <a:r>
              <a:rPr lang="pt-BR" dirty="0"/>
              <a:t>Não gerenciado - os objetos .NET não são limpos pelo GC e devem ser explicitamente fechados / removidos. Esse processo é chamado de descarte</a:t>
            </a:r>
          </a:p>
        </p:txBody>
      </p:sp>
    </p:spTree>
    <p:extLst>
      <p:ext uri="{BB962C8B-B14F-4D97-AF65-F5344CB8AC3E}">
        <p14:creationId xmlns:p14="http://schemas.microsoft.com/office/powerpoint/2010/main" val="31659446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7525B-F2B2-471F-9D93-40440810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IDispose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6F9F9-3B03-45D6-A5FF-3347909FF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O .NET Framework define uma interface para tipos que requerem ações de descarte explícitas</a:t>
            </a:r>
          </a:p>
          <a:p>
            <a:r>
              <a:rPr lang="pt-BR" dirty="0" err="1"/>
              <a:t>IDisposable</a:t>
            </a:r>
            <a:endParaRPr lang="pt-BR" dirty="0"/>
          </a:p>
          <a:p>
            <a:r>
              <a:rPr lang="pt-BR" dirty="0"/>
              <a:t>Define um único método: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Dispose</a:t>
            </a:r>
            <a:r>
              <a:rPr lang="pt-BR" dirty="0"/>
              <a:t> ()</a:t>
            </a:r>
          </a:p>
          <a:p>
            <a:r>
              <a:rPr lang="pt-BR" dirty="0"/>
              <a:t>Um único método parece sugerir simplicidade, mas não exatamente</a:t>
            </a:r>
          </a:p>
          <a:p>
            <a:r>
              <a:rPr lang="pt-BR" dirty="0"/>
              <a:t>A Microsoft sugere um padrão para implementar </a:t>
            </a:r>
            <a:r>
              <a:rPr lang="pt-BR" dirty="0" err="1"/>
              <a:t>Idisposable</a:t>
            </a:r>
            <a:endParaRPr lang="pt-BR" dirty="0"/>
          </a:p>
          <a:p>
            <a:r>
              <a:rPr lang="pt-BR" dirty="0" err="1"/>
              <a:t>IDisposable</a:t>
            </a:r>
            <a:r>
              <a:rPr lang="pt-BR" dirty="0"/>
              <a:t> só deve ser implementado quando recursos não gerenciados estão sendo usados</a:t>
            </a:r>
          </a:p>
          <a:p>
            <a:r>
              <a:rPr lang="pt-BR" dirty="0"/>
              <a:t>A implementação do </a:t>
            </a:r>
            <a:r>
              <a:rPr lang="pt-BR" dirty="0" err="1"/>
              <a:t>IDsposable</a:t>
            </a:r>
            <a:r>
              <a:rPr lang="pt-BR" dirty="0"/>
              <a:t> pode introduzir ineficiências devido à sobrecarga do processo de finalização</a:t>
            </a:r>
          </a:p>
          <a:p>
            <a:r>
              <a:rPr lang="pt-BR" dirty="0"/>
              <a:t>A Microsoft sugere o uso de um padrão ao implementar </a:t>
            </a:r>
            <a:r>
              <a:rPr lang="pt-BR" dirty="0" err="1"/>
              <a:t>IDsposable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29936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7525B-F2B2-471F-9D93-40440810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IDispose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6F9F9-3B03-45D6-A5FF-3347909FF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.NET Framework define uma interface para tipos que requerem ações de descarte explícitas</a:t>
            </a:r>
          </a:p>
          <a:p>
            <a:r>
              <a:rPr lang="pt-BR" dirty="0" err="1"/>
              <a:t>IDisposable</a:t>
            </a:r>
            <a:endParaRPr lang="pt-BR" dirty="0"/>
          </a:p>
          <a:p>
            <a:r>
              <a:rPr lang="pt-BR" dirty="0"/>
              <a:t>Define um único método: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Dispose</a:t>
            </a:r>
            <a:r>
              <a:rPr lang="pt-BR" dirty="0"/>
              <a:t> ()</a:t>
            </a:r>
          </a:p>
          <a:p>
            <a:r>
              <a:rPr lang="pt-BR" dirty="0"/>
              <a:t>Um único método parece sugerir simplicidade, mas não exatamente</a:t>
            </a:r>
          </a:p>
          <a:p>
            <a:r>
              <a:rPr lang="pt-BR" dirty="0"/>
              <a:t>A Microsoft sugere um padrão para implementar </a:t>
            </a:r>
            <a:r>
              <a:rPr lang="pt-BR" dirty="0" err="1"/>
              <a:t>Idisposable</a:t>
            </a:r>
            <a:endParaRPr lang="pt-BR" dirty="0"/>
          </a:p>
          <a:p>
            <a:r>
              <a:rPr lang="pt-BR" dirty="0" err="1"/>
              <a:t>IDisposable</a:t>
            </a:r>
            <a:r>
              <a:rPr lang="pt-BR" dirty="0"/>
              <a:t> só deve ser implementado quando recursos não gerenciados estão sendo usados</a:t>
            </a:r>
          </a:p>
          <a:p>
            <a:r>
              <a:rPr lang="pt-BR" dirty="0"/>
              <a:t>A implementação do </a:t>
            </a:r>
            <a:r>
              <a:rPr lang="pt-BR" dirty="0" err="1"/>
              <a:t>IDsposable</a:t>
            </a:r>
            <a:r>
              <a:rPr lang="pt-BR" dirty="0"/>
              <a:t> pode introduzir ineficiências devido à sobrecarga do processo de finalização</a:t>
            </a:r>
          </a:p>
          <a:p>
            <a:r>
              <a:rPr lang="pt-BR" dirty="0"/>
              <a:t>A Microsoft sugere o uso de um padrão ao implementar </a:t>
            </a:r>
            <a:r>
              <a:rPr lang="pt-BR" dirty="0" err="1"/>
              <a:t>Idsposable</a:t>
            </a:r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Dispose</a:t>
            </a:r>
            <a:r>
              <a:rPr lang="pt-BR" dirty="0"/>
              <a:t> </a:t>
            </a:r>
            <a:r>
              <a:rPr lang="pt-BR" dirty="0" err="1"/>
              <a:t>Pattern</a:t>
            </a:r>
            <a:r>
              <a:rPr lang="pt-BR" dirty="0"/>
              <a:t> visa padronizar o uso e implementação de finalizadores e a interface </a:t>
            </a:r>
            <a:r>
              <a:rPr lang="pt-BR" dirty="0" err="1"/>
              <a:t>IDisposable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51299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F7525B-F2B2-471F-9D93-40440810F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err="1"/>
              <a:t>IDispose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86F9F9-3B03-45D6-A5FF-3347909FF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.NET Framework define uma interface para tipos que requerem ações de descarte explícitas</a:t>
            </a:r>
          </a:p>
          <a:p>
            <a:r>
              <a:rPr lang="pt-BR" dirty="0" err="1"/>
              <a:t>IDisposable</a:t>
            </a:r>
            <a:endParaRPr lang="pt-BR" dirty="0"/>
          </a:p>
          <a:p>
            <a:r>
              <a:rPr lang="pt-BR" dirty="0"/>
              <a:t>Define um único método: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Dispose</a:t>
            </a:r>
            <a:r>
              <a:rPr lang="pt-BR" dirty="0"/>
              <a:t> ()</a:t>
            </a:r>
          </a:p>
          <a:p>
            <a:r>
              <a:rPr lang="pt-BR" dirty="0"/>
              <a:t>Um único método parece sugerir simplicidade, mas não exatamente</a:t>
            </a:r>
          </a:p>
          <a:p>
            <a:r>
              <a:rPr lang="pt-BR" dirty="0"/>
              <a:t>A Microsoft sugere um padrão para implementar </a:t>
            </a:r>
            <a:r>
              <a:rPr lang="pt-BR" dirty="0" err="1"/>
              <a:t>Idisposable</a:t>
            </a:r>
            <a:endParaRPr lang="pt-BR" dirty="0"/>
          </a:p>
          <a:p>
            <a:r>
              <a:rPr lang="pt-BR" dirty="0" err="1"/>
              <a:t>IDisposable</a:t>
            </a:r>
            <a:r>
              <a:rPr lang="pt-BR" dirty="0"/>
              <a:t> só deve ser implementado quando recursos não gerenciados estão sendo usados</a:t>
            </a:r>
          </a:p>
          <a:p>
            <a:r>
              <a:rPr lang="pt-BR" dirty="0"/>
              <a:t>A implementação do </a:t>
            </a:r>
            <a:r>
              <a:rPr lang="pt-BR" dirty="0" err="1"/>
              <a:t>IDsposable</a:t>
            </a:r>
            <a:r>
              <a:rPr lang="pt-BR" dirty="0"/>
              <a:t> pode introduzir ineficiências devido à sobrecarga do processo de finalização</a:t>
            </a:r>
          </a:p>
          <a:p>
            <a:r>
              <a:rPr lang="pt-BR" dirty="0"/>
              <a:t>A Microsoft sugere o uso de um padrão ao implementar </a:t>
            </a:r>
            <a:r>
              <a:rPr lang="pt-BR" dirty="0" err="1"/>
              <a:t>IDisposable</a:t>
            </a:r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Dispose</a:t>
            </a:r>
            <a:r>
              <a:rPr lang="pt-BR" dirty="0"/>
              <a:t> </a:t>
            </a:r>
            <a:r>
              <a:rPr lang="pt-BR" dirty="0" err="1"/>
              <a:t>Pattern</a:t>
            </a:r>
            <a:r>
              <a:rPr lang="pt-BR" dirty="0"/>
              <a:t> visa padronizar o uso e implementação de finalizadores e a interface </a:t>
            </a:r>
            <a:r>
              <a:rPr lang="pt-BR" dirty="0" err="1"/>
              <a:t>IDisposable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316088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594A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F7525B-F2B2-471F-9D93-40440810F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IDispose</a:t>
            </a:r>
            <a:b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B7772E1-4FF4-4A21-BD64-A2ABFC3DD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386" y="221516"/>
            <a:ext cx="10273204" cy="647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07176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8B9EC-5997-4801-9913-1727799E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Programação assíncrona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A8BDDF-CE77-494B-B7DD-C7AF48C34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Multithreading</a:t>
            </a:r>
            <a:r>
              <a:rPr lang="pt-BR" dirty="0"/>
              <a:t> </a:t>
            </a:r>
            <a:r>
              <a:rPr lang="pt-BR" dirty="0" err="1"/>
              <a:t>Basics</a:t>
            </a:r>
            <a:endParaRPr lang="pt-BR" dirty="0"/>
          </a:p>
          <a:p>
            <a:r>
              <a:rPr lang="pt-BR" dirty="0"/>
              <a:t>Criar threads</a:t>
            </a:r>
          </a:p>
          <a:p>
            <a:r>
              <a:rPr lang="pt-BR" dirty="0"/>
              <a:t>Gerenciar threads</a:t>
            </a:r>
          </a:p>
          <a:p>
            <a:r>
              <a:rPr lang="pt-BR" dirty="0"/>
              <a:t>Thread Pool</a:t>
            </a:r>
          </a:p>
          <a:p>
            <a:r>
              <a:rPr lang="pt-BR" dirty="0" err="1"/>
              <a:t>Async</a:t>
            </a:r>
            <a:r>
              <a:rPr lang="pt-BR" dirty="0"/>
              <a:t> e </a:t>
            </a:r>
            <a:r>
              <a:rPr lang="pt-BR" dirty="0" err="1"/>
              <a:t>Await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780405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FBEEC-41BA-435A-8E64-4B50A7DDA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Data Security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E20870-9ECC-42C6-86FF-E14684C00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Assemblies</a:t>
            </a:r>
            <a:endParaRPr lang="pt-BR" dirty="0"/>
          </a:p>
          <a:p>
            <a:r>
              <a:rPr lang="pt-BR" dirty="0"/>
              <a:t>Global Assembly Cache</a:t>
            </a:r>
          </a:p>
          <a:p>
            <a:r>
              <a:rPr lang="pt-BR" dirty="0"/>
              <a:t>Usar file </a:t>
            </a:r>
            <a:r>
              <a:rPr lang="pt-BR" dirty="0" err="1"/>
              <a:t>encryption</a:t>
            </a:r>
            <a:endParaRPr lang="pt-BR" dirty="0"/>
          </a:p>
          <a:p>
            <a:r>
              <a:rPr lang="pt-BR" dirty="0" err="1"/>
              <a:t>Hashing</a:t>
            </a:r>
            <a:endParaRPr lang="pt-BR" dirty="0"/>
          </a:p>
          <a:p>
            <a:r>
              <a:rPr lang="pt-BR" dirty="0"/>
              <a:t>Wrap </a:t>
            </a:r>
            <a:r>
              <a:rPr lang="pt-BR" dirty="0" err="1"/>
              <a:t>up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20518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3982</Words>
  <Application>Microsoft Office PowerPoint</Application>
  <PresentationFormat>Widescreen</PresentationFormat>
  <Paragraphs>501</Paragraphs>
  <Slides>84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84</vt:i4>
      </vt:variant>
    </vt:vector>
  </HeadingPairs>
  <TitlesOfParts>
    <vt:vector size="88" baseType="lpstr">
      <vt:lpstr>Arial</vt:lpstr>
      <vt:lpstr>Calibri</vt:lpstr>
      <vt:lpstr>Calibri Light</vt:lpstr>
      <vt:lpstr>Tema do Office</vt:lpstr>
      <vt:lpstr>Apresentação do PowerPoint</vt:lpstr>
      <vt:lpstr>Seção 1 - Introdução</vt:lpstr>
      <vt:lpstr>Microsoft Certified Solutions Developer MCSD</vt:lpstr>
      <vt:lpstr>Visual Studio - Download e instalação</vt:lpstr>
      <vt:lpstr>Funções Básicas </vt:lpstr>
      <vt:lpstr>Funções Básicas </vt:lpstr>
      <vt:lpstr>Configurações</vt:lpstr>
      <vt:lpstr>Seção 3 - C# Basico</vt:lpstr>
      <vt:lpstr>Principios C#</vt:lpstr>
      <vt:lpstr>Programação orientada a objetos</vt:lpstr>
      <vt:lpstr>Pilares da orientação a objetos</vt:lpstr>
      <vt:lpstr>Classes</vt:lpstr>
      <vt:lpstr>Classes</vt:lpstr>
      <vt:lpstr>Objetos</vt:lpstr>
      <vt:lpstr>Classe e Objeto Exemplo</vt:lpstr>
      <vt:lpstr>C# Types</vt:lpstr>
      <vt:lpstr>Types Reference</vt:lpstr>
      <vt:lpstr>Types Reference Exemplo</vt:lpstr>
      <vt:lpstr>Collections e Arrays</vt:lpstr>
      <vt:lpstr>Collections e Arrays</vt:lpstr>
      <vt:lpstr>Manipulação de exceção</vt:lpstr>
      <vt:lpstr>Manipulação de exceção</vt:lpstr>
      <vt:lpstr>String e StringBuilider</vt:lpstr>
      <vt:lpstr>String e StringBuilider</vt:lpstr>
      <vt:lpstr>String e StringBuilider</vt:lpstr>
      <vt:lpstr>StreamWriter e StreamReader</vt:lpstr>
      <vt:lpstr>StreamWriter e StreamReader</vt:lpstr>
      <vt:lpstr>Propriedades e campos</vt:lpstr>
      <vt:lpstr>Propriedades e campos</vt:lpstr>
      <vt:lpstr>Métodos</vt:lpstr>
      <vt:lpstr>Métodos</vt:lpstr>
      <vt:lpstr>argumentos nomeados e opcionais</vt:lpstr>
      <vt:lpstr>Argumentos Nomeados e Opcionais</vt:lpstr>
      <vt:lpstr>Construtores</vt:lpstr>
      <vt:lpstr>Construtores.</vt:lpstr>
      <vt:lpstr>3 Principais Tipos de Construtores.</vt:lpstr>
      <vt:lpstr>Construtores</vt:lpstr>
      <vt:lpstr>Modificador Estático</vt:lpstr>
      <vt:lpstr>Modificador Estático</vt:lpstr>
      <vt:lpstr>Structs C#</vt:lpstr>
      <vt:lpstr>Structs C#</vt:lpstr>
      <vt:lpstr>Generics</vt:lpstr>
      <vt:lpstr>Generics</vt:lpstr>
      <vt:lpstr>Conversão e Casting</vt:lpstr>
      <vt:lpstr>Conversão e Cast - Implícito e Explicito</vt:lpstr>
      <vt:lpstr>Conversão e Casting - Classe</vt:lpstr>
      <vt:lpstr>Conversão e Casting</vt:lpstr>
      <vt:lpstr>Boxing e Unboxing</vt:lpstr>
      <vt:lpstr>Boxing e Unboxing</vt:lpstr>
      <vt:lpstr>Indexers</vt:lpstr>
      <vt:lpstr>Indexers</vt:lpstr>
      <vt:lpstr>Herança</vt:lpstr>
      <vt:lpstr>Herança</vt:lpstr>
      <vt:lpstr>Herança</vt:lpstr>
      <vt:lpstr>Herança</vt:lpstr>
      <vt:lpstr>Overloading </vt:lpstr>
      <vt:lpstr>Overloading</vt:lpstr>
      <vt:lpstr>Overrinding</vt:lpstr>
      <vt:lpstr>Overrinding</vt:lpstr>
      <vt:lpstr>Extensions Methods</vt:lpstr>
      <vt:lpstr>Extensions Methods</vt:lpstr>
      <vt:lpstr>Interfaces</vt:lpstr>
      <vt:lpstr>Interfaces</vt:lpstr>
      <vt:lpstr>Interfaces</vt:lpstr>
      <vt:lpstr>Interfaces</vt:lpstr>
      <vt:lpstr>IEnumerable</vt:lpstr>
      <vt:lpstr>IEnumerable</vt:lpstr>
      <vt:lpstr>IEnumerable</vt:lpstr>
      <vt:lpstr>IEnumerable</vt:lpstr>
      <vt:lpstr>Delegates c#</vt:lpstr>
      <vt:lpstr>Eventos C#</vt:lpstr>
      <vt:lpstr>Garbage Collection</vt:lpstr>
      <vt:lpstr>Garbage Collection</vt:lpstr>
      <vt:lpstr>Dispose - Garbage Collection</vt:lpstr>
      <vt:lpstr>Dispose - Garbage Collection</vt:lpstr>
      <vt:lpstr>Finalizers</vt:lpstr>
      <vt:lpstr>Finalizers</vt:lpstr>
      <vt:lpstr>IDispose </vt:lpstr>
      <vt:lpstr>IDispose </vt:lpstr>
      <vt:lpstr>IDispose </vt:lpstr>
      <vt:lpstr>IDispose </vt:lpstr>
      <vt:lpstr>IDispose </vt:lpstr>
      <vt:lpstr>Programação assíncrona</vt:lpstr>
      <vt:lpstr>Data Security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Elder Gorayb</dc:creator>
  <cp:lastModifiedBy>Elder Gorayb</cp:lastModifiedBy>
  <cp:revision>1</cp:revision>
  <dcterms:created xsi:type="dcterms:W3CDTF">2019-11-14T21:34:40Z</dcterms:created>
  <dcterms:modified xsi:type="dcterms:W3CDTF">2019-11-14T21:35:07Z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36020b0-6d69-48c1-9bb5-c586c1062b70_Enabled">
    <vt:lpwstr>True</vt:lpwstr>
  </property>
  <property fmtid="{D5CDD505-2E9C-101B-9397-08002B2CF9AE}" pid="3" name="MSIP_Label_236020b0-6d69-48c1-9bb5-c586c1062b70_SiteId">
    <vt:lpwstr>cf36141c-ddd7-45a7-b073-111f66d0b30c</vt:lpwstr>
  </property>
  <property fmtid="{D5CDD505-2E9C-101B-9397-08002B2CF9AE}" pid="4" name="MSIP_Label_236020b0-6d69-48c1-9bb5-c586c1062b70_Owner">
    <vt:lpwstr>elder.gorayb@avanade.com</vt:lpwstr>
  </property>
  <property fmtid="{D5CDD505-2E9C-101B-9397-08002B2CF9AE}" pid="5" name="MSIP_Label_236020b0-6d69-48c1-9bb5-c586c1062b70_SetDate">
    <vt:lpwstr>2019-11-14T21:34:59.6823066Z</vt:lpwstr>
  </property>
  <property fmtid="{D5CDD505-2E9C-101B-9397-08002B2CF9AE}" pid="6" name="MSIP_Label_236020b0-6d69-48c1-9bb5-c586c1062b70_Name">
    <vt:lpwstr>Confidential</vt:lpwstr>
  </property>
  <property fmtid="{D5CDD505-2E9C-101B-9397-08002B2CF9AE}" pid="7" name="MSIP_Label_236020b0-6d69-48c1-9bb5-c586c1062b70_Application">
    <vt:lpwstr>Microsoft Azure Information Protection</vt:lpwstr>
  </property>
  <property fmtid="{D5CDD505-2E9C-101B-9397-08002B2CF9AE}" pid="8" name="MSIP_Label_236020b0-6d69-48c1-9bb5-c586c1062b70_ActionId">
    <vt:lpwstr>ed33d90c-fd89-4b4a-a096-d197331d9af1</vt:lpwstr>
  </property>
  <property fmtid="{D5CDD505-2E9C-101B-9397-08002B2CF9AE}" pid="9" name="MSIP_Label_236020b0-6d69-48c1-9bb5-c586c1062b70_Extended_MSFT_Method">
    <vt:lpwstr>Automatic</vt:lpwstr>
  </property>
  <property fmtid="{D5CDD505-2E9C-101B-9397-08002B2CF9AE}" pid="10" name="MSIP_Label_5fae8262-b78e-4366-8929-a5d6aac95320_Enabled">
    <vt:lpwstr>True</vt:lpwstr>
  </property>
  <property fmtid="{D5CDD505-2E9C-101B-9397-08002B2CF9AE}" pid="11" name="MSIP_Label_5fae8262-b78e-4366-8929-a5d6aac95320_SiteId">
    <vt:lpwstr>cf36141c-ddd7-45a7-b073-111f66d0b30c</vt:lpwstr>
  </property>
  <property fmtid="{D5CDD505-2E9C-101B-9397-08002B2CF9AE}" pid="12" name="MSIP_Label_5fae8262-b78e-4366-8929-a5d6aac95320_Owner">
    <vt:lpwstr>elder.gorayb@avanade.com</vt:lpwstr>
  </property>
  <property fmtid="{D5CDD505-2E9C-101B-9397-08002B2CF9AE}" pid="13" name="MSIP_Label_5fae8262-b78e-4366-8929-a5d6aac95320_SetDate">
    <vt:lpwstr>2019-11-14T21:34:59.6823066Z</vt:lpwstr>
  </property>
  <property fmtid="{D5CDD505-2E9C-101B-9397-08002B2CF9AE}" pid="14" name="MSIP_Label_5fae8262-b78e-4366-8929-a5d6aac95320_Name">
    <vt:lpwstr>Recipients Have Full Control</vt:lpwstr>
  </property>
  <property fmtid="{D5CDD505-2E9C-101B-9397-08002B2CF9AE}" pid="15" name="MSIP_Label_5fae8262-b78e-4366-8929-a5d6aac95320_Application">
    <vt:lpwstr>Microsoft Azure Information Protection</vt:lpwstr>
  </property>
  <property fmtid="{D5CDD505-2E9C-101B-9397-08002B2CF9AE}" pid="16" name="MSIP_Label_5fae8262-b78e-4366-8929-a5d6aac95320_ActionId">
    <vt:lpwstr>ed33d90c-fd89-4b4a-a096-d197331d9af1</vt:lpwstr>
  </property>
  <property fmtid="{D5CDD505-2E9C-101B-9397-08002B2CF9AE}" pid="17" name="MSIP_Label_5fae8262-b78e-4366-8929-a5d6aac95320_Parent">
    <vt:lpwstr>236020b0-6d69-48c1-9bb5-c586c1062b70</vt:lpwstr>
  </property>
  <property fmtid="{D5CDD505-2E9C-101B-9397-08002B2CF9AE}" pid="18" name="MSIP_Label_5fae8262-b78e-4366-8929-a5d6aac95320_Extended_MSFT_Method">
    <vt:lpwstr>Automatic</vt:lpwstr>
  </property>
  <property fmtid="{D5CDD505-2E9C-101B-9397-08002B2CF9AE}" pid="19" name="Sensitivity">
    <vt:lpwstr>Confidential Recipients Have Full Control</vt:lpwstr>
  </property>
</Properties>
</file>