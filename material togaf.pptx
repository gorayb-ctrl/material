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8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3">
  <p:sldMasterIdLst>
    <p:sldMasterId id="2147483649" r:id="rId2"/>
    <p:sldMasterId id="2147483661" r:id="rId3"/>
    <p:sldMasterId id="2147483673" r:id="rId4"/>
    <p:sldMasterId id="2147484058" r:id="rId5"/>
    <p:sldMasterId id="2147485572" r:id="rId6"/>
    <p:sldMasterId id="2147485985" r:id="rId7"/>
    <p:sldMasterId id="2147485997" r:id="rId8"/>
    <p:sldMasterId id="2147486010" r:id="rId9"/>
    <p:sldMasterId id="2147486022" r:id="rId10"/>
  </p:sldMasterIdLst>
  <p:notesMasterIdLst>
    <p:notesMasterId r:id="rId70"/>
  </p:notesMasterIdLst>
  <p:handoutMasterIdLst>
    <p:handoutMasterId r:id="rId71"/>
  </p:handoutMasterIdLst>
  <p:sldIdLst>
    <p:sldId id="636" r:id="rId11"/>
    <p:sldId id="638" r:id="rId12"/>
    <p:sldId id="639" r:id="rId13"/>
    <p:sldId id="640" r:id="rId14"/>
    <p:sldId id="633" r:id="rId15"/>
    <p:sldId id="641" r:id="rId16"/>
    <p:sldId id="634" r:id="rId17"/>
    <p:sldId id="635" r:id="rId18"/>
    <p:sldId id="556" r:id="rId19"/>
    <p:sldId id="557" r:id="rId20"/>
    <p:sldId id="558" r:id="rId21"/>
    <p:sldId id="559" r:id="rId22"/>
    <p:sldId id="560" r:id="rId23"/>
    <p:sldId id="555" r:id="rId24"/>
    <p:sldId id="561" r:id="rId25"/>
    <p:sldId id="562" r:id="rId26"/>
    <p:sldId id="563" r:id="rId27"/>
    <p:sldId id="564" r:id="rId28"/>
    <p:sldId id="567" r:id="rId29"/>
    <p:sldId id="569" r:id="rId30"/>
    <p:sldId id="570" r:id="rId31"/>
    <p:sldId id="571" r:id="rId32"/>
    <p:sldId id="572" r:id="rId33"/>
    <p:sldId id="573" r:id="rId34"/>
    <p:sldId id="578" r:id="rId35"/>
    <p:sldId id="579" r:id="rId36"/>
    <p:sldId id="580" r:id="rId37"/>
    <p:sldId id="581" r:id="rId38"/>
    <p:sldId id="582" r:id="rId39"/>
    <p:sldId id="583" r:id="rId40"/>
    <p:sldId id="589" r:id="rId41"/>
    <p:sldId id="590" r:id="rId42"/>
    <p:sldId id="592" r:id="rId43"/>
    <p:sldId id="593" r:id="rId44"/>
    <p:sldId id="594" r:id="rId45"/>
    <p:sldId id="598" r:id="rId46"/>
    <p:sldId id="631" r:id="rId47"/>
    <p:sldId id="599" r:id="rId48"/>
    <p:sldId id="600" r:id="rId49"/>
    <p:sldId id="601" r:id="rId50"/>
    <p:sldId id="602" r:id="rId51"/>
    <p:sldId id="606" r:id="rId52"/>
    <p:sldId id="607" r:id="rId53"/>
    <p:sldId id="608" r:id="rId54"/>
    <p:sldId id="609" r:id="rId55"/>
    <p:sldId id="610" r:id="rId56"/>
    <p:sldId id="613" r:id="rId57"/>
    <p:sldId id="614" r:id="rId58"/>
    <p:sldId id="615" r:id="rId59"/>
    <p:sldId id="616" r:id="rId60"/>
    <p:sldId id="617" r:id="rId61"/>
    <p:sldId id="621" r:id="rId62"/>
    <p:sldId id="622" r:id="rId63"/>
    <p:sldId id="623" r:id="rId64"/>
    <p:sldId id="624" r:id="rId65"/>
    <p:sldId id="625" r:id="rId66"/>
    <p:sldId id="637" r:id="rId67"/>
    <p:sldId id="632" r:id="rId68"/>
    <p:sldId id="629" r:id="rId69"/>
  </p:sldIdLst>
  <p:sldSz cx="9144000" cy="5143500" type="screen16x9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5pPr>
    <a:lvl6pPr marL="2286000" algn="l" defTabSz="914400" rtl="0" eaLnBrk="1" latinLnBrk="0" hangingPunct="1"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6pPr>
    <a:lvl7pPr marL="2743200" algn="l" defTabSz="914400" rtl="0" eaLnBrk="1" latinLnBrk="0" hangingPunct="1"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7pPr>
    <a:lvl8pPr marL="3200400" algn="l" defTabSz="914400" rtl="0" eaLnBrk="1" latinLnBrk="0" hangingPunct="1"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8pPr>
    <a:lvl9pPr marL="3657600" algn="l" defTabSz="914400" rtl="0" eaLnBrk="1" latinLnBrk="0" hangingPunct="1">
      <a:defRPr sz="2800" kern="1200">
        <a:solidFill>
          <a:srgbClr val="000000"/>
        </a:solidFill>
        <a:latin typeface="Arial" panose="020B0604020202020204" pitchFamily="34" charset="0"/>
        <a:ea typeface="ヒラギノ角ゴ ProN W3" charset="-128"/>
        <a:cs typeface="+mn-cs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der Gorayb" initials="EG" lastIdx="1" clrIdx="0">
    <p:extLst>
      <p:ext uri="{19B8F6BF-5375-455C-9EA6-DF929625EA0E}">
        <p15:presenceInfo xmlns:p15="http://schemas.microsoft.com/office/powerpoint/2012/main" userId="S-1-5-21-1570781029-660524082-555581952-238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6DA"/>
    <a:srgbClr val="FF0000"/>
    <a:srgbClr val="00B050"/>
    <a:srgbClr val="FFFF00"/>
    <a:srgbClr val="FF7C80"/>
    <a:srgbClr val="66FFFF"/>
    <a:srgbClr val="FF99CC"/>
    <a:srgbClr val="AFAFAF"/>
    <a:srgbClr val="00B0F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80" autoAdjust="0"/>
    <p:restoredTop sz="94660"/>
  </p:normalViewPr>
  <p:slideViewPr>
    <p:cSldViewPr snapToObjects="1">
      <p:cViewPr varScale="1">
        <p:scale>
          <a:sx n="91" d="100"/>
          <a:sy n="91" d="100"/>
        </p:scale>
        <p:origin x="352" y="56"/>
      </p:cViewPr>
      <p:guideLst>
        <p:guide orient="horz" pos="19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9" d="100"/>
          <a:sy n="79" d="100"/>
        </p:scale>
        <p:origin x="-3972" y="-96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1.xml"/><Relationship Id="rId72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pPr>
              <a:defRPr/>
            </a:pPr>
            <a:endParaRPr lang="es-ES_tradnl" altLang="pt-B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" charset="0"/>
              </a:defRPr>
            </a:lvl1pPr>
          </a:lstStyle>
          <a:p>
            <a:pPr>
              <a:defRPr/>
            </a:pPr>
            <a:fld id="{6BB2D695-641B-405F-A4BB-DFADF38CF64B}" type="datetimeFigureOut">
              <a:rPr lang="es-ES_tradnl" altLang="es-ES"/>
              <a:pPr>
                <a:defRPr/>
              </a:pPr>
              <a:t>12/09/2018</a:t>
            </a:fld>
            <a:endParaRPr lang="es-ES_tradnl" altLang="es-E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48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pPr>
              <a:defRPr/>
            </a:pPr>
            <a:endParaRPr lang="es-ES_tradnl" altLang="pt-B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78950"/>
            <a:ext cx="29448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" charset="0"/>
              </a:defRPr>
            </a:lvl1pPr>
          </a:lstStyle>
          <a:p>
            <a:pPr>
              <a:defRPr/>
            </a:pPr>
            <a:fld id="{BF5A179E-FED0-4A44-A2A1-EEE6260B7A6D}" type="slidenum">
              <a:rPr lang="es-ES_tradnl" altLang="es-ES"/>
              <a:pPr>
                <a:defRPr/>
              </a:pPr>
              <a:t>‹nº›</a:t>
            </a:fld>
            <a:endParaRPr lang="es-ES_tradnl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Gill Sans" charset="0"/>
                <a:ea typeface="ヒラギノ角ゴ ProN W3" charset="0"/>
                <a:cs typeface="ヒラギノ角ゴ ProN W3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ill Sans" charset="0"/>
              </a:defRPr>
            </a:lvl1pPr>
          </a:lstStyle>
          <a:p>
            <a:pPr>
              <a:defRPr/>
            </a:pPr>
            <a:fld id="{C26439A2-8D41-472E-B1FE-4971C53DD2A7}" type="datetimeFigureOut">
              <a:rPr lang="es-ES" altLang="es-ES"/>
              <a:pPr>
                <a:defRPr/>
              </a:pPr>
              <a:t>12/09/2018</a:t>
            </a:fld>
            <a:endParaRPr lang="es-ES" alt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s-ES" noProof="0" smtClean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 noProof="0" smtClean="0"/>
              <a:t>Haga clic para modificar el estilo de texto del patrón</a:t>
            </a:r>
          </a:p>
          <a:p>
            <a:pPr lvl="1"/>
            <a:r>
              <a:rPr lang="es-ES_tradnl" altLang="es-ES" noProof="0" smtClean="0"/>
              <a:t>Segundo nivel</a:t>
            </a:r>
          </a:p>
          <a:p>
            <a:pPr lvl="2"/>
            <a:r>
              <a:rPr lang="es-ES_tradnl" altLang="es-ES" noProof="0" smtClean="0"/>
              <a:t>Tercer nivel</a:t>
            </a:r>
          </a:p>
          <a:p>
            <a:pPr lvl="3"/>
            <a:r>
              <a:rPr lang="es-ES_tradnl" altLang="es-ES" noProof="0" smtClean="0"/>
              <a:t>Cuarto nivel</a:t>
            </a:r>
          </a:p>
          <a:p>
            <a:pPr lvl="4"/>
            <a:r>
              <a:rPr lang="es-ES_tradnl" altLang="es-ES" noProof="0" smtClean="0"/>
              <a:t>Quinto nivel</a:t>
            </a:r>
            <a:endParaRPr lang="es-ES" altLang="es-ES" noProof="0" smtClean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4813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Gill Sans" charset="0"/>
                <a:ea typeface="ヒラギノ角ゴ ProN W3" charset="0"/>
                <a:cs typeface="ヒラギノ角ゴ ProN W3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275" y="9378950"/>
            <a:ext cx="2944813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ill Sans" charset="0"/>
              </a:defRPr>
            </a:lvl1pPr>
          </a:lstStyle>
          <a:p>
            <a:pPr>
              <a:defRPr/>
            </a:pPr>
            <a:fld id="{5920A109-CD63-4DAF-9083-3BA54B17A34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-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00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- Título más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23528" y="-2536"/>
            <a:ext cx="8229600" cy="486054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32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altLang="es-ES" smtClean="0"/>
              <a:t>Clique para editar estilo do título mestre</a:t>
            </a:r>
            <a:endParaRPr lang="es-ES" altLang="es-ES" dirty="0"/>
          </a:p>
        </p:txBody>
      </p:sp>
      <p:sp>
        <p:nvSpPr>
          <p:cNvPr id="5" name="2 Marcador de texto"/>
          <p:cNvSpPr>
            <a:spLocks noGrp="1"/>
          </p:cNvSpPr>
          <p:nvPr>
            <p:ph type="body" idx="10"/>
          </p:nvPr>
        </p:nvSpPr>
        <p:spPr>
          <a:xfrm>
            <a:off x="1043609" y="483518"/>
            <a:ext cx="7535789" cy="479822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altLang="es-ES" noProof="0" smtClean="0">
                <a:sym typeface="Gill Sans" charset="0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7996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ior - Cuadro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2 Marcador de contenido"/>
          <p:cNvSpPr>
            <a:spLocks noGrp="1"/>
          </p:cNvSpPr>
          <p:nvPr>
            <p:ph sz="half" idx="11"/>
          </p:nvPr>
        </p:nvSpPr>
        <p:spPr>
          <a:xfrm>
            <a:off x="447614" y="1024040"/>
            <a:ext cx="8249530" cy="3394472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s-ES" dirty="0" smtClean="0"/>
          </a:p>
        </p:txBody>
      </p:sp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323528" y="-2536"/>
            <a:ext cx="8229600" cy="486054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32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altLang="es-ES" smtClean="0"/>
              <a:t>Clique para editar estilo do título mestre</a:t>
            </a:r>
            <a:endParaRPr lang="es-ES" altLang="es-ES" dirty="0"/>
          </a:p>
        </p:txBody>
      </p:sp>
      <p:sp>
        <p:nvSpPr>
          <p:cNvPr id="4" name="2 Marcador de texto"/>
          <p:cNvSpPr>
            <a:spLocks noGrp="1"/>
          </p:cNvSpPr>
          <p:nvPr>
            <p:ph type="body" idx="10"/>
          </p:nvPr>
        </p:nvSpPr>
        <p:spPr>
          <a:xfrm>
            <a:off x="1043609" y="483518"/>
            <a:ext cx="7535789" cy="479822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altLang="es-ES" noProof="0" smtClean="0">
                <a:sym typeface="Gill Sans" charset="0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492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- Niveles Cuadro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/>
          </p:nvPr>
        </p:nvSpPr>
        <p:spPr>
          <a:xfrm>
            <a:off x="447614" y="1037299"/>
            <a:ext cx="8131784" cy="3381213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tx2"/>
              </a:buClr>
              <a:defRPr sz="16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Clique para editar os estilos de texto </a:t>
            </a:r>
            <a:r>
              <a:rPr lang="es-ES" dirty="0" err="1" smtClean="0"/>
              <a:t>mestres</a:t>
            </a:r>
            <a:endParaRPr lang="es-ES" dirty="0" smtClean="0"/>
          </a:p>
          <a:p>
            <a:pPr lvl="1"/>
            <a:r>
              <a:rPr lang="es-ES" dirty="0" smtClean="0"/>
              <a:t>Adicionar texto</a:t>
            </a:r>
          </a:p>
          <a:p>
            <a:pPr lvl="2"/>
            <a:r>
              <a:rPr lang="es-ES" dirty="0" smtClean="0"/>
              <a:t>Adicionar texto</a:t>
            </a:r>
          </a:p>
          <a:p>
            <a:pPr lvl="3"/>
            <a:r>
              <a:rPr lang="es-ES" dirty="0" smtClean="0"/>
              <a:t>Adicionar texto</a:t>
            </a:r>
          </a:p>
        </p:txBody>
      </p:sp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323528" y="-2536"/>
            <a:ext cx="8229600" cy="486054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32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altLang="es-ES" smtClean="0"/>
              <a:t>Clique para editar estilo do título mestre</a:t>
            </a:r>
            <a:endParaRPr lang="es-ES" altLang="es-ES" dirty="0"/>
          </a:p>
        </p:txBody>
      </p:sp>
      <p:sp>
        <p:nvSpPr>
          <p:cNvPr id="4" name="2 Marcador de texto"/>
          <p:cNvSpPr>
            <a:spLocks noGrp="1"/>
          </p:cNvSpPr>
          <p:nvPr>
            <p:ph type="body" idx="10"/>
          </p:nvPr>
        </p:nvSpPr>
        <p:spPr>
          <a:xfrm>
            <a:off x="1043609" y="483518"/>
            <a:ext cx="7535789" cy="479822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altLang="es-ES" noProof="0" smtClean="0">
                <a:sym typeface="Gill Sans" charset="0"/>
              </a:rPr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27627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- Doble columna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Marcador de contenido"/>
          <p:cNvSpPr>
            <a:spLocks noGrp="1"/>
          </p:cNvSpPr>
          <p:nvPr>
            <p:ph sz="half" idx="13"/>
          </p:nvPr>
        </p:nvSpPr>
        <p:spPr>
          <a:xfrm>
            <a:off x="4675227" y="1200152"/>
            <a:ext cx="4048186" cy="3394472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tx2"/>
              </a:buClr>
              <a:defRPr sz="16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Clique para editar os estilos de texto </a:t>
            </a:r>
            <a:r>
              <a:rPr lang="es-ES" dirty="0" err="1" smtClean="0"/>
              <a:t>mestres</a:t>
            </a:r>
            <a:endParaRPr lang="es-ES" dirty="0" smtClean="0"/>
          </a:p>
          <a:p>
            <a:pPr lvl="1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  <a:p>
            <a:pPr lvl="2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  <a:p>
            <a:pPr lvl="3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23528" y="-2536"/>
            <a:ext cx="8229600" cy="486054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32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altLang="es-ES" smtClean="0"/>
              <a:t>Clique para editar estilo do título mestre</a:t>
            </a:r>
            <a:endParaRPr lang="es-ES" altLang="es-ES" dirty="0"/>
          </a:p>
        </p:txBody>
      </p:sp>
      <p:sp>
        <p:nvSpPr>
          <p:cNvPr id="5" name="2 Marcador de texto"/>
          <p:cNvSpPr>
            <a:spLocks noGrp="1"/>
          </p:cNvSpPr>
          <p:nvPr>
            <p:ph type="body" idx="11"/>
          </p:nvPr>
        </p:nvSpPr>
        <p:spPr>
          <a:xfrm>
            <a:off x="1043609" y="483518"/>
            <a:ext cx="7535789" cy="479822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altLang="es-ES" noProof="0" smtClean="0">
                <a:sym typeface="Gill Sans" charset="0"/>
              </a:rPr>
              <a:t>Clique para editar os estilos de texto mestres</a:t>
            </a:r>
          </a:p>
        </p:txBody>
      </p:sp>
      <p:sp>
        <p:nvSpPr>
          <p:cNvPr id="9" name="2 Marcador de contenido"/>
          <p:cNvSpPr>
            <a:spLocks noGrp="1"/>
          </p:cNvSpPr>
          <p:nvPr>
            <p:ph sz="half" idx="12"/>
          </p:nvPr>
        </p:nvSpPr>
        <p:spPr>
          <a:xfrm>
            <a:off x="447614" y="1200152"/>
            <a:ext cx="4048186" cy="3394472"/>
          </a:xfrm>
          <a:prstGeom prst="rect">
            <a:avLst/>
          </a:prstGeom>
        </p:spPr>
        <p:txBody>
          <a:bodyPr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tx2"/>
              </a:buClr>
              <a:defRPr sz="16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Clique para editar os estilos de texto </a:t>
            </a:r>
            <a:r>
              <a:rPr lang="es-ES" dirty="0" err="1" smtClean="0"/>
              <a:t>mestres</a:t>
            </a:r>
            <a:endParaRPr lang="es-ES" dirty="0" smtClean="0"/>
          </a:p>
          <a:p>
            <a:pPr lvl="1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  <a:p>
            <a:pPr lvl="2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  <a:p>
            <a:pPr lvl="3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</p:txBody>
      </p:sp>
    </p:spTree>
    <p:extLst>
      <p:ext uri="{BB962C8B-B14F-4D97-AF65-F5344CB8AC3E}">
        <p14:creationId xmlns:p14="http://schemas.microsoft.com/office/powerpoint/2010/main" val="6179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- Cuadro d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23528" y="-2536"/>
            <a:ext cx="8229600" cy="486054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32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altLang="es-ES" smtClean="0"/>
              <a:t>Clique para editar estilo do título mestre</a:t>
            </a:r>
            <a:endParaRPr lang="es-ES" altLang="es-ES" dirty="0"/>
          </a:p>
        </p:txBody>
      </p:sp>
      <p:sp>
        <p:nvSpPr>
          <p:cNvPr id="5" name="2 Marcador de texto"/>
          <p:cNvSpPr>
            <a:spLocks noGrp="1"/>
          </p:cNvSpPr>
          <p:nvPr>
            <p:ph type="body" idx="10"/>
          </p:nvPr>
        </p:nvSpPr>
        <p:spPr>
          <a:xfrm>
            <a:off x="1043609" y="483518"/>
            <a:ext cx="7535789" cy="479822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altLang="es-ES" noProof="0" smtClean="0">
                <a:sym typeface="Gill Sans" charset="0"/>
              </a:rPr>
              <a:t>Clique para editar os estilos de texto mestres</a:t>
            </a:r>
          </a:p>
        </p:txBody>
      </p:sp>
      <p:sp>
        <p:nvSpPr>
          <p:cNvPr id="7" name="2 Marcador de contenido"/>
          <p:cNvSpPr>
            <a:spLocks noGrp="1"/>
          </p:cNvSpPr>
          <p:nvPr>
            <p:ph sz="half" idx="11"/>
          </p:nvPr>
        </p:nvSpPr>
        <p:spPr>
          <a:xfrm>
            <a:off x="457200" y="1200152"/>
            <a:ext cx="8249530" cy="3394472"/>
          </a:xfrm>
          <a:prstGeom prst="rect">
            <a:avLst/>
          </a:prstGeom>
        </p:spPr>
        <p:txBody>
          <a:bodyPr vert="vert"/>
          <a:lstStyle>
            <a:lvl1pPr marL="342900" indent="-342900"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800100" indent="-342900">
              <a:buClr>
                <a:schemeClr val="tx2"/>
              </a:buClr>
              <a:buFont typeface="Courier New" panose="02070309020205020404" pitchFamily="49" charset="0"/>
              <a:buChar char="o"/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5730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tx2"/>
              </a:buClr>
              <a:defRPr sz="16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tx2"/>
              </a:buCl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 smtClean="0"/>
              <a:t>Clique para editar os estilos de texto </a:t>
            </a:r>
            <a:r>
              <a:rPr lang="es-ES" dirty="0" err="1" smtClean="0"/>
              <a:t>mestres</a:t>
            </a:r>
            <a:endParaRPr lang="es-ES" dirty="0" smtClean="0"/>
          </a:p>
          <a:p>
            <a:pPr lvl="1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  <a:p>
            <a:pPr lvl="2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  <a:p>
            <a:pPr lvl="3"/>
            <a:r>
              <a:rPr lang="es-ES" dirty="0" err="1" smtClean="0"/>
              <a:t>Adiconar</a:t>
            </a:r>
            <a:r>
              <a:rPr lang="es-ES" dirty="0" smtClean="0"/>
              <a:t> texto</a:t>
            </a:r>
          </a:p>
        </p:txBody>
      </p:sp>
    </p:spTree>
    <p:extLst>
      <p:ext uri="{BB962C8B-B14F-4D97-AF65-F5344CB8AC3E}">
        <p14:creationId xmlns:p14="http://schemas.microsoft.com/office/powerpoint/2010/main" val="206959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MARILLO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AZUL AMARILL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4" name="Picture 6" descr="D:\PROYECTOS\RECURSOS\TELEFÓNICA\LOGOS Telefónica\TEL logo_pos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411163"/>
            <a:ext cx="25209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37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VERDE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AZUL VERD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4" name="Picture 6" descr="D:\PROYECTOS\RECURSOS\TELEFÓNICA\LOGOS Telefónica\TEL logo_pos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411163"/>
            <a:ext cx="25209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6177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NARANJA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AZUL NARANJ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4" name="Picture 6" descr="D:\PROYECTOS\RECURSOS\TELEFÓNICA\LOGOS Telefónica\TEL logo_pos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411163"/>
            <a:ext cx="25209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4887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ZUL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AZUL AZU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4" name="Picture 6" descr="D:\PROYECTOS\RECURSOS\TELEFÓNICA\LOGOS Telefónica\TEL logo_pos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411163"/>
            <a:ext cx="25209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431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UXIA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AZUL FUXI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2450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4" name="Picture 6" descr="D:\PROYECTOS\RECURSOS\TELEFÓNICA\LOGOS Telefónica\TEL logo_pos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411163"/>
            <a:ext cx="252095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8087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verde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lipse"/>
          <p:cNvSpPr/>
          <p:nvPr userDrawn="1"/>
        </p:nvSpPr>
        <p:spPr>
          <a:xfrm rot="16200000">
            <a:off x="3671888" y="2246313"/>
            <a:ext cx="649287" cy="6492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s-ES" dirty="0"/>
          </a:p>
        </p:txBody>
      </p:sp>
      <p:grpSp>
        <p:nvGrpSpPr>
          <p:cNvPr id="3" name="66 Grupo"/>
          <p:cNvGrpSpPr>
            <a:grpSpLocks/>
          </p:cNvGrpSpPr>
          <p:nvPr userDrawn="1"/>
        </p:nvGrpSpPr>
        <p:grpSpPr bwMode="auto">
          <a:xfrm rot="-5400000">
            <a:off x="3817938" y="2463800"/>
            <a:ext cx="431800" cy="215900"/>
            <a:chOff x="971600" y="4149080"/>
            <a:chExt cx="1440160" cy="720080"/>
          </a:xfrm>
        </p:grpSpPr>
        <p:sp>
          <p:nvSpPr>
            <p:cNvPr id="4" name="24 Triángulo isósceles"/>
            <p:cNvSpPr/>
            <p:nvPr/>
          </p:nvSpPr>
          <p:spPr>
            <a:xfrm rot="10800000" flipV="1">
              <a:off x="971600" y="4127901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5" name="24 Triángulo isósceles"/>
            <p:cNvSpPr/>
            <p:nvPr/>
          </p:nvSpPr>
          <p:spPr>
            <a:xfrm rot="10800000">
              <a:off x="1712859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075969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naranja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lipse"/>
          <p:cNvSpPr/>
          <p:nvPr userDrawn="1"/>
        </p:nvSpPr>
        <p:spPr>
          <a:xfrm rot="16200000">
            <a:off x="3671888" y="2246313"/>
            <a:ext cx="649287" cy="6492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s-ES" dirty="0"/>
          </a:p>
        </p:txBody>
      </p:sp>
      <p:grpSp>
        <p:nvGrpSpPr>
          <p:cNvPr id="3" name="66 Grupo"/>
          <p:cNvGrpSpPr>
            <a:grpSpLocks/>
          </p:cNvGrpSpPr>
          <p:nvPr userDrawn="1"/>
        </p:nvGrpSpPr>
        <p:grpSpPr bwMode="auto">
          <a:xfrm rot="-5400000">
            <a:off x="3817938" y="2463800"/>
            <a:ext cx="431800" cy="215900"/>
            <a:chOff x="971600" y="4149080"/>
            <a:chExt cx="1440160" cy="720080"/>
          </a:xfrm>
        </p:grpSpPr>
        <p:sp>
          <p:nvSpPr>
            <p:cNvPr id="4" name="24 Triángulo isósceles"/>
            <p:cNvSpPr/>
            <p:nvPr/>
          </p:nvSpPr>
          <p:spPr>
            <a:xfrm rot="10800000" flipV="1">
              <a:off x="971600" y="4127901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5" name="24 Triángulo isósceles"/>
            <p:cNvSpPr/>
            <p:nvPr/>
          </p:nvSpPr>
          <p:spPr>
            <a:xfrm rot="10800000">
              <a:off x="1712859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04009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azul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lipse"/>
          <p:cNvSpPr/>
          <p:nvPr userDrawn="1"/>
        </p:nvSpPr>
        <p:spPr>
          <a:xfrm rot="16200000">
            <a:off x="3671888" y="2246313"/>
            <a:ext cx="649287" cy="6492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s-ES" dirty="0"/>
          </a:p>
        </p:txBody>
      </p:sp>
      <p:grpSp>
        <p:nvGrpSpPr>
          <p:cNvPr id="3" name="66 Grupo"/>
          <p:cNvGrpSpPr>
            <a:grpSpLocks/>
          </p:cNvGrpSpPr>
          <p:nvPr userDrawn="1"/>
        </p:nvGrpSpPr>
        <p:grpSpPr bwMode="auto">
          <a:xfrm rot="-5400000">
            <a:off x="3817938" y="2463800"/>
            <a:ext cx="431800" cy="215900"/>
            <a:chOff x="971600" y="4149080"/>
            <a:chExt cx="1440160" cy="720080"/>
          </a:xfrm>
        </p:grpSpPr>
        <p:sp>
          <p:nvSpPr>
            <p:cNvPr id="4" name="24 Triángulo isósceles"/>
            <p:cNvSpPr/>
            <p:nvPr/>
          </p:nvSpPr>
          <p:spPr>
            <a:xfrm rot="10800000" flipV="1">
              <a:off x="971600" y="4127901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5" name="24 Triángulo isósceles"/>
            <p:cNvSpPr/>
            <p:nvPr/>
          </p:nvSpPr>
          <p:spPr>
            <a:xfrm rot="10800000">
              <a:off x="1712859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166077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fuxia 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lipse"/>
          <p:cNvSpPr/>
          <p:nvPr userDrawn="1"/>
        </p:nvSpPr>
        <p:spPr>
          <a:xfrm rot="16200000">
            <a:off x="3671888" y="2246313"/>
            <a:ext cx="649287" cy="6492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s-ES" dirty="0"/>
          </a:p>
        </p:txBody>
      </p:sp>
      <p:grpSp>
        <p:nvGrpSpPr>
          <p:cNvPr id="3" name="66 Grupo"/>
          <p:cNvGrpSpPr>
            <a:grpSpLocks/>
          </p:cNvGrpSpPr>
          <p:nvPr userDrawn="1"/>
        </p:nvGrpSpPr>
        <p:grpSpPr bwMode="auto">
          <a:xfrm rot="-5400000">
            <a:off x="3817938" y="2463800"/>
            <a:ext cx="431800" cy="215900"/>
            <a:chOff x="971600" y="4149080"/>
            <a:chExt cx="1440160" cy="720080"/>
          </a:xfrm>
        </p:grpSpPr>
        <p:sp>
          <p:nvSpPr>
            <p:cNvPr id="4" name="24 Triángulo isósceles"/>
            <p:cNvSpPr/>
            <p:nvPr/>
          </p:nvSpPr>
          <p:spPr>
            <a:xfrm rot="10800000" flipV="1">
              <a:off x="971600" y="4127901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5" name="24 Triángulo isósceles"/>
            <p:cNvSpPr/>
            <p:nvPr/>
          </p:nvSpPr>
          <p:spPr>
            <a:xfrm rot="10800000">
              <a:off x="1712859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03152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amarillo E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lipse"/>
          <p:cNvSpPr/>
          <p:nvPr userDrawn="1"/>
        </p:nvSpPr>
        <p:spPr>
          <a:xfrm rot="16200000">
            <a:off x="3671888" y="2246313"/>
            <a:ext cx="649287" cy="6492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endParaRPr lang="es-ES" dirty="0"/>
          </a:p>
        </p:txBody>
      </p:sp>
      <p:grpSp>
        <p:nvGrpSpPr>
          <p:cNvPr id="3" name="66 Grupo"/>
          <p:cNvGrpSpPr>
            <a:grpSpLocks/>
          </p:cNvGrpSpPr>
          <p:nvPr userDrawn="1"/>
        </p:nvGrpSpPr>
        <p:grpSpPr bwMode="auto">
          <a:xfrm rot="-5400000">
            <a:off x="3817938" y="2463800"/>
            <a:ext cx="431800" cy="215900"/>
            <a:chOff x="971600" y="4149080"/>
            <a:chExt cx="1440160" cy="720080"/>
          </a:xfrm>
        </p:grpSpPr>
        <p:sp>
          <p:nvSpPr>
            <p:cNvPr id="4" name="24 Triángulo isósceles"/>
            <p:cNvSpPr/>
            <p:nvPr/>
          </p:nvSpPr>
          <p:spPr>
            <a:xfrm rot="10800000" flipV="1">
              <a:off x="971600" y="4127901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5" name="24 Triángulo isósceles"/>
            <p:cNvSpPr/>
            <p:nvPr/>
          </p:nvSpPr>
          <p:spPr>
            <a:xfrm rot="10800000">
              <a:off x="1712859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51423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732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MARILLO PROYEC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BLANCO AMARILL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611188"/>
            <a:ext cx="19478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1314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VERDE PROYEC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BLANCO VERD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611188"/>
            <a:ext cx="19478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8097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ZUL PROYEC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BLANCO NARANJ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611188"/>
            <a:ext cx="19478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088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NARANJA PROYEC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BLANCO AZU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7213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611188"/>
            <a:ext cx="19478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9354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UXIA PROYEC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PROYECTOS\PLANTILLAS\PLANTILLAS PPT\Propuesta plantillas referencia\paso a PPT\Recursos\ESCOLHEMOS TUDO\TUDO BLANCO FUXI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263" y="4365625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611188"/>
            <a:ext cx="19478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 userDrawn="1"/>
        </p:nvSpPr>
        <p:spPr>
          <a:xfrm>
            <a:off x="250825" y="249238"/>
            <a:ext cx="8642350" cy="4625975"/>
          </a:xfrm>
          <a:prstGeom prst="rect">
            <a:avLst/>
          </a:pr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5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300355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815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22" y="1598016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22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49311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64320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36" y="3305373"/>
            <a:ext cx="7772400" cy="1021556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36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544024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23" y="1200155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532466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8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8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24163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917447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959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12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095343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4678675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489673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41685"/>
            <a:ext cx="2057400" cy="44529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23" y="141685"/>
            <a:ext cx="6019800" cy="44529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675160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16499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7198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3746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1970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2427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9740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6720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5319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4431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940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4366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195" name="Shape 19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967684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23B90-378A-4DE3-BC6A-09348862AEAF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98847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A32E-210A-4C4A-A4A4-29AB1FA0DE0E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72079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5B4A-F977-4A81-BC7C-26A4927F91C5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75815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A1F81-1FDF-44E0-8FC0-41D1584578F2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33194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A6C-4744-49A1-91C7-D19A1767AE9B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48350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30139-10C8-4C9B-884A-5C761051840B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95084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707A-EDC7-4AF1-9B5F-4C37D8551982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44441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0B0-8F60-4AA7-93E3-6E63EAF4B76D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99181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441B-6827-4DFC-8DFD-B8E7E9684DEF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02768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9B64D-5FA3-442A-BA85-961DD92AF181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28436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EA51-052B-4A96-ABF5-05E72959D07C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77978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6843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1182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0606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1973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671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6076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998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1805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5517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6961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49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5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6 Rectángulo"/>
          <p:cNvSpPr>
            <a:spLocks noChangeArrowheads="1"/>
          </p:cNvSpPr>
          <p:nvPr userDrawn="1"/>
        </p:nvSpPr>
        <p:spPr bwMode="auto">
          <a:xfrm>
            <a:off x="0" y="0"/>
            <a:ext cx="107950" cy="5165725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>
              <a:defRPr/>
            </a:pPr>
            <a:endParaRPr lang="es-ES" altLang="es-ES" u="sng" smtClean="0"/>
          </a:p>
        </p:txBody>
      </p:sp>
      <p:sp>
        <p:nvSpPr>
          <p:cNvPr id="2" name="7 Rectángulo"/>
          <p:cNvSpPr>
            <a:spLocks noChangeArrowheads="1"/>
          </p:cNvSpPr>
          <p:nvPr userDrawn="1"/>
        </p:nvSpPr>
        <p:spPr bwMode="auto">
          <a:xfrm>
            <a:off x="0" y="0"/>
            <a:ext cx="107950" cy="950913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>
              <a:defRPr/>
            </a:pPr>
            <a:endParaRPr lang="es-ES" altLang="es-ES" u="sng" smtClean="0"/>
          </a:p>
        </p:txBody>
      </p:sp>
      <p:pic>
        <p:nvPicPr>
          <p:cNvPr id="1028" name="Picture 6" descr="D:\PROYECTOS\RECURSOS\TELEFÓNICA\LOGOS Telefónica\TEL logo_pos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516438"/>
            <a:ext cx="144145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"/>
          <p:cNvSpPr>
            <a:spLocks/>
          </p:cNvSpPr>
          <p:nvPr userDrawn="1"/>
        </p:nvSpPr>
        <p:spPr bwMode="auto">
          <a:xfrm>
            <a:off x="4424363" y="4660900"/>
            <a:ext cx="2444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>
              <a:defRPr/>
            </a:pPr>
            <a:fld id="{ADD1C287-32E9-49CC-AC91-24C6FBA4A791}" type="slidenum">
              <a:rPr lang="es-ES_tradnl" altLang="es-ES" sz="1100" smtClean="0">
                <a:solidFill>
                  <a:schemeClr val="tx1"/>
                </a:solidFill>
                <a:latin typeface="Calibri" charset="0"/>
                <a:ea typeface="MS PGothic" charset="-128"/>
                <a:cs typeface="Calibri" charset="0"/>
                <a:sym typeface="Arial" charset="0"/>
              </a:rPr>
              <a:pPr algn="ctr" eaLnBrk="1" hangingPunct="1">
                <a:defRPr/>
              </a:pPr>
              <a:t>‹nº›</a:t>
            </a:fld>
            <a:endParaRPr lang="es-ES_tradnl" altLang="es-ES" sz="1100" smtClean="0">
              <a:solidFill>
                <a:schemeClr val="tx1"/>
              </a:solidFill>
              <a:latin typeface="Calibri" charset="0"/>
              <a:ea typeface="MS PGothic" charset="-128"/>
              <a:cs typeface="Calibri" charset="0"/>
              <a:sym typeface="Arial" charset="0"/>
            </a:endParaRPr>
          </a:p>
        </p:txBody>
      </p:sp>
      <p:grpSp>
        <p:nvGrpSpPr>
          <p:cNvPr id="1030" name="59 Grupo"/>
          <p:cNvGrpSpPr>
            <a:grpSpLocks/>
          </p:cNvGrpSpPr>
          <p:nvPr userDrawn="1"/>
        </p:nvGrpSpPr>
        <p:grpSpPr bwMode="auto">
          <a:xfrm>
            <a:off x="4330700" y="4732338"/>
            <a:ext cx="431800" cy="215900"/>
            <a:chOff x="971600" y="4149080"/>
            <a:chExt cx="1440160" cy="720080"/>
          </a:xfrm>
        </p:grpSpPr>
        <p:sp>
          <p:nvSpPr>
            <p:cNvPr id="14" name="24 Triángulo isósceles"/>
            <p:cNvSpPr/>
            <p:nvPr userDrawn="1"/>
          </p:nvSpPr>
          <p:spPr>
            <a:xfrm rot="10800000" flipV="1">
              <a:off x="971600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rgbClr val="21C7D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  <p:sp>
          <p:nvSpPr>
            <p:cNvPr id="17" name="24 Triángulo isósceles"/>
            <p:cNvSpPr/>
            <p:nvPr/>
          </p:nvSpPr>
          <p:spPr>
            <a:xfrm rot="10800000">
              <a:off x="1691680" y="4149080"/>
              <a:ext cx="720080" cy="720080"/>
            </a:xfrm>
            <a:custGeom>
              <a:avLst/>
              <a:gdLst>
                <a:gd name="connsiteX0" fmla="*/ 0 w 540059"/>
                <a:gd name="connsiteY0" fmla="*/ 288032 h 288032"/>
                <a:gd name="connsiteX1" fmla="*/ 270030 w 540059"/>
                <a:gd name="connsiteY1" fmla="*/ 0 h 288032"/>
                <a:gd name="connsiteX2" fmla="*/ 540059 w 540059"/>
                <a:gd name="connsiteY2" fmla="*/ 288032 h 288032"/>
                <a:gd name="connsiteX3" fmla="*/ 0 w 540059"/>
                <a:gd name="connsiteY3" fmla="*/ 288032 h 288032"/>
                <a:gd name="connsiteX0" fmla="*/ 0 w 270030"/>
                <a:gd name="connsiteY0" fmla="*/ 288032 h 288032"/>
                <a:gd name="connsiteX1" fmla="*/ 270030 w 270030"/>
                <a:gd name="connsiteY1" fmla="*/ 0 h 288032"/>
                <a:gd name="connsiteX2" fmla="*/ 0 w 270030"/>
                <a:gd name="connsiteY2" fmla="*/ 288032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0030" h="288032">
                  <a:moveTo>
                    <a:pt x="0" y="288032"/>
                  </a:moveTo>
                  <a:lnTo>
                    <a:pt x="270030" y="0"/>
                  </a:lnTo>
                  <a:lnTo>
                    <a:pt x="0" y="288032"/>
                  </a:lnTo>
                  <a:close/>
                </a:path>
              </a:pathLst>
            </a:custGeom>
            <a:ln w="57150">
              <a:solidFill>
                <a:srgbClr val="21C7D8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s-ES"/>
            </a:p>
          </p:txBody>
        </p:sp>
      </p:grpSp>
      <p:pic>
        <p:nvPicPr>
          <p:cNvPr id="1031" name="Picture 10" descr="D:\PROYECTOS\PLANTILLAS\PLANTILLAS PPT\Propuesta plantillas referencia\paso a PPT\Recursos\ESCOLHEMOS TUDO\TUDO AZUL AZUL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4800600"/>
            <a:ext cx="1655763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63" r:id="rId1"/>
    <p:sldLayoutId id="2147485964" r:id="rId2"/>
    <p:sldLayoutId id="2147485965" r:id="rId3"/>
    <p:sldLayoutId id="2147485966" r:id="rId4"/>
    <p:sldLayoutId id="2147485967" r:id="rId5"/>
    <p:sldLayoutId id="2147485968" r:id="rId6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 Light" panose="020F0302020204030204" pitchFamily="34" charset="0"/>
          <a:ea typeface="MS PGothic" pitchFamily="34" charset="-128"/>
          <a:cs typeface="Calibri Light" panose="020F03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 Light" pitchFamily="34" charset="0"/>
          <a:ea typeface="MS PGothic" pitchFamily="34" charset="-128"/>
          <a:cs typeface="Calibri Ligh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 Light" pitchFamily="34" charset="0"/>
          <a:ea typeface="MS PGothic" pitchFamily="34" charset="-128"/>
          <a:cs typeface="Calibri Ligh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 Light" pitchFamily="34" charset="0"/>
          <a:ea typeface="MS PGothic" pitchFamily="34" charset="-128"/>
          <a:cs typeface="Calibri Ligh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 Light" pitchFamily="34" charset="0"/>
          <a:ea typeface="MS PGothic" pitchFamily="34" charset="-128"/>
          <a:cs typeface="Calibri Ligh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200000"/>
        <a:defRPr sz="2400">
          <a:solidFill>
            <a:srgbClr val="0095A1"/>
          </a:solidFill>
          <a:latin typeface="Calibri Light" panose="020F0302020204030204" pitchFamily="34" charset="0"/>
          <a:ea typeface="MS PGothic" pitchFamily="34" charset="-128"/>
          <a:cs typeface="Calibri Light" panose="020F0302020204030204" pitchFamily="34" charset="0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>
          <a:solidFill>
            <a:srgbClr val="0095A1"/>
          </a:solidFill>
          <a:latin typeface="Calibri Light" panose="020F0302020204030204" pitchFamily="34" charset="0"/>
          <a:ea typeface="MS PGothic" pitchFamily="34" charset="-128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1600">
          <a:solidFill>
            <a:srgbClr val="0095A1"/>
          </a:solidFill>
          <a:latin typeface="Calibri Light" panose="020F0302020204030204" pitchFamily="34" charset="0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970" r:id="rId1"/>
    <p:sldLayoutId id="2147485971" r:id="rId2"/>
    <p:sldLayoutId id="2147485972" r:id="rId3"/>
    <p:sldLayoutId id="2147485973" r:id="rId4"/>
    <p:sldLayoutId id="2147485974" r:id="rId5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975" r:id="rId1"/>
    <p:sldLayoutId id="2147485976" r:id="rId2"/>
    <p:sldLayoutId id="2147485977" r:id="rId3"/>
    <p:sldLayoutId id="2147485978" r:id="rId4"/>
    <p:sldLayoutId id="2147485979" r:id="rId5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1492250"/>
            <a:ext cx="23495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2" descr="D:\PROYECTOS\PLANTILLAS\PLANTILLAS PPT\Propuesta plantillas referencia\paso a PPT\Recursos\CUBO\desplegable-cub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3" y="3225800"/>
            <a:ext cx="1403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D:\PROYECTOS\PLANTILLAS\PLANTILLAS PPT\Propuesta plantillas referencia\paso a PPT\Recursos\ESCOLHEMOS TUDO\TUDO AZUL AZUL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4587875"/>
            <a:ext cx="1655762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6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980" r:id="rId1"/>
    <p:sldLayoutId id="2147485981" r:id="rId2"/>
    <p:sldLayoutId id="2147485982" r:id="rId3"/>
    <p:sldLayoutId id="2147485983" r:id="rId4"/>
    <p:sldLayoutId id="2147485984" r:id="rId5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60" y="141685"/>
            <a:ext cx="8229481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pt-BR"/>
              <a:t>Clique para editar o estilo do título</a:t>
            </a:r>
            <a:endParaRPr lang="es-ES_tradnl" altLang="pt-B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60" y="1200151"/>
            <a:ext cx="8229481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pt-BR"/>
              <a:t>Haga clic para modificar el estilo de texto del patrón</a:t>
            </a:r>
          </a:p>
          <a:p>
            <a:pPr lvl="1"/>
            <a:r>
              <a:rPr lang="es-ES_tradnl" altLang="pt-BR"/>
              <a:t>Segundo nivel</a:t>
            </a:r>
          </a:p>
          <a:p>
            <a:pPr lvl="2"/>
            <a:r>
              <a:rPr lang="es-ES_tradnl" altLang="pt-BR"/>
              <a:t>Tercer nivel</a:t>
            </a:r>
          </a:p>
        </p:txBody>
      </p:sp>
      <p:sp>
        <p:nvSpPr>
          <p:cNvPr id="1028" name="AutoShape 10"/>
          <p:cNvSpPr>
            <a:spLocks/>
          </p:cNvSpPr>
          <p:nvPr/>
        </p:nvSpPr>
        <p:spPr bwMode="auto">
          <a:xfrm>
            <a:off x="4343966" y="4800600"/>
            <a:ext cx="456069" cy="190500"/>
          </a:xfrm>
          <a:prstGeom prst="roundRect">
            <a:avLst>
              <a:gd name="adj" fmla="val 50000"/>
            </a:avLst>
          </a:prstGeom>
          <a:noFill/>
          <a:ln w="19050" cap="rnd">
            <a:solidFill>
              <a:srgbClr val="44B5CA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>
              <a:defRPr/>
            </a:pPr>
            <a:endParaRPr lang="es-ES_tradnl" altLang="pt-BR" sz="2100" u="none">
              <a:latin typeface="Gill Sans" charset="0"/>
            </a:endParaRPr>
          </a:p>
        </p:txBody>
      </p:sp>
      <p:sp>
        <p:nvSpPr>
          <p:cNvPr id="1029" name="Rectangle 3"/>
          <p:cNvSpPr>
            <a:spLocks/>
          </p:cNvSpPr>
          <p:nvPr/>
        </p:nvSpPr>
        <p:spPr bwMode="auto">
          <a:xfrm>
            <a:off x="4486056" y="4833937"/>
            <a:ext cx="168316" cy="12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>
              <a:defRPr/>
            </a:pPr>
            <a:fld id="{20723E5A-6E18-42C8-ABE0-925D7EF1B9F6}" type="slidenum">
              <a:rPr lang="es-ES_tradnl" altLang="pt-BR" sz="825" u="none" smtClean="0">
                <a:solidFill>
                  <a:srgbClr val="003F52"/>
                </a:solidFill>
                <a:ea typeface="MS PGothic" panose="020B0600070205080204" pitchFamily="34" charset="-128"/>
                <a:sym typeface="Arial" panose="020B0604020202020204" pitchFamily="34" charset="0"/>
              </a:rPr>
              <a:pPr algn="ctr" eaLnBrk="1" hangingPunct="1">
                <a:defRPr/>
              </a:pPr>
              <a:t>‹nº›</a:t>
            </a:fld>
            <a:endParaRPr lang="es-ES_tradnl" altLang="pt-BR" sz="825" u="none">
              <a:solidFill>
                <a:srgbClr val="003F52"/>
              </a:solidFill>
              <a:ea typeface="MS PGothic" panose="020B0600070205080204" pitchFamily="34" charset="-128"/>
              <a:sym typeface="Arial" panose="020B0604020202020204" pitchFamily="34" charset="0"/>
            </a:endParaRPr>
          </a:p>
        </p:txBody>
      </p:sp>
      <p:pic>
        <p:nvPicPr>
          <p:cNvPr id="1031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21" y="4648200"/>
            <a:ext cx="8762950" cy="2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1"/>
          <p:cNvSpPr>
            <a:spLocks/>
          </p:cNvSpPr>
          <p:nvPr/>
        </p:nvSpPr>
        <p:spPr bwMode="auto">
          <a:xfrm>
            <a:off x="0" y="0"/>
            <a:ext cx="367951" cy="485775"/>
          </a:xfrm>
          <a:prstGeom prst="rect">
            <a:avLst/>
          </a:prstGeom>
          <a:gradFill rotWithShape="0">
            <a:gsLst>
              <a:gs pos="0">
                <a:srgbClr val="0A1519"/>
              </a:gs>
              <a:gs pos="100000">
                <a:srgbClr val="2A5E77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>
              <a:defRPr/>
            </a:pPr>
            <a:endParaRPr lang="es-ES_tradnl" altLang="pt-BR" sz="2100" u="none">
              <a:cs typeface="Arial" pitchFamily="34" charset="0"/>
            </a:endParaRPr>
          </a:p>
        </p:txBody>
      </p:sp>
      <p:pic>
        <p:nvPicPr>
          <p:cNvPr id="1033" name="Imagem 9" descr="TEL-VIVO_lock-up_POS_RGB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383" y="4770835"/>
            <a:ext cx="1595645" cy="263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2"/>
          <p:cNvSpPr>
            <a:spLocks/>
          </p:cNvSpPr>
          <p:nvPr/>
        </p:nvSpPr>
        <p:spPr bwMode="auto">
          <a:xfrm>
            <a:off x="150197" y="4875062"/>
            <a:ext cx="1715213" cy="12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r>
              <a:rPr lang="es-ES_tradnl" altLang="pt-BR" sz="825" u="none" dirty="0" err="1">
                <a:solidFill>
                  <a:srgbClr val="123E51"/>
                </a:solidFill>
                <a:ea typeface="MS PGothic" pitchFamily="34" charset="-128"/>
                <a:sym typeface="Arial" pitchFamily="34" charset="0"/>
              </a:rPr>
              <a:t>Diretoria</a:t>
            </a:r>
            <a:r>
              <a:rPr lang="es-ES_tradnl" altLang="pt-BR" sz="825" u="none" dirty="0">
                <a:solidFill>
                  <a:srgbClr val="123E51"/>
                </a:solidFill>
                <a:ea typeface="MS PGothic" pitchFamily="34" charset="-128"/>
                <a:sym typeface="Arial" pitchFamily="34" charset="0"/>
              </a:rPr>
              <a:t> de </a:t>
            </a:r>
            <a:r>
              <a:rPr lang="es-ES_tradnl" altLang="pt-BR" sz="825" u="none" dirty="0" err="1">
                <a:solidFill>
                  <a:srgbClr val="123E51"/>
                </a:solidFill>
                <a:ea typeface="MS PGothic" pitchFamily="34" charset="-128"/>
                <a:sym typeface="Arial" pitchFamily="34" charset="0"/>
              </a:rPr>
              <a:t>Projetos</a:t>
            </a:r>
            <a:r>
              <a:rPr lang="es-ES_tradnl" altLang="pt-BR" sz="825" u="none" dirty="0">
                <a:solidFill>
                  <a:srgbClr val="123E51"/>
                </a:solidFill>
                <a:ea typeface="MS PGothic" pitchFamily="34" charset="-128"/>
                <a:sym typeface="Arial" pitchFamily="34" charset="0"/>
              </a:rPr>
              <a:t> e </a:t>
            </a:r>
            <a:r>
              <a:rPr lang="es-ES_tradnl" altLang="pt-BR" sz="825" u="none" dirty="0" err="1">
                <a:solidFill>
                  <a:srgbClr val="123E51"/>
                </a:solidFill>
                <a:ea typeface="MS PGothic" pitchFamily="34" charset="-128"/>
                <a:sym typeface="Arial" pitchFamily="34" charset="0"/>
              </a:rPr>
              <a:t>Infraestrutura</a:t>
            </a:r>
            <a:endParaRPr lang="es-ES_tradnl" altLang="pt-BR" sz="825" u="none" dirty="0">
              <a:solidFill>
                <a:srgbClr val="123E51"/>
              </a:solidFill>
              <a:ea typeface="MS PGothic" pitchFamily="34" charset="-128"/>
              <a:sym typeface="Arial" pitchFamily="34" charset="0"/>
            </a:endParaRP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3"/>
          </p:nvPr>
        </p:nvSpPr>
        <p:spPr>
          <a:xfrm>
            <a:off x="3029345" y="4767263"/>
            <a:ext cx="308531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99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86" r:id="rId1"/>
    <p:sldLayoutId id="2147485987" r:id="rId2"/>
    <p:sldLayoutId id="2147485988" r:id="rId3"/>
    <p:sldLayoutId id="2147485989" r:id="rId4"/>
    <p:sldLayoutId id="2147485990" r:id="rId5"/>
    <p:sldLayoutId id="2147485991" r:id="rId6"/>
    <p:sldLayoutId id="2147485992" r:id="rId7"/>
    <p:sldLayoutId id="2147485993" r:id="rId8"/>
    <p:sldLayoutId id="2147485994" r:id="rId9"/>
    <p:sldLayoutId id="2147485995" r:id="rId10"/>
    <p:sldLayoutId id="21474859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Arial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20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AC282-A89C-4777-ACDF-63CA650E60A1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9DACB-E43E-4801-8F7A-DB2C99E2BC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18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98" r:id="rId1"/>
    <p:sldLayoutId id="2147485999" r:id="rId2"/>
    <p:sldLayoutId id="2147486000" r:id="rId3"/>
    <p:sldLayoutId id="2147486001" r:id="rId4"/>
    <p:sldLayoutId id="2147486002" r:id="rId5"/>
    <p:sldLayoutId id="2147486003" r:id="rId6"/>
    <p:sldLayoutId id="2147486004" r:id="rId7"/>
    <p:sldLayoutId id="2147486005" r:id="rId8"/>
    <p:sldLayoutId id="2147486006" r:id="rId9"/>
    <p:sldLayoutId id="2147486007" r:id="rId10"/>
    <p:sldLayoutId id="2147486008" r:id="rId11"/>
    <p:sldLayoutId id="214748600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FCE9DC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91ED3-0942-401B-82BA-11E93A09F501}" type="datetime1">
              <a:rPr lang="pt-BR" smtClean="0"/>
              <a:t>12/09/2018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 smtClean="0"/>
              <a:t>Professor Elder Gorayb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0A57F-6A88-4500-9270-8A741E716E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136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11" r:id="rId1"/>
    <p:sldLayoutId id="2147486012" r:id="rId2"/>
    <p:sldLayoutId id="2147486013" r:id="rId3"/>
    <p:sldLayoutId id="2147486014" r:id="rId4"/>
    <p:sldLayoutId id="2147486015" r:id="rId5"/>
    <p:sldLayoutId id="2147486016" r:id="rId6"/>
    <p:sldLayoutId id="2147486017" r:id="rId7"/>
    <p:sldLayoutId id="2147486018" r:id="rId8"/>
    <p:sldLayoutId id="2147486019" r:id="rId9"/>
    <p:sldLayoutId id="2147486020" r:id="rId10"/>
    <p:sldLayoutId id="214748602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FD05F-5D92-4CCB-8BDC-8EB125CE9F36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CF75D-588D-4F29-81D9-E00F00F244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17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23" r:id="rId1"/>
    <p:sldLayoutId id="2147486024" r:id="rId2"/>
    <p:sldLayoutId id="2147486025" r:id="rId3"/>
    <p:sldLayoutId id="2147486026" r:id="rId4"/>
    <p:sldLayoutId id="2147486027" r:id="rId5"/>
    <p:sldLayoutId id="2147486028" r:id="rId6"/>
    <p:sldLayoutId id="2147486029" r:id="rId7"/>
    <p:sldLayoutId id="2147486030" r:id="rId8"/>
    <p:sldLayoutId id="2147486031" r:id="rId9"/>
    <p:sldLayoutId id="2147486032" r:id="rId10"/>
    <p:sldLayoutId id="214748603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emf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 bwMode="auto">
          <a:xfrm>
            <a:off x="323850" y="-3175"/>
            <a:ext cx="8229600" cy="487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altLang="pt-BR" dirty="0" smtClean="0"/>
              <a:t>Introdução Arquitetura </a:t>
            </a:r>
            <a:r>
              <a:rPr lang="pt-BR" altLang="pt-BR" dirty="0" err="1" smtClean="0"/>
              <a:t>Togaf</a:t>
            </a:r>
            <a:endParaRPr lang="pt-BR" altLang="pt-BR" dirty="0" smtClean="0"/>
          </a:p>
        </p:txBody>
      </p:sp>
      <p:sp>
        <p:nvSpPr>
          <p:cNvPr id="3" name="Retângulo 2"/>
          <p:cNvSpPr/>
          <p:nvPr/>
        </p:nvSpPr>
        <p:spPr>
          <a:xfrm>
            <a:off x="467544" y="371148"/>
            <a:ext cx="82089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dirty="0">
                <a:cs typeface="Arial" panose="020B0604020202020204" pitchFamily="34" charset="0"/>
              </a:rPr>
              <a:t>F</a:t>
            </a:r>
            <a:r>
              <a:rPr lang="pt-BR" sz="1600" dirty="0" smtClean="0">
                <a:cs typeface="Arial" panose="020B0604020202020204" pitchFamily="34" charset="0"/>
              </a:rPr>
              <a:t>ramework </a:t>
            </a:r>
            <a:r>
              <a:rPr lang="pt-BR" sz="1600" dirty="0">
                <a:cs typeface="Arial" panose="020B0604020202020204" pitchFamily="34" charset="0"/>
              </a:rPr>
              <a:t>de arquitetura. </a:t>
            </a:r>
            <a:endParaRPr lang="pt-BR" sz="1600" dirty="0" smtClean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dirty="0" smtClean="0">
                <a:cs typeface="Arial" panose="020B0604020202020204" pitchFamily="34" charset="0"/>
              </a:rPr>
              <a:t>Aceitação, Produção </a:t>
            </a:r>
            <a:r>
              <a:rPr lang="pt-BR" sz="1600" dirty="0">
                <a:cs typeface="Arial" panose="020B0604020202020204" pitchFamily="34" charset="0"/>
              </a:rPr>
              <a:t>e manutenção de arquiteturas. </a:t>
            </a:r>
            <a:endParaRPr lang="pt-BR" sz="1600" dirty="0" smtClean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dirty="0">
                <a:cs typeface="Arial" panose="020B0604020202020204" pitchFamily="34" charset="0"/>
              </a:rPr>
              <a:t>M</a:t>
            </a:r>
            <a:r>
              <a:rPr lang="pt-BR" sz="1600" dirty="0" smtClean="0">
                <a:cs typeface="Arial" panose="020B0604020202020204" pitchFamily="34" charset="0"/>
              </a:rPr>
              <a:t>odelo </a:t>
            </a:r>
            <a:r>
              <a:rPr lang="pt-BR" sz="1600" dirty="0">
                <a:cs typeface="Arial" panose="020B0604020202020204" pitchFamily="34" charset="0"/>
              </a:rPr>
              <a:t>de processo </a:t>
            </a:r>
            <a:r>
              <a:rPr lang="pt-BR" sz="1600" dirty="0" smtClean="0">
                <a:cs typeface="Arial" panose="020B0604020202020204" pitchFamily="34" charset="0"/>
              </a:rPr>
              <a:t>iterativo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dirty="0" smtClean="0">
                <a:cs typeface="Arial" panose="020B0604020202020204" pitchFamily="34" charset="0"/>
              </a:rPr>
              <a:t>Suporta as melhores </a:t>
            </a:r>
            <a:r>
              <a:rPr lang="pt-BR" sz="1600" dirty="0">
                <a:cs typeface="Arial" panose="020B0604020202020204" pitchFamily="34" charset="0"/>
              </a:rPr>
              <a:t>práticas e </a:t>
            </a:r>
            <a:r>
              <a:rPr lang="pt-BR" sz="1600" dirty="0" smtClean="0">
                <a:cs typeface="Arial" panose="020B0604020202020204" pitchFamily="34" charset="0"/>
              </a:rPr>
              <a:t>ativos </a:t>
            </a:r>
            <a:r>
              <a:rPr lang="pt-BR" sz="1600" dirty="0">
                <a:cs typeface="Arial" panose="020B0604020202020204" pitchFamily="34" charset="0"/>
              </a:rPr>
              <a:t>de arquiteturas existentes</a:t>
            </a:r>
            <a:r>
              <a:rPr lang="pt-BR" sz="1600" dirty="0" smtClean="0"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dirty="0" smtClean="0">
                <a:cs typeface="Arial" panose="020B0604020202020204" pitchFamily="34" charset="0"/>
              </a:rPr>
              <a:t>Desenvolvido </a:t>
            </a:r>
            <a:r>
              <a:rPr lang="pt-BR" sz="1600" dirty="0">
                <a:cs typeface="Arial" panose="020B0604020202020204" pitchFamily="34" charset="0"/>
              </a:rPr>
              <a:t>Departamento da Defesa dos Estados Unidos - US </a:t>
            </a:r>
            <a:r>
              <a:rPr lang="pt-BR" sz="1600" dirty="0" err="1">
                <a:cs typeface="Arial" panose="020B0604020202020204" pitchFamily="34" charset="0"/>
              </a:rPr>
              <a:t>Department</a:t>
            </a:r>
            <a:r>
              <a:rPr lang="pt-BR" sz="1600" dirty="0">
                <a:cs typeface="Arial" panose="020B0604020202020204" pitchFamily="34" charset="0"/>
              </a:rPr>
              <a:t> </a:t>
            </a:r>
            <a:r>
              <a:rPr lang="pt-BR" sz="1600" dirty="0" err="1">
                <a:cs typeface="Arial" panose="020B0604020202020204" pitchFamily="34" charset="0"/>
              </a:rPr>
              <a:t>of</a:t>
            </a:r>
            <a:r>
              <a:rPr lang="pt-BR" sz="1600" dirty="0">
                <a:cs typeface="Arial" panose="020B0604020202020204" pitchFamily="34" charset="0"/>
              </a:rPr>
              <a:t> </a:t>
            </a:r>
            <a:r>
              <a:rPr lang="pt-BR" sz="1600" dirty="0" err="1">
                <a:cs typeface="Arial" panose="020B0604020202020204" pitchFamily="34" charset="0"/>
              </a:rPr>
              <a:t>Defense</a:t>
            </a:r>
            <a:r>
              <a:rPr lang="pt-BR" sz="1600" dirty="0">
                <a:cs typeface="Arial" panose="020B0604020202020204" pitchFamily="34" charset="0"/>
              </a:rPr>
              <a:t> </a:t>
            </a:r>
            <a:r>
              <a:rPr lang="pt-BR" sz="1600" dirty="0" err="1">
                <a:cs typeface="Arial" panose="020B0604020202020204" pitchFamily="34" charset="0"/>
              </a:rPr>
              <a:t>Technical</a:t>
            </a:r>
            <a:r>
              <a:rPr lang="pt-BR" sz="1600" dirty="0">
                <a:cs typeface="Arial" panose="020B0604020202020204" pitchFamily="34" charset="0"/>
              </a:rPr>
              <a:t> </a:t>
            </a:r>
            <a:r>
              <a:rPr lang="pt-BR" sz="1600" dirty="0" err="1">
                <a:cs typeface="Arial" panose="020B0604020202020204" pitchFamily="34" charset="0"/>
              </a:rPr>
              <a:t>Architecture</a:t>
            </a:r>
            <a:r>
              <a:rPr lang="pt-BR" sz="1600" dirty="0">
                <a:cs typeface="Arial" panose="020B0604020202020204" pitchFamily="34" charset="0"/>
              </a:rPr>
              <a:t> Framework for </a:t>
            </a:r>
            <a:r>
              <a:rPr lang="pt-BR" sz="1600" dirty="0" err="1">
                <a:cs typeface="Arial" panose="020B0604020202020204" pitchFamily="34" charset="0"/>
              </a:rPr>
              <a:t>Information</a:t>
            </a:r>
            <a:r>
              <a:rPr lang="pt-BR" sz="1600" dirty="0">
                <a:cs typeface="Arial" panose="020B0604020202020204" pitchFamily="34" charset="0"/>
              </a:rPr>
              <a:t> Management (TAFIM)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600" dirty="0" smtClean="0">
                <a:cs typeface="Arial" panose="020B0604020202020204" pitchFamily="34" charset="0"/>
              </a:rPr>
              <a:t>Mantido </a:t>
            </a:r>
            <a:r>
              <a:rPr lang="pt-BR" sz="1600" dirty="0">
                <a:cs typeface="Arial" panose="020B0604020202020204" pitchFamily="34" charset="0"/>
              </a:rPr>
              <a:t>pelo Fórum de Arquitetura do </a:t>
            </a:r>
            <a:r>
              <a:rPr lang="pt-BR" sz="1600" dirty="0" smtClean="0">
                <a:cs typeface="Arial" panose="020B0604020202020204" pitchFamily="34" charset="0"/>
              </a:rPr>
              <a:t>The </a:t>
            </a:r>
            <a:r>
              <a:rPr lang="pt-BR" sz="1600" dirty="0">
                <a:cs typeface="Arial" panose="020B0604020202020204" pitchFamily="34" charset="0"/>
              </a:rPr>
              <a:t>Open </a:t>
            </a:r>
            <a:r>
              <a:rPr lang="pt-BR" sz="1600" dirty="0" err="1" smtClean="0">
                <a:cs typeface="Arial" panose="020B0604020202020204" pitchFamily="34" charset="0"/>
              </a:rPr>
              <a:t>Group</a:t>
            </a:r>
            <a:r>
              <a:rPr lang="pt-BR" sz="1600" dirty="0" smtClean="0">
                <a:cs typeface="Arial" panose="020B0604020202020204" pitchFamily="34" charset="0"/>
              </a:rPr>
              <a:t> (1995). </a:t>
            </a:r>
            <a:endParaRPr lang="pt-BR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8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 bwMode="auto">
          <a:xfrm>
            <a:off x="323850" y="-3175"/>
            <a:ext cx="8229600" cy="487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altLang="pt-BR" dirty="0" smtClean="0"/>
              <a:t>Introdução Arquitetura </a:t>
            </a:r>
            <a:r>
              <a:rPr lang="pt-BR" altLang="pt-BR" dirty="0" err="1" smtClean="0"/>
              <a:t>Togaf</a:t>
            </a:r>
            <a:endParaRPr lang="pt-BR" altLang="pt-BR" dirty="0" smtClean="0"/>
          </a:p>
        </p:txBody>
      </p:sp>
      <p:sp>
        <p:nvSpPr>
          <p:cNvPr id="3" name="Retângulo 2"/>
          <p:cNvSpPr/>
          <p:nvPr/>
        </p:nvSpPr>
        <p:spPr>
          <a:xfrm>
            <a:off x="503208" y="987574"/>
            <a:ext cx="82089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dirty="0"/>
              <a:t>A ISO/IEC 42010:20072 </a:t>
            </a:r>
            <a:r>
              <a:rPr lang="pt-BR" sz="1800" dirty="0" smtClean="0"/>
              <a:t>define </a:t>
            </a:r>
            <a:r>
              <a:rPr lang="pt-BR" sz="1800" dirty="0"/>
              <a:t>“arquitetura” como:</a:t>
            </a:r>
          </a:p>
          <a:p>
            <a:r>
              <a:rPr lang="pt-BR" sz="1800" dirty="0"/>
              <a:t>“A organização fundamental de um sistema, incorporado em seus componentes, suas relações entre si e o ambiente e os princípios que orientam a sua concepção e evolução</a:t>
            </a:r>
            <a:r>
              <a:rPr lang="pt-BR" sz="1800" dirty="0" smtClean="0"/>
              <a:t>.”</a:t>
            </a:r>
          </a:p>
          <a:p>
            <a:r>
              <a:rPr lang="pt-BR" sz="1800" dirty="0" err="1" smtClean="0"/>
              <a:t>Togaf</a:t>
            </a:r>
            <a:r>
              <a:rPr lang="pt-BR" sz="1800" dirty="0" smtClean="0"/>
              <a:t> adota e estende.</a:t>
            </a:r>
          </a:p>
          <a:p>
            <a:r>
              <a:rPr lang="pt-BR" sz="1800" dirty="0"/>
              <a:t>1. Uma descrição formal de um sistema ou um planejamento detalhado do sistema no nível de componente para orientar a sua execução</a:t>
            </a:r>
          </a:p>
          <a:p>
            <a:r>
              <a:rPr lang="pt-BR" sz="1800" dirty="0"/>
              <a:t>2. A estrutura dos componentes, seus inter-relacionamentos, e os princípios e orientações que regem sua concepção e evolução ao longo do </a:t>
            </a:r>
            <a:r>
              <a:rPr lang="pt-BR" sz="1800" dirty="0" smtClean="0"/>
              <a:t>tempo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6336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 bwMode="auto">
          <a:xfrm>
            <a:off x="323850" y="-3175"/>
            <a:ext cx="8229600" cy="487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/>
              <a:t>Tipo de Arquitetura</a:t>
            </a:r>
            <a:endParaRPr lang="pt-BR" altLang="pt-BR" dirty="0" smtClean="0"/>
          </a:p>
        </p:txBody>
      </p:sp>
      <p:sp>
        <p:nvSpPr>
          <p:cNvPr id="3" name="Retângulo 2"/>
          <p:cNvSpPr/>
          <p:nvPr/>
        </p:nvSpPr>
        <p:spPr>
          <a:xfrm>
            <a:off x="467544" y="484188"/>
            <a:ext cx="820891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800" dirty="0"/>
              <a:t>Arquitetura de </a:t>
            </a:r>
            <a:r>
              <a:rPr lang="pt-BR" sz="1800" dirty="0" smtClean="0"/>
              <a:t>Negócio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1400" dirty="0"/>
              <a:t>A estratégia do negócio, governança, organização e principais processos do negócio</a:t>
            </a:r>
            <a:r>
              <a:rPr lang="pt-BR" sz="1400" dirty="0" smtClean="0"/>
              <a:t>.</a:t>
            </a:r>
            <a:endParaRPr lang="pt-BR" sz="1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800" dirty="0"/>
              <a:t>Arquitetura de </a:t>
            </a:r>
            <a:r>
              <a:rPr lang="pt-BR" sz="1800" dirty="0" smtClean="0"/>
              <a:t>Dados ou Informação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1400" dirty="0"/>
              <a:t>A estrutura de ativos de dados lógicos e físicos de uma organização e os recursos de gerenciamento de dados</a:t>
            </a:r>
            <a:r>
              <a:rPr lang="pt-BR" sz="1400" dirty="0" smtClean="0"/>
              <a:t>.</a:t>
            </a:r>
            <a:endParaRPr lang="pt-BR" sz="1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800" dirty="0"/>
              <a:t>Arquitetura de </a:t>
            </a:r>
            <a:r>
              <a:rPr lang="pt-BR" sz="1800" dirty="0" smtClean="0"/>
              <a:t>Aplicativos ou Software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1400" dirty="0"/>
              <a:t>Um esquema lógico para os aplicativos individuais serem implementados, suas interações e suas relações com os principais processos de negócio da organização.</a:t>
            </a:r>
            <a:endParaRPr lang="pt-BR" sz="1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1800" dirty="0"/>
              <a:t>Arquitetura de </a:t>
            </a:r>
            <a:r>
              <a:rPr lang="pt-BR" sz="1800" dirty="0" smtClean="0"/>
              <a:t>Tecnologia ou Solução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1400" dirty="0" smtClean="0"/>
              <a:t>As </a:t>
            </a:r>
            <a:r>
              <a:rPr lang="pt-BR" sz="1400" dirty="0"/>
              <a:t>capacidades lógicas de </a:t>
            </a:r>
            <a:r>
              <a:rPr lang="pt-BR" sz="1400" dirty="0" smtClean="0"/>
              <a:t>software </a:t>
            </a:r>
            <a:r>
              <a:rPr lang="pt-BR" sz="1400" dirty="0"/>
              <a:t>e hardware que são necessárias para suportar a implementação de negócios, de dados e de aplicativos de serviço. Isto inclui infraestrutura de TI, middleware, redes, comunicações, processamento e padrões.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14500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 bwMode="auto">
          <a:xfrm>
            <a:off x="323850" y="-3175"/>
            <a:ext cx="8229600" cy="487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Conteúdo TOGAF – 7 Partes</a:t>
            </a:r>
            <a:endParaRPr lang="pt-BR" altLang="pt-BR" dirty="0" smtClean="0"/>
          </a:p>
        </p:txBody>
      </p:sp>
      <p:sp>
        <p:nvSpPr>
          <p:cNvPr id="3" name="Retângulo 2"/>
          <p:cNvSpPr/>
          <p:nvPr/>
        </p:nvSpPr>
        <p:spPr>
          <a:xfrm>
            <a:off x="467544" y="484188"/>
            <a:ext cx="82089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 smtClean="0"/>
              <a:t>ADM - Método </a:t>
            </a:r>
            <a:r>
              <a:rPr lang="pt-BR" sz="1800" dirty="0"/>
              <a:t>de Desenvolvimento de </a:t>
            </a:r>
            <a:r>
              <a:rPr lang="pt-BR" sz="1800" dirty="0" smtClean="0"/>
              <a:t>Arquitetura(parte II) </a:t>
            </a:r>
            <a:r>
              <a:rPr lang="pt-BR" sz="1800" dirty="0"/>
              <a:t>é </a:t>
            </a:r>
            <a:r>
              <a:rPr lang="pt-BR" sz="1800" dirty="0" smtClean="0"/>
              <a:t>a ideia central </a:t>
            </a:r>
            <a:r>
              <a:rPr lang="pt-BR" sz="1800" dirty="0"/>
              <a:t>para o TOGAF. </a:t>
            </a:r>
            <a:endParaRPr lang="pt-BR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 smtClean="0"/>
              <a:t>Orientações </a:t>
            </a:r>
            <a:r>
              <a:rPr lang="pt-BR" sz="1800" dirty="0"/>
              <a:t>e </a:t>
            </a:r>
            <a:r>
              <a:rPr lang="pt-BR" sz="1800" dirty="0" smtClean="0"/>
              <a:t>técnicas (parte III)</a:t>
            </a:r>
            <a:r>
              <a:rPr lang="pt-BR" sz="1800" dirty="0"/>
              <a:t> suportam o método ADM</a:t>
            </a:r>
            <a:r>
              <a:rPr lang="pt-BR" sz="18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Framework de Conteúdo de </a:t>
            </a:r>
            <a:r>
              <a:rPr lang="pt-BR" sz="1800" dirty="0" smtClean="0"/>
              <a:t>Arquitetura </a:t>
            </a:r>
            <a:r>
              <a:rPr lang="pt-BR" sz="1800" dirty="0"/>
              <a:t>(parte </a:t>
            </a:r>
            <a:r>
              <a:rPr lang="pt-BR" sz="1800" dirty="0" smtClean="0"/>
              <a:t>IV) </a:t>
            </a:r>
            <a:r>
              <a:rPr lang="pt-BR" sz="1800" dirty="0"/>
              <a:t>produz conteúdo para ser armazenado no </a:t>
            </a:r>
            <a:r>
              <a:rPr lang="pt-BR" sz="1800" dirty="0" smtClean="0"/>
              <a:t>repositório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 err="1" smtClean="0"/>
              <a:t>Continuum</a:t>
            </a:r>
            <a:r>
              <a:rPr lang="pt-BR" sz="1800" dirty="0" smtClean="0"/>
              <a:t> </a:t>
            </a:r>
            <a:r>
              <a:rPr lang="pt-BR" sz="1800" dirty="0"/>
              <a:t>Corporativo </a:t>
            </a:r>
            <a:r>
              <a:rPr lang="pt-BR" sz="1800" dirty="0" smtClean="0"/>
              <a:t>(parte V) classifica o conteúdo a ser armazenado no repositório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 smtClean="0"/>
              <a:t>Modelos </a:t>
            </a:r>
            <a:r>
              <a:rPr lang="pt-BR" sz="1800" dirty="0"/>
              <a:t>de </a:t>
            </a:r>
            <a:r>
              <a:rPr lang="pt-BR" sz="1800" dirty="0" smtClean="0"/>
              <a:t>Referência (parte VI).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A capacidade de arquitetura (parte VII) opera o método ADM</a:t>
            </a:r>
            <a:r>
              <a:rPr lang="pt-BR" sz="1800" dirty="0" smtClean="0"/>
              <a:t>.</a:t>
            </a:r>
            <a:endParaRPr lang="pt-BR" sz="18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2651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65647" y="96592"/>
            <a:ext cx="1144274" cy="49744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Visão de Negócios e Motivadores</a:t>
            </a:r>
          </a:p>
        </p:txBody>
      </p:sp>
      <p:sp>
        <p:nvSpPr>
          <p:cNvPr id="5" name="Retângulo de cantos arredondados 4"/>
          <p:cNvSpPr/>
          <p:nvPr/>
        </p:nvSpPr>
        <p:spPr>
          <a:xfrm>
            <a:off x="7958402" y="96592"/>
            <a:ext cx="1138012" cy="49744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Capacidades de Negócios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209921" y="207688"/>
            <a:ext cx="6748481" cy="11696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457147" y="416465"/>
            <a:ext cx="218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Informa o tamanho, estrutura e cultura da capacidade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3262622" y="177114"/>
            <a:ext cx="2723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20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Togaf Framework de Capacidades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255267" y="1032385"/>
            <a:ext cx="267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Funcionamento eficaz da Capacidade de 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Arquitetura garante a realização da visão de negócios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486298" y="378885"/>
            <a:ext cx="20449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Define metas, KPIs, planos e orçamentos para as funções de arquitetura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472615" y="1013661"/>
            <a:ext cx="235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Capacidade de negócios leva a necessidade de maturidade da capacidade de arquitetura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3928947" y="474024"/>
            <a:ext cx="1464527" cy="683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Capacidade de Arquitetura 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Parte (VII)</a:t>
            </a: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1220472" y="1553119"/>
            <a:ext cx="6729115" cy="16476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1209921" y="3529953"/>
            <a:ext cx="6748481" cy="14364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 	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2679017" y="2543"/>
            <a:ext cx="3651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Necessidades do negócio modelam aspectos não arquiteturais do negócio.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619081" y="4952789"/>
            <a:ext cx="398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Aprendizagem da operação da organização criam novas necessidades de negócios.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928947" y="1585082"/>
            <a:ext cx="1464527" cy="1340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Método de Desenvolvimento de Arquitetura 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Parte (II)</a:t>
            </a: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284553" y="2210384"/>
            <a:ext cx="782589" cy="6273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Orientações e técnicas para ADM 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Parte (III)</a:t>
            </a: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3910250" y="3629866"/>
            <a:ext cx="1492039" cy="1277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Continuum Coorporativo e Ferramentas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Parte (V)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9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4294216" y="4133661"/>
            <a:ext cx="782589" cy="72804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TOGAF Modelo de Referencia 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Parte (VII)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4284624" y="2883277"/>
            <a:ext cx="782589" cy="79573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Framework de Conteúdo de Arquitetura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white"/>
                </a:solidFill>
                <a:latin typeface="Calibri" panose="020F0502020204030204"/>
              </a:rPr>
              <a:t>Parte (VII)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5327082" y="2784570"/>
            <a:ext cx="2676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20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Togaf ADM e Framework de Conteúdo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5665627" y="4378171"/>
            <a:ext cx="217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20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Togaf Continuum e Ferramentas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1467462" y="1825072"/>
            <a:ext cx="218739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As necessidades de negócio alimenta o método, identificando problemas a abordar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300712" y="2559429"/>
            <a:ext cx="246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O método refina a compreensão das necessidades do negócio.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182826" y="3183704"/>
            <a:ext cx="31324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O método produz um conteúdo a ser armazenado no repositório e classificado de acordo com o Continuum Coorporativo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706381" y="1365444"/>
            <a:ext cx="2367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 capacidade de Arquitetura opera um método.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462679" y="2230243"/>
            <a:ext cx="24433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O método entrega novas soluções ao negócio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444315" y="3727012"/>
            <a:ext cx="218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Continuum Coorporativo e o repositório informam o negócio do estado atual.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538512" y="3702740"/>
            <a:ext cx="218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Mudanças operacionais atualizam o Continuum Coorporativo e o repositório.</a:t>
            </a:r>
          </a:p>
        </p:txBody>
      </p:sp>
      <p:cxnSp>
        <p:nvCxnSpPr>
          <p:cNvPr id="36" name="Conector de seta reta 35"/>
          <p:cNvCxnSpPr>
            <a:stCxn id="14" idx="1"/>
          </p:cNvCxnSpPr>
          <p:nvPr/>
        </p:nvCxnSpPr>
        <p:spPr>
          <a:xfrm flipH="1" flipV="1">
            <a:off x="1225031" y="804397"/>
            <a:ext cx="2703916" cy="11228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/>
          <p:nvPr/>
        </p:nvCxnSpPr>
        <p:spPr>
          <a:xfrm flipV="1">
            <a:off x="1215566" y="975088"/>
            <a:ext cx="2713380" cy="9425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>
            <a:off x="5393474" y="975088"/>
            <a:ext cx="2527263" cy="0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7" idx="3"/>
          </p:cNvCxnSpPr>
          <p:nvPr/>
        </p:nvCxnSpPr>
        <p:spPr>
          <a:xfrm flipH="1" flipV="1">
            <a:off x="5367468" y="790516"/>
            <a:ext cx="2590934" cy="1994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/>
          <p:nvPr/>
        </p:nvCxnSpPr>
        <p:spPr>
          <a:xfrm flipV="1">
            <a:off x="5367468" y="2150064"/>
            <a:ext cx="2582119" cy="21257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/>
          <p:nvPr/>
        </p:nvCxnSpPr>
        <p:spPr>
          <a:xfrm>
            <a:off x="1255267" y="2501298"/>
            <a:ext cx="2673680" cy="1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 flipH="1">
            <a:off x="1208128" y="2261896"/>
            <a:ext cx="2702122" cy="1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>
            <a:off x="4546414" y="1149797"/>
            <a:ext cx="12689" cy="435284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 flipH="1">
            <a:off x="5402289" y="4103401"/>
            <a:ext cx="2556113" cy="18176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 flipH="1" flipV="1">
            <a:off x="1209921" y="4121577"/>
            <a:ext cx="2681726" cy="9392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17" idx="3"/>
          </p:cNvCxnSpPr>
          <p:nvPr/>
        </p:nvCxnSpPr>
        <p:spPr>
          <a:xfrm flipV="1">
            <a:off x="6330460" y="103052"/>
            <a:ext cx="1495385" cy="3366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endCxn id="17" idx="1"/>
          </p:cNvCxnSpPr>
          <p:nvPr/>
        </p:nvCxnSpPr>
        <p:spPr>
          <a:xfrm flipV="1">
            <a:off x="1153413" y="106417"/>
            <a:ext cx="1525604" cy="8528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ector de seta reta 91"/>
          <p:cNvCxnSpPr>
            <a:stCxn id="18" idx="1"/>
          </p:cNvCxnSpPr>
          <p:nvPr/>
        </p:nvCxnSpPr>
        <p:spPr>
          <a:xfrm flipH="1" flipV="1">
            <a:off x="1208128" y="5056283"/>
            <a:ext cx="1410953" cy="381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ector de seta reta 96"/>
          <p:cNvCxnSpPr>
            <a:endCxn id="18" idx="3"/>
          </p:cNvCxnSpPr>
          <p:nvPr/>
        </p:nvCxnSpPr>
        <p:spPr>
          <a:xfrm flipH="1">
            <a:off x="6602767" y="5055365"/>
            <a:ext cx="1401278" cy="1299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70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6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8" name="Shape 1418"/>
          <p:cNvSpPr>
            <a:spLocks noGrp="1"/>
          </p:cNvSpPr>
          <p:nvPr>
            <p:ph type="title"/>
          </p:nvPr>
        </p:nvSpPr>
        <p:spPr>
          <a:xfrm>
            <a:off x="1489075" y="228600"/>
            <a:ext cx="6843713" cy="4651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dirty="0" smtClean="0"/>
              <a:t>Ciclo de vida </a:t>
            </a:r>
            <a:r>
              <a:rPr lang="pt-BR" dirty="0" err="1" smtClean="0"/>
              <a:t>Togaf</a:t>
            </a:r>
            <a:r>
              <a:rPr lang="pt-BR" dirty="0" smtClean="0"/>
              <a:t> (Arquitetura)</a:t>
            </a:r>
            <a:endParaRPr dirty="0"/>
          </a:p>
        </p:txBody>
      </p:sp>
      <p:sp>
        <p:nvSpPr>
          <p:cNvPr id="9" name="Shape 1419"/>
          <p:cNvSpPr/>
          <p:nvPr/>
        </p:nvSpPr>
        <p:spPr>
          <a:xfrm>
            <a:off x="3543300" y="1981200"/>
            <a:ext cx="2398713" cy="24003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</a:ln>
        </p:spPr>
        <p:txBody>
          <a:bodyPr lIns="34289" rIns="34289" anchor="ctr"/>
          <a:lstStyle/>
          <a:p>
            <a:pPr algn="ctr" defTabSz="685653" eaLnBrk="1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</a:defRPr>
            </a:pPr>
            <a:endParaRPr sz="900" kern="0">
              <a:solidFill>
                <a:srgbClr val="FFFFFF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10" name="Group 1422"/>
          <p:cNvGrpSpPr>
            <a:grpSpLocks/>
          </p:cNvGrpSpPr>
          <p:nvPr/>
        </p:nvGrpSpPr>
        <p:grpSpPr bwMode="auto">
          <a:xfrm>
            <a:off x="4248150" y="1722438"/>
            <a:ext cx="781050" cy="587375"/>
            <a:chOff x="-1" y="0"/>
            <a:chExt cx="782124" cy="782162"/>
          </a:xfrm>
        </p:grpSpPr>
        <p:sp>
          <p:nvSpPr>
            <p:cNvPr id="11" name="Shape 1420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2" name="Shape 1421"/>
            <p:cNvSpPr/>
            <p:nvPr/>
          </p:nvSpPr>
          <p:spPr>
            <a:xfrm>
              <a:off x="114456" y="314978"/>
              <a:ext cx="553210" cy="152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E87722"/>
                  </a:solidFill>
                  <a:latin typeface="Arial"/>
                  <a:ea typeface="+mn-ea"/>
                  <a:cs typeface="Arial"/>
                </a:rPr>
                <a:t>Visão 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3" name="Group 1425"/>
          <p:cNvGrpSpPr>
            <a:grpSpLocks/>
          </p:cNvGrpSpPr>
          <p:nvPr/>
        </p:nvGrpSpPr>
        <p:grpSpPr bwMode="auto">
          <a:xfrm>
            <a:off x="5368925" y="2178050"/>
            <a:ext cx="781050" cy="585788"/>
            <a:chOff x="-1" y="0"/>
            <a:chExt cx="782124" cy="782162"/>
          </a:xfrm>
        </p:grpSpPr>
        <p:sp>
          <p:nvSpPr>
            <p:cNvPr id="14" name="Shape 1423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Shape 1424"/>
            <p:cNvSpPr/>
            <p:nvPr/>
          </p:nvSpPr>
          <p:spPr>
            <a:xfrm>
              <a:off x="114456" y="161096"/>
              <a:ext cx="553210" cy="459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Arquitetura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de Negócio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roup 1428"/>
          <p:cNvGrpSpPr>
            <a:grpSpLocks/>
          </p:cNvGrpSpPr>
          <p:nvPr/>
        </p:nvGrpSpPr>
        <p:grpSpPr bwMode="auto">
          <a:xfrm>
            <a:off x="2933700" y="2111375"/>
            <a:ext cx="1038225" cy="587375"/>
            <a:chOff x="-1" y="0"/>
            <a:chExt cx="782124" cy="782162"/>
          </a:xfrm>
        </p:grpSpPr>
        <p:sp>
          <p:nvSpPr>
            <p:cNvPr id="17" name="Shape 1426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Shape 1427"/>
            <p:cNvSpPr/>
            <p:nvPr/>
          </p:nvSpPr>
          <p:spPr>
            <a:xfrm>
              <a:off x="114806" y="236763"/>
              <a:ext cx="552510" cy="308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Governança da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Implementação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9" name="Group 1431"/>
          <p:cNvGrpSpPr>
            <a:grpSpLocks/>
          </p:cNvGrpSpPr>
          <p:nvPr/>
        </p:nvGrpSpPr>
        <p:grpSpPr bwMode="auto">
          <a:xfrm>
            <a:off x="2863850" y="3111500"/>
            <a:ext cx="944563" cy="587375"/>
            <a:chOff x="-1" y="0"/>
            <a:chExt cx="782124" cy="782162"/>
          </a:xfrm>
        </p:grpSpPr>
        <p:sp>
          <p:nvSpPr>
            <p:cNvPr id="20" name="Shape 1429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1" name="Shape 1430"/>
            <p:cNvSpPr/>
            <p:nvPr/>
          </p:nvSpPr>
          <p:spPr>
            <a:xfrm>
              <a:off x="114360" y="236763"/>
              <a:ext cx="553401" cy="308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Planejamento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de Migração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2" name="Group 1434"/>
          <p:cNvGrpSpPr>
            <a:grpSpLocks/>
          </p:cNvGrpSpPr>
          <p:nvPr/>
        </p:nvGrpSpPr>
        <p:grpSpPr bwMode="auto">
          <a:xfrm>
            <a:off x="3489325" y="4062413"/>
            <a:ext cx="1039813" cy="587375"/>
            <a:chOff x="-1" y="0"/>
            <a:chExt cx="782124" cy="782162"/>
          </a:xfrm>
        </p:grpSpPr>
        <p:sp>
          <p:nvSpPr>
            <p:cNvPr id="23" name="Shape 1432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" name="Shape 1433"/>
            <p:cNvSpPr/>
            <p:nvPr/>
          </p:nvSpPr>
          <p:spPr>
            <a:xfrm>
              <a:off x="114631" y="236763"/>
              <a:ext cx="552860" cy="308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Oportunidades 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Soluções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" name="Group 1437"/>
          <p:cNvGrpSpPr>
            <a:grpSpLocks/>
          </p:cNvGrpSpPr>
          <p:nvPr/>
        </p:nvGrpSpPr>
        <p:grpSpPr bwMode="auto">
          <a:xfrm>
            <a:off x="5597525" y="3186113"/>
            <a:ext cx="858838" cy="587375"/>
            <a:chOff x="-83626" y="-11467"/>
            <a:chExt cx="1145109" cy="782162"/>
          </a:xfrm>
        </p:grpSpPr>
        <p:sp>
          <p:nvSpPr>
            <p:cNvPr id="26" name="Shape 1435"/>
            <p:cNvSpPr/>
            <p:nvPr/>
          </p:nvSpPr>
          <p:spPr>
            <a:xfrm>
              <a:off x="-83626" y="-11467"/>
              <a:ext cx="1145109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" name="Shape 1436"/>
            <p:cNvSpPr/>
            <p:nvPr/>
          </p:nvSpPr>
          <p:spPr>
            <a:xfrm>
              <a:off x="-49760" y="163990"/>
              <a:ext cx="1077376" cy="46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Arquitetura de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Sistemas de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Informação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8" name="Group 1440"/>
          <p:cNvGrpSpPr>
            <a:grpSpLocks/>
          </p:cNvGrpSpPr>
          <p:nvPr/>
        </p:nvGrpSpPr>
        <p:grpSpPr bwMode="auto">
          <a:xfrm>
            <a:off x="4949825" y="3967163"/>
            <a:ext cx="858838" cy="585787"/>
            <a:chOff x="-1" y="0"/>
            <a:chExt cx="782124" cy="782162"/>
          </a:xfrm>
        </p:grpSpPr>
        <p:sp>
          <p:nvSpPr>
            <p:cNvPr id="29" name="Shape 1438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Shape 1439"/>
            <p:cNvSpPr/>
            <p:nvPr/>
          </p:nvSpPr>
          <p:spPr>
            <a:xfrm>
              <a:off x="114210" y="237404"/>
              <a:ext cx="553703" cy="307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Arquitetura de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Tecnologia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1" name="Shape 1441"/>
          <p:cNvSpPr/>
          <p:nvPr/>
        </p:nvSpPr>
        <p:spPr>
          <a:xfrm>
            <a:off x="4232275" y="2749550"/>
            <a:ext cx="749300" cy="460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06" y="12462"/>
                </a:moveTo>
                <a:cubicBezTo>
                  <a:pt x="19744" y="11908"/>
                  <a:pt x="20081" y="11077"/>
                  <a:pt x="20081" y="10246"/>
                </a:cubicBezTo>
                <a:cubicBezTo>
                  <a:pt x="20081" y="8585"/>
                  <a:pt x="19238" y="7200"/>
                  <a:pt x="18225" y="7200"/>
                </a:cubicBezTo>
                <a:cubicBezTo>
                  <a:pt x="17719" y="7200"/>
                  <a:pt x="17213" y="7754"/>
                  <a:pt x="16875" y="8308"/>
                </a:cubicBezTo>
                <a:cubicBezTo>
                  <a:pt x="16538" y="7754"/>
                  <a:pt x="16031" y="7200"/>
                  <a:pt x="15525" y="6923"/>
                </a:cubicBezTo>
                <a:cubicBezTo>
                  <a:pt x="15863" y="6369"/>
                  <a:pt x="16200" y="5538"/>
                  <a:pt x="16200" y="4431"/>
                </a:cubicBezTo>
                <a:cubicBezTo>
                  <a:pt x="16200" y="2769"/>
                  <a:pt x="15356" y="1108"/>
                  <a:pt x="14344" y="1108"/>
                </a:cubicBezTo>
                <a:cubicBezTo>
                  <a:pt x="13163" y="1108"/>
                  <a:pt x="12319" y="2769"/>
                  <a:pt x="12319" y="4431"/>
                </a:cubicBezTo>
                <a:cubicBezTo>
                  <a:pt x="12319" y="5538"/>
                  <a:pt x="12656" y="6369"/>
                  <a:pt x="13163" y="6923"/>
                </a:cubicBezTo>
                <a:cubicBezTo>
                  <a:pt x="12319" y="7477"/>
                  <a:pt x="11644" y="8585"/>
                  <a:pt x="11138" y="9692"/>
                </a:cubicBezTo>
                <a:cubicBezTo>
                  <a:pt x="10800" y="7754"/>
                  <a:pt x="9956" y="6369"/>
                  <a:pt x="8775" y="5815"/>
                </a:cubicBezTo>
                <a:cubicBezTo>
                  <a:pt x="9281" y="5262"/>
                  <a:pt x="9619" y="4154"/>
                  <a:pt x="9619" y="3323"/>
                </a:cubicBezTo>
                <a:cubicBezTo>
                  <a:pt x="9619" y="1385"/>
                  <a:pt x="8775" y="0"/>
                  <a:pt x="7594" y="0"/>
                </a:cubicBezTo>
                <a:cubicBezTo>
                  <a:pt x="6581" y="0"/>
                  <a:pt x="5737" y="1385"/>
                  <a:pt x="5737" y="3323"/>
                </a:cubicBezTo>
                <a:cubicBezTo>
                  <a:pt x="5737" y="4154"/>
                  <a:pt x="6075" y="5262"/>
                  <a:pt x="6412" y="5815"/>
                </a:cubicBezTo>
                <a:cubicBezTo>
                  <a:pt x="5737" y="6092"/>
                  <a:pt x="5062" y="6923"/>
                  <a:pt x="4556" y="8308"/>
                </a:cubicBezTo>
                <a:cubicBezTo>
                  <a:pt x="4387" y="7754"/>
                  <a:pt x="3881" y="7200"/>
                  <a:pt x="3375" y="7200"/>
                </a:cubicBezTo>
                <a:cubicBezTo>
                  <a:pt x="2362" y="7200"/>
                  <a:pt x="1519" y="8585"/>
                  <a:pt x="1519" y="10246"/>
                </a:cubicBezTo>
                <a:cubicBezTo>
                  <a:pt x="1519" y="11077"/>
                  <a:pt x="1856" y="11908"/>
                  <a:pt x="2194" y="12462"/>
                </a:cubicBezTo>
                <a:cubicBezTo>
                  <a:pt x="1012" y="13292"/>
                  <a:pt x="0" y="15508"/>
                  <a:pt x="0" y="180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675" y="21600"/>
                  <a:pt x="675" y="21600"/>
                  <a:pt x="675" y="21600"/>
                </a:cubicBezTo>
                <a:cubicBezTo>
                  <a:pt x="675" y="18000"/>
                  <a:pt x="675" y="18000"/>
                  <a:pt x="675" y="18000"/>
                </a:cubicBezTo>
                <a:cubicBezTo>
                  <a:pt x="675" y="15508"/>
                  <a:pt x="2025" y="13292"/>
                  <a:pt x="3375" y="13292"/>
                </a:cubicBezTo>
                <a:cubicBezTo>
                  <a:pt x="4894" y="13292"/>
                  <a:pt x="6075" y="15231"/>
                  <a:pt x="6075" y="17723"/>
                </a:cubicBezTo>
                <a:cubicBezTo>
                  <a:pt x="6075" y="21600"/>
                  <a:pt x="6075" y="21600"/>
                  <a:pt x="6075" y="21600"/>
                </a:cubicBezTo>
                <a:cubicBezTo>
                  <a:pt x="6750" y="21600"/>
                  <a:pt x="6750" y="21600"/>
                  <a:pt x="6750" y="21600"/>
                </a:cubicBezTo>
                <a:cubicBezTo>
                  <a:pt x="6750" y="17723"/>
                  <a:pt x="6750" y="17723"/>
                  <a:pt x="6750" y="17723"/>
                </a:cubicBezTo>
                <a:cubicBezTo>
                  <a:pt x="6750" y="15231"/>
                  <a:pt x="5737" y="13292"/>
                  <a:pt x="4556" y="12462"/>
                </a:cubicBezTo>
                <a:cubicBezTo>
                  <a:pt x="4894" y="11908"/>
                  <a:pt x="5062" y="11077"/>
                  <a:pt x="5062" y="10246"/>
                </a:cubicBezTo>
                <a:cubicBezTo>
                  <a:pt x="5062" y="9969"/>
                  <a:pt x="5062" y="9692"/>
                  <a:pt x="5062" y="9415"/>
                </a:cubicBezTo>
                <a:cubicBezTo>
                  <a:pt x="5062" y="9138"/>
                  <a:pt x="5062" y="9138"/>
                  <a:pt x="5062" y="9138"/>
                </a:cubicBezTo>
                <a:cubicBezTo>
                  <a:pt x="5569" y="7477"/>
                  <a:pt x="6750" y="6369"/>
                  <a:pt x="7762" y="6369"/>
                </a:cubicBezTo>
                <a:cubicBezTo>
                  <a:pt x="9450" y="6369"/>
                  <a:pt x="10800" y="8862"/>
                  <a:pt x="10800" y="11631"/>
                </a:cubicBezTo>
                <a:cubicBezTo>
                  <a:pt x="10800" y="13015"/>
                  <a:pt x="10800" y="13015"/>
                  <a:pt x="10800" y="13015"/>
                </a:cubicBezTo>
                <a:cubicBezTo>
                  <a:pt x="10800" y="16062"/>
                  <a:pt x="10800" y="16062"/>
                  <a:pt x="10800" y="1606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1475" y="21600"/>
                  <a:pt x="11475" y="21600"/>
                  <a:pt x="11475" y="21600"/>
                </a:cubicBezTo>
                <a:cubicBezTo>
                  <a:pt x="11475" y="16062"/>
                  <a:pt x="11475" y="16062"/>
                  <a:pt x="11475" y="16062"/>
                </a:cubicBezTo>
                <a:cubicBezTo>
                  <a:pt x="11475" y="13015"/>
                  <a:pt x="11475" y="13015"/>
                  <a:pt x="11475" y="13015"/>
                </a:cubicBezTo>
                <a:cubicBezTo>
                  <a:pt x="11475" y="10246"/>
                  <a:pt x="12825" y="7754"/>
                  <a:pt x="14344" y="7754"/>
                </a:cubicBezTo>
                <a:cubicBezTo>
                  <a:pt x="15188" y="7754"/>
                  <a:pt x="16031" y="8308"/>
                  <a:pt x="16538" y="9415"/>
                </a:cubicBezTo>
                <a:cubicBezTo>
                  <a:pt x="16538" y="9692"/>
                  <a:pt x="16538" y="9969"/>
                  <a:pt x="16538" y="10246"/>
                </a:cubicBezTo>
                <a:cubicBezTo>
                  <a:pt x="16538" y="11077"/>
                  <a:pt x="16706" y="11908"/>
                  <a:pt x="17044" y="12462"/>
                </a:cubicBezTo>
                <a:cubicBezTo>
                  <a:pt x="15863" y="13292"/>
                  <a:pt x="14850" y="15508"/>
                  <a:pt x="14850" y="18000"/>
                </a:cubicBezTo>
                <a:cubicBezTo>
                  <a:pt x="14850" y="21600"/>
                  <a:pt x="14850" y="21600"/>
                  <a:pt x="14850" y="21600"/>
                </a:cubicBezTo>
                <a:cubicBezTo>
                  <a:pt x="15525" y="21600"/>
                  <a:pt x="15525" y="21600"/>
                  <a:pt x="15525" y="21600"/>
                </a:cubicBezTo>
                <a:cubicBezTo>
                  <a:pt x="15525" y="18000"/>
                  <a:pt x="15525" y="18000"/>
                  <a:pt x="15525" y="18000"/>
                </a:cubicBezTo>
                <a:cubicBezTo>
                  <a:pt x="15525" y="15508"/>
                  <a:pt x="16875" y="13292"/>
                  <a:pt x="18225" y="13292"/>
                </a:cubicBezTo>
                <a:cubicBezTo>
                  <a:pt x="19744" y="13292"/>
                  <a:pt x="20925" y="15231"/>
                  <a:pt x="20925" y="17723"/>
                </a:cubicBezTo>
                <a:cubicBezTo>
                  <a:pt x="20925" y="21600"/>
                  <a:pt x="20925" y="21600"/>
                  <a:pt x="20925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7723"/>
                  <a:pt x="21600" y="17723"/>
                  <a:pt x="21600" y="17723"/>
                </a:cubicBezTo>
                <a:cubicBezTo>
                  <a:pt x="21600" y="15231"/>
                  <a:pt x="20756" y="13292"/>
                  <a:pt x="19406" y="12462"/>
                </a:cubicBezTo>
                <a:close/>
                <a:moveTo>
                  <a:pt x="3375" y="8308"/>
                </a:moveTo>
                <a:cubicBezTo>
                  <a:pt x="3881" y="8308"/>
                  <a:pt x="4387" y="9138"/>
                  <a:pt x="4387" y="10246"/>
                </a:cubicBezTo>
                <a:cubicBezTo>
                  <a:pt x="4387" y="11077"/>
                  <a:pt x="3881" y="11908"/>
                  <a:pt x="3375" y="11908"/>
                </a:cubicBezTo>
                <a:cubicBezTo>
                  <a:pt x="2700" y="11908"/>
                  <a:pt x="2194" y="11077"/>
                  <a:pt x="2194" y="10246"/>
                </a:cubicBezTo>
                <a:cubicBezTo>
                  <a:pt x="2194" y="9138"/>
                  <a:pt x="2700" y="8308"/>
                  <a:pt x="3375" y="8308"/>
                </a:cubicBezTo>
                <a:close/>
                <a:moveTo>
                  <a:pt x="7594" y="1108"/>
                </a:moveTo>
                <a:cubicBezTo>
                  <a:pt x="8269" y="1108"/>
                  <a:pt x="8944" y="1938"/>
                  <a:pt x="8944" y="3323"/>
                </a:cubicBezTo>
                <a:cubicBezTo>
                  <a:pt x="8944" y="4431"/>
                  <a:pt x="8269" y="5262"/>
                  <a:pt x="7594" y="5262"/>
                </a:cubicBezTo>
                <a:cubicBezTo>
                  <a:pt x="6919" y="5262"/>
                  <a:pt x="6412" y="4431"/>
                  <a:pt x="6412" y="3323"/>
                </a:cubicBezTo>
                <a:cubicBezTo>
                  <a:pt x="6412" y="1938"/>
                  <a:pt x="6919" y="1108"/>
                  <a:pt x="7594" y="1108"/>
                </a:cubicBezTo>
                <a:close/>
                <a:moveTo>
                  <a:pt x="14344" y="2215"/>
                </a:moveTo>
                <a:cubicBezTo>
                  <a:pt x="15019" y="2215"/>
                  <a:pt x="15525" y="3323"/>
                  <a:pt x="15525" y="4431"/>
                </a:cubicBezTo>
                <a:cubicBezTo>
                  <a:pt x="15525" y="5538"/>
                  <a:pt x="15019" y="6646"/>
                  <a:pt x="14344" y="6646"/>
                </a:cubicBezTo>
                <a:cubicBezTo>
                  <a:pt x="13669" y="6646"/>
                  <a:pt x="12994" y="5538"/>
                  <a:pt x="12994" y="4431"/>
                </a:cubicBezTo>
                <a:cubicBezTo>
                  <a:pt x="12994" y="3323"/>
                  <a:pt x="13669" y="2215"/>
                  <a:pt x="14344" y="2215"/>
                </a:cubicBezTo>
                <a:close/>
                <a:moveTo>
                  <a:pt x="18225" y="8308"/>
                </a:moveTo>
                <a:cubicBezTo>
                  <a:pt x="18900" y="8308"/>
                  <a:pt x="19406" y="9138"/>
                  <a:pt x="19406" y="10246"/>
                </a:cubicBezTo>
                <a:cubicBezTo>
                  <a:pt x="19406" y="11077"/>
                  <a:pt x="18900" y="11908"/>
                  <a:pt x="18225" y="11908"/>
                </a:cubicBezTo>
                <a:cubicBezTo>
                  <a:pt x="17719" y="11908"/>
                  <a:pt x="17213" y="11077"/>
                  <a:pt x="17213" y="10246"/>
                </a:cubicBezTo>
                <a:cubicBezTo>
                  <a:pt x="17213" y="9138"/>
                  <a:pt x="17719" y="8308"/>
                  <a:pt x="18225" y="830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4289" rIns="34289"/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sz="1350" kern="0">
              <a:solidFill>
                <a:srgbClr val="55565A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32" name="Group 1422"/>
          <p:cNvGrpSpPr>
            <a:grpSpLocks/>
          </p:cNvGrpSpPr>
          <p:nvPr/>
        </p:nvGrpSpPr>
        <p:grpSpPr bwMode="auto">
          <a:xfrm>
            <a:off x="4344988" y="854075"/>
            <a:ext cx="587375" cy="587375"/>
            <a:chOff x="-1" y="0"/>
            <a:chExt cx="782124" cy="782162"/>
          </a:xfrm>
        </p:grpSpPr>
        <p:sp>
          <p:nvSpPr>
            <p:cNvPr id="33" name="Shape 1420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4" name="Shape 1421"/>
            <p:cNvSpPr/>
            <p:nvPr/>
          </p:nvSpPr>
          <p:spPr>
            <a:xfrm>
              <a:off x="27478" y="321321"/>
              <a:ext cx="703912" cy="1543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E87722"/>
                  </a:solidFill>
                  <a:latin typeface="Arial"/>
                  <a:ea typeface="+mn-ea"/>
                  <a:cs typeface="Arial"/>
                </a:rPr>
                <a:t>Preliminar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cxnSp>
        <p:nvCxnSpPr>
          <p:cNvPr id="35" name="Conector reto 34"/>
          <p:cNvCxnSpPr>
            <a:stCxn id="33" idx="4"/>
            <a:endCxn id="11" idx="0"/>
          </p:cNvCxnSpPr>
          <p:nvPr/>
        </p:nvCxnSpPr>
        <p:spPr>
          <a:xfrm flipH="1">
            <a:off x="4638588" y="1440781"/>
            <a:ext cx="10" cy="28209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Shape 1421"/>
          <p:cNvSpPr/>
          <p:nvPr/>
        </p:nvSpPr>
        <p:spPr>
          <a:xfrm>
            <a:off x="4298950" y="3284538"/>
            <a:ext cx="615950" cy="1619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 anchor="ctr">
            <a:spAutoFit/>
          </a:bodyPr>
          <a:lstStyle>
            <a:lvl1pPr algn="ctr" defTabSz="914204">
              <a:defRPr sz="1000" b="1">
                <a:solidFill>
                  <a:schemeClr val="accent1"/>
                </a:solidFill>
              </a:defRPr>
            </a:lvl1pPr>
          </a:lstStyle>
          <a:p>
            <a:pPr defTabSz="685653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50" dirty="0" smtClean="0">
                <a:solidFill>
                  <a:srgbClr val="E87722"/>
                </a:solidFill>
                <a:latin typeface="Arial"/>
                <a:ea typeface="+mn-ea"/>
                <a:cs typeface="Arial"/>
              </a:rPr>
              <a:t>Negócios</a:t>
            </a:r>
            <a:endParaRPr lang="pt-BR" sz="1050" dirty="0">
              <a:solidFill>
                <a:srgbClr val="E87722"/>
              </a:solidFill>
              <a:latin typeface="Arial"/>
              <a:ea typeface="+mn-ea"/>
              <a:cs typeface="Arial"/>
            </a:endParaRPr>
          </a:p>
        </p:txBody>
      </p:sp>
      <p:cxnSp>
        <p:nvCxnSpPr>
          <p:cNvPr id="37" name="Conector de Seta Reta 36"/>
          <p:cNvCxnSpPr>
            <a:stCxn id="11" idx="4"/>
          </p:cNvCxnSpPr>
          <p:nvPr/>
        </p:nvCxnSpPr>
        <p:spPr>
          <a:xfrm flipH="1">
            <a:off x="4629587" y="2309500"/>
            <a:ext cx="9000" cy="375929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Conector de Seta Reta 37"/>
          <p:cNvCxnSpPr/>
          <p:nvPr/>
        </p:nvCxnSpPr>
        <p:spPr>
          <a:xfrm flipH="1">
            <a:off x="5012259" y="2683087"/>
            <a:ext cx="399481" cy="29655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Conector de Seta Reta 38"/>
          <p:cNvCxnSpPr/>
          <p:nvPr/>
        </p:nvCxnSpPr>
        <p:spPr>
          <a:xfrm>
            <a:off x="4990167" y="3336862"/>
            <a:ext cx="428434" cy="9310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Conector de Seta Reta 39"/>
          <p:cNvCxnSpPr/>
          <p:nvPr/>
        </p:nvCxnSpPr>
        <p:spPr>
          <a:xfrm>
            <a:off x="4870579" y="3572755"/>
            <a:ext cx="218364" cy="33173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Conector de Seta Reta 40"/>
          <p:cNvCxnSpPr/>
          <p:nvPr/>
        </p:nvCxnSpPr>
        <p:spPr>
          <a:xfrm flipH="1">
            <a:off x="4299433" y="3572755"/>
            <a:ext cx="174950" cy="40457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Conector de Seta Reta 41"/>
          <p:cNvCxnSpPr/>
          <p:nvPr/>
        </p:nvCxnSpPr>
        <p:spPr>
          <a:xfrm flipH="1">
            <a:off x="3856933" y="3224441"/>
            <a:ext cx="337976" cy="6528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Conector de Seta Reta 42"/>
          <p:cNvCxnSpPr/>
          <p:nvPr/>
        </p:nvCxnSpPr>
        <p:spPr>
          <a:xfrm flipH="1" flipV="1">
            <a:off x="3879277" y="2643852"/>
            <a:ext cx="353615" cy="24215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triangle" w="lg" len="lg"/>
            <a:tailEnd type="stealth" w="lg" len="lg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" name="CaixaDeTexto 43"/>
          <p:cNvSpPr txBox="1"/>
          <p:nvPr/>
        </p:nvSpPr>
        <p:spPr>
          <a:xfrm>
            <a:off x="5204383" y="958376"/>
            <a:ext cx="2572166" cy="276997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Comitês Identificam o Projeto</a:t>
            </a:r>
          </a:p>
        </p:txBody>
      </p:sp>
      <p:cxnSp>
        <p:nvCxnSpPr>
          <p:cNvPr id="45" name="Conector reto 44"/>
          <p:cNvCxnSpPr>
            <a:stCxn id="44" idx="1"/>
            <a:endCxn id="33" idx="6"/>
          </p:cNvCxnSpPr>
          <p:nvPr/>
        </p:nvCxnSpPr>
        <p:spPr>
          <a:xfrm flipH="1">
            <a:off x="4931893" y="1096876"/>
            <a:ext cx="272490" cy="50594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CaixaDeTexto 45"/>
          <p:cNvSpPr txBox="1"/>
          <p:nvPr/>
        </p:nvSpPr>
        <p:spPr>
          <a:xfrm>
            <a:off x="1505512" y="925225"/>
            <a:ext cx="2572166" cy="484746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Está fase deve garantir que todos o envolvidos entenderam o que </a:t>
            </a:r>
            <a:r>
              <a:rPr lang="pt-BR" sz="1350" dirty="0" smtClean="0">
                <a:solidFill>
                  <a:prstClr val="black"/>
                </a:solidFill>
                <a:latin typeface="Calibri" panose="020F0502020204030204"/>
                <a:ea typeface="+mn-ea"/>
              </a:rPr>
              <a:t>fazer</a:t>
            </a: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</p:txBody>
      </p:sp>
      <p:cxnSp>
        <p:nvCxnSpPr>
          <p:cNvPr id="47" name="Conector reto 46"/>
          <p:cNvCxnSpPr>
            <a:stCxn id="46" idx="3"/>
            <a:endCxn id="11" idx="1"/>
          </p:cNvCxnSpPr>
          <p:nvPr/>
        </p:nvCxnSpPr>
        <p:spPr>
          <a:xfrm>
            <a:off x="4077678" y="1167598"/>
            <a:ext cx="284854" cy="640859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CaixaDeTexto 47"/>
          <p:cNvSpPr txBox="1"/>
          <p:nvPr/>
        </p:nvSpPr>
        <p:spPr>
          <a:xfrm>
            <a:off x="6137966" y="1387185"/>
            <a:ext cx="1765218" cy="484746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Define os processos do projeto e a solução.</a:t>
            </a: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</p:txBody>
      </p:sp>
      <p:cxnSp>
        <p:nvCxnSpPr>
          <p:cNvPr id="49" name="Conector reto 48"/>
          <p:cNvCxnSpPr>
            <a:stCxn id="14" idx="6"/>
            <a:endCxn id="48" idx="2"/>
          </p:cNvCxnSpPr>
          <p:nvPr/>
        </p:nvCxnSpPr>
        <p:spPr>
          <a:xfrm flipV="1">
            <a:off x="6149380" y="2079681"/>
            <a:ext cx="871196" cy="39104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0" name="CaixaDeTexto 49"/>
          <p:cNvSpPr txBox="1"/>
          <p:nvPr/>
        </p:nvSpPr>
        <p:spPr>
          <a:xfrm>
            <a:off x="6558840" y="2537748"/>
            <a:ext cx="1402435" cy="1107994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Define as regras de negócios, Desenho, Desenvolvimento e Legados.</a:t>
            </a:r>
          </a:p>
        </p:txBody>
      </p:sp>
      <p:cxnSp>
        <p:nvCxnSpPr>
          <p:cNvPr id="51" name="Conector reto 50"/>
          <p:cNvCxnSpPr>
            <a:stCxn id="26" idx="6"/>
            <a:endCxn id="50" idx="1"/>
          </p:cNvCxnSpPr>
          <p:nvPr/>
        </p:nvCxnSpPr>
        <p:spPr>
          <a:xfrm flipV="1">
            <a:off x="6456260" y="3195620"/>
            <a:ext cx="102580" cy="28430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CaixaDeTexto 51"/>
          <p:cNvSpPr txBox="1"/>
          <p:nvPr/>
        </p:nvSpPr>
        <p:spPr>
          <a:xfrm>
            <a:off x="6041410" y="4381359"/>
            <a:ext cx="1959590" cy="276997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Inicia o desenvolvimento</a:t>
            </a: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</p:txBody>
      </p:sp>
      <p:cxnSp>
        <p:nvCxnSpPr>
          <p:cNvPr id="53" name="Conector reto 52"/>
          <p:cNvCxnSpPr>
            <a:stCxn id="29" idx="6"/>
            <a:endCxn id="52" idx="0"/>
          </p:cNvCxnSpPr>
          <p:nvPr/>
        </p:nvCxnSpPr>
        <p:spPr>
          <a:xfrm>
            <a:off x="5807950" y="4260279"/>
            <a:ext cx="1213256" cy="12108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CaixaDeTexto 53"/>
          <p:cNvSpPr txBox="1"/>
          <p:nvPr/>
        </p:nvSpPr>
        <p:spPr>
          <a:xfrm>
            <a:off x="616527" y="3917607"/>
            <a:ext cx="2322697" cy="484746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Identifica possíveis melhorias durante o desenvolvimento</a:t>
            </a: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</p:txBody>
      </p:sp>
      <p:cxnSp>
        <p:nvCxnSpPr>
          <p:cNvPr id="55" name="Conector reto 54"/>
          <p:cNvCxnSpPr>
            <a:stCxn id="23" idx="2"/>
            <a:endCxn id="54" idx="3"/>
          </p:cNvCxnSpPr>
          <p:nvPr/>
        </p:nvCxnSpPr>
        <p:spPr>
          <a:xfrm flipH="1" flipV="1">
            <a:off x="2939224" y="4159981"/>
            <a:ext cx="550724" cy="19601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CaixaDeTexto 55"/>
          <p:cNvSpPr txBox="1"/>
          <p:nvPr/>
        </p:nvSpPr>
        <p:spPr>
          <a:xfrm>
            <a:off x="1275904" y="3388666"/>
            <a:ext cx="1436223" cy="276997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Entrega Final</a:t>
            </a: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</p:txBody>
      </p:sp>
      <p:cxnSp>
        <p:nvCxnSpPr>
          <p:cNvPr id="57" name="Conector reto 56"/>
          <p:cNvCxnSpPr>
            <a:stCxn id="20" idx="3"/>
            <a:endCxn id="56" idx="3"/>
          </p:cNvCxnSpPr>
          <p:nvPr/>
        </p:nvCxnSpPr>
        <p:spPr>
          <a:xfrm flipH="1" flipV="1">
            <a:off x="2712128" y="3527166"/>
            <a:ext cx="290365" cy="8538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8" name="CaixaDeTexto 57"/>
          <p:cNvSpPr txBox="1"/>
          <p:nvPr/>
        </p:nvSpPr>
        <p:spPr>
          <a:xfrm>
            <a:off x="1300394" y="1824752"/>
            <a:ext cx="1362629" cy="484746"/>
          </a:xfrm>
          <a:prstGeom prst="rect">
            <a:avLst/>
          </a:prstGeom>
          <a:noFill/>
          <a:ln w="12700" cap="flat">
            <a:gradFill flip="none" rotWithShape="1">
              <a:gsLst>
                <a:gs pos="0">
                  <a:schemeClr val="accent5">
                    <a:lumMod val="89000"/>
                  </a:schemeClr>
                </a:gs>
                <a:gs pos="23000">
                  <a:schemeClr val="accent5">
                    <a:lumMod val="89000"/>
                  </a:schemeClr>
                </a:gs>
                <a:gs pos="69000">
                  <a:schemeClr val="accent5">
                    <a:lumMod val="75000"/>
                  </a:schemeClr>
                </a:gs>
                <a:gs pos="97000">
                  <a:schemeClr val="accent5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Melhoria Continua</a:t>
            </a: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</p:txBody>
      </p:sp>
      <p:cxnSp>
        <p:nvCxnSpPr>
          <p:cNvPr id="59" name="Conector reto 58"/>
          <p:cNvCxnSpPr>
            <a:stCxn id="58" idx="3"/>
            <a:endCxn id="17" idx="2"/>
          </p:cNvCxnSpPr>
          <p:nvPr/>
        </p:nvCxnSpPr>
        <p:spPr>
          <a:xfrm>
            <a:off x="2663022" y="2067126"/>
            <a:ext cx="269960" cy="338314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0014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5625" y="71253"/>
            <a:ext cx="5634821" cy="496690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5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Entregáveis </a:t>
            </a:r>
            <a:r>
              <a:rPr lang="pt-BR" sz="15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</a:t>
            </a:r>
            <a:r>
              <a:rPr lang="pt-BR" sz="15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Arquitetura</a:t>
            </a:r>
            <a:endParaRPr lang="pt-BR" sz="150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6332563" y="71253"/>
            <a:ext cx="2773907" cy="496690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5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Repositório de Arquitetura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71651" y="544205"/>
            <a:ext cx="5455692" cy="35501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Artefatos e Blocos de Construção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6404214" y="544204"/>
            <a:ext cx="2634017" cy="35501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Blocos de Construção Reutilizáveis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817410" y="3302865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Blocos de Construção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16660" y="1197165"/>
            <a:ext cx="1328949" cy="18113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Artefatos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2817410" y="1081106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Catálogos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817410" y="1706446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Matrizes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2817410" y="2352890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Diagramas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6709582" y="1088415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Catálogos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6709582" y="1724308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Matrizes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6709582" y="2360201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Diagramas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6709582" y="3251948"/>
            <a:ext cx="2168288" cy="581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Blocos de Construção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6722777" y="4318957"/>
            <a:ext cx="2168288" cy="581736"/>
          </a:xfrm>
          <a:prstGeom prst="roundRect">
            <a:avLst/>
          </a:prstGeom>
          <a:solidFill>
            <a:srgbClr val="E2F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Entregáveis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Arquitetura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2317962" y="4385171"/>
            <a:ext cx="2168288" cy="581736"/>
          </a:xfrm>
          <a:prstGeom prst="roundRect">
            <a:avLst/>
          </a:prstGeom>
          <a:solidFill>
            <a:srgbClr val="E2F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Outros Entregáveis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2165278" y="4304510"/>
            <a:ext cx="2168288" cy="581736"/>
          </a:xfrm>
          <a:prstGeom prst="roundRect">
            <a:avLst/>
          </a:prstGeom>
          <a:solidFill>
            <a:srgbClr val="E2F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Outros Entregáveis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24" name="Retângulo de cantos arredondados 23"/>
          <p:cNvSpPr/>
          <p:nvPr/>
        </p:nvSpPr>
        <p:spPr>
          <a:xfrm>
            <a:off x="1945209" y="4213299"/>
            <a:ext cx="2168288" cy="581736"/>
          </a:xfrm>
          <a:prstGeom prst="roundRect">
            <a:avLst/>
          </a:prstGeom>
          <a:solidFill>
            <a:srgbClr val="E2F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Outros Entregáveis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25" name="Retângulo de cantos arredondados 24"/>
          <p:cNvSpPr/>
          <p:nvPr/>
        </p:nvSpPr>
        <p:spPr>
          <a:xfrm>
            <a:off x="6642599" y="4262766"/>
            <a:ext cx="2168288" cy="581736"/>
          </a:xfrm>
          <a:prstGeom prst="roundRect">
            <a:avLst/>
          </a:prstGeom>
          <a:solidFill>
            <a:srgbClr val="E2F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Entregáveis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Arquitetura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6562421" y="4188770"/>
            <a:ext cx="2168288" cy="581736"/>
          </a:xfrm>
          <a:prstGeom prst="roundRect">
            <a:avLst/>
          </a:prstGeom>
          <a:solidFill>
            <a:srgbClr val="E2F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Entregáveis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Arquitetura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1762478" y="3025866"/>
            <a:ext cx="7601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Que são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3320672" y="3017174"/>
            <a:ext cx="109998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Descrevendo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7325648" y="2937952"/>
            <a:ext cx="109998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Descrevendo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32" name="Conector reto 31"/>
          <p:cNvCxnSpPr>
            <a:stCxn id="14" idx="1"/>
          </p:cNvCxnSpPr>
          <p:nvPr/>
        </p:nvCxnSpPr>
        <p:spPr>
          <a:xfrm flipH="1">
            <a:off x="1545610" y="1371975"/>
            <a:ext cx="1271801" cy="3239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15" idx="1"/>
            <a:endCxn id="13" idx="3"/>
          </p:cNvCxnSpPr>
          <p:nvPr/>
        </p:nvCxnSpPr>
        <p:spPr>
          <a:xfrm flipH="1">
            <a:off x="1545610" y="1997314"/>
            <a:ext cx="1271801" cy="105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6" idx="1"/>
          </p:cNvCxnSpPr>
          <p:nvPr/>
        </p:nvCxnSpPr>
        <p:spPr>
          <a:xfrm flipH="1" flipV="1">
            <a:off x="1545610" y="2504717"/>
            <a:ext cx="1271801" cy="1390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14" idx="3"/>
            <a:endCxn id="17" idx="1"/>
          </p:cNvCxnSpPr>
          <p:nvPr/>
        </p:nvCxnSpPr>
        <p:spPr>
          <a:xfrm>
            <a:off x="4985698" y="1371975"/>
            <a:ext cx="1723885" cy="730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V="1">
            <a:off x="4985698" y="2015176"/>
            <a:ext cx="1723885" cy="719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>
            <a:stCxn id="16" idx="3"/>
            <a:endCxn id="19" idx="1"/>
          </p:cNvCxnSpPr>
          <p:nvPr/>
        </p:nvCxnSpPr>
        <p:spPr>
          <a:xfrm>
            <a:off x="4985698" y="2643758"/>
            <a:ext cx="1723885" cy="731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24" idx="3"/>
            <a:endCxn id="26" idx="1"/>
          </p:cNvCxnSpPr>
          <p:nvPr/>
        </p:nvCxnSpPr>
        <p:spPr>
          <a:xfrm flipV="1">
            <a:off x="4113497" y="4479639"/>
            <a:ext cx="2448925" cy="2452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/>
          <p:nvPr/>
        </p:nvCxnSpPr>
        <p:spPr>
          <a:xfrm>
            <a:off x="5358452" y="3922186"/>
            <a:ext cx="1351131" cy="36094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14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2895055" y="152318"/>
            <a:ext cx="2634017" cy="48175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Entregáveis: Documentos de Definição de Arquitetura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3408529" y="808630"/>
            <a:ext cx="1616525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Entregável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Diagrama de fluxo de processo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3408529" y="1659908"/>
            <a:ext cx="1616525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Entregável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Diagrama de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caso de uso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3408529" y="3365582"/>
            <a:ext cx="1616525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Entregável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Diagrama de fluxo de processo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3408529" y="2514302"/>
            <a:ext cx="1616525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Entregável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Diagrama de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caso de uso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13532" y="2407124"/>
            <a:ext cx="2345423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Bloco de Construção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Representante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serviço ao cliente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6643333" y="1392185"/>
            <a:ext cx="2345423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Bloco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Construção 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Linha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base do processo de tratamento de chamadas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6643333" y="2941001"/>
            <a:ext cx="2345423" cy="7283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Bloco de Construção</a:t>
            </a: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Alvo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do processo </a:t>
            </a:r>
            <a:r>
              <a:rPr lang="pt-BR" sz="135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de tratamento de chamadas</a:t>
            </a:r>
            <a:endParaRPr lang="pt-BR" sz="135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85521" y="1878148"/>
            <a:ext cx="167340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Artefatos descrevem 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blocos </a:t>
            </a: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 construção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002217" y="566256"/>
            <a:ext cx="167340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Artefatos descrevem 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blocos </a:t>
            </a: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 construção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119169" y="4393371"/>
            <a:ext cx="22339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Entregáveis contém artefatos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5025054" y="1166884"/>
            <a:ext cx="1618280" cy="493025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3"/>
            <a:endCxn id="13" idx="1"/>
          </p:cNvCxnSpPr>
          <p:nvPr/>
        </p:nvCxnSpPr>
        <p:spPr>
          <a:xfrm flipV="1">
            <a:off x="5025054" y="1756354"/>
            <a:ext cx="1618280" cy="267723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11" idx="3"/>
          </p:cNvCxnSpPr>
          <p:nvPr/>
        </p:nvCxnSpPr>
        <p:spPr>
          <a:xfrm>
            <a:off x="5025054" y="2878470"/>
            <a:ext cx="1618280" cy="330254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0" idx="3"/>
            <a:endCxn id="14" idx="1"/>
          </p:cNvCxnSpPr>
          <p:nvPr/>
        </p:nvCxnSpPr>
        <p:spPr>
          <a:xfrm flipV="1">
            <a:off x="5025054" y="3305169"/>
            <a:ext cx="1618280" cy="424581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5" idx="1"/>
          </p:cNvCxnSpPr>
          <p:nvPr/>
        </p:nvCxnSpPr>
        <p:spPr>
          <a:xfrm flipH="1">
            <a:off x="2558955" y="1172798"/>
            <a:ext cx="849574" cy="1338389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9" idx="1"/>
          </p:cNvCxnSpPr>
          <p:nvPr/>
        </p:nvCxnSpPr>
        <p:spPr>
          <a:xfrm flipH="1">
            <a:off x="2558955" y="2024077"/>
            <a:ext cx="849574" cy="610052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endCxn id="12" idx="3"/>
          </p:cNvCxnSpPr>
          <p:nvPr/>
        </p:nvCxnSpPr>
        <p:spPr>
          <a:xfrm flipH="1" flipV="1">
            <a:off x="2558955" y="2771293"/>
            <a:ext cx="849574" cy="93737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 flipH="1" flipV="1">
            <a:off x="2558955" y="2987972"/>
            <a:ext cx="849574" cy="566129"/>
          </a:xfrm>
          <a:prstGeom prst="straightConnector1">
            <a:avLst/>
          </a:prstGeom>
          <a:ln cap="rnd">
            <a:round/>
            <a:headEnd type="non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CaixaDeTexto 48"/>
          <p:cNvSpPr txBox="1"/>
          <p:nvPr/>
        </p:nvSpPr>
        <p:spPr>
          <a:xfrm>
            <a:off x="2432915" y="1793523"/>
            <a:ext cx="9921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Entregáveis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5322454" y="1516524"/>
            <a:ext cx="9921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Entregáveis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5213929" y="3125035"/>
            <a:ext cx="9921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Entregáveis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2432915" y="3157392"/>
            <a:ext cx="9921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Entregáveis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658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</a:t>
            </a:r>
            <a:r>
              <a:rPr lang="pt-BR" dirty="0" smtClean="0"/>
              <a:t>anifesto Ágil – Princípios Ágeis</a:t>
            </a:r>
            <a:endParaRPr lang="pt-BR" dirty="0"/>
          </a:p>
        </p:txBody>
      </p:sp>
      <p:sp>
        <p:nvSpPr>
          <p:cNvPr id="3" name="Shape 1416"/>
          <p:cNvSpPr txBox="1">
            <a:spLocks/>
          </p:cNvSpPr>
          <p:nvPr/>
        </p:nvSpPr>
        <p:spPr>
          <a:xfrm>
            <a:off x="1485900" y="1015603"/>
            <a:ext cx="6057900" cy="35944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0" algn="l" defTabSz="914400" rtl="0" latinLnBrk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rgbClr val="55565A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171450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250032" marR="0" indent="-250032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525689" marR="0" indent="-293914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560320" marR="0" indent="-274320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017520" marR="0" indent="-274320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474720" marR="0" indent="-274320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3931920" marR="0" indent="-274320" algn="l" defTabSz="914400" rtl="0" latinLnBrk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defTabSz="685800" eaLnBrk="1" fontAlgn="auto" hangingPunct="1">
              <a:spcBef>
                <a:spcPts val="1800"/>
              </a:spcBef>
            </a:pPr>
            <a:r>
              <a:rPr lang="pt-BR" sz="1800" dirty="0">
                <a:solidFill>
                  <a:srgbClr val="5B9BD5"/>
                </a:solidFill>
                <a:latin typeface="Calibri Light" panose="020F0302020204030204"/>
              </a:rPr>
              <a:t>Buscando aumentar a taxa de sucesso baseado métodos </a:t>
            </a:r>
            <a:r>
              <a:rPr lang="pt-BR" sz="1800" dirty="0" smtClean="0">
                <a:solidFill>
                  <a:srgbClr val="5B9BD5"/>
                </a:solidFill>
                <a:latin typeface="Calibri Light" panose="020F0302020204030204"/>
              </a:rPr>
              <a:t>ágeis, </a:t>
            </a:r>
            <a:r>
              <a:rPr lang="pt-BR" sz="1800" dirty="0">
                <a:solidFill>
                  <a:srgbClr val="5B9BD5"/>
                </a:solidFill>
                <a:latin typeface="Calibri Light" panose="020F0302020204030204"/>
              </a:rPr>
              <a:t>DEVOPS, ciclo de arquitetura. A metodologia não foca somente em cronograma, custo e prazo e sim entrega de valor.</a:t>
            </a:r>
          </a:p>
          <a:p>
            <a:pPr defTabSz="685800" eaLnBrk="1" fontAlgn="auto" hangingPunct="1">
              <a:spcBef>
                <a:spcPts val="1800"/>
              </a:spcBef>
            </a:pPr>
            <a:endParaRPr lang="pt-BR" sz="1800" dirty="0">
              <a:solidFill>
                <a:srgbClr val="5B9BD5"/>
              </a:solidFill>
              <a:latin typeface="Calibri Light" panose="020F0302020204030204"/>
            </a:endParaRPr>
          </a:p>
          <a:p>
            <a:pPr defTabSz="685800" eaLnBrk="1" fontAlgn="auto" hangingPunct="1">
              <a:spcBef>
                <a:spcPts val="1800"/>
              </a:spcBef>
            </a:pPr>
            <a:endParaRPr lang="pt-BR" sz="1800" dirty="0">
              <a:solidFill>
                <a:srgbClr val="5B9BD5"/>
              </a:solidFill>
              <a:latin typeface="Calibri Light" panose="020F0302020204030204"/>
            </a:endParaRPr>
          </a:p>
          <a:p>
            <a:pPr defTabSz="685800" eaLnBrk="1" fontAlgn="auto" hangingPunct="1">
              <a:spcBef>
                <a:spcPts val="1800"/>
              </a:spcBef>
            </a:pPr>
            <a:endParaRPr lang="pt-BR" sz="1800" dirty="0">
              <a:solidFill>
                <a:srgbClr val="5B9BD5"/>
              </a:solidFill>
              <a:latin typeface="Calibri Light" panose="020F0302020204030204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487470" y="2286000"/>
          <a:ext cx="6300788" cy="1783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0394">
                  <a:extLst>
                    <a:ext uri="{9D8B030D-6E8A-4147-A177-3AD203B41FA5}">
                      <a16:colId xmlns:a16="http://schemas.microsoft.com/office/drawing/2014/main" val="1310140425"/>
                    </a:ext>
                  </a:extLst>
                </a:gridCol>
                <a:gridCol w="3150394">
                  <a:extLst>
                    <a:ext uri="{9D8B030D-6E8A-4147-A177-3AD203B41FA5}">
                      <a16:colId xmlns:a16="http://schemas.microsoft.com/office/drawing/2014/main" val="600026337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pt-BR" sz="1500" dirty="0" smtClean="0">
                          <a:solidFill>
                            <a:srgbClr val="C00000"/>
                          </a:solidFill>
                        </a:rPr>
                        <a:t>Alta Importância</a:t>
                      </a:r>
                      <a:endParaRPr lang="pt-BR" sz="15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 smtClean="0">
                          <a:solidFill>
                            <a:srgbClr val="C00000"/>
                          </a:solidFill>
                        </a:rPr>
                        <a:t>Média</a:t>
                      </a:r>
                      <a:r>
                        <a:rPr lang="pt-BR" sz="1500" baseline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pt-BR" sz="1500" dirty="0" smtClean="0">
                          <a:solidFill>
                            <a:srgbClr val="C00000"/>
                          </a:solidFill>
                        </a:rPr>
                        <a:t>Importância</a:t>
                      </a:r>
                      <a:endParaRPr lang="pt-BR" sz="1500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413544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Indivíduos e interações 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Processos e ferramentas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3204578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Software funcionando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Documentação extensa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869659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Colaboração com cliente 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Negociação de contrato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8087572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Responder a mudanças 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 smtClean="0"/>
                        <a:t>Planos rígidos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368298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lang="pt-BR" sz="1500" dirty="0" err="1" smtClean="0"/>
                        <a:t>DevOps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 err="1" smtClean="0"/>
                        <a:t>Gmude</a:t>
                      </a:r>
                      <a:endParaRPr lang="pt-BR" sz="15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5465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8733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1123" y="1"/>
            <a:ext cx="7886700" cy="796961"/>
          </a:xfrm>
        </p:spPr>
        <p:txBody>
          <a:bodyPr/>
          <a:lstStyle/>
          <a:p>
            <a:r>
              <a:rPr lang="pt-BR" dirty="0" smtClean="0"/>
              <a:t>Modelo </a:t>
            </a:r>
            <a:r>
              <a:rPr lang="pt-BR" dirty="0" err="1" smtClean="0"/>
              <a:t>Agile</a:t>
            </a:r>
            <a:r>
              <a:rPr lang="pt-BR" dirty="0" smtClean="0"/>
              <a:t> - Safe</a:t>
            </a:r>
            <a:endParaRPr lang="pt-BR" dirty="0"/>
          </a:p>
        </p:txBody>
      </p:sp>
      <p:pic>
        <p:nvPicPr>
          <p:cNvPr id="1026" name="Picture 2" descr="http://www.scaledagileframework.com/wp-content/uploads/2017/05/BP-4.5-potfolio-Not-title@2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63" y="658091"/>
            <a:ext cx="8275169" cy="444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477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418"/>
          <p:cNvSpPr txBox="1">
            <a:spLocks/>
          </p:cNvSpPr>
          <p:nvPr/>
        </p:nvSpPr>
        <p:spPr>
          <a:xfrm>
            <a:off x="519546" y="228600"/>
            <a:ext cx="7267143" cy="46527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pt-BR" sz="3300" dirty="0">
                <a:solidFill>
                  <a:prstClr val="black"/>
                </a:solidFill>
                <a:latin typeface="Calibri Light" panose="020F0302020204030204"/>
              </a:rPr>
              <a:t>DDD – Macro Domínios de Desenvolvimento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948821" y="808887"/>
            <a:ext cx="737202" cy="1053145"/>
            <a:chOff x="0" y="164"/>
            <a:chExt cx="982936" cy="1404193"/>
          </a:xfrm>
        </p:grpSpPr>
        <p:sp>
          <p:nvSpPr>
            <p:cNvPr id="5" name="Divisa 4"/>
            <p:cNvSpPr/>
            <p:nvPr/>
          </p:nvSpPr>
          <p:spPr>
            <a:xfrm rot="5400000">
              <a:off x="-210629" y="210793"/>
              <a:ext cx="1404193" cy="982935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Divisa 4"/>
            <p:cNvSpPr txBox="1"/>
            <p:nvPr/>
          </p:nvSpPr>
          <p:spPr>
            <a:xfrm>
              <a:off x="1" y="491632"/>
              <a:ext cx="982935" cy="4212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049" tIns="9049" rIns="9049" bIns="9049" numCol="1" spcCol="1270" anchor="ctr" anchorCtr="0">
              <a:noAutofit/>
            </a:bodyPr>
            <a:lstStyle/>
            <a:p>
              <a:pPr algn="ctr" defTabSz="633413" eaLnBrk="1" fontAlgn="auto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pt-BR" sz="1425" dirty="0" err="1">
                  <a:solidFill>
                    <a:prstClr val="white"/>
                  </a:solidFill>
                  <a:latin typeface="Calibri" panose="020F0502020204030204"/>
                </a:rPr>
                <a:t>Viewer</a:t>
              </a:r>
              <a:endParaRPr lang="pt-BR" sz="1425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" name="Agrupar 6"/>
          <p:cNvGrpSpPr/>
          <p:nvPr/>
        </p:nvGrpSpPr>
        <p:grpSpPr>
          <a:xfrm>
            <a:off x="948821" y="1753157"/>
            <a:ext cx="737202" cy="1053145"/>
            <a:chOff x="0" y="1259190"/>
            <a:chExt cx="982936" cy="1404193"/>
          </a:xfrm>
        </p:grpSpPr>
        <p:sp>
          <p:nvSpPr>
            <p:cNvPr id="8" name="Divisa 7"/>
            <p:cNvSpPr/>
            <p:nvPr/>
          </p:nvSpPr>
          <p:spPr>
            <a:xfrm rot="5400000">
              <a:off x="-210629" y="1469819"/>
              <a:ext cx="1404193" cy="982935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Divisa 7"/>
            <p:cNvSpPr txBox="1"/>
            <p:nvPr/>
          </p:nvSpPr>
          <p:spPr>
            <a:xfrm>
              <a:off x="1" y="1750658"/>
              <a:ext cx="982935" cy="4212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049" tIns="9049" rIns="9049" bIns="9049" numCol="1" spcCol="1270" anchor="ctr" anchorCtr="0">
              <a:noAutofit/>
            </a:bodyPr>
            <a:lstStyle/>
            <a:p>
              <a:pPr algn="ctr" defTabSz="633413" eaLnBrk="1" fontAlgn="auto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pt-BR" sz="1425" dirty="0" err="1">
                  <a:solidFill>
                    <a:prstClr val="white"/>
                  </a:solidFill>
                  <a:latin typeface="Calibri" panose="020F0502020204030204"/>
                </a:rPr>
                <a:t>App</a:t>
              </a:r>
              <a:endParaRPr lang="pt-BR" sz="1425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0" name="Agrupar 9"/>
          <p:cNvGrpSpPr/>
          <p:nvPr/>
        </p:nvGrpSpPr>
        <p:grpSpPr>
          <a:xfrm>
            <a:off x="948821" y="2697426"/>
            <a:ext cx="737202" cy="1053145"/>
            <a:chOff x="0" y="2518216"/>
            <a:chExt cx="982936" cy="1404193"/>
          </a:xfrm>
        </p:grpSpPr>
        <p:sp>
          <p:nvSpPr>
            <p:cNvPr id="11" name="Divisa 10"/>
            <p:cNvSpPr/>
            <p:nvPr/>
          </p:nvSpPr>
          <p:spPr>
            <a:xfrm rot="5400000">
              <a:off x="-210629" y="2728845"/>
              <a:ext cx="1404193" cy="982935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Divisa 10"/>
            <p:cNvSpPr txBox="1"/>
            <p:nvPr/>
          </p:nvSpPr>
          <p:spPr>
            <a:xfrm>
              <a:off x="1" y="3009684"/>
              <a:ext cx="982935" cy="4212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049" tIns="9049" rIns="9049" bIns="9049" numCol="1" spcCol="1270" anchor="ctr" anchorCtr="0">
              <a:noAutofit/>
            </a:bodyPr>
            <a:lstStyle/>
            <a:p>
              <a:pPr algn="ctr" defTabSz="633413" eaLnBrk="1" fontAlgn="auto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pt-BR" sz="1425" dirty="0" err="1">
                  <a:solidFill>
                    <a:prstClr val="white"/>
                  </a:solidFill>
                  <a:latin typeface="Calibri" panose="020F0502020204030204"/>
                </a:rPr>
                <a:t>Domains</a:t>
              </a:r>
              <a:endParaRPr lang="pt-BR" sz="1425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3" name="Agrupar 12"/>
          <p:cNvGrpSpPr/>
          <p:nvPr/>
        </p:nvGrpSpPr>
        <p:grpSpPr>
          <a:xfrm>
            <a:off x="948821" y="3641696"/>
            <a:ext cx="737202" cy="1053145"/>
            <a:chOff x="0" y="3777242"/>
            <a:chExt cx="982936" cy="1404193"/>
          </a:xfrm>
        </p:grpSpPr>
        <p:sp>
          <p:nvSpPr>
            <p:cNvPr id="14" name="Divisa 13"/>
            <p:cNvSpPr/>
            <p:nvPr/>
          </p:nvSpPr>
          <p:spPr>
            <a:xfrm rot="5400000">
              <a:off x="-210629" y="3987871"/>
              <a:ext cx="1404193" cy="982935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Divisa 13"/>
            <p:cNvSpPr txBox="1"/>
            <p:nvPr/>
          </p:nvSpPr>
          <p:spPr>
            <a:xfrm>
              <a:off x="1" y="4268710"/>
              <a:ext cx="982935" cy="4212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049" tIns="9049" rIns="9049" bIns="9049" numCol="1" spcCol="1270" anchor="ctr" anchorCtr="0">
              <a:noAutofit/>
            </a:bodyPr>
            <a:lstStyle/>
            <a:p>
              <a:pPr algn="ctr" defTabSz="633413" eaLnBrk="1" fontAlgn="auto" hangingPunct="1">
                <a:lnSpc>
                  <a:spcPct val="90000"/>
                </a:lnSpc>
                <a:spcAft>
                  <a:spcPct val="35000"/>
                </a:spcAft>
              </a:pPr>
              <a:r>
                <a:rPr lang="pt-BR" sz="1425" dirty="0">
                  <a:solidFill>
                    <a:prstClr val="white"/>
                  </a:solidFill>
                  <a:latin typeface="Calibri" panose="020F0502020204030204"/>
                </a:rPr>
                <a:t>Core</a:t>
              </a:r>
            </a:p>
          </p:txBody>
        </p:sp>
      </p:grpSp>
      <p:sp>
        <p:nvSpPr>
          <p:cNvPr id="16" name="Retângulo Arredondado 15"/>
          <p:cNvSpPr/>
          <p:nvPr/>
        </p:nvSpPr>
        <p:spPr>
          <a:xfrm>
            <a:off x="1686023" y="794406"/>
            <a:ext cx="5685029" cy="766165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  <a:p>
            <a:pPr defTabSz="685800" eaLnBrk="1" fontAlgn="auto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  <a:sym typeface="Arial"/>
              </a:rPr>
              <a:t>DDD1 - Modelos de Comunicação, telas, serviços troca de arquivos.</a:t>
            </a:r>
          </a:p>
          <a:p>
            <a:pPr defTabSz="685800" eaLnBrk="1" fontAlgn="auto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7" name="Retângulo Arredondado 16"/>
          <p:cNvSpPr/>
          <p:nvPr/>
        </p:nvSpPr>
        <p:spPr>
          <a:xfrm>
            <a:off x="1686725" y="1753156"/>
            <a:ext cx="5685029" cy="766165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  <a:p>
            <a:pPr defTabSz="685800" eaLnBrk="1" fontAlgn="auto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DDD2 - Orquestração entre comunicação externa domínios, processos de comunicação.</a:t>
            </a:r>
          </a:p>
        </p:txBody>
      </p:sp>
      <p:sp>
        <p:nvSpPr>
          <p:cNvPr id="18" name="Retângulo Arredondado 17"/>
          <p:cNvSpPr/>
          <p:nvPr/>
        </p:nvSpPr>
        <p:spPr>
          <a:xfrm>
            <a:off x="1686023" y="2729781"/>
            <a:ext cx="5685029" cy="766165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srgbClr val="55565A"/>
              </a:solidFill>
              <a:latin typeface="Calibri Light" panose="020F0302020204030204"/>
              <a:ea typeface="+mn-ea"/>
              <a:sym typeface="Arial"/>
            </a:endParaRP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DDD3 - Componentes e contêineres de negócios, com domínios de negócios claramente definidos.</a:t>
            </a:r>
          </a:p>
        </p:txBody>
      </p:sp>
      <p:sp>
        <p:nvSpPr>
          <p:cNvPr id="19" name="Retângulo Arredondado 18"/>
          <p:cNvSpPr/>
          <p:nvPr/>
        </p:nvSpPr>
        <p:spPr>
          <a:xfrm>
            <a:off x="1691218" y="3608406"/>
            <a:ext cx="5685029" cy="766165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DDD4 - Componentes de comunicação com banco de dados, redes, plug-ins de outros sistemas.</a:t>
            </a:r>
          </a:p>
        </p:txBody>
      </p:sp>
    </p:spTree>
    <p:extLst>
      <p:ext uri="{BB962C8B-B14F-4D97-AF65-F5344CB8AC3E}">
        <p14:creationId xmlns:p14="http://schemas.microsoft.com/office/powerpoint/2010/main" val="29011763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418"/>
          <p:cNvSpPr>
            <a:spLocks noGrp="1"/>
          </p:cNvSpPr>
          <p:nvPr>
            <p:ph type="title"/>
          </p:nvPr>
        </p:nvSpPr>
        <p:spPr>
          <a:xfrm>
            <a:off x="1600961" y="174741"/>
            <a:ext cx="5354021" cy="51106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Papéis e Responsabilidades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710" y="2589069"/>
            <a:ext cx="2950043" cy="1975072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35444" y="855378"/>
            <a:ext cx="3353774" cy="13734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Product</a:t>
            </a: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Owner</a:t>
            </a:r>
            <a:endParaRPr lang="pt-BR" sz="1050" b="1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Representa o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stakholders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Conhece os requisitos (DEV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).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Responsável pela divisão do produto em pequenas parte (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Stories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).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Responsável pela Macro Gerencia.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Valida as entregas parciais.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Mediador entre clientes.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Prepara e documentos e artefatos.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Garante o ROI (retorno sobre o investimento)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Garantir visibilidade, transparência e objetividade do produto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102928" y="855378"/>
            <a:ext cx="2628900" cy="1500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Scrum</a:t>
            </a: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 Master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Protege a equipe de interferências.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Facilitador do trabalho.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Identifica impedimentos e remove impedimentos.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Ajuda o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product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owner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 garantir o objetivo (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dev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).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Ajuda o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product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owner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 alcançar o ROI.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Garantir o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Agile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Facilitar a criatividade.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Promove trabalho colaborativo.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Facilitador das reuniões. (horários, dias, períodos e conteúdo)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102928" y="3081618"/>
            <a:ext cx="2628900" cy="13734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Team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Desenvolve o projeto.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Trabalha auto organizado.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Trabalha de forma colaborativa.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Trabalha em equipe multidisciplinar.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Trabalha em equipe multifuncional.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Não permite variação e titulo.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Não permite especialização.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Não permite </a:t>
            </a:r>
            <a:r>
              <a:rPr lang="pt-BR" sz="825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sub-times</a:t>
            </a: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825" dirty="0">
                <a:solidFill>
                  <a:prstClr val="black"/>
                </a:solidFill>
                <a:latin typeface="Calibri" panose="020F0502020204030204"/>
                <a:ea typeface="+mn-ea"/>
              </a:rPr>
              <a:t>Aprende todos os pedaços da história.</a:t>
            </a:r>
          </a:p>
        </p:txBody>
      </p:sp>
    </p:spTree>
    <p:extLst>
      <p:ext uri="{BB962C8B-B14F-4D97-AF65-F5344CB8AC3E}">
        <p14:creationId xmlns:p14="http://schemas.microsoft.com/office/powerpoint/2010/main" val="6847668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418"/>
          <p:cNvSpPr>
            <a:spLocks noGrp="1"/>
          </p:cNvSpPr>
          <p:nvPr>
            <p:ph type="title"/>
          </p:nvPr>
        </p:nvSpPr>
        <p:spPr>
          <a:xfrm>
            <a:off x="1164543" y="250919"/>
            <a:ext cx="6296131" cy="48335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Levantamento de requisitos 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80640" y="734269"/>
            <a:ext cx="4002232" cy="784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DEV </a:t>
            </a: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endParaRPr lang="pt-BR" sz="1050" b="1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Conjunto de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Users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Stories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organizados em temas.</a:t>
            </a: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Ordenado por prioridade de implantação.</a:t>
            </a: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Evolução constante.</a:t>
            </a: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Coordenado pelo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product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owner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777289" y="3069664"/>
            <a:ext cx="328436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Característica </a:t>
            </a: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Users</a:t>
            </a: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Stories</a:t>
            </a:r>
            <a:endParaRPr lang="pt-BR" sz="1050" b="1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Independente.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Flexível.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Agrega valor ao usuário.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Estimável.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Realizável em uma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sprint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Testável.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Priorizáveis.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888928" y="1592339"/>
            <a:ext cx="4847359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Users</a:t>
            </a: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Stories</a:t>
            </a:r>
            <a:endParaRPr lang="pt-BR" sz="1050" b="1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Users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Stories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(Histórias).Descreve a funcionalidades (caso de uso).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Requisitos dos clientes.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Necessidades do cliente.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PO indica valor agregado.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Épico.</a:t>
            </a:r>
          </a:p>
          <a:p>
            <a:pPr marL="128588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Três componentes</a:t>
            </a:r>
          </a:p>
          <a:p>
            <a:pPr marL="128588" lvl="4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Ator - É um papel de alguém ou de um sistema.</a:t>
            </a:r>
          </a:p>
          <a:p>
            <a:pPr marL="128588" lvl="4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Objetivo - É o comportamento do sistema na história, onde temos que chegar.</a:t>
            </a:r>
          </a:p>
          <a:p>
            <a:pPr marL="128588" lvl="4" indent="-128588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justificativa - É a explicação do PO que justifica a trabalho (opcional).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278952" y="4072692"/>
            <a:ext cx="4002232" cy="784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050" b="1" dirty="0">
                <a:solidFill>
                  <a:prstClr val="black"/>
                </a:solidFill>
                <a:latin typeface="Calibri" panose="020F0502020204030204"/>
                <a:ea typeface="+mn-ea"/>
              </a:rPr>
              <a:t>OPS </a:t>
            </a:r>
            <a:r>
              <a:rPr lang="pt-BR" sz="1050" b="1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endParaRPr lang="pt-BR" sz="1050" b="1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Conjunto de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Users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Stories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organizados em releases.</a:t>
            </a: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Ordenado períodos de implantação.</a:t>
            </a: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Evolução planejada.</a:t>
            </a:r>
          </a:p>
          <a:p>
            <a:pPr marL="214313" indent="-214313" defTabSz="6858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Coordenado pelo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product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owner</a:t>
            </a:r>
            <a:r>
              <a:rPr lang="pt-BR" sz="900" dirty="0">
                <a:solidFill>
                  <a:prstClr val="black"/>
                </a:solidFill>
                <a:latin typeface="Calibri" panose="020F0502020204030204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13504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16" name="Imagem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3417888"/>
            <a:ext cx="1792287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Imagem 7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506" y="3675846"/>
            <a:ext cx="698242" cy="589233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994" y="2221945"/>
            <a:ext cx="1038848" cy="35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2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809" y="2837065"/>
            <a:ext cx="720079" cy="558050"/>
          </a:xfrm>
          <a:prstGeom prst="rect">
            <a:avLst/>
          </a:prstGeom>
        </p:spPr>
      </p:pic>
      <p:pic>
        <p:nvPicPr>
          <p:cNvPr id="71" name="Imagem 7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749" y="1302587"/>
            <a:ext cx="687020" cy="687020"/>
          </a:xfrm>
          <a:prstGeom prst="rect">
            <a:avLst/>
          </a:prstGeom>
        </p:spPr>
      </p:pic>
      <p:sp>
        <p:nvSpPr>
          <p:cNvPr id="17" name="Shape 1418"/>
          <p:cNvSpPr>
            <a:spLocks noGrp="1"/>
          </p:cNvSpPr>
          <p:nvPr>
            <p:ph type="title"/>
          </p:nvPr>
        </p:nvSpPr>
        <p:spPr>
          <a:xfrm>
            <a:off x="895350" y="174625"/>
            <a:ext cx="7485063" cy="5445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pt-BR" dirty="0" smtClean="0"/>
              <a:t>Ciclo de vida X </a:t>
            </a:r>
            <a:r>
              <a:rPr lang="pt-BR" dirty="0" err="1" smtClean="0"/>
              <a:t>Agile</a:t>
            </a:r>
            <a:r>
              <a:rPr lang="pt-BR" dirty="0" smtClean="0"/>
              <a:t> X </a:t>
            </a:r>
            <a:r>
              <a:rPr lang="pt-BR" dirty="0" err="1" smtClean="0"/>
              <a:t>Togaf</a:t>
            </a:r>
            <a:r>
              <a:rPr lang="pt-BR" dirty="0" smtClean="0"/>
              <a:t> (Arquitetura)</a:t>
            </a:r>
            <a:endParaRPr lang="pt-BR" dirty="0"/>
          </a:p>
        </p:txBody>
      </p:sp>
      <p:sp>
        <p:nvSpPr>
          <p:cNvPr id="18" name="Shape 1419"/>
          <p:cNvSpPr/>
          <p:nvPr/>
        </p:nvSpPr>
        <p:spPr>
          <a:xfrm>
            <a:off x="3473450" y="1479550"/>
            <a:ext cx="1952625" cy="187325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1"/>
            </a:solidFill>
          </a:ln>
        </p:spPr>
        <p:txBody>
          <a:bodyPr lIns="34289" rIns="34289" anchor="ctr"/>
          <a:lstStyle/>
          <a:p>
            <a:pPr algn="ctr" defTabSz="685653" eaLnBrk="1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FFFFFF"/>
                </a:solidFill>
              </a:defRPr>
            </a:pPr>
            <a:endParaRPr sz="900" kern="0">
              <a:solidFill>
                <a:srgbClr val="FFFFFF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5604" name="Group 1422"/>
          <p:cNvGrpSpPr>
            <a:grpSpLocks/>
          </p:cNvGrpSpPr>
          <p:nvPr/>
        </p:nvGrpSpPr>
        <p:grpSpPr bwMode="auto">
          <a:xfrm>
            <a:off x="4040188" y="1125538"/>
            <a:ext cx="781050" cy="587375"/>
            <a:chOff x="-1" y="0"/>
            <a:chExt cx="782124" cy="782162"/>
          </a:xfrm>
        </p:grpSpPr>
        <p:sp>
          <p:nvSpPr>
            <p:cNvPr id="20" name="Shape 1420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1" name="Shape 1421"/>
            <p:cNvSpPr/>
            <p:nvPr/>
          </p:nvSpPr>
          <p:spPr>
            <a:xfrm>
              <a:off x="114456" y="314978"/>
              <a:ext cx="553210" cy="152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E87722"/>
                  </a:solidFill>
                  <a:latin typeface="Arial"/>
                  <a:ea typeface="+mn-ea"/>
                  <a:cs typeface="Arial"/>
                </a:rPr>
                <a:t>Visão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605" name="Group 1425"/>
          <p:cNvGrpSpPr>
            <a:grpSpLocks/>
          </p:cNvGrpSpPr>
          <p:nvPr/>
        </p:nvGrpSpPr>
        <p:grpSpPr bwMode="auto">
          <a:xfrm>
            <a:off x="4941888" y="1825625"/>
            <a:ext cx="1017587" cy="585788"/>
            <a:chOff x="-1" y="0"/>
            <a:chExt cx="782124" cy="782162"/>
          </a:xfrm>
        </p:grpSpPr>
        <p:sp>
          <p:nvSpPr>
            <p:cNvPr id="23" name="Shape 1423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" name="Shape 1424"/>
            <p:cNvSpPr/>
            <p:nvPr/>
          </p:nvSpPr>
          <p:spPr>
            <a:xfrm>
              <a:off x="114694" y="161096"/>
              <a:ext cx="552733" cy="4599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Arquitetura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de Negócio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606" name="Group 1428"/>
          <p:cNvGrpSpPr>
            <a:grpSpLocks/>
          </p:cNvGrpSpPr>
          <p:nvPr/>
        </p:nvGrpSpPr>
        <p:grpSpPr bwMode="auto">
          <a:xfrm>
            <a:off x="3052763" y="1598613"/>
            <a:ext cx="1038225" cy="585787"/>
            <a:chOff x="-1" y="0"/>
            <a:chExt cx="782124" cy="782162"/>
          </a:xfrm>
        </p:grpSpPr>
        <p:sp>
          <p:nvSpPr>
            <p:cNvPr id="26" name="Shape 1426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" name="Shape 1427"/>
            <p:cNvSpPr/>
            <p:nvPr/>
          </p:nvSpPr>
          <p:spPr>
            <a:xfrm>
              <a:off x="114806" y="237404"/>
              <a:ext cx="552510" cy="307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Governança da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Implementação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607" name="Group 1431"/>
          <p:cNvGrpSpPr>
            <a:grpSpLocks/>
          </p:cNvGrpSpPr>
          <p:nvPr/>
        </p:nvGrpSpPr>
        <p:grpSpPr bwMode="auto">
          <a:xfrm>
            <a:off x="3087688" y="2438400"/>
            <a:ext cx="944562" cy="587375"/>
            <a:chOff x="-1" y="0"/>
            <a:chExt cx="782124" cy="782162"/>
          </a:xfrm>
        </p:grpSpPr>
        <p:sp>
          <p:nvSpPr>
            <p:cNvPr id="29" name="Shape 1429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Shape 1430"/>
            <p:cNvSpPr/>
            <p:nvPr/>
          </p:nvSpPr>
          <p:spPr>
            <a:xfrm>
              <a:off x="114360" y="236763"/>
              <a:ext cx="553403" cy="308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Planejamento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de Migração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608" name="Group 1434"/>
          <p:cNvGrpSpPr>
            <a:grpSpLocks/>
          </p:cNvGrpSpPr>
          <p:nvPr/>
        </p:nvGrpSpPr>
        <p:grpSpPr bwMode="auto">
          <a:xfrm>
            <a:off x="3511550" y="2887663"/>
            <a:ext cx="1039813" cy="585787"/>
            <a:chOff x="-1" y="0"/>
            <a:chExt cx="782124" cy="782162"/>
          </a:xfrm>
        </p:grpSpPr>
        <p:sp>
          <p:nvSpPr>
            <p:cNvPr id="32" name="Shape 1432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" name="Shape 1433"/>
            <p:cNvSpPr/>
            <p:nvPr/>
          </p:nvSpPr>
          <p:spPr>
            <a:xfrm>
              <a:off x="114631" y="237404"/>
              <a:ext cx="552860" cy="307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Oportunidades 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Soluções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609" name="Group 1437"/>
          <p:cNvGrpSpPr>
            <a:grpSpLocks/>
          </p:cNvGrpSpPr>
          <p:nvPr/>
        </p:nvGrpSpPr>
        <p:grpSpPr bwMode="auto">
          <a:xfrm>
            <a:off x="4967288" y="2262188"/>
            <a:ext cx="1008062" cy="585787"/>
            <a:chOff x="-179704" y="-5049"/>
            <a:chExt cx="1145109" cy="782162"/>
          </a:xfrm>
        </p:grpSpPr>
        <p:sp>
          <p:nvSpPr>
            <p:cNvPr id="35" name="Shape 1435"/>
            <p:cNvSpPr/>
            <p:nvPr/>
          </p:nvSpPr>
          <p:spPr>
            <a:xfrm>
              <a:off x="-179704" y="-5049"/>
              <a:ext cx="1145109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Shape 1436"/>
            <p:cNvSpPr/>
            <p:nvPr/>
          </p:nvSpPr>
          <p:spPr>
            <a:xfrm>
              <a:off x="-145441" y="170884"/>
              <a:ext cx="1076584" cy="459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Arquitetura de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Sistemas de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Informação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5610" name="Group 1440"/>
          <p:cNvGrpSpPr>
            <a:grpSpLocks/>
          </p:cNvGrpSpPr>
          <p:nvPr/>
        </p:nvGrpSpPr>
        <p:grpSpPr bwMode="auto">
          <a:xfrm>
            <a:off x="4954588" y="2765425"/>
            <a:ext cx="1020762" cy="587375"/>
            <a:chOff x="-1" y="0"/>
            <a:chExt cx="782124" cy="782162"/>
          </a:xfrm>
        </p:grpSpPr>
        <p:sp>
          <p:nvSpPr>
            <p:cNvPr id="38" name="Shape 1438"/>
            <p:cNvSpPr/>
            <p:nvPr/>
          </p:nvSpPr>
          <p:spPr>
            <a:xfrm>
              <a:off x="-1" y="0"/>
              <a:ext cx="782124" cy="782162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lIns="34289" tIns="34289" rIns="34289" bIns="34289" anchor="ctr"/>
            <a:lstStyle/>
            <a:p>
              <a:pPr algn="ctr" defTabSz="685653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sz="1350" kern="0">
                <a:solidFill>
                  <a:srgbClr val="55565A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Shape 1439"/>
            <p:cNvSpPr/>
            <p:nvPr/>
          </p:nvSpPr>
          <p:spPr>
            <a:xfrm>
              <a:off x="114338" y="236763"/>
              <a:ext cx="553447" cy="308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0" tIns="0" rIns="0" bIns="0" anchor="ctr">
              <a:spAutoFit/>
            </a:bodyPr>
            <a:lstStyle>
              <a:lvl1pPr algn="ctr" defTabSz="914204">
                <a:defRPr sz="1000" b="1">
                  <a:solidFill>
                    <a:schemeClr val="accent1"/>
                  </a:solidFill>
                </a:defRPr>
              </a:lvl1pPr>
            </a:lstStyle>
            <a:p>
              <a:pPr defTabSz="68565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Arquitetura de</a:t>
              </a:r>
              <a:b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</a:br>
              <a:r>
                <a:rPr lang="pt-BR" sz="750" dirty="0">
                  <a:solidFill>
                    <a:srgbClr val="5B9BD5"/>
                  </a:solidFill>
                  <a:latin typeface="Calibri" panose="020F0502020204030204"/>
                  <a:ea typeface="+mn-ea"/>
                </a:rPr>
                <a:t>Tecnologia</a:t>
              </a:r>
              <a:endParaRPr sz="750" kern="0" dirty="0">
                <a:solidFill>
                  <a:srgbClr val="E87722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40" name="Shape 1441"/>
          <p:cNvSpPr/>
          <p:nvPr/>
        </p:nvSpPr>
        <p:spPr>
          <a:xfrm>
            <a:off x="4079875" y="2039938"/>
            <a:ext cx="749300" cy="460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06" y="12462"/>
                </a:moveTo>
                <a:cubicBezTo>
                  <a:pt x="19744" y="11908"/>
                  <a:pt x="20081" y="11077"/>
                  <a:pt x="20081" y="10246"/>
                </a:cubicBezTo>
                <a:cubicBezTo>
                  <a:pt x="20081" y="8585"/>
                  <a:pt x="19238" y="7200"/>
                  <a:pt x="18225" y="7200"/>
                </a:cubicBezTo>
                <a:cubicBezTo>
                  <a:pt x="17719" y="7200"/>
                  <a:pt x="17213" y="7754"/>
                  <a:pt x="16875" y="8308"/>
                </a:cubicBezTo>
                <a:cubicBezTo>
                  <a:pt x="16538" y="7754"/>
                  <a:pt x="16031" y="7200"/>
                  <a:pt x="15525" y="6923"/>
                </a:cubicBezTo>
                <a:cubicBezTo>
                  <a:pt x="15863" y="6369"/>
                  <a:pt x="16200" y="5538"/>
                  <a:pt x="16200" y="4431"/>
                </a:cubicBezTo>
                <a:cubicBezTo>
                  <a:pt x="16200" y="2769"/>
                  <a:pt x="15356" y="1108"/>
                  <a:pt x="14344" y="1108"/>
                </a:cubicBezTo>
                <a:cubicBezTo>
                  <a:pt x="13163" y="1108"/>
                  <a:pt x="12319" y="2769"/>
                  <a:pt x="12319" y="4431"/>
                </a:cubicBezTo>
                <a:cubicBezTo>
                  <a:pt x="12319" y="5538"/>
                  <a:pt x="12656" y="6369"/>
                  <a:pt x="13163" y="6923"/>
                </a:cubicBezTo>
                <a:cubicBezTo>
                  <a:pt x="12319" y="7477"/>
                  <a:pt x="11644" y="8585"/>
                  <a:pt x="11138" y="9692"/>
                </a:cubicBezTo>
                <a:cubicBezTo>
                  <a:pt x="10800" y="7754"/>
                  <a:pt x="9956" y="6369"/>
                  <a:pt x="8775" y="5815"/>
                </a:cubicBezTo>
                <a:cubicBezTo>
                  <a:pt x="9281" y="5262"/>
                  <a:pt x="9619" y="4154"/>
                  <a:pt x="9619" y="3323"/>
                </a:cubicBezTo>
                <a:cubicBezTo>
                  <a:pt x="9619" y="1385"/>
                  <a:pt x="8775" y="0"/>
                  <a:pt x="7594" y="0"/>
                </a:cubicBezTo>
                <a:cubicBezTo>
                  <a:pt x="6581" y="0"/>
                  <a:pt x="5737" y="1385"/>
                  <a:pt x="5737" y="3323"/>
                </a:cubicBezTo>
                <a:cubicBezTo>
                  <a:pt x="5737" y="4154"/>
                  <a:pt x="6075" y="5262"/>
                  <a:pt x="6412" y="5815"/>
                </a:cubicBezTo>
                <a:cubicBezTo>
                  <a:pt x="5737" y="6092"/>
                  <a:pt x="5062" y="6923"/>
                  <a:pt x="4556" y="8308"/>
                </a:cubicBezTo>
                <a:cubicBezTo>
                  <a:pt x="4387" y="7754"/>
                  <a:pt x="3881" y="7200"/>
                  <a:pt x="3375" y="7200"/>
                </a:cubicBezTo>
                <a:cubicBezTo>
                  <a:pt x="2362" y="7200"/>
                  <a:pt x="1519" y="8585"/>
                  <a:pt x="1519" y="10246"/>
                </a:cubicBezTo>
                <a:cubicBezTo>
                  <a:pt x="1519" y="11077"/>
                  <a:pt x="1856" y="11908"/>
                  <a:pt x="2194" y="12462"/>
                </a:cubicBezTo>
                <a:cubicBezTo>
                  <a:pt x="1012" y="13292"/>
                  <a:pt x="0" y="15508"/>
                  <a:pt x="0" y="180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675" y="21600"/>
                  <a:pt x="675" y="21600"/>
                  <a:pt x="675" y="21600"/>
                </a:cubicBezTo>
                <a:cubicBezTo>
                  <a:pt x="675" y="18000"/>
                  <a:pt x="675" y="18000"/>
                  <a:pt x="675" y="18000"/>
                </a:cubicBezTo>
                <a:cubicBezTo>
                  <a:pt x="675" y="15508"/>
                  <a:pt x="2025" y="13292"/>
                  <a:pt x="3375" y="13292"/>
                </a:cubicBezTo>
                <a:cubicBezTo>
                  <a:pt x="4894" y="13292"/>
                  <a:pt x="6075" y="15231"/>
                  <a:pt x="6075" y="17723"/>
                </a:cubicBezTo>
                <a:cubicBezTo>
                  <a:pt x="6075" y="21600"/>
                  <a:pt x="6075" y="21600"/>
                  <a:pt x="6075" y="21600"/>
                </a:cubicBezTo>
                <a:cubicBezTo>
                  <a:pt x="6750" y="21600"/>
                  <a:pt x="6750" y="21600"/>
                  <a:pt x="6750" y="21600"/>
                </a:cubicBezTo>
                <a:cubicBezTo>
                  <a:pt x="6750" y="17723"/>
                  <a:pt x="6750" y="17723"/>
                  <a:pt x="6750" y="17723"/>
                </a:cubicBezTo>
                <a:cubicBezTo>
                  <a:pt x="6750" y="15231"/>
                  <a:pt x="5737" y="13292"/>
                  <a:pt x="4556" y="12462"/>
                </a:cubicBezTo>
                <a:cubicBezTo>
                  <a:pt x="4894" y="11908"/>
                  <a:pt x="5062" y="11077"/>
                  <a:pt x="5062" y="10246"/>
                </a:cubicBezTo>
                <a:cubicBezTo>
                  <a:pt x="5062" y="9969"/>
                  <a:pt x="5062" y="9692"/>
                  <a:pt x="5062" y="9415"/>
                </a:cubicBezTo>
                <a:cubicBezTo>
                  <a:pt x="5062" y="9138"/>
                  <a:pt x="5062" y="9138"/>
                  <a:pt x="5062" y="9138"/>
                </a:cubicBezTo>
                <a:cubicBezTo>
                  <a:pt x="5569" y="7477"/>
                  <a:pt x="6750" y="6369"/>
                  <a:pt x="7762" y="6369"/>
                </a:cubicBezTo>
                <a:cubicBezTo>
                  <a:pt x="9450" y="6369"/>
                  <a:pt x="10800" y="8862"/>
                  <a:pt x="10800" y="11631"/>
                </a:cubicBezTo>
                <a:cubicBezTo>
                  <a:pt x="10800" y="13015"/>
                  <a:pt x="10800" y="13015"/>
                  <a:pt x="10800" y="13015"/>
                </a:cubicBezTo>
                <a:cubicBezTo>
                  <a:pt x="10800" y="16062"/>
                  <a:pt x="10800" y="16062"/>
                  <a:pt x="10800" y="1606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1475" y="21600"/>
                  <a:pt x="11475" y="21600"/>
                  <a:pt x="11475" y="21600"/>
                </a:cubicBezTo>
                <a:cubicBezTo>
                  <a:pt x="11475" y="16062"/>
                  <a:pt x="11475" y="16062"/>
                  <a:pt x="11475" y="16062"/>
                </a:cubicBezTo>
                <a:cubicBezTo>
                  <a:pt x="11475" y="13015"/>
                  <a:pt x="11475" y="13015"/>
                  <a:pt x="11475" y="13015"/>
                </a:cubicBezTo>
                <a:cubicBezTo>
                  <a:pt x="11475" y="10246"/>
                  <a:pt x="12825" y="7754"/>
                  <a:pt x="14344" y="7754"/>
                </a:cubicBezTo>
                <a:cubicBezTo>
                  <a:pt x="15188" y="7754"/>
                  <a:pt x="16031" y="8308"/>
                  <a:pt x="16538" y="9415"/>
                </a:cubicBezTo>
                <a:cubicBezTo>
                  <a:pt x="16538" y="9692"/>
                  <a:pt x="16538" y="9969"/>
                  <a:pt x="16538" y="10246"/>
                </a:cubicBezTo>
                <a:cubicBezTo>
                  <a:pt x="16538" y="11077"/>
                  <a:pt x="16706" y="11908"/>
                  <a:pt x="17044" y="12462"/>
                </a:cubicBezTo>
                <a:cubicBezTo>
                  <a:pt x="15863" y="13292"/>
                  <a:pt x="14850" y="15508"/>
                  <a:pt x="14850" y="18000"/>
                </a:cubicBezTo>
                <a:cubicBezTo>
                  <a:pt x="14850" y="21600"/>
                  <a:pt x="14850" y="21600"/>
                  <a:pt x="14850" y="21600"/>
                </a:cubicBezTo>
                <a:cubicBezTo>
                  <a:pt x="15525" y="21600"/>
                  <a:pt x="15525" y="21600"/>
                  <a:pt x="15525" y="21600"/>
                </a:cubicBezTo>
                <a:cubicBezTo>
                  <a:pt x="15525" y="18000"/>
                  <a:pt x="15525" y="18000"/>
                  <a:pt x="15525" y="18000"/>
                </a:cubicBezTo>
                <a:cubicBezTo>
                  <a:pt x="15525" y="15508"/>
                  <a:pt x="16875" y="13292"/>
                  <a:pt x="18225" y="13292"/>
                </a:cubicBezTo>
                <a:cubicBezTo>
                  <a:pt x="19744" y="13292"/>
                  <a:pt x="20925" y="15231"/>
                  <a:pt x="20925" y="17723"/>
                </a:cubicBezTo>
                <a:cubicBezTo>
                  <a:pt x="20925" y="21600"/>
                  <a:pt x="20925" y="21600"/>
                  <a:pt x="20925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7723"/>
                  <a:pt x="21600" y="17723"/>
                  <a:pt x="21600" y="17723"/>
                </a:cubicBezTo>
                <a:cubicBezTo>
                  <a:pt x="21600" y="15231"/>
                  <a:pt x="20756" y="13292"/>
                  <a:pt x="19406" y="12462"/>
                </a:cubicBezTo>
                <a:close/>
                <a:moveTo>
                  <a:pt x="3375" y="8308"/>
                </a:moveTo>
                <a:cubicBezTo>
                  <a:pt x="3881" y="8308"/>
                  <a:pt x="4387" y="9138"/>
                  <a:pt x="4387" y="10246"/>
                </a:cubicBezTo>
                <a:cubicBezTo>
                  <a:pt x="4387" y="11077"/>
                  <a:pt x="3881" y="11908"/>
                  <a:pt x="3375" y="11908"/>
                </a:cubicBezTo>
                <a:cubicBezTo>
                  <a:pt x="2700" y="11908"/>
                  <a:pt x="2194" y="11077"/>
                  <a:pt x="2194" y="10246"/>
                </a:cubicBezTo>
                <a:cubicBezTo>
                  <a:pt x="2194" y="9138"/>
                  <a:pt x="2700" y="8308"/>
                  <a:pt x="3375" y="8308"/>
                </a:cubicBezTo>
                <a:close/>
                <a:moveTo>
                  <a:pt x="7594" y="1108"/>
                </a:moveTo>
                <a:cubicBezTo>
                  <a:pt x="8269" y="1108"/>
                  <a:pt x="8944" y="1938"/>
                  <a:pt x="8944" y="3323"/>
                </a:cubicBezTo>
                <a:cubicBezTo>
                  <a:pt x="8944" y="4431"/>
                  <a:pt x="8269" y="5262"/>
                  <a:pt x="7594" y="5262"/>
                </a:cubicBezTo>
                <a:cubicBezTo>
                  <a:pt x="6919" y="5262"/>
                  <a:pt x="6412" y="4431"/>
                  <a:pt x="6412" y="3323"/>
                </a:cubicBezTo>
                <a:cubicBezTo>
                  <a:pt x="6412" y="1938"/>
                  <a:pt x="6919" y="1108"/>
                  <a:pt x="7594" y="1108"/>
                </a:cubicBezTo>
                <a:close/>
                <a:moveTo>
                  <a:pt x="14344" y="2215"/>
                </a:moveTo>
                <a:cubicBezTo>
                  <a:pt x="15019" y="2215"/>
                  <a:pt x="15525" y="3323"/>
                  <a:pt x="15525" y="4431"/>
                </a:cubicBezTo>
                <a:cubicBezTo>
                  <a:pt x="15525" y="5538"/>
                  <a:pt x="15019" y="6646"/>
                  <a:pt x="14344" y="6646"/>
                </a:cubicBezTo>
                <a:cubicBezTo>
                  <a:pt x="13669" y="6646"/>
                  <a:pt x="12994" y="5538"/>
                  <a:pt x="12994" y="4431"/>
                </a:cubicBezTo>
                <a:cubicBezTo>
                  <a:pt x="12994" y="3323"/>
                  <a:pt x="13669" y="2215"/>
                  <a:pt x="14344" y="2215"/>
                </a:cubicBezTo>
                <a:close/>
                <a:moveTo>
                  <a:pt x="18225" y="8308"/>
                </a:moveTo>
                <a:cubicBezTo>
                  <a:pt x="18900" y="8308"/>
                  <a:pt x="19406" y="9138"/>
                  <a:pt x="19406" y="10246"/>
                </a:cubicBezTo>
                <a:cubicBezTo>
                  <a:pt x="19406" y="11077"/>
                  <a:pt x="18900" y="11908"/>
                  <a:pt x="18225" y="11908"/>
                </a:cubicBezTo>
                <a:cubicBezTo>
                  <a:pt x="17719" y="11908"/>
                  <a:pt x="17213" y="11077"/>
                  <a:pt x="17213" y="10246"/>
                </a:cubicBezTo>
                <a:cubicBezTo>
                  <a:pt x="17213" y="9138"/>
                  <a:pt x="17719" y="8308"/>
                  <a:pt x="18225" y="830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4289" rIns="34289"/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endParaRPr sz="1350" kern="0">
              <a:solidFill>
                <a:srgbClr val="55565A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1" name="Shape 1421"/>
          <p:cNvSpPr/>
          <p:nvPr/>
        </p:nvSpPr>
        <p:spPr>
          <a:xfrm>
            <a:off x="4146550" y="2519363"/>
            <a:ext cx="615950" cy="1619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/>
          </a:extLst>
        </p:spPr>
        <p:txBody>
          <a:bodyPr lIns="0" tIns="0" rIns="0" bIns="0" anchor="ctr">
            <a:spAutoFit/>
          </a:bodyPr>
          <a:lstStyle>
            <a:lvl1pPr algn="ctr" defTabSz="914204">
              <a:defRPr sz="1000" b="1">
                <a:solidFill>
                  <a:schemeClr val="accent1"/>
                </a:solidFill>
              </a:defRPr>
            </a:lvl1pPr>
          </a:lstStyle>
          <a:p>
            <a:pPr defTabSz="685653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050" dirty="0">
                <a:solidFill>
                  <a:srgbClr val="E87722"/>
                </a:solidFill>
                <a:latin typeface="Arial"/>
                <a:ea typeface="+mn-ea"/>
                <a:cs typeface="Arial"/>
              </a:rPr>
              <a:t>Negócios</a:t>
            </a:r>
          </a:p>
        </p:txBody>
      </p:sp>
      <p:pic>
        <p:nvPicPr>
          <p:cNvPr id="25613" name="Imagem 4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438" y="2527300"/>
            <a:ext cx="60007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4" name="Imagem 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713" y="2505075"/>
            <a:ext cx="60007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5" name="Imagem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788" y="3254375"/>
            <a:ext cx="381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CaixaDeTexto 45"/>
          <p:cNvSpPr txBox="1"/>
          <p:nvPr/>
        </p:nvSpPr>
        <p:spPr>
          <a:xfrm>
            <a:off x="5355929" y="909335"/>
            <a:ext cx="752896" cy="276997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/>
          <a:p>
            <a:pPr defTabSz="685800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srgbClr val="55565A"/>
                </a:solidFill>
                <a:latin typeface="Calibri Light" panose="020F0302020204030204"/>
                <a:ea typeface="+mn-ea"/>
                <a:sym typeface="Arial"/>
              </a:rPr>
              <a:t>Estratégia</a:t>
            </a:r>
          </a:p>
        </p:txBody>
      </p:sp>
      <p:cxnSp>
        <p:nvCxnSpPr>
          <p:cNvPr id="47" name="Conector reto 46"/>
          <p:cNvCxnSpPr>
            <a:stCxn id="20" idx="7"/>
            <a:endCxn id="46" idx="1"/>
          </p:cNvCxnSpPr>
          <p:nvPr/>
        </p:nvCxnSpPr>
        <p:spPr>
          <a:xfrm flipV="1">
            <a:off x="4706772" y="1047835"/>
            <a:ext cx="649157" cy="16374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CaixaDeTexto 47"/>
          <p:cNvSpPr txBox="1"/>
          <p:nvPr/>
        </p:nvSpPr>
        <p:spPr>
          <a:xfrm>
            <a:off x="5642597" y="1356282"/>
            <a:ext cx="1742206" cy="276997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Gestão da Programação</a:t>
            </a:r>
          </a:p>
        </p:txBody>
      </p:sp>
      <p:cxnSp>
        <p:nvCxnSpPr>
          <p:cNvPr id="49" name="Conector reto 48"/>
          <p:cNvCxnSpPr>
            <a:stCxn id="38" idx="7"/>
            <a:endCxn id="48" idx="2"/>
          </p:cNvCxnSpPr>
          <p:nvPr/>
        </p:nvCxnSpPr>
        <p:spPr>
          <a:xfrm flipV="1">
            <a:off x="5826403" y="1633280"/>
            <a:ext cx="686480" cy="1218704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Conector reto 49"/>
          <p:cNvCxnSpPr>
            <a:stCxn id="35" idx="7"/>
            <a:endCxn id="48" idx="2"/>
          </p:cNvCxnSpPr>
          <p:nvPr/>
        </p:nvCxnSpPr>
        <p:spPr>
          <a:xfrm flipV="1">
            <a:off x="5828278" y="1633280"/>
            <a:ext cx="684605" cy="71475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Conector reto 50"/>
          <p:cNvCxnSpPr>
            <a:endCxn id="48" idx="2"/>
          </p:cNvCxnSpPr>
          <p:nvPr/>
        </p:nvCxnSpPr>
        <p:spPr>
          <a:xfrm flipV="1">
            <a:off x="6054295" y="1633279"/>
            <a:ext cx="458588" cy="239339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CaixaDeTexto 51"/>
          <p:cNvSpPr txBox="1"/>
          <p:nvPr/>
        </p:nvSpPr>
        <p:spPr>
          <a:xfrm>
            <a:off x="1263013" y="1082450"/>
            <a:ext cx="1617428" cy="276997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Implantação Continua</a:t>
            </a:r>
          </a:p>
        </p:txBody>
      </p:sp>
      <p:cxnSp>
        <p:nvCxnSpPr>
          <p:cNvPr id="53" name="Conector reto 52"/>
          <p:cNvCxnSpPr>
            <a:stCxn id="26" idx="1"/>
            <a:endCxn id="52" idx="2"/>
          </p:cNvCxnSpPr>
          <p:nvPr/>
        </p:nvCxnSpPr>
        <p:spPr>
          <a:xfrm flipH="1" flipV="1">
            <a:off x="2070926" y="1359447"/>
            <a:ext cx="1133650" cy="3245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Conector reto 53"/>
          <p:cNvCxnSpPr>
            <a:stCxn id="52" idx="2"/>
            <a:endCxn id="29" idx="1"/>
          </p:cNvCxnSpPr>
          <p:nvPr/>
        </p:nvCxnSpPr>
        <p:spPr>
          <a:xfrm>
            <a:off x="2070926" y="1359447"/>
            <a:ext cx="1154516" cy="116531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5" name="CaixaDeTexto 54"/>
          <p:cNvSpPr txBox="1"/>
          <p:nvPr/>
        </p:nvSpPr>
        <p:spPr>
          <a:xfrm>
            <a:off x="1252998" y="4009688"/>
            <a:ext cx="1285222" cy="276997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Entrega Continua</a:t>
            </a:r>
          </a:p>
        </p:txBody>
      </p:sp>
      <p:cxnSp>
        <p:nvCxnSpPr>
          <p:cNvPr id="56" name="Conector reto 55"/>
          <p:cNvCxnSpPr>
            <a:stCxn id="55" idx="0"/>
            <a:endCxn id="29" idx="3"/>
          </p:cNvCxnSpPr>
          <p:nvPr/>
        </p:nvCxnSpPr>
        <p:spPr>
          <a:xfrm flipV="1">
            <a:off x="1894640" y="2939567"/>
            <a:ext cx="1330802" cy="107012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Conector reto 56"/>
          <p:cNvCxnSpPr>
            <a:stCxn id="55" idx="0"/>
            <a:endCxn id="32" idx="3"/>
          </p:cNvCxnSpPr>
          <p:nvPr/>
        </p:nvCxnSpPr>
        <p:spPr>
          <a:xfrm flipV="1">
            <a:off x="1894640" y="3388225"/>
            <a:ext cx="1769759" cy="621464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8" name="CaixaDeTexto 57"/>
          <p:cNvSpPr txBox="1"/>
          <p:nvPr/>
        </p:nvSpPr>
        <p:spPr>
          <a:xfrm>
            <a:off x="5451120" y="4006914"/>
            <a:ext cx="489234" cy="276997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Sprint</a:t>
            </a:r>
          </a:p>
        </p:txBody>
      </p:sp>
      <p:cxnSp>
        <p:nvCxnSpPr>
          <p:cNvPr id="59" name="Conector reto 58"/>
          <p:cNvCxnSpPr>
            <a:endCxn id="58" idx="1"/>
          </p:cNvCxnSpPr>
          <p:nvPr/>
        </p:nvCxnSpPr>
        <p:spPr>
          <a:xfrm>
            <a:off x="4637865" y="3850949"/>
            <a:ext cx="813256" cy="294464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CaixaDeTexto 59"/>
          <p:cNvSpPr txBox="1"/>
          <p:nvPr/>
        </p:nvSpPr>
        <p:spPr>
          <a:xfrm>
            <a:off x="1399744" y="2524203"/>
            <a:ext cx="612666" cy="484746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Ops</a:t>
            </a: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61" name="Conector reto 60"/>
          <p:cNvCxnSpPr>
            <a:endCxn id="58" idx="1"/>
          </p:cNvCxnSpPr>
          <p:nvPr/>
        </p:nvCxnSpPr>
        <p:spPr>
          <a:xfrm flipV="1">
            <a:off x="4773313" y="4145413"/>
            <a:ext cx="677807" cy="23047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2" name="CaixaDeTexto 61"/>
          <p:cNvSpPr txBox="1"/>
          <p:nvPr/>
        </p:nvSpPr>
        <p:spPr>
          <a:xfrm>
            <a:off x="7101887" y="2165130"/>
            <a:ext cx="612666" cy="484746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Dev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63" name="Conector reto 62"/>
          <p:cNvCxnSpPr>
            <a:stCxn id="60" idx="3"/>
            <a:endCxn id="43" idx="1"/>
          </p:cNvCxnSpPr>
          <p:nvPr/>
        </p:nvCxnSpPr>
        <p:spPr>
          <a:xfrm>
            <a:off x="2103782" y="2766576"/>
            <a:ext cx="422474" cy="11307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Conector reto 63"/>
          <p:cNvCxnSpPr>
            <a:stCxn id="42" idx="3"/>
            <a:endCxn id="62" idx="1"/>
          </p:cNvCxnSpPr>
          <p:nvPr/>
        </p:nvCxnSpPr>
        <p:spPr>
          <a:xfrm flipV="1">
            <a:off x="6512884" y="2407503"/>
            <a:ext cx="589004" cy="49428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5" name="CaixaDeTexto 64"/>
          <p:cNvSpPr txBox="1"/>
          <p:nvPr/>
        </p:nvSpPr>
        <p:spPr>
          <a:xfrm>
            <a:off x="6690384" y="3555618"/>
            <a:ext cx="612666" cy="484746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wrap="none" lIns="34289" tIns="34289" rIns="34289" bIns="34289" spcCol="381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  <a:ea typeface="+mn-ea"/>
              </a:rPr>
              <a:t>Sprint</a:t>
            </a:r>
          </a:p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35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Backlog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66" name="Conector reto 65"/>
          <p:cNvCxnSpPr>
            <a:stCxn id="44" idx="3"/>
            <a:endCxn id="65" idx="1"/>
          </p:cNvCxnSpPr>
          <p:nvPr/>
        </p:nvCxnSpPr>
        <p:spPr>
          <a:xfrm>
            <a:off x="5284752" y="3506400"/>
            <a:ext cx="1405633" cy="29159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9" name="Imagem 6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229" y="3264908"/>
            <a:ext cx="1090964" cy="350863"/>
          </a:xfrm>
          <a:prstGeom prst="rect">
            <a:avLst/>
          </a:prstGeom>
        </p:spPr>
      </p:pic>
      <p:pic>
        <p:nvPicPr>
          <p:cNvPr id="70" name="Picture 8" descr="http://www.sonarqube.org/wp-content/themes/sonarsource.org/images/sonar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144" y="3131669"/>
            <a:ext cx="1520696" cy="36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6" descr="http://ingini.org/soft-shake-2014/img/mav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013" y="4293383"/>
            <a:ext cx="1269225" cy="29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7118548" cy="3752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Define o escopo, restrições e expectativas para </a:t>
            </a: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um projeto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Cria a Visão da Arquitetura</a:t>
            </a: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.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Define 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as partes interessadas.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Valida o contexto de negócio e cria a Declaração </a:t>
            </a: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de Trabalho 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da </a:t>
            </a: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Arquitetura.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Obtém 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aprovações.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491836" y="96809"/>
            <a:ext cx="8582891" cy="760442"/>
          </a:xfrm>
        </p:spPr>
        <p:txBody>
          <a:bodyPr/>
          <a:lstStyle/>
          <a:p>
            <a:r>
              <a:rPr lang="pt-BR" dirty="0" smtClean="0"/>
              <a:t>Fase A – Arquitetura de Visão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2664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1612325"/>
            <a:ext cx="6300788" cy="28973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Desenvolver uma visão de alto nível das capacidades e valor a ser entregue como resultado da proposta da arquitetura corporativa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Obter aprovação para a Declaração de Trabalho da Arquitetura que define um programa de trabalho para desenvolver </a:t>
            </a:r>
            <a:r>
              <a:rPr lang="pt-BR" sz="1800" dirty="0" smtClean="0">
                <a:solidFill>
                  <a:prstClr val="black"/>
                </a:solidFill>
                <a:latin typeface="Calibri" panose="020F0502020204030204"/>
              </a:rPr>
              <a:t>e implantar 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 arquitetura descrita na Visão da Arquitetura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7" y="666577"/>
            <a:ext cx="7182821" cy="667309"/>
          </a:xfrm>
        </p:spPr>
        <p:txBody>
          <a:bodyPr/>
          <a:lstStyle/>
          <a:p>
            <a:r>
              <a:rPr lang="pt-BR" dirty="0" smtClean="0"/>
              <a:t>A – Arquitetura de Visão - 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1019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1302328"/>
            <a:ext cx="7640022" cy="29516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Requisição para Trabalho de arquitetura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Princípios, metas e motivadores de negócio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Framework de Arquitetura adaptado, incluindo método, conteúdo e princípios de arquitetura, ferramentas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configuradas e implantadas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Repositório de Arquitetura com conteúdo da arquitetura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existente (descrição do framework, da arquitetura, da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linha de base existente, etc.)</a:t>
            </a: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980590" y="410268"/>
            <a:ext cx="6878021" cy="892060"/>
          </a:xfrm>
        </p:spPr>
        <p:txBody>
          <a:bodyPr>
            <a:normAutofit/>
          </a:bodyPr>
          <a:lstStyle/>
          <a:p>
            <a:r>
              <a:rPr lang="pt-BR" dirty="0" smtClean="0"/>
              <a:t>A –Arquitetura de Visão - 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85109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8" y="990600"/>
            <a:ext cx="7342149" cy="3692237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Estabelecer o projeto de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as partes interessadas, as preocupações e os requisitos de negócio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Confirmar e elaborar metas, geradores e restrições de negócio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Avaliar as capacidades de negócio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Avaliar a Prontidão para Transformação do Negócio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o escopo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Confirmar e elaborar os princípios de arquitetura, incluindo princípios de negócio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Desenvolver a Visão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a proposição de valor da Arquitetura Alvo e </a:t>
            </a:r>
            <a:r>
              <a:rPr lang="pt-BR" sz="1800" dirty="0" err="1">
                <a:solidFill>
                  <a:prstClr val="black"/>
                </a:solidFill>
                <a:latin typeface="Calibri" panose="020F0502020204030204"/>
              </a:rPr>
              <a:t>KPIs</a:t>
            </a: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os riscos da transformação do negócio e as atividades de mitigação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Desenvolver Declaração de Trabalho da Arquitetura; obter aprovação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8" y="277091"/>
            <a:ext cx="6884949" cy="623455"/>
          </a:xfrm>
        </p:spPr>
        <p:txBody>
          <a:bodyPr/>
          <a:lstStyle/>
          <a:p>
            <a:r>
              <a:rPr lang="pt-BR" dirty="0" smtClean="0"/>
              <a:t>A - Arquitetura de Visão - Passos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73070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"/>
          <p:cNvSpPr txBox="1">
            <a:spLocks/>
          </p:cNvSpPr>
          <p:nvPr/>
        </p:nvSpPr>
        <p:spPr>
          <a:xfrm>
            <a:off x="991360" y="1924281"/>
            <a:ext cx="4664754" cy="13459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685800" fontAlgn="auto">
              <a:spcBef>
                <a:spcPts val="750"/>
              </a:spcBef>
              <a:spcAft>
                <a:spcPts val="0"/>
              </a:spcAft>
            </a:pPr>
            <a:r>
              <a:rPr lang="pt-BR" sz="2100" dirty="0" err="1">
                <a:solidFill>
                  <a:prstClr val="black"/>
                </a:solidFill>
                <a:latin typeface="Calibri" panose="020F0502020204030204"/>
              </a:rPr>
              <a:t>RoadMap</a:t>
            </a:r>
            <a:endParaRPr lang="pt-BR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 fontAlgn="auto">
              <a:spcBef>
                <a:spcPts val="750"/>
              </a:spcBef>
              <a:spcAft>
                <a:spcPts val="0"/>
              </a:spcAft>
            </a:pPr>
            <a:r>
              <a:rPr lang="pt-BR" sz="2100" dirty="0" err="1">
                <a:solidFill>
                  <a:prstClr val="black"/>
                </a:solidFill>
                <a:latin typeface="Calibri" panose="020F0502020204030204"/>
              </a:rPr>
              <a:t>Innovation</a:t>
            </a:r>
            <a:endParaRPr lang="pt-BR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 fontAlgn="auto">
              <a:spcBef>
                <a:spcPts val="750"/>
              </a:spcBef>
              <a:spcAft>
                <a:spcPts val="0"/>
              </a:spcAft>
            </a:pPr>
            <a:r>
              <a:rPr lang="pt-BR" sz="2100" dirty="0" err="1">
                <a:solidFill>
                  <a:prstClr val="black"/>
                </a:solidFill>
                <a:latin typeface="Calibri" panose="020F0502020204030204"/>
              </a:rPr>
              <a:t>Regulatory</a:t>
            </a:r>
            <a:endParaRPr lang="pt-BR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2"/>
          <p:cNvSpPr>
            <a:spLocks noGrp="1"/>
          </p:cNvSpPr>
          <p:nvPr>
            <p:ph type="title"/>
          </p:nvPr>
        </p:nvSpPr>
        <p:spPr>
          <a:xfrm>
            <a:off x="845888" y="666577"/>
            <a:ext cx="6898804" cy="795078"/>
          </a:xfrm>
        </p:spPr>
        <p:txBody>
          <a:bodyPr/>
          <a:lstStyle/>
          <a:p>
            <a:r>
              <a:rPr lang="pt-BR" dirty="0"/>
              <a:t>A</a:t>
            </a:r>
            <a:r>
              <a:rPr lang="pt-BR" dirty="0" smtClean="0"/>
              <a:t> - </a:t>
            </a:r>
            <a:r>
              <a:rPr lang="pt-BR" dirty="0"/>
              <a:t>Visão de Arquitetura </a:t>
            </a:r>
            <a:r>
              <a:rPr lang="pt-BR" dirty="0" smtClean="0"/>
              <a:t>- </a:t>
            </a:r>
            <a:r>
              <a:rPr lang="pt-BR" dirty="0" err="1" smtClean="0"/>
              <a:t>DevOps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12381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672705" y="1231553"/>
            <a:ext cx="8374313" cy="36175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Declaração de Trabalho da Arquitetura aprovada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Proposição refinada dos princípios, metas e motivadores do negócio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Princípios de Arquitetura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Avaliação de capacidades Framework de Arquitetura Customizada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Visão da Arquitetura,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Refinados requisitos chave de alto nível das partes interessadas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Rascunho do Documento de Definição de Arquitetura, incluindo (quando no escopo): 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Negócio 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Dados(alto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Aplicativo 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Tecnologia 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Negócio Alvo 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Dados Alvo 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Aplicativo Alvo (alto nível)</a:t>
            </a:r>
          </a:p>
          <a:p>
            <a:pPr marL="737167" lvl="4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Tecnologia Alvo (visão)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Planejamento de Comunicação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Repositório de Arquitetura populado com conteúdo adicional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745062" y="340995"/>
            <a:ext cx="7349076" cy="746587"/>
          </a:xfrm>
        </p:spPr>
        <p:txBody>
          <a:bodyPr/>
          <a:lstStyle/>
          <a:p>
            <a:r>
              <a:rPr lang="pt-BR" dirty="0" smtClean="0"/>
              <a:t>A – Arquitetura de Visão </a:t>
            </a:r>
            <a:r>
              <a:rPr lang="pt-BR" dirty="0"/>
              <a:t>- Saída</a:t>
            </a:r>
          </a:p>
        </p:txBody>
      </p:sp>
    </p:spTree>
    <p:extLst>
      <p:ext uri="{BB962C8B-B14F-4D97-AF65-F5344CB8AC3E}">
        <p14:creationId xmlns:p14="http://schemas.microsoft.com/office/powerpoint/2010/main" val="9431821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6300788" cy="3752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Desenvolver a Arquitetura de Negócio Alvo, que descreve como a organização deve operar para atingir as metas de negócio, como responde aos motivadores estratégicos estabelecidos na Visão da Arquitetura e aborda a Requisição de Trabalho de Arquitetura e preocupações das partes interessadas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arquiteturas candidatas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o roteiro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um roteiro com base nas diferenças entre linha de Base e Arquiteturas de Negócio de Alvo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8" y="207819"/>
            <a:ext cx="7730076" cy="852055"/>
          </a:xfrm>
        </p:spPr>
        <p:txBody>
          <a:bodyPr/>
          <a:lstStyle/>
          <a:p>
            <a:r>
              <a:rPr lang="pt-BR" dirty="0" smtClean="0"/>
              <a:t>B - Arquitetura Negócios - 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50789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631141" y="838200"/>
            <a:ext cx="7694174" cy="380307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Requisição de Trabalho de Arquitetura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Princípios, metas e motivadores de negócio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Avaliação de Capacidades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Planejamento de Comunicação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Modelo organizacional para a arquitetura corporativa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Declaração de Trabalho da Arquitetura aprovado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 de arquitetura incluindo princípios de negócio, quando pré-existente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 err="1">
                <a:solidFill>
                  <a:prstClr val="black"/>
                </a:solidFill>
                <a:latin typeface="Calibri" panose="020F0502020204030204"/>
              </a:rPr>
              <a:t>Continuum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 Corporativo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Repositório de Arquitetura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Visão da Arquitetura, incluindo:</a:t>
            </a:r>
          </a:p>
          <a:p>
            <a:pPr marL="444699" lvl="3" indent="-257175" defTabSz="685800" fontAlgn="auto"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Requisitos refinados de alto-nível das principais partes interessadas.</a:t>
            </a:r>
          </a:p>
          <a:p>
            <a:pPr marL="444699" lvl="3" indent="-257175" defTabSz="685800" fontAlgn="auto"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Rascunho do Documento de Definição de Arquitetura, incluindo: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Linha de Base da Arquitetura de Negócio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Linha de Base da Arquitetura de Dados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Linha de Base da Arquitetura de Aplicativo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Linha de Base da Arquitetura de Tecnologia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Arquitetura de Negócio Alvo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Arquitetura de Dados Alvo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Arquitetura de Aplicativo Alvo (alto nível)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Arquitetura de Tecnologia Alvo (alto nível)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444106" y="257867"/>
            <a:ext cx="7640021" cy="580332"/>
          </a:xfrm>
        </p:spPr>
        <p:txBody>
          <a:bodyPr/>
          <a:lstStyle/>
          <a:p>
            <a:r>
              <a:rPr lang="pt-BR" dirty="0"/>
              <a:t>B</a:t>
            </a:r>
            <a:r>
              <a:rPr lang="pt-BR" dirty="0" smtClean="0"/>
              <a:t> - Arquitetura </a:t>
            </a:r>
            <a:r>
              <a:rPr lang="pt-BR" dirty="0"/>
              <a:t>Negócios </a:t>
            </a:r>
            <a:r>
              <a:rPr lang="pt-BR" dirty="0" smtClean="0"/>
              <a:t>- 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355162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561868" y="1018309"/>
            <a:ext cx="8173424" cy="34705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Selecionar modelos de referência, pontos de vista e ferramentas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Desenvolver a descrição da Arquitetura de Linha de Base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do Negócio</a:t>
            </a:r>
          </a:p>
          <a:p>
            <a:pPr marL="257175" lvl="2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Desenvolver a descrição da Arquitetura de Negócio Alvo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Efetuar a análise da diferença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um roteiro candidato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Resolver impactos sobre o Panorama da Arquitetura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Conduzir uma revisão formal com as partes interessadas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Finalizar a Arquitetura de Negócio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Criar o Documento de Definição de Arquitetura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444106" y="202450"/>
            <a:ext cx="7695440" cy="50413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B - Arquitetura Negócios - Passos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16072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96072" y="119323"/>
            <a:ext cx="7203604" cy="559550"/>
          </a:xfrm>
        </p:spPr>
        <p:txBody>
          <a:bodyPr>
            <a:normAutofit/>
          </a:bodyPr>
          <a:lstStyle/>
          <a:p>
            <a:r>
              <a:rPr lang="pt-BR" dirty="0"/>
              <a:t>B</a:t>
            </a:r>
            <a:r>
              <a:rPr lang="pt-BR" dirty="0" smtClean="0"/>
              <a:t> </a:t>
            </a:r>
            <a:r>
              <a:rPr lang="pt-BR" dirty="0"/>
              <a:t>- Arquitetura Negócios </a:t>
            </a:r>
            <a:r>
              <a:rPr lang="pt-BR" dirty="0" smtClean="0"/>
              <a:t>– </a:t>
            </a:r>
            <a:r>
              <a:rPr lang="pt-BR" dirty="0" err="1" smtClean="0"/>
              <a:t>TMForum</a:t>
            </a:r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27534"/>
            <a:ext cx="8417024" cy="444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257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02"/>
          <p:cNvSpPr txBox="1">
            <a:spLocks/>
          </p:cNvSpPr>
          <p:nvPr/>
        </p:nvSpPr>
        <p:spPr>
          <a:xfrm>
            <a:off x="845887" y="755073"/>
            <a:ext cx="7771640" cy="37615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Declaração de Trabalho da Arquitetura, atualizada se necessário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Princípios, metas e motivadores de negócio validados 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 da Arquitetura de Negócio elaborados</a:t>
            </a:r>
          </a:p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Rascunho do Documento de definição de Arquitetura com conteúdo atualizado:</a:t>
            </a:r>
          </a:p>
          <a:p>
            <a:pPr marL="651442" lvl="4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Linha de Base da Arquitetura de Negócio (detalhada), se apropria</a:t>
            </a:r>
          </a:p>
          <a:p>
            <a:pPr marL="651442" lvl="4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Arquitetura de Negócio Alvo (detalhada)</a:t>
            </a:r>
          </a:p>
          <a:p>
            <a:pPr marL="651442" lvl="4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Visões correspondentes aos pontos de vista das partes interessadas para direcionar suas principais preocupações</a:t>
            </a:r>
          </a:p>
          <a:p>
            <a:pPr marL="651442" lvl="4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Rascunho da Especificação dos requisitos de Arquitetura com conteúdo atualizado: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Resultado da análise de diferenças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Requisitos técnicos</a:t>
            </a:r>
            <a:br>
              <a:rPr lang="pt-BR" sz="135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• Requisitos de negócio atualizados</a:t>
            </a:r>
          </a:p>
          <a:p>
            <a:pPr marL="651442" lvl="4" indent="-257175" defTabSz="685800" fontAlgn="auto">
              <a:spcBef>
                <a:spcPts val="375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Componentes da Arquitetura de Negócio de um Roteiro de Arquitetura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05"/>
          <p:cNvSpPr txBox="1">
            <a:spLocks/>
          </p:cNvSpPr>
          <p:nvPr/>
        </p:nvSpPr>
        <p:spPr>
          <a:xfrm>
            <a:off x="575724" y="188594"/>
            <a:ext cx="7840913" cy="4902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pt-BR" sz="3300" dirty="0">
                <a:solidFill>
                  <a:prstClr val="black"/>
                </a:solidFill>
                <a:latin typeface="Calibri Light" panose="020F0302020204030204"/>
              </a:rPr>
              <a:t>B - Arquitetura Negócios - Saída</a:t>
            </a:r>
          </a:p>
        </p:txBody>
      </p:sp>
    </p:spTree>
    <p:extLst>
      <p:ext uri="{BB962C8B-B14F-4D97-AF65-F5344CB8AC3E}">
        <p14:creationId xmlns:p14="http://schemas.microsoft.com/office/powerpoint/2010/main" val="35097815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1170709"/>
            <a:ext cx="6300788" cy="343939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>
              <a:solidFill>
                <a:prstClr val="black"/>
              </a:solidFill>
              <a:latin typeface="Calibri" panose="020F0502020204030204"/>
            </a:endParaRPr>
          </a:p>
          <a:p>
            <a:pPr marL="514350" lvl="1" indent="-171450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Temos duas sub-fases distintas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C1 – Arquitetura de Dados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C2 – Arquitetura do Aplicativo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665779" y="417196"/>
            <a:ext cx="7743931" cy="559550"/>
          </a:xfrm>
        </p:spPr>
        <p:txBody>
          <a:bodyPr>
            <a:normAutofit/>
          </a:bodyPr>
          <a:lstStyle/>
          <a:p>
            <a:r>
              <a:rPr lang="pt-BR" b="1" dirty="0" smtClean="0"/>
              <a:t>C -Arquitetura de Sistemas de Informação </a:t>
            </a:r>
            <a:r>
              <a:rPr lang="pt-BR" dirty="0" smtClean="0"/>
              <a:t>-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1429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6300788" cy="37528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>
              <a:solidFill>
                <a:prstClr val="black"/>
              </a:solidFill>
              <a:latin typeface="Calibri" panose="020F0502020204030204"/>
            </a:endParaRP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Desenvolver a Arquitetura de Dados alvo que suporta a Arquitetura de Negócio e a Visão da Arquitetura, enquanto direciona a Requisição de Trabalho de Arquitetura preocupações das partes interessadas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Desenvolver a Arquitetura de Aplicativo Alvo que capacita a Arquitetura de Negócio e a Visão da Arquitetura, enquanto direciona a Requisição para Trabalho de Arquitetura e as preocupações das partes interessadas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Identificar os componentes candidatos ao roteiro da Arquitetura, com base nas diferenças entre as Arquiteturas, linha de Base e Alvo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7" y="90055"/>
            <a:ext cx="8298113" cy="1073727"/>
          </a:xfrm>
        </p:spPr>
        <p:txBody>
          <a:bodyPr>
            <a:normAutofit/>
          </a:bodyPr>
          <a:lstStyle/>
          <a:p>
            <a:r>
              <a:rPr lang="pt-BR" b="1" dirty="0" smtClean="0"/>
              <a:t>C -Arquitetura de Sistemas de Informação </a:t>
            </a:r>
            <a:r>
              <a:rPr lang="pt-BR" dirty="0" smtClean="0"/>
              <a:t>- 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2214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6300788" cy="375285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Requisição para Trabalho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Avaliação de Capacidades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Planejamento de Comunicação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Modelo organizacional para arquitetura corporativa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Princípios de Dados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Declaração de Trabalho da Arquitetura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Visão da Arquitetura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Repositório de Arquitetura 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Rascunho do Documento de Definição de Arquitetura, contendo: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Linha de Base da Arquitetura de Negócio (detalhada)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Arquitetura de Negócio Alvo (detalhada)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Linha de base da Arquitetura de Dados (alto nível)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Arquitetura de Dados Alvo (alto nível)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Linha de Base da Arquitetura de Aplicativo (detalhada ou visão)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Arquitetura de Aplicativo Alvo (detalhada ou visão)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Linha de Base Arquitetura de Tecnologia (alto nível)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Arquitetura de Tecnologia Alvo (alto nível)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Rascunho da Especificação de Requisitos de Arquitetura, incluindo: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Resultado da análise de diferenças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• Requisitos técnicos relevantes</a:t>
            </a:r>
            <a:br>
              <a:rPr lang="pt-BR" sz="15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Componentes da Arquitetura de Negócio do Roteiro de Arquitetura</a:t>
            </a:r>
            <a:endParaRPr lang="pt-BR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326341" y="167813"/>
            <a:ext cx="7750859" cy="538769"/>
          </a:xfrm>
        </p:spPr>
        <p:txBody>
          <a:bodyPr>
            <a:normAutofit/>
          </a:bodyPr>
          <a:lstStyle/>
          <a:p>
            <a:pPr marL="257175" lvl="1" indent="-257175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pt-BR" dirty="0"/>
              <a:t>C1 – Arquitetura de </a:t>
            </a:r>
            <a:r>
              <a:rPr lang="pt-BR" dirty="0" smtClean="0"/>
              <a:t>Dados - 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03970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519545" y="857251"/>
            <a:ext cx="8111837" cy="375285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Requisição para Trabalho de Arquitetura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Avaliação de Capacidades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Planejamento de Comunicação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Modelo organizacional para arquitetura corporativa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 de Aplicativos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Declaração de Trabalho da Arquitetura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Visão da Arquitetura 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Repositório de Arquitetura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Rascunho do Documento de Definição de Arquitetura contendo: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Linha de Base da Arquitetura de Negócio (detalhada)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Arquitetura de Negócio Alvo (detalhada)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Linha de Base da Arquitetura de Dados (detalhada ou alto nível)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Arquitetura de Dados Alvo (detalhada ou alto nível)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Linha de Base da Arquitetura de Aplicativo (alto nível)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Arquitetura de Aplicativo Alvo (alto nível)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Linha de Base Arquitetura de Tecnologia (alto nível)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Arquitetura de Tecnologia Alvo (alto nível)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Rascunho da Especificação de Requisitos de Arquitetura, incluindo: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Resultado da análise de diferenças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Requisitos técnicos relevantes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Componentes da Arquitetura de Negócio do Roteiro de Arquitetura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30137" y="202452"/>
            <a:ext cx="7612313" cy="635750"/>
          </a:xfrm>
        </p:spPr>
        <p:txBody>
          <a:bodyPr>
            <a:normAutofit/>
          </a:bodyPr>
          <a:lstStyle/>
          <a:p>
            <a:r>
              <a:rPr lang="pt-BR" dirty="0"/>
              <a:t>C2 – Arquitetura do </a:t>
            </a:r>
            <a:r>
              <a:rPr lang="pt-BR" dirty="0" smtClean="0"/>
              <a:t>Aplicativo - 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51712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269206" y="1014413"/>
            <a:ext cx="6300788" cy="375285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Selecionar modelos de referência, pontos de vista e ferramentas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Descrever a Linha de Base da Arquitetura de Dados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Descrever a Arquitetura de Aplicativo Linha de Base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Descrever o alvo da Arquitetura de Dados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Descrever a Arquitetura de Aplicativo Alvo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Realizar a análise de diferenças Dados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Efetuar a análise de diferenças Aplicativo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os componentes candidatos do roteiro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Resolver os impactos no Panorama de Arquitetura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Conduzir uma revisão formal com as partes interessadas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Finalizar a Arquitetura de Dados e Aplicativo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Criar o Documento de Definição de Arquitetura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658851" y="331558"/>
            <a:ext cx="8422804" cy="589770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C -Arquitetura de Sistemas de Informação </a:t>
            </a:r>
            <a:r>
              <a:rPr lang="pt-BR" dirty="0" smtClean="0"/>
              <a:t>- Passos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14765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6300788" cy="375285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Declaração de Trabalho da Arquitetura, atualizada se necessário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Princípios de dados validados ou novos princípios de dados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do Documento de Definição da Arquitetura de Dados com conteúdo atualizado: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Linha de Base da Arquitetura de Dados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Arquitetura de Dados Alvo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Visões da Arquitetura de Dados correspondentes aos pontos de vista selecionados, direcionando as preocupações chaves das partes interessadas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das Especificações dos requisitos de Arquitetura, incluindo atualizações de conteúdo: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• Resultado da análise de diferenças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• Requisitos de interoperabilidade de dados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• Requisitos técnicos relevantes que se aplicam à evolução do ciclo de desenvolvimento da arquitetura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• Restrições na Arquitetura de Tecnologia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• Requisitos de negócio atualizados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• Requisitos de aplicativo atualizados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Componentes da Arquitetura de Dados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do Roteiro de Arquitetura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54478" y="268174"/>
            <a:ext cx="4631923" cy="386369"/>
          </a:xfrm>
        </p:spPr>
        <p:txBody>
          <a:bodyPr>
            <a:normAutofit/>
          </a:bodyPr>
          <a:lstStyle/>
          <a:p>
            <a:pPr marL="257175" lvl="1" indent="-257175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pt-BR" dirty="0"/>
              <a:t>C1 – Arquitetura de </a:t>
            </a:r>
            <a:r>
              <a:rPr lang="pt-BR" dirty="0" smtClean="0"/>
              <a:t>Dados - </a:t>
            </a:r>
            <a:r>
              <a:rPr lang="pt-BR" dirty="0" err="1" smtClean="0"/>
              <a:t>Saida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2873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6300788" cy="375285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Declaração de Trabalho da Arquitetura atualizada se necessário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Princípios de aplicativo validados ou novos princípios de aplicativos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do Documento de Definição da Arquitetura com conteúdo atualizado:</a:t>
            </a:r>
          </a:p>
          <a:p>
            <a:pPr marL="444699" lvl="3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Aplicativo</a:t>
            </a:r>
          </a:p>
          <a:p>
            <a:pPr marL="444699" lvl="3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Aplicativo alvo</a:t>
            </a:r>
          </a:p>
          <a:p>
            <a:pPr marL="444699" lvl="3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Visões da Arquitetura de Aplicativo correspondentes aos pontos de vista selecionados, direcionando preocupações chaves das partes interessadas</a:t>
            </a:r>
          </a:p>
          <a:p>
            <a:pPr marL="1200150" lvl="3" indent="0" defTabSz="685800" fontAlgn="auto">
              <a:spcBef>
                <a:spcPts val="900"/>
              </a:spcBef>
              <a:spcAft>
                <a:spcPts val="0"/>
              </a:spcAft>
              <a:buNone/>
            </a:pPr>
            <a:endParaRPr lang="pt-BR" sz="1350">
              <a:solidFill>
                <a:prstClr val="black"/>
              </a:solidFill>
              <a:latin typeface="Calibri" panose="020F0502020204030204"/>
            </a:endParaRPr>
          </a:p>
          <a:p>
            <a:pPr marL="444699" lvl="3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Rascunho da Especificação dos Requisitos de Arquitetura, incluindo atualizações de conteúdo:</a:t>
            </a:r>
            <a:br>
              <a:rPr lang="pt-BR" sz="135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Resultado da análise de diferenças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Requisitos de interoperabilidade de aplicativos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Requisitos técnicos relevantes que se aplicam à evolução do ciclo de desenvolvimento da arquitetura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Restrições na Arquitetura de Tecnologia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Requisitos de negócio atualizados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Requisitos de dados atualizados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Componentes da Arquitetura de Dados do</a:t>
            </a:r>
          </a:p>
          <a:p>
            <a:pPr marL="651442" lvl="4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Roteiro de Arquitetura</a:t>
            </a:r>
            <a:br>
              <a:rPr lang="pt-BR" sz="135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350">
                <a:solidFill>
                  <a:prstClr val="black"/>
                </a:solidFill>
                <a:latin typeface="Calibri" panose="020F0502020204030204"/>
              </a:rPr>
            </a:b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918244" y="285577"/>
            <a:ext cx="7002713" cy="427932"/>
          </a:xfrm>
        </p:spPr>
        <p:txBody>
          <a:bodyPr>
            <a:normAutofit fontScale="90000"/>
          </a:bodyPr>
          <a:lstStyle/>
          <a:p>
            <a:r>
              <a:rPr lang="pt-BR" dirty="0"/>
              <a:t>C2 – Arquitetura do </a:t>
            </a:r>
            <a:r>
              <a:rPr lang="pt-BR" dirty="0" smtClean="0"/>
              <a:t>Aplicativo - </a:t>
            </a:r>
            <a:r>
              <a:rPr lang="pt-BR" dirty="0" err="1" smtClean="0"/>
              <a:t>Saida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50339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710045" y="1152526"/>
            <a:ext cx="7304810" cy="3752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Desenvolver a Arquitetura de Tecnologia Alvo que suporte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o aplicativo lógico e físico, os componentes de dados e a Visão da Arquitetura, direcionando a Requisição para Trabalho de Arquitetura e preocupações das partes interessadas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Identificar os componentes candidatos do Roteiro da Arquitetura, com base nas diferenças entre as Arquiteturas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Linha de Base e Alvo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568797" y="133177"/>
            <a:ext cx="8194203" cy="724074"/>
          </a:xfrm>
        </p:spPr>
        <p:txBody>
          <a:bodyPr/>
          <a:lstStyle/>
          <a:p>
            <a:r>
              <a:rPr lang="pt-BR" b="1" dirty="0"/>
              <a:t>D –Arquitetura de </a:t>
            </a:r>
            <a:r>
              <a:rPr lang="pt-BR" b="1" dirty="0" smtClean="0"/>
              <a:t>Tecnologia </a:t>
            </a:r>
            <a:r>
              <a:rPr lang="pt-BR" dirty="0" smtClean="0"/>
              <a:t>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41891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728123" y="671946"/>
            <a:ext cx="8415877" cy="423343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Requisição para Trabalho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Avaliação de Capacidades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Planejamento de Comunicação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Modelo organizacional para a arquitetura corporativa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Princípios de Tecnologia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Declaração de Trabalho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Visão da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Repositório de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do Documento de Definição de Arquitetura contendo: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Negócio (detalhada)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Negócio Alvo (detalhada)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Dados (detalhada)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Dados Alvo (detalhada)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da Arquitetura de Aplicativo (detalhada)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Aplicativo Alvo (detalhada)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Linha de Base Arquitetura de Tecnologia (alto nível)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 de Tecnologia Alvo (alto nível)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da Especificação de Requisitos de Arquitetura, incluindo: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Resultado da análise de diferenças 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Requisitos técnicos relevantes 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Componentes de Arquitetura de Negócio, Dados e de Aplicativos de um Roteiro de Arquitetura</a:t>
            </a:r>
            <a:endParaRPr lang="pt-BR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728123" y="181668"/>
            <a:ext cx="7778567" cy="490278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D –Arquitetura de Tecnologia</a:t>
            </a:r>
            <a:r>
              <a:rPr lang="pt-BR" dirty="0" smtClean="0"/>
              <a:t>- 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61712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637310"/>
            <a:ext cx="8249622" cy="39069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Selecionar modelos de referência, pontos de vista e ferramentas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Descrever a Arquitetura de Tecnologia Linha de Base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Descrever a Arquitetura de Tecnologia Alvo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Efetuar a análise de diferenças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Definir o roteiro dos componentes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Resolver os impactos entre os Panoramas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Conduzir uma revisão formal com as partes interessadas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Finalizar a Arquitetura de Tecnologia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Criar o Documento de Definição de Arquitetura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1185324" y="202450"/>
            <a:ext cx="7695440" cy="43486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D –Arquitetura de </a:t>
            </a:r>
            <a:r>
              <a:rPr lang="pt-BR" b="1" dirty="0" smtClean="0"/>
              <a:t>Tecnologia </a:t>
            </a:r>
            <a:r>
              <a:rPr lang="pt-BR" dirty="0" smtClean="0"/>
              <a:t>- Passos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57803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6" y="678873"/>
            <a:ext cx="7577677" cy="405938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Declaração de Trabalho da Arquitetura, atualizada se necessário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Princípios de tecnologia validados ou novos princípios de tecnologia (se gerados aqui)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Rascunho do Documento de Definição da Arquitetura de Dados com conteúdo atualizado: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Linha de Base da Arquitetura de Tecnologia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Arquitetura de Tecnologia Alvo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Visões da Arquitetura de Tecnologia correspondentes aos pontos de vista selecionados, direcionando preocupações chave das partes interessadas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Rascunho da Especificação dos Requisitos de Arquitetura, incluindo atualizações de conteúdo: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Resultado da análise de diferenças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Requisitos gerados nas Fases B e C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Requisitos de tecnologia atualizados 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Componentes da Arquitetura de Tecnologia do Roteiro de Arquitetura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 txBox="1">
            <a:spLocks/>
          </p:cNvSpPr>
          <p:nvPr/>
        </p:nvSpPr>
        <p:spPr>
          <a:xfrm>
            <a:off x="1032924" y="209377"/>
            <a:ext cx="6968076" cy="421005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pt-BR" sz="3300" b="1" dirty="0">
                <a:solidFill>
                  <a:prstClr val="black"/>
                </a:solidFill>
                <a:latin typeface="Calibri Light" panose="020F0302020204030204"/>
              </a:rPr>
              <a:t>D –Arquitetura de Tecnologia </a:t>
            </a:r>
            <a:r>
              <a:rPr lang="pt-BR" sz="3300" dirty="0">
                <a:solidFill>
                  <a:prstClr val="black"/>
                </a:solidFill>
                <a:latin typeface="Calibri Light" panose="020F0302020204030204"/>
              </a:rPr>
              <a:t>- Saída</a:t>
            </a:r>
          </a:p>
        </p:txBody>
      </p:sp>
    </p:spTree>
    <p:extLst>
      <p:ext uri="{BB962C8B-B14F-4D97-AF65-F5344CB8AC3E}">
        <p14:creationId xmlns:p14="http://schemas.microsoft.com/office/powerpoint/2010/main" val="41140666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Arredondado 51"/>
          <p:cNvSpPr/>
          <p:nvPr/>
        </p:nvSpPr>
        <p:spPr>
          <a:xfrm>
            <a:off x="1371601" y="169718"/>
            <a:ext cx="5234940" cy="4897582"/>
          </a:xfrm>
          <a:prstGeom prst="roundRect">
            <a:avLst/>
          </a:prstGeom>
          <a:solidFill>
            <a:schemeClr val="bg1"/>
          </a:solidFill>
          <a:ln w="603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Retângulo Arredondado 3"/>
          <p:cNvSpPr/>
          <p:nvPr/>
        </p:nvSpPr>
        <p:spPr>
          <a:xfrm>
            <a:off x="1706880" y="169718"/>
            <a:ext cx="5143500" cy="4897582"/>
          </a:xfrm>
          <a:prstGeom prst="roundRect">
            <a:avLst/>
          </a:prstGeom>
          <a:solidFill>
            <a:schemeClr val="bg1"/>
          </a:solidFill>
          <a:ln w="603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705529" y="261060"/>
            <a:ext cx="6760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Docker</a:t>
            </a:r>
            <a:endParaRPr lang="pt-BR" sz="135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298655" y="792480"/>
            <a:ext cx="4376465" cy="141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riângulo isósceles 7"/>
          <p:cNvSpPr/>
          <p:nvPr/>
        </p:nvSpPr>
        <p:spPr>
          <a:xfrm rot="16200000">
            <a:off x="2621280" y="335280"/>
            <a:ext cx="1108710" cy="2396490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093720" y="1211580"/>
            <a:ext cx="1127760" cy="6477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Camada Aplicação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168140" y="1089660"/>
            <a:ext cx="2382369" cy="419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Consulta </a:t>
            </a:r>
            <a:r>
              <a:rPr lang="pt-BR" sz="1350" dirty="0" err="1">
                <a:solidFill>
                  <a:prstClr val="white"/>
                </a:solidFill>
                <a:latin typeface="Calibri" panose="020F0502020204030204"/>
              </a:rPr>
              <a:t>View-Model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168140" y="1597821"/>
            <a:ext cx="2394215" cy="419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Comandos Domain -</a:t>
            </a:r>
            <a:r>
              <a:rPr lang="pt-BR" sz="1350" dirty="0" err="1">
                <a:solidFill>
                  <a:prstClr val="white"/>
                </a:solidFill>
                <a:latin typeface="Calibri" panose="020F0502020204030204"/>
              </a:rPr>
              <a:t>Model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62" y="1088176"/>
            <a:ext cx="600075" cy="73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305" y="1088176"/>
            <a:ext cx="600075" cy="73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de cantos arredondados 50"/>
          <p:cNvSpPr/>
          <p:nvPr/>
        </p:nvSpPr>
        <p:spPr>
          <a:xfrm>
            <a:off x="7214175" y="803235"/>
            <a:ext cx="1638418" cy="1247923"/>
          </a:xfrm>
          <a:custGeom>
            <a:avLst/>
            <a:gdLst>
              <a:gd name="connsiteX0" fmla="*/ 0 w 2184557"/>
              <a:gd name="connsiteY0" fmla="*/ 277322 h 1663897"/>
              <a:gd name="connsiteX1" fmla="*/ 277322 w 2184557"/>
              <a:gd name="connsiteY1" fmla="*/ 0 h 1663897"/>
              <a:gd name="connsiteX2" fmla="*/ 1907235 w 2184557"/>
              <a:gd name="connsiteY2" fmla="*/ 0 h 1663897"/>
              <a:gd name="connsiteX3" fmla="*/ 2184557 w 2184557"/>
              <a:gd name="connsiteY3" fmla="*/ 277322 h 1663897"/>
              <a:gd name="connsiteX4" fmla="*/ 2184557 w 2184557"/>
              <a:gd name="connsiteY4" fmla="*/ 1386575 h 1663897"/>
              <a:gd name="connsiteX5" fmla="*/ 1907235 w 2184557"/>
              <a:gd name="connsiteY5" fmla="*/ 1663897 h 1663897"/>
              <a:gd name="connsiteX6" fmla="*/ 277322 w 2184557"/>
              <a:gd name="connsiteY6" fmla="*/ 1663897 h 1663897"/>
              <a:gd name="connsiteX7" fmla="*/ 0 w 2184557"/>
              <a:gd name="connsiteY7" fmla="*/ 1386575 h 1663897"/>
              <a:gd name="connsiteX8" fmla="*/ 0 w 2184557"/>
              <a:gd name="connsiteY8" fmla="*/ 277322 h 1663897"/>
              <a:gd name="connsiteX0" fmla="*/ 0 w 2184557"/>
              <a:gd name="connsiteY0" fmla="*/ 277322 h 1663897"/>
              <a:gd name="connsiteX1" fmla="*/ 277322 w 2184557"/>
              <a:gd name="connsiteY1" fmla="*/ 0 h 1663897"/>
              <a:gd name="connsiteX2" fmla="*/ 1907235 w 2184557"/>
              <a:gd name="connsiteY2" fmla="*/ 0 h 1663897"/>
              <a:gd name="connsiteX3" fmla="*/ 2184557 w 2184557"/>
              <a:gd name="connsiteY3" fmla="*/ 277322 h 1663897"/>
              <a:gd name="connsiteX4" fmla="*/ 2184557 w 2184557"/>
              <a:gd name="connsiteY4" fmla="*/ 1386575 h 1663897"/>
              <a:gd name="connsiteX5" fmla="*/ 1907235 w 2184557"/>
              <a:gd name="connsiteY5" fmla="*/ 1663897 h 1663897"/>
              <a:gd name="connsiteX6" fmla="*/ 277322 w 2184557"/>
              <a:gd name="connsiteY6" fmla="*/ 1663897 h 1663897"/>
              <a:gd name="connsiteX7" fmla="*/ 10160 w 2184557"/>
              <a:gd name="connsiteY7" fmla="*/ 1284975 h 1663897"/>
              <a:gd name="connsiteX8" fmla="*/ 0 w 2184557"/>
              <a:gd name="connsiteY8" fmla="*/ 277322 h 166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84557" h="1663897">
                <a:moveTo>
                  <a:pt x="0" y="277322"/>
                </a:moveTo>
                <a:cubicBezTo>
                  <a:pt x="0" y="124161"/>
                  <a:pt x="124161" y="0"/>
                  <a:pt x="277322" y="0"/>
                </a:cubicBezTo>
                <a:lnTo>
                  <a:pt x="1907235" y="0"/>
                </a:lnTo>
                <a:cubicBezTo>
                  <a:pt x="2060396" y="0"/>
                  <a:pt x="2184557" y="124161"/>
                  <a:pt x="2184557" y="277322"/>
                </a:cubicBezTo>
                <a:lnTo>
                  <a:pt x="2184557" y="1386575"/>
                </a:lnTo>
                <a:cubicBezTo>
                  <a:pt x="2184557" y="1539736"/>
                  <a:pt x="2060396" y="1663897"/>
                  <a:pt x="1907235" y="1663897"/>
                </a:cubicBezTo>
                <a:lnTo>
                  <a:pt x="277322" y="1663897"/>
                </a:lnTo>
                <a:cubicBezTo>
                  <a:pt x="124161" y="1663897"/>
                  <a:pt x="10160" y="1438136"/>
                  <a:pt x="10160" y="1284975"/>
                </a:cubicBezTo>
                <a:cubicBezTo>
                  <a:pt x="10160" y="915224"/>
                  <a:pt x="0" y="647073"/>
                  <a:pt x="0" y="277322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CaixaDeTexto 51"/>
          <p:cNvSpPr txBox="1">
            <a:spLocks noChangeArrowheads="1"/>
          </p:cNvSpPr>
          <p:nvPr/>
        </p:nvSpPr>
        <p:spPr bwMode="auto">
          <a:xfrm>
            <a:off x="7214175" y="813181"/>
            <a:ext cx="160813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Sistemas Legados</a:t>
            </a:r>
          </a:p>
        </p:txBody>
      </p:sp>
      <p:cxnSp>
        <p:nvCxnSpPr>
          <p:cNvPr id="18" name="Conector de seta reta 53"/>
          <p:cNvCxnSpPr>
            <a:stCxn id="17" idx="1"/>
            <a:endCxn id="10" idx="3"/>
          </p:cNvCxnSpPr>
          <p:nvPr/>
        </p:nvCxnSpPr>
        <p:spPr>
          <a:xfrm flipH="1">
            <a:off x="6550509" y="951294"/>
            <a:ext cx="663666" cy="34791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55"/>
          <p:cNvCxnSpPr>
            <a:stCxn id="11" idx="3"/>
            <a:endCxn id="16" idx="7"/>
          </p:cNvCxnSpPr>
          <p:nvPr/>
        </p:nvCxnSpPr>
        <p:spPr>
          <a:xfrm flipV="1">
            <a:off x="6562354" y="1766967"/>
            <a:ext cx="659441" cy="4040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58"/>
          <p:cNvCxnSpPr>
            <a:stCxn id="11" idx="3"/>
            <a:endCxn id="44" idx="7"/>
          </p:cNvCxnSpPr>
          <p:nvPr/>
        </p:nvCxnSpPr>
        <p:spPr>
          <a:xfrm>
            <a:off x="6562355" y="1807371"/>
            <a:ext cx="1075470" cy="254360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61"/>
          <p:cNvCxnSpPr>
            <a:stCxn id="44" idx="0"/>
            <a:endCxn id="10" idx="3"/>
          </p:cNvCxnSpPr>
          <p:nvPr/>
        </p:nvCxnSpPr>
        <p:spPr>
          <a:xfrm flipH="1" flipV="1">
            <a:off x="6550509" y="1299210"/>
            <a:ext cx="1087316" cy="149719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235" y="2804885"/>
            <a:ext cx="559708" cy="630030"/>
          </a:xfrm>
          <a:prstGeom prst="rect">
            <a:avLst/>
          </a:prstGeom>
        </p:spPr>
      </p:pic>
      <p:sp>
        <p:nvSpPr>
          <p:cNvPr id="44" name="Retângulo de cantos arredondados 50"/>
          <p:cNvSpPr/>
          <p:nvPr/>
        </p:nvSpPr>
        <p:spPr>
          <a:xfrm>
            <a:off x="7637824" y="2407749"/>
            <a:ext cx="1183472" cy="2331886"/>
          </a:xfrm>
          <a:custGeom>
            <a:avLst/>
            <a:gdLst>
              <a:gd name="connsiteX0" fmla="*/ 0 w 2184557"/>
              <a:gd name="connsiteY0" fmla="*/ 277322 h 1663897"/>
              <a:gd name="connsiteX1" fmla="*/ 277322 w 2184557"/>
              <a:gd name="connsiteY1" fmla="*/ 0 h 1663897"/>
              <a:gd name="connsiteX2" fmla="*/ 1907235 w 2184557"/>
              <a:gd name="connsiteY2" fmla="*/ 0 h 1663897"/>
              <a:gd name="connsiteX3" fmla="*/ 2184557 w 2184557"/>
              <a:gd name="connsiteY3" fmla="*/ 277322 h 1663897"/>
              <a:gd name="connsiteX4" fmla="*/ 2184557 w 2184557"/>
              <a:gd name="connsiteY4" fmla="*/ 1386575 h 1663897"/>
              <a:gd name="connsiteX5" fmla="*/ 1907235 w 2184557"/>
              <a:gd name="connsiteY5" fmla="*/ 1663897 h 1663897"/>
              <a:gd name="connsiteX6" fmla="*/ 277322 w 2184557"/>
              <a:gd name="connsiteY6" fmla="*/ 1663897 h 1663897"/>
              <a:gd name="connsiteX7" fmla="*/ 0 w 2184557"/>
              <a:gd name="connsiteY7" fmla="*/ 1386575 h 1663897"/>
              <a:gd name="connsiteX8" fmla="*/ 0 w 2184557"/>
              <a:gd name="connsiteY8" fmla="*/ 277322 h 1663897"/>
              <a:gd name="connsiteX0" fmla="*/ 0 w 2184557"/>
              <a:gd name="connsiteY0" fmla="*/ 277322 h 1663897"/>
              <a:gd name="connsiteX1" fmla="*/ 277322 w 2184557"/>
              <a:gd name="connsiteY1" fmla="*/ 0 h 1663897"/>
              <a:gd name="connsiteX2" fmla="*/ 1907235 w 2184557"/>
              <a:gd name="connsiteY2" fmla="*/ 0 h 1663897"/>
              <a:gd name="connsiteX3" fmla="*/ 2184557 w 2184557"/>
              <a:gd name="connsiteY3" fmla="*/ 277322 h 1663897"/>
              <a:gd name="connsiteX4" fmla="*/ 2184557 w 2184557"/>
              <a:gd name="connsiteY4" fmla="*/ 1386575 h 1663897"/>
              <a:gd name="connsiteX5" fmla="*/ 1907235 w 2184557"/>
              <a:gd name="connsiteY5" fmla="*/ 1663897 h 1663897"/>
              <a:gd name="connsiteX6" fmla="*/ 277322 w 2184557"/>
              <a:gd name="connsiteY6" fmla="*/ 1663897 h 1663897"/>
              <a:gd name="connsiteX7" fmla="*/ 0 w 2184557"/>
              <a:gd name="connsiteY7" fmla="*/ 1386575 h 1663897"/>
              <a:gd name="connsiteX8" fmla="*/ 0 w 2184557"/>
              <a:gd name="connsiteY8" fmla="*/ 277322 h 166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84557" h="1663897">
                <a:moveTo>
                  <a:pt x="0" y="277322"/>
                </a:moveTo>
                <a:cubicBezTo>
                  <a:pt x="0" y="124161"/>
                  <a:pt x="124161" y="0"/>
                  <a:pt x="277322" y="0"/>
                </a:cubicBezTo>
                <a:lnTo>
                  <a:pt x="1907235" y="0"/>
                </a:lnTo>
                <a:cubicBezTo>
                  <a:pt x="2060396" y="0"/>
                  <a:pt x="2184557" y="124161"/>
                  <a:pt x="2184557" y="277322"/>
                </a:cubicBezTo>
                <a:lnTo>
                  <a:pt x="2184557" y="1386575"/>
                </a:lnTo>
                <a:cubicBezTo>
                  <a:pt x="2184557" y="1539736"/>
                  <a:pt x="2060396" y="1663897"/>
                  <a:pt x="1907235" y="1663897"/>
                </a:cubicBezTo>
                <a:lnTo>
                  <a:pt x="277322" y="1663897"/>
                </a:lnTo>
                <a:cubicBezTo>
                  <a:pt x="124161" y="1663897"/>
                  <a:pt x="0" y="1539736"/>
                  <a:pt x="0" y="1386575"/>
                </a:cubicBezTo>
                <a:lnTo>
                  <a:pt x="0" y="277322"/>
                </a:ln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CaixaDeTexto 51"/>
          <p:cNvSpPr txBox="1">
            <a:spLocks noChangeArrowheads="1"/>
          </p:cNvSpPr>
          <p:nvPr/>
        </p:nvSpPr>
        <p:spPr bwMode="auto">
          <a:xfrm>
            <a:off x="7675348" y="2474545"/>
            <a:ext cx="122341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Banco Dados</a:t>
            </a:r>
          </a:p>
        </p:txBody>
      </p:sp>
      <p:pic>
        <p:nvPicPr>
          <p:cNvPr id="46" name="Imagem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323" y="3821926"/>
            <a:ext cx="559708" cy="630030"/>
          </a:xfrm>
          <a:prstGeom prst="rect">
            <a:avLst/>
          </a:prstGeom>
        </p:spPr>
      </p:pic>
      <p:sp>
        <p:nvSpPr>
          <p:cNvPr id="51" name="CaixaDeTexto 51"/>
          <p:cNvSpPr txBox="1">
            <a:spLocks noChangeArrowheads="1"/>
          </p:cNvSpPr>
          <p:nvPr/>
        </p:nvSpPr>
        <p:spPr bwMode="auto">
          <a:xfrm>
            <a:off x="2359913" y="1370645"/>
            <a:ext cx="78746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 err="1">
                <a:solidFill>
                  <a:prstClr val="black"/>
                </a:solidFill>
                <a:ea typeface="+mn-ea"/>
              </a:rPr>
              <a:t>WebApi</a:t>
            </a:r>
            <a:endParaRPr lang="pt-BR" altLang="pt-BR" sz="1350" dirty="0">
              <a:solidFill>
                <a:prstClr val="black"/>
              </a:solidFill>
              <a:ea typeface="+mn-ea"/>
            </a:endParaRPr>
          </a:p>
        </p:txBody>
      </p:sp>
      <p:sp>
        <p:nvSpPr>
          <p:cNvPr id="53" name="CaixaDeTexto 51"/>
          <p:cNvSpPr txBox="1">
            <a:spLocks noChangeArrowheads="1"/>
          </p:cNvSpPr>
          <p:nvPr/>
        </p:nvSpPr>
        <p:spPr bwMode="auto">
          <a:xfrm>
            <a:off x="1435199" y="1044367"/>
            <a:ext cx="301575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DMZ</a:t>
            </a:r>
          </a:p>
        </p:txBody>
      </p:sp>
      <p:sp>
        <p:nvSpPr>
          <p:cNvPr id="57" name="CaixaDeTexto 51"/>
          <p:cNvSpPr txBox="1">
            <a:spLocks noChangeArrowheads="1"/>
          </p:cNvSpPr>
          <p:nvPr/>
        </p:nvSpPr>
        <p:spPr bwMode="auto">
          <a:xfrm>
            <a:off x="3431608" y="283637"/>
            <a:ext cx="11942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IP - Interno</a:t>
            </a:r>
          </a:p>
        </p:txBody>
      </p:sp>
      <p:sp>
        <p:nvSpPr>
          <p:cNvPr id="58" name="CaixaDeTexto 51"/>
          <p:cNvSpPr txBox="1">
            <a:spLocks noChangeArrowheads="1"/>
          </p:cNvSpPr>
          <p:nvPr/>
        </p:nvSpPr>
        <p:spPr bwMode="auto">
          <a:xfrm>
            <a:off x="2299151" y="770316"/>
            <a:ext cx="27815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 err="1">
                <a:solidFill>
                  <a:prstClr val="black"/>
                </a:solidFill>
                <a:ea typeface="+mn-ea"/>
              </a:rPr>
              <a:t>Conteiner</a:t>
            </a: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 - Domain Driver Design</a:t>
            </a:r>
          </a:p>
        </p:txBody>
      </p:sp>
      <p:pic>
        <p:nvPicPr>
          <p:cNvPr id="59" name="Imagem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6" y="1832064"/>
            <a:ext cx="673258" cy="1373447"/>
          </a:xfrm>
          <a:prstGeom prst="rect">
            <a:avLst/>
          </a:prstGeom>
        </p:spPr>
      </p:pic>
      <p:pic>
        <p:nvPicPr>
          <p:cNvPr id="60" name="Imagem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49" y="1767895"/>
            <a:ext cx="501339" cy="501339"/>
          </a:xfrm>
          <a:prstGeom prst="rect">
            <a:avLst/>
          </a:prstGeom>
        </p:spPr>
      </p:pic>
      <p:pic>
        <p:nvPicPr>
          <p:cNvPr id="61" name="Imagem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96" y="2702995"/>
            <a:ext cx="578524" cy="422987"/>
          </a:xfrm>
          <a:prstGeom prst="rect">
            <a:avLst/>
          </a:prstGeom>
        </p:spPr>
      </p:pic>
      <p:sp>
        <p:nvSpPr>
          <p:cNvPr id="62" name="CaixaDeTexto 51"/>
          <p:cNvSpPr txBox="1">
            <a:spLocks noChangeArrowheads="1"/>
          </p:cNvSpPr>
          <p:nvPr/>
        </p:nvSpPr>
        <p:spPr bwMode="auto">
          <a:xfrm>
            <a:off x="209309" y="571576"/>
            <a:ext cx="11942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IP – Externo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336435" y="2787448"/>
            <a:ext cx="4376465" cy="1417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8" name="Triângulo isósceles 77"/>
          <p:cNvSpPr/>
          <p:nvPr/>
        </p:nvSpPr>
        <p:spPr>
          <a:xfrm rot="16200000">
            <a:off x="2659060" y="2330248"/>
            <a:ext cx="1108710" cy="2396490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pt-BR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Retângulo 78"/>
          <p:cNvSpPr/>
          <p:nvPr/>
        </p:nvSpPr>
        <p:spPr>
          <a:xfrm>
            <a:off x="3131500" y="3206548"/>
            <a:ext cx="1127760" cy="6477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Camada Aplicação</a:t>
            </a:r>
          </a:p>
        </p:txBody>
      </p:sp>
      <p:sp>
        <p:nvSpPr>
          <p:cNvPr id="80" name="Retângulo 79"/>
          <p:cNvSpPr/>
          <p:nvPr/>
        </p:nvSpPr>
        <p:spPr>
          <a:xfrm>
            <a:off x="4205920" y="3084628"/>
            <a:ext cx="2441802" cy="419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Consulta </a:t>
            </a:r>
            <a:r>
              <a:rPr lang="pt-BR" sz="1350" dirty="0" err="1">
                <a:solidFill>
                  <a:prstClr val="white"/>
                </a:solidFill>
                <a:latin typeface="Calibri" panose="020F0502020204030204"/>
              </a:rPr>
              <a:t>View-Model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1" name="Retângulo 80"/>
          <p:cNvSpPr/>
          <p:nvPr/>
        </p:nvSpPr>
        <p:spPr>
          <a:xfrm>
            <a:off x="4205919" y="3592789"/>
            <a:ext cx="2441803" cy="419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white"/>
                </a:solidFill>
                <a:latin typeface="Calibri" panose="020F0502020204030204"/>
              </a:rPr>
              <a:t>Comandos Domain -</a:t>
            </a:r>
            <a:r>
              <a:rPr lang="pt-BR" sz="1350" dirty="0" err="1">
                <a:solidFill>
                  <a:prstClr val="white"/>
                </a:solidFill>
                <a:latin typeface="Calibri" panose="020F0502020204030204"/>
              </a:rPr>
              <a:t>Model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2" name="Conector de seta reta 53"/>
          <p:cNvCxnSpPr>
            <a:stCxn id="17" idx="1"/>
            <a:endCxn id="80" idx="3"/>
          </p:cNvCxnSpPr>
          <p:nvPr/>
        </p:nvCxnSpPr>
        <p:spPr>
          <a:xfrm flipH="1">
            <a:off x="6647722" y="951294"/>
            <a:ext cx="566453" cy="234288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55"/>
          <p:cNvCxnSpPr>
            <a:stCxn id="81" idx="3"/>
            <a:endCxn id="16" idx="7"/>
          </p:cNvCxnSpPr>
          <p:nvPr/>
        </p:nvCxnSpPr>
        <p:spPr>
          <a:xfrm flipV="1">
            <a:off x="6647722" y="1766966"/>
            <a:ext cx="574073" cy="2035373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58"/>
          <p:cNvCxnSpPr>
            <a:stCxn id="81" idx="3"/>
            <a:endCxn id="44" idx="7"/>
          </p:cNvCxnSpPr>
          <p:nvPr/>
        </p:nvCxnSpPr>
        <p:spPr>
          <a:xfrm>
            <a:off x="6647722" y="3802339"/>
            <a:ext cx="990103" cy="54864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61"/>
          <p:cNvCxnSpPr>
            <a:stCxn id="44" idx="0"/>
            <a:endCxn id="80" idx="3"/>
          </p:cNvCxnSpPr>
          <p:nvPr/>
        </p:nvCxnSpPr>
        <p:spPr>
          <a:xfrm flipH="1">
            <a:off x="6647722" y="2796405"/>
            <a:ext cx="990103" cy="497773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51"/>
          <p:cNvSpPr txBox="1">
            <a:spLocks noChangeArrowheads="1"/>
          </p:cNvSpPr>
          <p:nvPr/>
        </p:nvSpPr>
        <p:spPr bwMode="auto">
          <a:xfrm>
            <a:off x="2397693" y="3365613"/>
            <a:ext cx="85340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 err="1">
                <a:solidFill>
                  <a:prstClr val="black"/>
                </a:solidFill>
                <a:ea typeface="+mn-ea"/>
              </a:rPr>
              <a:t>WebApi</a:t>
            </a:r>
            <a:endParaRPr lang="pt-BR" altLang="pt-BR" sz="1350" dirty="0">
              <a:solidFill>
                <a:prstClr val="black"/>
              </a:solidFill>
              <a:ea typeface="+mn-ea"/>
            </a:endParaRPr>
          </a:p>
        </p:txBody>
      </p:sp>
      <p:sp>
        <p:nvSpPr>
          <p:cNvPr id="91" name="CaixaDeTexto 51"/>
          <p:cNvSpPr txBox="1">
            <a:spLocks noChangeArrowheads="1"/>
          </p:cNvSpPr>
          <p:nvPr/>
        </p:nvSpPr>
        <p:spPr bwMode="auto">
          <a:xfrm>
            <a:off x="2323859" y="2771908"/>
            <a:ext cx="27815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 err="1">
                <a:solidFill>
                  <a:prstClr val="black"/>
                </a:solidFill>
                <a:ea typeface="+mn-ea"/>
              </a:rPr>
              <a:t>Conteiner</a:t>
            </a: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 - Domain Driver Design</a:t>
            </a:r>
          </a:p>
        </p:txBody>
      </p:sp>
      <p:sp>
        <p:nvSpPr>
          <p:cNvPr id="93" name="CaixaDeTexto 92"/>
          <p:cNvSpPr txBox="1"/>
          <p:nvPr/>
        </p:nvSpPr>
        <p:spPr>
          <a:xfrm>
            <a:off x="4038544" y="3313542"/>
            <a:ext cx="5389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1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IoC</a:t>
            </a:r>
            <a:endParaRPr lang="pt-BR" sz="21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3954293" y="1348032"/>
            <a:ext cx="53893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1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IoC</a:t>
            </a:r>
            <a:endParaRPr lang="pt-BR" sz="21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6" name="Texto Explicativo 1 95"/>
          <p:cNvSpPr/>
          <p:nvPr/>
        </p:nvSpPr>
        <p:spPr>
          <a:xfrm>
            <a:off x="6712900" y="4754877"/>
            <a:ext cx="1232012" cy="297180"/>
          </a:xfrm>
          <a:prstGeom prst="borderCallout1">
            <a:avLst>
              <a:gd name="adj1" fmla="val 18750"/>
              <a:gd name="adj2" fmla="val -8333"/>
              <a:gd name="adj3" fmla="val -259294"/>
              <a:gd name="adj4" fmla="val -34003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 err="1">
                <a:solidFill>
                  <a:prstClr val="black"/>
                </a:solidFill>
                <a:latin typeface="Calibri" panose="020F0502020204030204"/>
              </a:rPr>
              <a:t>Hibernate</a:t>
            </a:r>
            <a:endParaRPr lang="pt-B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Retângulo Arredondado 94"/>
          <p:cNvSpPr/>
          <p:nvPr/>
        </p:nvSpPr>
        <p:spPr>
          <a:xfrm>
            <a:off x="6205703" y="1113703"/>
            <a:ext cx="209312" cy="2882150"/>
          </a:xfrm>
          <a:prstGeom prst="roundRect">
            <a:avLst/>
          </a:prstGeom>
          <a:ln w="698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 err="1">
                <a:solidFill>
                  <a:prstClr val="white"/>
                </a:solidFill>
                <a:latin typeface="Calibri" panose="020F0502020204030204"/>
              </a:rPr>
              <a:t>Persistencia</a:t>
            </a:r>
            <a:endParaRPr lang="pt-B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Texto Explicativo 1 105"/>
          <p:cNvSpPr/>
          <p:nvPr/>
        </p:nvSpPr>
        <p:spPr>
          <a:xfrm>
            <a:off x="2144964" y="4589383"/>
            <a:ext cx="1121128" cy="260942"/>
          </a:xfrm>
          <a:prstGeom prst="borderCallout1">
            <a:avLst>
              <a:gd name="adj1" fmla="val -12019"/>
              <a:gd name="adj2" fmla="val 96812"/>
              <a:gd name="adj3" fmla="val -262072"/>
              <a:gd name="adj4" fmla="val 9786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Java - MVC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1707284" y="2306303"/>
            <a:ext cx="10425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1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RestFull</a:t>
            </a:r>
            <a:endParaRPr lang="pt-BR" sz="21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cxnSp>
        <p:nvCxnSpPr>
          <p:cNvPr id="110" name="Conector de seta reta 53"/>
          <p:cNvCxnSpPr/>
          <p:nvPr/>
        </p:nvCxnSpPr>
        <p:spPr>
          <a:xfrm flipH="1">
            <a:off x="1303022" y="2186892"/>
            <a:ext cx="812215" cy="625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de seta reta 53"/>
          <p:cNvCxnSpPr/>
          <p:nvPr/>
        </p:nvCxnSpPr>
        <p:spPr>
          <a:xfrm flipH="1">
            <a:off x="1297455" y="2378058"/>
            <a:ext cx="812215" cy="625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53"/>
          <p:cNvCxnSpPr/>
          <p:nvPr/>
        </p:nvCxnSpPr>
        <p:spPr>
          <a:xfrm flipH="1">
            <a:off x="1303022" y="2696444"/>
            <a:ext cx="812215" cy="625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de seta reta 53"/>
          <p:cNvCxnSpPr/>
          <p:nvPr/>
        </p:nvCxnSpPr>
        <p:spPr>
          <a:xfrm flipH="1">
            <a:off x="1297454" y="2893041"/>
            <a:ext cx="812215" cy="625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752175" y="2313606"/>
            <a:ext cx="3714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120" name="CaixaDeTexto 119"/>
          <p:cNvSpPr txBox="1"/>
          <p:nvPr/>
        </p:nvSpPr>
        <p:spPr>
          <a:xfrm>
            <a:off x="3101223" y="2292170"/>
            <a:ext cx="19656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100" dirty="0">
                <a:solidFill>
                  <a:prstClr val="black"/>
                </a:solidFill>
                <a:latin typeface="Calibri" panose="020F0502020204030204"/>
                <a:ea typeface="+mn-ea"/>
              </a:rPr>
              <a:t>Balance - NGINX</a:t>
            </a:r>
          </a:p>
        </p:txBody>
      </p:sp>
      <p:pic>
        <p:nvPicPr>
          <p:cNvPr id="121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078233" y="3457713"/>
            <a:ext cx="3714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122" name="CaixaDeTexto 121"/>
          <p:cNvSpPr txBox="1"/>
          <p:nvPr/>
        </p:nvSpPr>
        <p:spPr>
          <a:xfrm>
            <a:off x="7171183" y="3444499"/>
            <a:ext cx="208743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100" dirty="0">
                <a:solidFill>
                  <a:prstClr val="black"/>
                </a:solidFill>
                <a:latin typeface="Calibri" panose="020F0502020204030204"/>
                <a:ea typeface="+mn-ea"/>
              </a:rPr>
              <a:t>Balance  -  NGINX</a:t>
            </a:r>
          </a:p>
        </p:txBody>
      </p:sp>
      <p:sp>
        <p:nvSpPr>
          <p:cNvPr id="136" name="CaixaDeTexto 135"/>
          <p:cNvSpPr txBox="1"/>
          <p:nvPr/>
        </p:nvSpPr>
        <p:spPr>
          <a:xfrm>
            <a:off x="7908513" y="4384879"/>
            <a:ext cx="754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2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Recorevy</a:t>
            </a:r>
            <a:endParaRPr lang="pt-BR" sz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37" name="CaixaDeTexto 136"/>
          <p:cNvSpPr txBox="1"/>
          <p:nvPr/>
        </p:nvSpPr>
        <p:spPr>
          <a:xfrm>
            <a:off x="478700" y="1580382"/>
            <a:ext cx="907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200" dirty="0">
                <a:solidFill>
                  <a:prstClr val="black"/>
                </a:solidFill>
                <a:latin typeface="Calibri" panose="020F0502020204030204"/>
                <a:ea typeface="+mn-ea"/>
              </a:rPr>
              <a:t>Data Power</a:t>
            </a:r>
          </a:p>
        </p:txBody>
      </p:sp>
      <p:sp>
        <p:nvSpPr>
          <p:cNvPr id="139" name="CaixaDeTexto 138"/>
          <p:cNvSpPr txBox="1"/>
          <p:nvPr/>
        </p:nvSpPr>
        <p:spPr>
          <a:xfrm>
            <a:off x="194392" y="3234617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1200" dirty="0">
                <a:solidFill>
                  <a:prstClr val="black"/>
                </a:solidFill>
                <a:latin typeface="Calibri" panose="020F0502020204030204"/>
                <a:ea typeface="+mn-ea"/>
              </a:rPr>
              <a:t>Angular - </a:t>
            </a:r>
            <a:r>
              <a:rPr lang="pt-BR" sz="12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NodeJs</a:t>
            </a:r>
            <a:endParaRPr lang="pt-BR" sz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40" name="CaixaDeTexto 51"/>
          <p:cNvSpPr txBox="1">
            <a:spLocks noChangeArrowheads="1"/>
          </p:cNvSpPr>
          <p:nvPr/>
        </p:nvSpPr>
        <p:spPr bwMode="auto">
          <a:xfrm>
            <a:off x="7347805" y="222082"/>
            <a:ext cx="11942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altLang="pt-BR" sz="1350" dirty="0">
                <a:solidFill>
                  <a:prstClr val="black"/>
                </a:solidFill>
                <a:ea typeface="+mn-ea"/>
              </a:rPr>
              <a:t>IP - Interno</a:t>
            </a:r>
          </a:p>
        </p:txBody>
      </p:sp>
    </p:spTree>
    <p:extLst>
      <p:ext uri="{BB962C8B-B14F-4D97-AF65-F5344CB8AC3E}">
        <p14:creationId xmlns:p14="http://schemas.microsoft.com/office/powerpoint/2010/main" val="57214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484909" y="857252"/>
            <a:ext cx="7973291" cy="206605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170261" lvl="1" indent="0" defTabSz="685800" fontAlgn="auto"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Executa o planejamento da implementação inicial e identificação dos meios de entrega para os blocos de construção identificados nas fases anteriores.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Determina se uma abordagem incremental é necessária e, em caso afirmativo, identifica Arquiteturas de Transição.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537608" y="278650"/>
            <a:ext cx="7497648" cy="684242"/>
          </a:xfrm>
        </p:spPr>
        <p:txBody>
          <a:bodyPr>
            <a:normAutofit/>
          </a:bodyPr>
          <a:lstStyle/>
          <a:p>
            <a:r>
              <a:rPr lang="pt-BR" b="1" dirty="0"/>
              <a:t>E</a:t>
            </a:r>
            <a:r>
              <a:rPr lang="pt-BR" b="1" dirty="0" smtClean="0"/>
              <a:t> – Oportunidades e Soluções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73484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85900" y="857251"/>
            <a:ext cx="6300788" cy="3752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Gerar a versão inicial completa do Roteiro de Arquitetura, com base na análise de diferenças e nos componentes candidatos do Roteiro de Arquitetura das Fases B, C e D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Determinar se é necessária uma abordagem incremental e em caso afirmativo identificar as Arquiteturas de Transição que vão entregar contínuo valor ao negócio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741978" y="179936"/>
            <a:ext cx="7979458" cy="677315"/>
          </a:xfrm>
        </p:spPr>
        <p:txBody>
          <a:bodyPr>
            <a:normAutofit/>
          </a:bodyPr>
          <a:lstStyle/>
          <a:p>
            <a:r>
              <a:rPr lang="pt-BR" b="1" dirty="0"/>
              <a:t>E – Oportunidades e </a:t>
            </a:r>
            <a:r>
              <a:rPr lang="pt-BR" b="1" dirty="0" smtClean="0"/>
              <a:t>Soluções </a:t>
            </a:r>
            <a:r>
              <a:rPr lang="pt-BR" dirty="0" smtClean="0"/>
              <a:t>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40240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8" y="1134571"/>
            <a:ext cx="8034876" cy="371452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Informação de Produto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Requisição para Trabalho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Avaliação de Capacidades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Planejamento de Comunicação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Metodologias de Planejamento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Modelos de Governança e Frameworks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Declaração de Trabalho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Visão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Repositório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do Documento de Definição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da Especificação de Requisitos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Requisição de Mudança para programas e projetos existentes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Componentes candidatos do Roteiro de Arquitetura para as Fases B, C e D</a:t>
            </a: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8" y="666577"/>
            <a:ext cx="7667731" cy="393296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E – Oportunidades e </a:t>
            </a:r>
            <a:r>
              <a:rPr lang="pt-BR" b="1" dirty="0" smtClean="0"/>
              <a:t>Soluções - </a:t>
            </a:r>
            <a:r>
              <a:rPr lang="pt-BR" dirty="0" smtClean="0"/>
              <a:t>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40032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976745"/>
            <a:ext cx="8069513" cy="387234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Determinar/confirmar atributos chaves de mudança corporativa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Determinar as restrições de negócio para a implementação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Revisar e consolidar o resultado da análise de diferenças de Fases B para D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Revisar requisitos consolidados através de funções de negócio relacionadas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Consolidar e conciliar os requisitos de interoperabilidade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Refinar e validar dependências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Confirmar prontidão e risco para a transformação do negócio.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Formular a Estratégia de Implementação da Migração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Identificar e agrupar os principais pacotes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Identificar Arquiteturas de Transição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Criar Roteiro de Arquitetura e Implementação e Planejamento da Migração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8" y="666577"/>
            <a:ext cx="7342149" cy="310169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E – Oportunidades e </a:t>
            </a:r>
            <a:r>
              <a:rPr lang="pt-BR" b="1" dirty="0" smtClean="0"/>
              <a:t>Soluções </a:t>
            </a:r>
            <a:r>
              <a:rPr lang="pt-BR" dirty="0" smtClean="0"/>
              <a:t>- Passos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83296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1163782"/>
            <a:ext cx="7652316" cy="372687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Declaração de Trabalho da Arquitetura, atualizado se necessário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Visão da Arquitetura, atualizada se necessário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Rascunho do Documento de Definição da Arquitetura, incluindo: 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Arquitetura de Transição, número e escopo, se houver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Rascunho dos Requisitos de Arquitetura, atualizado se necessário 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Avaliação de Capacidade,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Capacidades de Negócio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Capacidades de TI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Roteiro de Arquitetura,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Portfólio do pacote de trabalho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Identificação de Arquiteturas de Transição, se houver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Recomendações de implementação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Planejamento da Migração e Implementação (contorno),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Estratégia de Migração e Implementação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8" y="747830"/>
            <a:ext cx="7598458" cy="415952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E – Oportunidades e </a:t>
            </a:r>
            <a:r>
              <a:rPr lang="pt-BR" b="1" dirty="0" smtClean="0"/>
              <a:t>Soluções </a:t>
            </a:r>
            <a:r>
              <a:rPr lang="pt-BR" dirty="0" smtClean="0"/>
              <a:t>- </a:t>
            </a:r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13999043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354050" y="1494561"/>
            <a:ext cx="7640022" cy="22046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342900" lvl="1" indent="0" defTabSz="685800" fontAlgn="auto"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Desenvolve um Planejamento detalhado de Migração e Implementação que aborda como caminhar a partir da Linha de Base para a Arquitetura Alvo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.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735051" y="237086"/>
            <a:ext cx="7307513" cy="815860"/>
          </a:xfrm>
        </p:spPr>
        <p:txBody>
          <a:bodyPr>
            <a:normAutofit/>
          </a:bodyPr>
          <a:lstStyle/>
          <a:p>
            <a:r>
              <a:rPr lang="pt-BR" b="1" dirty="0" smtClean="0"/>
              <a:t>F – Planejamento da Migração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85907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264752" y="1317048"/>
            <a:ext cx="8629866" cy="245138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Finalizar o Roteiro de Arquitetura e o Planejamento da Migração e Implementação que o suporta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Garantir que o Planejamento da Migração e Implementação esteja de acordo com a abordagem para gerenciamento e implementação de mudança no portfólio de mudança 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Assegurar que o valor para o negócio e o custo dos pacotes de trabalho e Arquitetura de Transição sejam compreendidos pelos principais interessados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54478" y="0"/>
            <a:ext cx="8289523" cy="1152526"/>
          </a:xfrm>
        </p:spPr>
        <p:txBody>
          <a:bodyPr/>
          <a:lstStyle/>
          <a:p>
            <a:r>
              <a:rPr lang="pt-BR" b="1" dirty="0"/>
              <a:t>F – Planejamento da </a:t>
            </a:r>
            <a:r>
              <a:rPr lang="pt-BR" b="1" dirty="0" smtClean="0"/>
              <a:t>Migração - </a:t>
            </a:r>
            <a:r>
              <a:rPr lang="pt-BR" dirty="0" smtClean="0"/>
              <a:t>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49602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762760" y="822844"/>
            <a:ext cx="8221913" cy="423406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Requisição para Trabalho do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Planejamento de Comunicação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Modelo para a arquitetura corporativa da organização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Modelos de Governança e Frameworks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Declaração de Trabalho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Visão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Repositório de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do Documento de Definição da Arquitetura, incluindo: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Arquiteturas de Transição, se houver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Rascunho da Especificação de Requisitos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Solicitações de Mudança para programas e projetos existentes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Roteiro de Arquitetura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Avaliação de Capacidades, incluindo: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Capacidades de Negócio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Capacidades de TI</a:t>
            </a:r>
          </a:p>
          <a:p>
            <a:pPr marL="257175" lvl="2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>
                <a:solidFill>
                  <a:prstClr val="black"/>
                </a:solidFill>
                <a:latin typeface="Calibri" panose="020F0502020204030204"/>
              </a:rPr>
              <a:t>Planejamento da Migração e Implementação, incluindo:</a:t>
            </a:r>
          </a:p>
          <a:p>
            <a:pPr marL="444699" lvl="3" indent="-257175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>
                <a:solidFill>
                  <a:prstClr val="black"/>
                </a:solidFill>
                <a:latin typeface="Calibri" panose="020F0502020204030204"/>
              </a:rPr>
              <a:t>Estratégia de Migração e Implementação de alto nível</a:t>
            </a:r>
            <a:endParaRPr lang="pt-B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513378" y="147031"/>
            <a:ext cx="8041804" cy="545696"/>
          </a:xfrm>
        </p:spPr>
        <p:txBody>
          <a:bodyPr>
            <a:normAutofit/>
          </a:bodyPr>
          <a:lstStyle/>
          <a:p>
            <a:r>
              <a:rPr lang="pt-BR" b="1" dirty="0"/>
              <a:t>F – Planejamento da </a:t>
            </a:r>
            <a:r>
              <a:rPr lang="pt-BR" b="1" dirty="0" smtClean="0"/>
              <a:t>Migração - </a:t>
            </a:r>
            <a:r>
              <a:rPr lang="pt-BR" dirty="0" smtClean="0"/>
              <a:t>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28529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6" y="755073"/>
            <a:ext cx="8180350" cy="370609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Confirmar as interações dos frameworks de gerenciamento para o Planejamento da Migração e Implementação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Atribuir um valor de negócio para cada pacote de trabalho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Estimar os requisitos de recursos, intervalos de projeto e veículo de entrega/disponibilidade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Priorizar os projetos de migração através da condução de uma validação de avaliação de custo/benefício e risco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Confirmar o Roteiro de Arquitetura e atualizar o Documento de Definição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Concluir o Planejamento da Migração e Implementação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Completar o ciclo de desenvolvimento e o documento de lições aprendidas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 txBox="1">
            <a:spLocks/>
          </p:cNvSpPr>
          <p:nvPr/>
        </p:nvSpPr>
        <p:spPr>
          <a:xfrm>
            <a:off x="748906" y="320212"/>
            <a:ext cx="7452986" cy="379442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pt-BR" sz="3300" b="1" dirty="0">
                <a:solidFill>
                  <a:prstClr val="black"/>
                </a:solidFill>
                <a:latin typeface="Calibri Light" panose="020F0302020204030204"/>
              </a:rPr>
              <a:t>F – Planejamento da Migração </a:t>
            </a:r>
            <a:r>
              <a:rPr lang="pt-BR" sz="3300" dirty="0">
                <a:solidFill>
                  <a:prstClr val="black"/>
                </a:solidFill>
                <a:latin typeface="Calibri Light" panose="020F0302020204030204"/>
              </a:rPr>
              <a:t>- Passos</a:t>
            </a:r>
          </a:p>
        </p:txBody>
      </p:sp>
    </p:spTree>
    <p:extLst>
      <p:ext uri="{BB962C8B-B14F-4D97-AF65-F5344CB8AC3E}">
        <p14:creationId xmlns:p14="http://schemas.microsoft.com/office/powerpoint/2010/main" val="38528568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755833" y="340996"/>
            <a:ext cx="7307513" cy="317096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F – Planejamento da </a:t>
            </a:r>
            <a:r>
              <a:rPr lang="pt-BR" b="1" dirty="0" smtClean="0"/>
              <a:t>Migração </a:t>
            </a:r>
            <a:r>
              <a:rPr lang="pt-BR" dirty="0" smtClean="0"/>
              <a:t>- </a:t>
            </a:r>
            <a:r>
              <a:rPr lang="pt-BR" dirty="0"/>
              <a:t>Saída</a:t>
            </a:r>
          </a:p>
        </p:txBody>
      </p:sp>
      <p:sp>
        <p:nvSpPr>
          <p:cNvPr id="5" name="Shape 402"/>
          <p:cNvSpPr txBox="1">
            <a:spLocks/>
          </p:cNvSpPr>
          <p:nvPr/>
        </p:nvSpPr>
        <p:spPr>
          <a:xfrm>
            <a:off x="845887" y="720437"/>
            <a:ext cx="8055659" cy="427412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Planejamento da Migração e Implementação (detalhado),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Estratégia de Migração e Implementação 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Repartição de projeto e portfólio de implementação 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Planos iniciais do projeto (opcional)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Documento de Definição de Arquitetura finalizado,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Arquiteturas de Transição finalizadas, se houve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Especificação de Requisitos de Arquitetura finalizada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Roteiro de Arquitetura finalizado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Blocos de Construção de Arquitetura reutilizáveis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Requisição para Trabalho de Arquitetura para novas iterações do ADM (se houver)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Modelo de Governança de Implementação </a:t>
            </a:r>
          </a:p>
          <a:p>
            <a:pPr marL="342900" lvl="2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>Requisições de Mudança da Capacidade da Arquitetura identificadas a partir das lições aprendidas</a:t>
            </a:r>
            <a:br>
              <a:rPr lang="pt-BR" sz="15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5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5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5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5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5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17788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87451" y="1988128"/>
            <a:ext cx="7487622" cy="28228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514350" lvl="1" indent="-171450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Fornece uma supervisão da implementação. Prepara e emite Contratos de Arquitetura (Comitê de Governança da Implementação). Certifica se o projeto de implementação está de acordo com a arquitetura.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1005215" y="-60787"/>
            <a:ext cx="7836069" cy="2187681"/>
          </a:xfrm>
        </p:spPr>
        <p:txBody>
          <a:bodyPr>
            <a:normAutofit/>
          </a:bodyPr>
          <a:lstStyle/>
          <a:p>
            <a:r>
              <a:rPr lang="pt-BR" b="1" dirty="0"/>
              <a:t>G</a:t>
            </a:r>
            <a:r>
              <a:rPr lang="pt-BR" b="1" dirty="0" smtClean="0"/>
              <a:t> – Governança e Implementação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70663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509155" y="1930979"/>
            <a:ext cx="7658100" cy="240549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Assegurar a conformidade com a Arquitetura Alvo através da implementação de projetos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Executar as funções da Governança da Arquitetura apropriadas para a solução e qualquer implementação direcionada a Requisição de Mudança de arquitetura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686561" y="188595"/>
            <a:ext cx="7709294" cy="2187681"/>
          </a:xfrm>
        </p:spPr>
        <p:txBody>
          <a:bodyPr/>
          <a:lstStyle/>
          <a:p>
            <a:r>
              <a:rPr lang="pt-BR" b="1" dirty="0"/>
              <a:t>G – Governança e </a:t>
            </a:r>
            <a:r>
              <a:rPr lang="pt-BR" b="1" dirty="0" smtClean="0"/>
              <a:t>Implementação - </a:t>
            </a:r>
            <a:r>
              <a:rPr lang="pt-BR" dirty="0" smtClean="0"/>
              <a:t>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06898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803564"/>
            <a:ext cx="7688513" cy="405245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Requisição para Trabalho de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Avaliação de Capacidades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Modelo de organização para arquitetura corporativa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Framework de Arquitetura Customizado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Declaração de Trabalho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Visão da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Repositório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Documento de Definição da Arquitetura,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Especificação de Requisitos de Arquitetura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Roteiro de Arquitetura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Modelo de Governança de Implementação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Requisição para Trabalho de Arquitetura identificados nas fases E </a:t>
            </a:r>
            <a:r>
              <a:rPr lang="pt-BR" sz="1800" dirty="0" err="1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 F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Planejamento da Migração e Implementação</a:t>
            </a: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527233" y="264795"/>
            <a:ext cx="8783021" cy="538769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G – Governança e </a:t>
            </a:r>
            <a:r>
              <a:rPr lang="pt-BR" b="1" dirty="0" smtClean="0"/>
              <a:t>Implementação - </a:t>
            </a:r>
            <a:r>
              <a:rPr lang="pt-BR" dirty="0" smtClean="0"/>
              <a:t>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13336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6" y="1419623"/>
            <a:ext cx="6318401" cy="283432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Confirmar o escopo e as prioridades para a implantação com o gerenciamento de desenvolvimento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as competências e recursos de implantação desenvolver as orientações de implantação de soluções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Realizar avaliações de conformidade da arquitetura corporativa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Implementar as operações de negócio e TI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Executar revisão pós-implementação e fechar a implementação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 txBox="1">
            <a:spLocks/>
          </p:cNvSpPr>
          <p:nvPr/>
        </p:nvSpPr>
        <p:spPr>
          <a:xfrm>
            <a:off x="852890" y="-308570"/>
            <a:ext cx="7398520" cy="218768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pt-BR" sz="3300" b="1" dirty="0">
                <a:solidFill>
                  <a:prstClr val="black"/>
                </a:solidFill>
                <a:latin typeface="Calibri Light" panose="020F0302020204030204"/>
              </a:rPr>
              <a:t>G – Governança e Implementação </a:t>
            </a:r>
            <a:r>
              <a:rPr lang="pt-BR" sz="3300" dirty="0">
                <a:solidFill>
                  <a:prstClr val="black"/>
                </a:solidFill>
                <a:latin typeface="Calibri Light" panose="020F0302020204030204"/>
              </a:rPr>
              <a:t>- Passos</a:t>
            </a:r>
          </a:p>
        </p:txBody>
      </p:sp>
    </p:spTree>
    <p:extLst>
      <p:ext uri="{BB962C8B-B14F-4D97-AF65-F5344CB8AC3E}">
        <p14:creationId xmlns:p14="http://schemas.microsoft.com/office/powerpoint/2010/main" val="7046145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438532" y="829772"/>
            <a:ext cx="8622341" cy="417172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Contrato de Arquitetura (assinado)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Avaliação de Conformidade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Requisições de Mudança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Análise de Impacto – Recomendações de Implementação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Soluções implantadas em conformidade com a Arquitetura, incluindo: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Sistema implementado em conformidade com a </a:t>
            </a:r>
            <a:r>
              <a:rPr lang="pt-BR" sz="1350" dirty="0" smtClean="0">
                <a:solidFill>
                  <a:prstClr val="black"/>
                </a:solidFill>
                <a:latin typeface="Calibri" panose="020F0502020204030204"/>
              </a:rPr>
              <a:t>arquitetura</a:t>
            </a:r>
            <a:endParaRPr lang="pt-BR" sz="1350" dirty="0">
              <a:solidFill>
                <a:prstClr val="black"/>
              </a:solidFill>
              <a:latin typeface="Calibri" panose="020F0502020204030204"/>
            </a:endParaRP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Repositório de Arquitetura </a:t>
            </a:r>
            <a:r>
              <a:rPr lang="pt-BR" sz="1350" dirty="0" err="1">
                <a:solidFill>
                  <a:prstClr val="black"/>
                </a:solidFill>
                <a:latin typeface="Calibri" panose="020F0502020204030204"/>
              </a:rPr>
              <a:t>populado</a:t>
            </a:r>
            <a:endParaRPr lang="pt-BR" sz="1350" dirty="0">
              <a:solidFill>
                <a:prstClr val="black"/>
              </a:solidFill>
              <a:latin typeface="Calibri" panose="020F0502020204030204"/>
            </a:endParaRP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Recomendações e dispensas em conformidade com a Arquitetura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Recomendações sobre os requisitos de entrega de serviço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Recomendações sobre métricas de desempenho 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Acordos de Nível de Serviço (</a:t>
            </a:r>
            <a:r>
              <a:rPr lang="pt-BR" sz="1350" dirty="0" err="1">
                <a:solidFill>
                  <a:prstClr val="black"/>
                </a:solidFill>
                <a:latin typeface="Calibri" panose="020F0502020204030204"/>
              </a:rPr>
              <a:t>ANSs</a:t>
            </a: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Visão da Arquitetura, atualizada após implementação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Documento de Definição da Arquitetura, atualizado após implementação</a:t>
            </a:r>
          </a:p>
          <a:p>
            <a:pPr marL="530424" lvl="3" indent="-342900" defTabSz="685800" fontAlgn="auto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</a:pPr>
            <a:r>
              <a:rPr lang="pt-BR" sz="1350" dirty="0">
                <a:solidFill>
                  <a:prstClr val="black"/>
                </a:solidFill>
                <a:latin typeface="Calibri" panose="020F0502020204030204"/>
              </a:rPr>
              <a:t>Modelos de operação de negócio e TI para as soluções implementadas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769688" y="140104"/>
            <a:ext cx="7937894" cy="912842"/>
          </a:xfrm>
        </p:spPr>
        <p:txBody>
          <a:bodyPr/>
          <a:lstStyle/>
          <a:p>
            <a:r>
              <a:rPr lang="pt-BR" b="1" dirty="0"/>
              <a:t>G – Governança e </a:t>
            </a:r>
            <a:r>
              <a:rPr lang="pt-BR" b="1" dirty="0" smtClean="0"/>
              <a:t>Implementação </a:t>
            </a:r>
            <a:r>
              <a:rPr lang="pt-BR" dirty="0" smtClean="0"/>
              <a:t>- </a:t>
            </a:r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15860179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251520" y="857251"/>
            <a:ext cx="8136904" cy="3752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375"/>
              </a:spcBef>
              <a:spcAft>
                <a:spcPts val="0"/>
              </a:spcAft>
            </a:pPr>
            <a:endParaRPr lang="pt-BR" sz="1800" dirty="0">
              <a:solidFill>
                <a:prstClr val="black"/>
              </a:solidFill>
              <a:latin typeface="Calibri" panose="020F0502020204030204"/>
            </a:endParaRPr>
          </a:p>
          <a:p>
            <a:pPr marL="514350" lvl="1" indent="-171450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Fornece monitoramento contínuo e um processo gerenciamento de mudanças para garantir que a arquitetura responda às necessidades da organização e maximiza o valor da arquitetura para o negócio.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8" y="666577"/>
            <a:ext cx="7175894" cy="725805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H – Gerenciamento de Mudança de Arquitetura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38598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737755" y="1466851"/>
            <a:ext cx="6300788" cy="37528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Garantir que o ciclo de vida de arquitetura seja mantido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Garantir que o Framework de Governança da Arquitetura seja executado.</a:t>
            </a:r>
          </a:p>
          <a:p>
            <a:pPr marL="257175" lvl="1" indent="-257175" defTabSz="685800" fontAlgn="auto"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Garantir que a Capacidade da Arquitetura da organização atenda aos requisitos atuais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506452" y="278650"/>
            <a:ext cx="7674658" cy="982115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H – Gerenciamento de Mudança de </a:t>
            </a:r>
            <a:r>
              <a:rPr lang="pt-BR" b="1" dirty="0" smtClean="0"/>
              <a:t>Arquitetura - </a:t>
            </a:r>
            <a:r>
              <a:rPr lang="pt-BR" dirty="0" smtClean="0"/>
              <a:t>Objetivos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74337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589578" y="1953490"/>
            <a:ext cx="8007168" cy="221733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As entradas para o processo de Gerenciamento de Requisitos são os requisitos relacionados com saídas de cada fase do ADM.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Os primeiros requisitos de alto nível são produzidos como parte da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Visão da Arquitetura.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>Cada domínio de arquitetura gera requisitos detalhados. As entregas em fases posteriores ao ciclo contêm mapeamentos para novos tipos de requisitos (por exemplo, requisitos de conformidade)</a:t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7" y="666577"/>
            <a:ext cx="8069513" cy="1370042"/>
          </a:xfrm>
        </p:spPr>
        <p:txBody>
          <a:bodyPr>
            <a:normAutofit/>
          </a:bodyPr>
          <a:lstStyle/>
          <a:p>
            <a:r>
              <a:rPr lang="pt-BR" b="1" dirty="0"/>
              <a:t>H – Gerenciamento de Mudança de Arquitetura</a:t>
            </a:r>
            <a:r>
              <a:rPr lang="pt-BR" b="1" dirty="0" smtClean="0"/>
              <a:t>- </a:t>
            </a:r>
            <a:r>
              <a:rPr lang="pt-BR" dirty="0" smtClean="0"/>
              <a:t>Entrada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972291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1475760" y="1028700"/>
            <a:ext cx="7058640" cy="359449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/ documentar requisitos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Gerar requisitos de Linha de Base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Monitorar requisitos de Linha de Base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requisitos de mudança; remover, modificar e reavaliar prioridades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Identificar requisitos de mudança e registrar prioridades; identificar e resolver conflitos; gerar declarações de impacto de requisitos 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Avaliar impacto de requisitos de mudança nas fases atuais e anteriores do ADM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Implementar requisitos advindos da Fase H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Atualizar o repositório de requisitos Implementar mudança na fase atual</a:t>
            </a:r>
          </a:p>
          <a:p>
            <a:pPr marL="257175" lvl="1" indent="-257175" defTabSz="685800" fontAlgn="auto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Avaliar e revisar a análise de diferenças das fases anteriores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845887" y="159328"/>
            <a:ext cx="8138786" cy="869373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H – Gerenciamento de Mudança de Arquitetura</a:t>
            </a:r>
            <a:r>
              <a:rPr lang="pt-BR" dirty="0" smtClean="0"/>
              <a:t>- Passos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87793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57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 bwMode="auto">
          <a:xfrm>
            <a:off x="323850" y="-3175"/>
            <a:ext cx="8229600" cy="487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altLang="pt-BR" dirty="0" smtClean="0"/>
              <a:t>Governança em 3 Pilares</a:t>
            </a:r>
          </a:p>
        </p:txBody>
      </p:sp>
      <p:sp>
        <p:nvSpPr>
          <p:cNvPr id="8" name="Espaço Reservado para Texto 2"/>
          <p:cNvSpPr txBox="1">
            <a:spLocks/>
          </p:cNvSpPr>
          <p:nvPr/>
        </p:nvSpPr>
        <p:spPr bwMode="auto">
          <a:xfrm>
            <a:off x="1042988" y="484188"/>
            <a:ext cx="7535862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cs typeface="+mn-cs"/>
                <a:sym typeface="Gill Sans" charset="0"/>
              </a:defRPr>
            </a:lvl9pPr>
          </a:lstStyle>
          <a:p>
            <a:r>
              <a:rPr lang="pt-BR" altLang="pt-BR" smtClean="0"/>
              <a:t>Negócio, operacional e técnica.</a:t>
            </a:r>
            <a:endParaRPr lang="pt-BR" altLang="pt-BR" dirty="0" smtClean="0"/>
          </a:p>
        </p:txBody>
      </p:sp>
      <p:grpSp>
        <p:nvGrpSpPr>
          <p:cNvPr id="9" name="Grupo 130"/>
          <p:cNvGrpSpPr>
            <a:grpSpLocks/>
          </p:cNvGrpSpPr>
          <p:nvPr/>
        </p:nvGrpSpPr>
        <p:grpSpPr bwMode="auto">
          <a:xfrm>
            <a:off x="6057900" y="2825750"/>
            <a:ext cx="2000250" cy="730250"/>
            <a:chOff x="-1566635" y="1347271"/>
            <a:chExt cx="1595746" cy="666593"/>
          </a:xfrm>
        </p:grpSpPr>
        <p:sp>
          <p:nvSpPr>
            <p:cNvPr id="10" name="Nuvem 9"/>
            <p:cNvSpPr/>
            <p:nvPr/>
          </p:nvSpPr>
          <p:spPr bwMode="auto">
            <a:xfrm>
              <a:off x="-1566635" y="1347271"/>
              <a:ext cx="1355118" cy="666593"/>
            </a:xfrm>
            <a:prstGeom prst="cloud">
              <a:avLst/>
            </a:prstGeom>
            <a:solidFill>
              <a:srgbClr val="4472C4">
                <a:lumMod val="40000"/>
                <a:lumOff val="60000"/>
              </a:srgbClr>
            </a:solidFill>
            <a:ln w="9525" cap="flat" cmpd="sng" algn="ctr">
              <a:solidFill>
                <a:srgbClr val="4472C4">
                  <a:lumMod val="7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pt-B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147638" indent="-147638" eaLnBrk="1" hangingPunct="1">
                <a:defRPr/>
              </a:pPr>
              <a:endParaRPr lang="pt-BR" sz="1200" b="1" dirty="0">
                <a:solidFill>
                  <a:prstClr val="white"/>
                </a:solidFill>
              </a:endParaRPr>
            </a:p>
          </p:txBody>
        </p:sp>
        <p:sp>
          <p:nvSpPr>
            <p:cNvPr id="11" name="CaixaDeTexto 10"/>
            <p:cNvSpPr txBox="1">
              <a:spLocks noChangeArrowheads="1"/>
            </p:cNvSpPr>
            <p:nvPr/>
          </p:nvSpPr>
          <p:spPr bwMode="auto">
            <a:xfrm>
              <a:off x="-1341948" y="1474159"/>
              <a:ext cx="1371059" cy="506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1pPr>
              <a:lvl2pPr marL="742950" indent="-285750"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2pPr>
              <a:lvl3pPr marL="1143000" indent="-228600"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3pPr>
              <a:lvl4pPr marL="1600200" indent="-228600"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4pPr>
              <a:lvl5pPr marL="2057400" indent="-228600"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charset="-128"/>
                  <a:sym typeface="Gill Sans" charset="0"/>
                </a:defRPr>
              </a:lvl9pPr>
            </a:lstStyle>
            <a:p>
              <a:pPr eaLnBrk="1" hangingPunct="1"/>
              <a:r>
                <a:rPr lang="pt-BR" altLang="pt-BR" sz="1000" b="1">
                  <a:cs typeface="Arial" panose="020B0604020202020204" pitchFamily="34" charset="0"/>
                </a:rPr>
                <a:t>NTERNET</a:t>
              </a:r>
            </a:p>
            <a:p>
              <a:pPr eaLnBrk="1" hangingPunct="1"/>
              <a:r>
                <a:rPr lang="pt-BR" altLang="pt-BR" sz="1000" b="1">
                  <a:cs typeface="Arial" panose="020B0604020202020204" pitchFamily="34" charset="0"/>
                </a:rPr>
                <a:t>Dashboard de Visão Executiva</a:t>
              </a:r>
            </a:p>
          </p:txBody>
        </p:sp>
      </p:grp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3500438" y="2295525"/>
            <a:ext cx="1022350" cy="1331913"/>
          </a:xfrm>
          <a:prstGeom prst="can">
            <a:avLst>
              <a:gd name="adj" fmla="val 24976"/>
            </a:avLst>
          </a:prstGeom>
          <a:solidFill>
            <a:srgbClr val="C0C0C0"/>
          </a:solidFill>
          <a:ln w="19050">
            <a:solidFill>
              <a:srgbClr val="969696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hangingPunct="1"/>
            <a:r>
              <a:rPr lang="pt-BR" altLang="pt-BR" sz="1100">
                <a:latin typeface="Calibri" panose="020F0502020204030204" pitchFamily="34" charset="0"/>
                <a:cs typeface="Calibri" panose="020F0502020204030204" pitchFamily="34" charset="0"/>
              </a:rPr>
              <a:t>Banco Dados</a:t>
            </a:r>
          </a:p>
          <a:p>
            <a:pPr algn="ctr" eaLnBrk="1" hangingPunct="1"/>
            <a:r>
              <a:rPr lang="pt-BR" altLang="pt-BR" sz="1100">
                <a:latin typeface="Calibri" panose="020F0502020204030204" pitchFamily="34" charset="0"/>
                <a:cs typeface="Calibri" panose="020F0502020204030204" pitchFamily="34" charset="0"/>
              </a:rPr>
              <a:t>Catalogo de </a:t>
            </a:r>
          </a:p>
          <a:p>
            <a:pPr algn="ctr" eaLnBrk="1" hangingPunct="1"/>
            <a:r>
              <a:rPr lang="pt-BR" altLang="pt-BR" sz="1100">
                <a:latin typeface="Calibri" panose="020F0502020204030204" pitchFamily="34" charset="0"/>
                <a:cs typeface="Calibri" panose="020F0502020204030204" pitchFamily="34" charset="0"/>
              </a:rPr>
              <a:t>Aplicações</a:t>
            </a:r>
          </a:p>
          <a:p>
            <a:pPr algn="ctr" eaLnBrk="1" hangingPunct="1"/>
            <a:r>
              <a:rPr lang="pt-BR" altLang="pt-BR" sz="1100">
                <a:latin typeface="Calibri" panose="020F0502020204030204" pitchFamily="34" charset="0"/>
                <a:cs typeface="Calibri" panose="020F0502020204030204" pitchFamily="34" charset="0"/>
              </a:rPr>
              <a:t>MySql</a:t>
            </a:r>
          </a:p>
          <a:p>
            <a:pPr algn="ctr" eaLnBrk="1" hangingPunct="1"/>
            <a:r>
              <a:rPr lang="pt-BR" altLang="pt-BR" sz="1100">
                <a:latin typeface="Calibri" panose="020F0502020204030204" pitchFamily="34" charset="0"/>
                <a:cs typeface="Calibri" panose="020F0502020204030204" pitchFamily="34" charset="0"/>
              </a:rPr>
              <a:t>ElasticSearch</a:t>
            </a:r>
          </a:p>
        </p:txBody>
      </p:sp>
      <p:sp>
        <p:nvSpPr>
          <p:cNvPr id="13" name="Seta Dobrada 12"/>
          <p:cNvSpPr/>
          <p:nvPr/>
        </p:nvSpPr>
        <p:spPr>
          <a:xfrm rot="5400000">
            <a:off x="3036094" y="1158081"/>
            <a:ext cx="968375" cy="1541463"/>
          </a:xfrm>
          <a:prstGeom prst="ben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800" kern="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584700" y="1009650"/>
            <a:ext cx="1217613" cy="1152525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900" b="1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ETL Módulos: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Transformação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Extrator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Monitoramento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Auto </a:t>
            </a:r>
            <a:r>
              <a:rPr lang="pt-BR" sz="900" kern="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Loader</a:t>
            </a:r>
            <a:endParaRPr lang="pt-BR" sz="900" kern="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User</a:t>
            </a: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  <a:r>
              <a:rPr lang="pt-BR" sz="900" kern="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Loader</a:t>
            </a:r>
            <a:endParaRPr lang="pt-BR" sz="900" kern="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Export</a:t>
            </a: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 CSV/XML </a:t>
            </a:r>
          </a:p>
        </p:txBody>
      </p:sp>
      <p:cxnSp>
        <p:nvCxnSpPr>
          <p:cNvPr id="15" name="Forma 48"/>
          <p:cNvCxnSpPr>
            <a:cxnSpLocks noChangeShapeType="1"/>
            <a:stCxn id="14" idx="1"/>
          </p:cNvCxnSpPr>
          <p:nvPr/>
        </p:nvCxnSpPr>
        <p:spPr bwMode="auto">
          <a:xfrm rot="10800000" flipV="1">
            <a:off x="4078288" y="1585913"/>
            <a:ext cx="506412" cy="952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5B9BD5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Seta para a Direita 15"/>
          <p:cNvSpPr/>
          <p:nvPr/>
        </p:nvSpPr>
        <p:spPr>
          <a:xfrm>
            <a:off x="4638675" y="2962275"/>
            <a:ext cx="1285875" cy="403225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kern="0" dirty="0" smtClean="0">
                <a:solidFill>
                  <a:prstClr val="white"/>
                </a:solidFill>
                <a:latin typeface="Calibri" panose="020F0502020204030204"/>
                <a:ea typeface="+mn-ea"/>
              </a:rPr>
              <a:t>WEB</a:t>
            </a:r>
            <a:endParaRPr lang="pt-BR" sz="1200" kern="0" dirty="0">
              <a:solidFill>
                <a:prstClr val="white"/>
              </a:solidFill>
              <a:latin typeface="Calibri" panose="020F0502020204030204"/>
              <a:ea typeface="+mn-ea"/>
            </a:endParaRPr>
          </a:p>
        </p:txBody>
      </p:sp>
      <p:pic>
        <p:nvPicPr>
          <p:cNvPr id="17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3481388"/>
            <a:ext cx="3262313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Seta Dobrada 17"/>
          <p:cNvSpPr/>
          <p:nvPr/>
        </p:nvSpPr>
        <p:spPr>
          <a:xfrm rot="5400000" flipV="1">
            <a:off x="2803525" y="2820988"/>
            <a:ext cx="346075" cy="904875"/>
          </a:xfrm>
          <a:prstGeom prst="ben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800" kern="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9" name="AutoShape 46"/>
          <p:cNvSpPr>
            <a:spLocks noChangeArrowheads="1"/>
          </p:cNvSpPr>
          <p:nvPr/>
        </p:nvSpPr>
        <p:spPr bwMode="auto">
          <a:xfrm rot="5400000">
            <a:off x="665337" y="876778"/>
            <a:ext cx="2115581" cy="2061275"/>
          </a:xfrm>
          <a:prstGeom prst="roundRect">
            <a:avLst>
              <a:gd name="adj" fmla="val 6662"/>
            </a:avLst>
          </a:prstGeom>
          <a:gradFill rotWithShape="1">
            <a:gsLst>
              <a:gs pos="0">
                <a:srgbClr val="A5A5A5">
                  <a:lumMod val="110000"/>
                  <a:satMod val="105000"/>
                  <a:tint val="67000"/>
                </a:srgbClr>
              </a:gs>
              <a:gs pos="50000">
                <a:srgbClr val="A5A5A5">
                  <a:lumMod val="105000"/>
                  <a:satMod val="103000"/>
                  <a:tint val="73000"/>
                </a:srgbClr>
              </a:gs>
              <a:gs pos="100000">
                <a:srgbClr val="A5A5A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A5A5A5"/>
            </a:solidFill>
            <a:prstDash val="solid"/>
            <a:miter lim="800000"/>
            <a:headEnd/>
            <a:tailEnd/>
          </a:ln>
          <a:effectLst/>
        </p:spPr>
        <p:txBody>
          <a:bodyPr vert="vert270" lIns="90000" tIns="46800" rIns="90000" bIns="46800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pt-BR" sz="1800" b="1" dirty="0" smtClean="0">
                <a:solidFill>
                  <a:prstClr val="black"/>
                </a:solidFill>
                <a:latin typeface="Calibri" panose="020F0502020204030204"/>
              </a:rPr>
              <a:t>Dados</a:t>
            </a:r>
          </a:p>
        </p:txBody>
      </p:sp>
      <p:sp>
        <p:nvSpPr>
          <p:cNvPr id="20" name="AutoShape 44"/>
          <p:cNvSpPr>
            <a:spLocks noChangeArrowheads="1"/>
          </p:cNvSpPr>
          <p:nvPr/>
        </p:nvSpPr>
        <p:spPr bwMode="auto">
          <a:xfrm>
            <a:off x="742350" y="1228164"/>
            <a:ext cx="1916743" cy="1695911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0000">
                  <a:lumMod val="100000"/>
                  <a:alpha val="50000"/>
                </a:srgbClr>
              </a:gs>
              <a:gs pos="50000">
                <a:srgbClr val="00B050">
                  <a:alpha val="50000"/>
                </a:srgbClr>
              </a:gs>
              <a:gs pos="100000">
                <a:srgbClr val="FFFF0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9525" cap="rnd" algn="ctr">
            <a:noFill/>
            <a:round/>
            <a:headEnd/>
            <a:tailEnd/>
          </a:ln>
          <a:effectLst/>
        </p:spPr>
        <p:txBody>
          <a:bodyPr vert="vert270" lIns="90000" tIns="46800" rIns="90000" bIns="46800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sz="1100" b="1" dirty="0" smtClean="0">
                <a:solidFill>
                  <a:prstClr val="black"/>
                </a:solidFill>
              </a:rPr>
              <a:t>Ambiente </a:t>
            </a:r>
            <a:r>
              <a:rPr lang="pt-BR" sz="1100" b="1" dirty="0" err="1" smtClean="0">
                <a:solidFill>
                  <a:prstClr val="black"/>
                </a:solidFill>
              </a:rPr>
              <a:t>Técnologia</a:t>
            </a:r>
            <a:endParaRPr lang="pt-BR" sz="1100" b="1" dirty="0">
              <a:solidFill>
                <a:prstClr val="black"/>
              </a:solidFill>
            </a:endParaRPr>
          </a:p>
        </p:txBody>
      </p:sp>
      <p:sp>
        <p:nvSpPr>
          <p:cNvPr id="21" name="AutoShape 46"/>
          <p:cNvSpPr>
            <a:spLocks noChangeArrowheads="1"/>
          </p:cNvSpPr>
          <p:nvPr/>
        </p:nvSpPr>
        <p:spPr bwMode="auto">
          <a:xfrm rot="5400000">
            <a:off x="1303403" y="1326941"/>
            <a:ext cx="711183" cy="887637"/>
          </a:xfrm>
          <a:prstGeom prst="roundRect">
            <a:avLst>
              <a:gd name="adj" fmla="val 8841"/>
            </a:avLst>
          </a:prstGeom>
          <a:solidFill>
            <a:srgbClr val="FF0000"/>
          </a:solidFill>
          <a:ln w="6350" cap="flat" cmpd="sng" algn="ctr">
            <a:solidFill>
              <a:srgbClr val="5B9BD5"/>
            </a:solidFill>
            <a:prstDash val="solid"/>
            <a:miter lim="800000"/>
            <a:headEnd/>
            <a:tailEnd/>
          </a:ln>
          <a:effectLst/>
        </p:spPr>
        <p:txBody>
          <a:bodyPr vert="vert270" lIns="90000" tIns="46800" rIns="90000" bIns="46800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sz="1100" b="1" dirty="0" smtClean="0">
                <a:solidFill>
                  <a:prstClr val="black"/>
                </a:solidFill>
                <a:latin typeface="Calibri" panose="020F0502020204030204"/>
              </a:rPr>
              <a:t>Negócios</a:t>
            </a:r>
            <a:endParaRPr lang="pt-BR" sz="11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AutoShape 46"/>
          <p:cNvSpPr>
            <a:spLocks noChangeArrowheads="1"/>
          </p:cNvSpPr>
          <p:nvPr/>
        </p:nvSpPr>
        <p:spPr bwMode="auto">
          <a:xfrm rot="5400000">
            <a:off x="1569410" y="1639023"/>
            <a:ext cx="711183" cy="887637"/>
          </a:xfrm>
          <a:prstGeom prst="roundRect">
            <a:avLst>
              <a:gd name="adj" fmla="val 8841"/>
            </a:avLst>
          </a:prstGeom>
          <a:solidFill>
            <a:srgbClr val="00B050"/>
          </a:solidFill>
          <a:ln w="6350" cap="flat" cmpd="sng" algn="ctr">
            <a:solidFill>
              <a:srgbClr val="ED7D31"/>
            </a:solidFill>
            <a:prstDash val="solid"/>
            <a:miter lim="800000"/>
            <a:headEnd/>
            <a:tailEnd/>
          </a:ln>
          <a:effectLst/>
        </p:spPr>
        <p:txBody>
          <a:bodyPr vert="vert270" lIns="90000" tIns="46800" rIns="90000" bIns="46800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sz="1100" b="1" dirty="0" smtClean="0">
                <a:solidFill>
                  <a:prstClr val="black"/>
                </a:solidFill>
                <a:latin typeface="Calibri" panose="020F0502020204030204"/>
              </a:rPr>
              <a:t>Operacional</a:t>
            </a:r>
            <a:endParaRPr lang="pt-BR" sz="11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AutoShape 46"/>
          <p:cNvSpPr>
            <a:spLocks noChangeArrowheads="1"/>
          </p:cNvSpPr>
          <p:nvPr/>
        </p:nvSpPr>
        <p:spPr bwMode="auto">
          <a:xfrm rot="5400000">
            <a:off x="1787270" y="1920271"/>
            <a:ext cx="669604" cy="887637"/>
          </a:xfrm>
          <a:prstGeom prst="roundRect">
            <a:avLst>
              <a:gd name="adj" fmla="val 8841"/>
            </a:avLst>
          </a:prstGeom>
          <a:solidFill>
            <a:srgbClr val="FFFF00"/>
          </a:solidFill>
          <a:ln w="6350" cap="flat" cmpd="sng" algn="ctr">
            <a:solidFill>
              <a:srgbClr val="70AD47"/>
            </a:solidFill>
            <a:prstDash val="solid"/>
            <a:miter lim="800000"/>
            <a:headEnd/>
            <a:tailEnd/>
          </a:ln>
          <a:effectLst/>
        </p:spPr>
        <p:txBody>
          <a:bodyPr vert="vert270" lIns="90000" tIns="46800" rIns="90000" bIns="46800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sz="1100" b="1" dirty="0" smtClean="0">
                <a:solidFill>
                  <a:prstClr val="black"/>
                </a:solidFill>
                <a:latin typeface="Calibri" panose="020F0502020204030204"/>
              </a:rPr>
              <a:t>Técnica</a:t>
            </a:r>
            <a:endParaRPr lang="pt-BR" sz="11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4" name="Grupo 37"/>
          <p:cNvGrpSpPr>
            <a:grpSpLocks/>
          </p:cNvGrpSpPr>
          <p:nvPr/>
        </p:nvGrpSpPr>
        <p:grpSpPr bwMode="auto">
          <a:xfrm>
            <a:off x="127000" y="3889375"/>
            <a:ext cx="1230313" cy="887413"/>
            <a:chOff x="1869229" y="3214688"/>
            <a:chExt cx="1661131" cy="1418441"/>
          </a:xfrm>
        </p:grpSpPr>
        <p:pic>
          <p:nvPicPr>
            <p:cNvPr id="25" name="Picture 12" descr="MCj04339420000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9775" y="3214688"/>
              <a:ext cx="990600" cy="990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CaixaDeTexto 36"/>
            <p:cNvSpPr txBox="1">
              <a:spLocks noChangeArrowheads="1"/>
            </p:cNvSpPr>
            <p:nvPr/>
          </p:nvSpPr>
          <p:spPr bwMode="auto">
            <a:xfrm>
              <a:off x="1869229" y="4214447"/>
              <a:ext cx="1661131" cy="418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&lt;&lt; </a:t>
              </a:r>
              <a:r>
                <a:rPr lang="pt-BR" altLang="pt-BR" sz="1100" b="1" kern="0" dirty="0" smtClean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Governança </a:t>
              </a: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&gt;&gt;</a:t>
              </a:r>
            </a:p>
          </p:txBody>
        </p:sp>
      </p:grpSp>
      <p:grpSp>
        <p:nvGrpSpPr>
          <p:cNvPr id="27" name="Agrupar 18"/>
          <p:cNvGrpSpPr>
            <a:grpSpLocks/>
          </p:cNvGrpSpPr>
          <p:nvPr/>
        </p:nvGrpSpPr>
        <p:grpSpPr bwMode="auto">
          <a:xfrm>
            <a:off x="6959600" y="1954213"/>
            <a:ext cx="911225" cy="801687"/>
            <a:chOff x="8155678" y="1431371"/>
            <a:chExt cx="1229426" cy="1282164"/>
          </a:xfrm>
        </p:grpSpPr>
        <p:pic>
          <p:nvPicPr>
            <p:cNvPr id="28" name="Picture 5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7676" y="1431371"/>
              <a:ext cx="863973" cy="885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CaixaDeTexto 38"/>
            <p:cNvSpPr txBox="1">
              <a:spLocks noChangeArrowheads="1"/>
            </p:cNvSpPr>
            <p:nvPr/>
          </p:nvSpPr>
          <p:spPr bwMode="auto">
            <a:xfrm>
              <a:off x="8155678" y="2294611"/>
              <a:ext cx="1229426" cy="418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&lt;&lt; </a:t>
              </a:r>
              <a:r>
                <a:rPr lang="pt-BR" altLang="pt-BR" sz="1100" b="1" kern="0" dirty="0" smtClean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Global </a:t>
              </a: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&gt;&gt;</a:t>
              </a:r>
            </a:p>
          </p:txBody>
        </p:sp>
      </p:grpSp>
      <p:grpSp>
        <p:nvGrpSpPr>
          <p:cNvPr id="30" name="Agrupar 19"/>
          <p:cNvGrpSpPr>
            <a:grpSpLocks/>
          </p:cNvGrpSpPr>
          <p:nvPr/>
        </p:nvGrpSpPr>
        <p:grpSpPr bwMode="auto">
          <a:xfrm>
            <a:off x="5884863" y="3584575"/>
            <a:ext cx="1152525" cy="755650"/>
            <a:chOff x="9179882" y="1576667"/>
            <a:chExt cx="1556147" cy="1208877"/>
          </a:xfrm>
        </p:grpSpPr>
        <p:pic>
          <p:nvPicPr>
            <p:cNvPr id="31" name="Picture 5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99502" y="1576667"/>
              <a:ext cx="788528" cy="788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CaixaDeTexto 38"/>
            <p:cNvSpPr txBox="1">
              <a:spLocks noChangeArrowheads="1"/>
            </p:cNvSpPr>
            <p:nvPr/>
          </p:nvSpPr>
          <p:spPr bwMode="auto">
            <a:xfrm>
              <a:off x="9179882" y="2366501"/>
              <a:ext cx="1556147" cy="419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&lt;&lt; </a:t>
              </a:r>
              <a:r>
                <a:rPr lang="pt-BR" altLang="pt-BR" sz="1100" b="1" kern="0" dirty="0" smtClean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Executivos </a:t>
              </a: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&gt;&gt;</a:t>
              </a:r>
            </a:p>
          </p:txBody>
        </p:sp>
      </p:grpSp>
      <p:grpSp>
        <p:nvGrpSpPr>
          <p:cNvPr id="33" name="Agrupar 20"/>
          <p:cNvGrpSpPr>
            <a:grpSpLocks/>
          </p:cNvGrpSpPr>
          <p:nvPr/>
        </p:nvGrpSpPr>
        <p:grpSpPr bwMode="auto">
          <a:xfrm>
            <a:off x="7769225" y="2390775"/>
            <a:ext cx="1062038" cy="765175"/>
            <a:chOff x="10127409" y="2223470"/>
            <a:chExt cx="1434979" cy="1221188"/>
          </a:xfrm>
        </p:grpSpPr>
        <p:pic>
          <p:nvPicPr>
            <p:cNvPr id="34" name="Picture 4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3614" y="2223470"/>
              <a:ext cx="791976" cy="792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CaixaDeTexto 38"/>
            <p:cNvSpPr txBox="1">
              <a:spLocks noChangeArrowheads="1"/>
            </p:cNvSpPr>
            <p:nvPr/>
          </p:nvSpPr>
          <p:spPr bwMode="auto">
            <a:xfrm>
              <a:off x="10127409" y="3026617"/>
              <a:ext cx="1434979" cy="418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&lt;&lt; </a:t>
              </a:r>
              <a:r>
                <a:rPr lang="pt-BR" altLang="pt-BR" sz="1100" b="1" kern="0" dirty="0" smtClean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Negócios </a:t>
              </a: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&gt;&gt;</a:t>
              </a:r>
            </a:p>
          </p:txBody>
        </p:sp>
      </p:grpSp>
      <p:grpSp>
        <p:nvGrpSpPr>
          <p:cNvPr id="36" name="Agrupar 21"/>
          <p:cNvGrpSpPr>
            <a:grpSpLocks/>
          </p:cNvGrpSpPr>
          <p:nvPr/>
        </p:nvGrpSpPr>
        <p:grpSpPr bwMode="auto">
          <a:xfrm>
            <a:off x="7778750" y="3190875"/>
            <a:ext cx="1096963" cy="757238"/>
            <a:chOff x="8803659" y="3663651"/>
            <a:chExt cx="1480417" cy="1210157"/>
          </a:xfrm>
        </p:grpSpPr>
        <p:pic>
          <p:nvPicPr>
            <p:cNvPr id="37" name="Picture 6" descr="MCj04339320000[1]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81686" y="3663651"/>
              <a:ext cx="913998" cy="914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CaixaDeTexto 42"/>
            <p:cNvSpPr txBox="1">
              <a:spLocks noChangeArrowheads="1"/>
            </p:cNvSpPr>
            <p:nvPr/>
          </p:nvSpPr>
          <p:spPr bwMode="auto">
            <a:xfrm>
              <a:off x="8803659" y="4455200"/>
              <a:ext cx="1480417" cy="418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&lt;&lt; Arquiteto &gt;&gt;</a:t>
              </a:r>
            </a:p>
          </p:txBody>
        </p:sp>
      </p:grpSp>
      <p:grpSp>
        <p:nvGrpSpPr>
          <p:cNvPr id="39" name="Agrupar 22"/>
          <p:cNvGrpSpPr>
            <a:grpSpLocks/>
          </p:cNvGrpSpPr>
          <p:nvPr/>
        </p:nvGrpSpPr>
        <p:grpSpPr bwMode="auto">
          <a:xfrm>
            <a:off x="7005638" y="3508375"/>
            <a:ext cx="1122362" cy="765175"/>
            <a:chOff x="9671307" y="3303605"/>
            <a:chExt cx="1512872" cy="1221190"/>
          </a:xfrm>
        </p:grpSpPr>
        <p:pic>
          <p:nvPicPr>
            <p:cNvPr id="40" name="Picture 5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5623" y="3303605"/>
              <a:ext cx="791976" cy="792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CaixaDeTexto 42"/>
            <p:cNvSpPr txBox="1">
              <a:spLocks noChangeArrowheads="1"/>
            </p:cNvSpPr>
            <p:nvPr/>
          </p:nvSpPr>
          <p:spPr bwMode="auto">
            <a:xfrm>
              <a:off x="9671307" y="4106754"/>
              <a:ext cx="1512872" cy="418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pt-BR" sz="1100" b="1" kern="0" dirty="0">
                  <a:solidFill>
                    <a:prstClr val="black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&lt;&lt; Integração&gt;&gt;</a:t>
              </a:r>
            </a:p>
          </p:txBody>
        </p:sp>
      </p:grpSp>
      <p:sp>
        <p:nvSpPr>
          <p:cNvPr id="42" name="Retângulo 41"/>
          <p:cNvSpPr/>
          <p:nvPr/>
        </p:nvSpPr>
        <p:spPr>
          <a:xfrm>
            <a:off x="6294437" y="1009650"/>
            <a:ext cx="1560791" cy="806450"/>
          </a:xfrm>
          <a:prstGeom prst="rect">
            <a:avLst/>
          </a:prstGeom>
          <a:noFill/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900" b="1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Visões Módulos: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Alimentar </a:t>
            </a:r>
            <a:r>
              <a:rPr lang="pt-BR" sz="900" kern="0" dirty="0" smtClean="0">
                <a:solidFill>
                  <a:prstClr val="black"/>
                </a:solidFill>
                <a:latin typeface="Calibri" panose="020F0502020204030204"/>
                <a:ea typeface="+mn-ea"/>
              </a:rPr>
              <a:t>Catalogo</a:t>
            </a:r>
            <a:endParaRPr lang="pt-BR" sz="900" kern="0" dirty="0">
              <a:solidFill>
                <a:prstClr val="black"/>
              </a:solidFill>
              <a:latin typeface="Calibri" panose="020F0502020204030204"/>
              <a:ea typeface="+mn-ea"/>
            </a:endParaRP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Relatório </a:t>
            </a:r>
            <a:r>
              <a:rPr lang="pt-BR" sz="900" kern="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SLAs</a:t>
            </a: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</a:p>
          <a:p>
            <a:pPr marL="228600" indent="-2286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Monitoramento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900" kern="0" dirty="0">
                <a:solidFill>
                  <a:prstClr val="black"/>
                </a:solidFill>
                <a:latin typeface="Calibri" panose="020F0502020204030204"/>
                <a:ea typeface="+mn-ea"/>
              </a:rPr>
              <a:t> </a:t>
            </a:r>
          </a:p>
        </p:txBody>
      </p:sp>
      <p:cxnSp>
        <p:nvCxnSpPr>
          <p:cNvPr id="43" name="Forma 48"/>
          <p:cNvCxnSpPr>
            <a:cxnSpLocks noChangeShapeType="1"/>
            <a:stCxn id="42" idx="2"/>
            <a:endCxn id="10" idx="3"/>
          </p:cNvCxnSpPr>
          <p:nvPr/>
        </p:nvCxnSpPr>
        <p:spPr bwMode="auto">
          <a:xfrm rot="5400000">
            <a:off x="6465322" y="2257991"/>
            <a:ext cx="1051403" cy="167620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5B9BD5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Seta para Baixo 43"/>
          <p:cNvSpPr/>
          <p:nvPr/>
        </p:nvSpPr>
        <p:spPr>
          <a:xfrm flipV="1">
            <a:off x="1525588" y="3000375"/>
            <a:ext cx="152400" cy="460375"/>
          </a:xfrm>
          <a:prstGeom prst="down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800" kern="0">
              <a:solidFill>
                <a:prstClr val="white"/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624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627534"/>
            <a:ext cx="5571656" cy="3845922"/>
          </a:xfrm>
        </p:spPr>
      </p:pic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t>Professor Elder Gorayb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800A57F-6A88-4500-9270-8A741E716E75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58</a:t>
            </a:fld>
            <a:endParaRPr lang="pt-BR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743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02"/>
          <p:cNvSpPr txBox="1">
            <a:spLocks/>
          </p:cNvSpPr>
          <p:nvPr/>
        </p:nvSpPr>
        <p:spPr>
          <a:xfrm>
            <a:off x="845887" y="2008909"/>
            <a:ext cx="6476240" cy="224504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Requisitos de mudança </a:t>
            </a:r>
          </a:p>
          <a:p>
            <a:pPr marL="342900" lvl="1" indent="-342900" defTabSz="685800" fontAlgn="auto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</a:pP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>Avaliação de Impacto de Requisitos, que identifica quais as fases do ciclo que precisam ser revisados para direcionar quaisquer alterações. A versão final deve incluir todas as implicações dos requisitos (por exemplo, custos, prazos e métricas de negócio).</a:t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pt-BR" sz="1800" dirty="0">
                <a:solidFill>
                  <a:prstClr val="black"/>
                </a:solidFill>
                <a:latin typeface="Calibri" panose="020F0502020204030204"/>
              </a:rPr>
              <a:t/>
            </a:r>
            <a:br>
              <a:rPr lang="pt-BR" sz="1800" dirty="0">
                <a:solidFill>
                  <a:prstClr val="black"/>
                </a:solidFill>
                <a:latin typeface="Calibri" panose="020F0502020204030204"/>
              </a:rPr>
            </a:b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405"/>
          <p:cNvSpPr>
            <a:spLocks noGrp="1"/>
          </p:cNvSpPr>
          <p:nvPr>
            <p:ph type="title"/>
          </p:nvPr>
        </p:nvSpPr>
        <p:spPr>
          <a:xfrm>
            <a:off x="533400" y="327140"/>
            <a:ext cx="8070273" cy="975187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H – Gerenciamento de Mudança de </a:t>
            </a:r>
            <a:r>
              <a:rPr lang="pt-BR" b="1" dirty="0" smtClean="0"/>
              <a:t>Arquitetura </a:t>
            </a:r>
            <a:r>
              <a:rPr lang="pt-BR" dirty="0" smtClean="0"/>
              <a:t>- </a:t>
            </a:r>
            <a:r>
              <a:rPr lang="pt-BR" dirty="0"/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32126490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RIORES ECO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Diseño personaliz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>
          <a:headEnd type="none" w="med" len="med"/>
          <a:tailEnd type="none" w="med" len="med"/>
        </a:ln>
        <a:extLst/>
      </a:spPr>
      <a:bodyPr/>
      <a:lstStyle/>
      <a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noProof="0" dirty="0" err="1" smtClean="0">
            <a:solidFill>
              <a:schemeClr val="tx2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>
    <a:extraClrScheme>
      <a:clrScheme name="Diseño personalizado 1">
        <a:dk1>
          <a:srgbClr val="123E51"/>
        </a:dk1>
        <a:lt1>
          <a:srgbClr val="FFFFFF"/>
        </a:lt1>
        <a:dk2>
          <a:srgbClr val="00C6D7"/>
        </a:dk2>
        <a:lt2>
          <a:srgbClr val="929292"/>
        </a:lt2>
        <a:accent1>
          <a:srgbClr val="123E51"/>
        </a:accent1>
        <a:accent2>
          <a:srgbClr val="00C6D7"/>
        </a:accent2>
        <a:accent3>
          <a:srgbClr val="FFFFFF"/>
        </a:accent3>
        <a:accent4>
          <a:srgbClr val="0E3444"/>
        </a:accent4>
        <a:accent5>
          <a:srgbClr val="AAAFB3"/>
        </a:accent5>
        <a:accent6>
          <a:srgbClr val="00B3C3"/>
        </a:accent6>
        <a:hlink>
          <a:srgbClr val="D8EDF9"/>
        </a:hlink>
        <a:folHlink>
          <a:srgbClr val="9292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ORTADAS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noProof="0" dirty="0" err="1" smtClean="0">
            <a:solidFill>
              <a:schemeClr val="tx2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PARADORES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noProof="0" dirty="0" err="1" smtClean="0">
            <a:solidFill>
              <a:schemeClr val="tx2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_Diseño personalizado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noProof="0" dirty="0" err="1" smtClean="0">
            <a:solidFill>
              <a:schemeClr val="tx2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PORTADAS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noProof="0" dirty="0" err="1" smtClean="0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Diseño personalizado">
  <a:themeElements>
    <a:clrScheme name="Diseño personalizado 1">
      <a:dk1>
        <a:srgbClr val="123E51"/>
      </a:dk1>
      <a:lt1>
        <a:srgbClr val="FFFFFF"/>
      </a:lt1>
      <a:dk2>
        <a:srgbClr val="00C6D7"/>
      </a:dk2>
      <a:lt2>
        <a:srgbClr val="929292"/>
      </a:lt2>
      <a:accent1>
        <a:srgbClr val="123E51"/>
      </a:accent1>
      <a:accent2>
        <a:srgbClr val="00C6D7"/>
      </a:accent2>
      <a:accent3>
        <a:srgbClr val="FFFFFF"/>
      </a:accent3>
      <a:accent4>
        <a:srgbClr val="0E3444"/>
      </a:accent4>
      <a:accent5>
        <a:srgbClr val="AAAFB3"/>
      </a:accent5>
      <a:accent6>
        <a:srgbClr val="00B3C3"/>
      </a:accent6>
      <a:hlink>
        <a:srgbClr val="D8EDF9"/>
      </a:hlink>
      <a:folHlink>
        <a:srgbClr val="929292"/>
      </a:folHlink>
    </a:clrScheme>
    <a:fontScheme name="Diseño personaliz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sng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itchFamily="34" charset="0"/>
            <a:ea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sng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itchFamily="34" charset="0"/>
            <a:ea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Diseño personalizado 1">
        <a:dk1>
          <a:srgbClr val="123E51"/>
        </a:dk1>
        <a:lt1>
          <a:srgbClr val="FFFFFF"/>
        </a:lt1>
        <a:dk2>
          <a:srgbClr val="00C6D7"/>
        </a:dk2>
        <a:lt2>
          <a:srgbClr val="929292"/>
        </a:lt2>
        <a:accent1>
          <a:srgbClr val="123E51"/>
        </a:accent1>
        <a:accent2>
          <a:srgbClr val="00C6D7"/>
        </a:accent2>
        <a:accent3>
          <a:srgbClr val="FFFFFF"/>
        </a:accent3>
        <a:accent4>
          <a:srgbClr val="0E3444"/>
        </a:accent4>
        <a:accent5>
          <a:srgbClr val="AAAFB3"/>
        </a:accent5>
        <a:accent6>
          <a:srgbClr val="00B3C3"/>
        </a:accent6>
        <a:hlink>
          <a:srgbClr val="D8EDF9"/>
        </a:hlink>
        <a:folHlink>
          <a:srgbClr val="9292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7bbc46cd-eaa5-4717-9dd6-54c76fecba84" Revision="1" Stencil="System.MyShapes" StencilVersion="1.0"/>
</Control>
</file>

<file path=customXml/itemProps1.xml><?xml version="1.0" encoding="utf-8"?>
<ds:datastoreItem xmlns:ds="http://schemas.openxmlformats.org/officeDocument/2006/customXml" ds:itemID="{3F72A944-7FB7-4649-99E3-6F8FC8DC9FB3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3516</TotalTime>
  <Pages>0</Pages>
  <Words>3936</Words>
  <Characters>0</Characters>
  <Application>Microsoft Office PowerPoint</Application>
  <PresentationFormat>Apresentação na tela (16:9)</PresentationFormat>
  <Lines>0</Lines>
  <Paragraphs>758</Paragraphs>
  <Slides>59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9</vt:i4>
      </vt:variant>
      <vt:variant>
        <vt:lpstr>Títulos de slides</vt:lpstr>
      </vt:variant>
      <vt:variant>
        <vt:i4>59</vt:i4>
      </vt:variant>
    </vt:vector>
  </HeadingPairs>
  <TitlesOfParts>
    <vt:vector size="77" baseType="lpstr">
      <vt:lpstr>ＭＳ Ｐゴシック</vt:lpstr>
      <vt:lpstr>ＭＳ Ｐゴシック</vt:lpstr>
      <vt:lpstr>Arial</vt:lpstr>
      <vt:lpstr>Calibri</vt:lpstr>
      <vt:lpstr>Calibri Light</vt:lpstr>
      <vt:lpstr>Courier New</vt:lpstr>
      <vt:lpstr>Gill Sans</vt:lpstr>
      <vt:lpstr>Wingdings</vt:lpstr>
      <vt:lpstr>ヒラギノ角ゴ ProN W3</vt:lpstr>
      <vt:lpstr>INTERIORES ECO</vt:lpstr>
      <vt:lpstr>PORTADAS</vt:lpstr>
      <vt:lpstr>SEPARADORES</vt:lpstr>
      <vt:lpstr>1_Diseño personalizado</vt:lpstr>
      <vt:lpstr>1_PORTADAS</vt:lpstr>
      <vt:lpstr>Diseño personalizado</vt:lpstr>
      <vt:lpstr>Tema do Office</vt:lpstr>
      <vt:lpstr>1_Tema do Office</vt:lpstr>
      <vt:lpstr>2_Tema do Office</vt:lpstr>
      <vt:lpstr>Introdução Arquitetura Togaf</vt:lpstr>
      <vt:lpstr>Introdução Arquitetura Togaf</vt:lpstr>
      <vt:lpstr>Tipo de Arquitetura</vt:lpstr>
      <vt:lpstr>Conteúdo TOGAF – 7 Partes</vt:lpstr>
      <vt:lpstr>Apresentação do PowerPoint</vt:lpstr>
      <vt:lpstr>Ciclo de vida Togaf (Arquitetura)</vt:lpstr>
      <vt:lpstr>Apresentação do PowerPoint</vt:lpstr>
      <vt:lpstr>Apresentação do PowerPoint</vt:lpstr>
      <vt:lpstr>Manifesto Ágil – Princípios Ágeis</vt:lpstr>
      <vt:lpstr>Modelo Agile - Safe</vt:lpstr>
      <vt:lpstr>Apresentação do PowerPoint</vt:lpstr>
      <vt:lpstr>Papéis e Responsabilidades</vt:lpstr>
      <vt:lpstr>Levantamento de requisitos </vt:lpstr>
      <vt:lpstr>Ciclo de vida X Agile X Togaf (Arquitetura)</vt:lpstr>
      <vt:lpstr>Fase A – Arquitetura de Visão</vt:lpstr>
      <vt:lpstr>A – Arquitetura de Visão - Objetivos</vt:lpstr>
      <vt:lpstr>A –Arquitetura de Visão - Entrada</vt:lpstr>
      <vt:lpstr>A - Arquitetura de Visão - Passos</vt:lpstr>
      <vt:lpstr>A - Visão de Arquitetura - DevOps</vt:lpstr>
      <vt:lpstr>A – Arquitetura de Visão - Saída</vt:lpstr>
      <vt:lpstr>B - Arquitetura Negócios - Objetivos</vt:lpstr>
      <vt:lpstr>B - Arquitetura Negócios - Entrada</vt:lpstr>
      <vt:lpstr>B - Arquitetura Negócios - Passos</vt:lpstr>
      <vt:lpstr>B - Arquitetura Negócios – TMForum</vt:lpstr>
      <vt:lpstr>Apresentação do PowerPoint</vt:lpstr>
      <vt:lpstr>C -Arquitetura de Sistemas de Informação -</vt:lpstr>
      <vt:lpstr>C -Arquitetura de Sistemas de Informação - Objetivos</vt:lpstr>
      <vt:lpstr>C1 – Arquitetura de Dados - Entrada</vt:lpstr>
      <vt:lpstr>C2 – Arquitetura do Aplicativo - Entrada</vt:lpstr>
      <vt:lpstr>C -Arquitetura de Sistemas de Informação - Passos</vt:lpstr>
      <vt:lpstr>C1 – Arquitetura de Dados - Saida</vt:lpstr>
      <vt:lpstr>C2 – Arquitetura do Aplicativo - Saida</vt:lpstr>
      <vt:lpstr>D –Arquitetura de Tecnologia Objetivos</vt:lpstr>
      <vt:lpstr>D –Arquitetura de Tecnologia- Entrada</vt:lpstr>
      <vt:lpstr>D –Arquitetura de Tecnologia - Passos</vt:lpstr>
      <vt:lpstr>Apresentação do PowerPoint</vt:lpstr>
      <vt:lpstr>Apresentação do PowerPoint</vt:lpstr>
      <vt:lpstr>E – Oportunidades e Soluções</vt:lpstr>
      <vt:lpstr>E – Oportunidades e Soluções Objetivos</vt:lpstr>
      <vt:lpstr>E – Oportunidades e Soluções - Entrada</vt:lpstr>
      <vt:lpstr>E – Oportunidades e Soluções - Passos</vt:lpstr>
      <vt:lpstr>E – Oportunidades e Soluções - Saída</vt:lpstr>
      <vt:lpstr>F – Planejamento da Migração</vt:lpstr>
      <vt:lpstr>F – Planejamento da Migração - Objetivos</vt:lpstr>
      <vt:lpstr>F – Planejamento da Migração - Entrada</vt:lpstr>
      <vt:lpstr>Apresentação do PowerPoint</vt:lpstr>
      <vt:lpstr>F – Planejamento da Migração - Saída</vt:lpstr>
      <vt:lpstr>G – Governança e Implementação</vt:lpstr>
      <vt:lpstr>G – Governança e Implementação - Objetivos</vt:lpstr>
      <vt:lpstr>G – Governança e Implementação - Entrada</vt:lpstr>
      <vt:lpstr>Apresentação do PowerPoint</vt:lpstr>
      <vt:lpstr>G – Governança e Implementação - Saída</vt:lpstr>
      <vt:lpstr>H – Gerenciamento de Mudança de Arquitetura</vt:lpstr>
      <vt:lpstr>H – Gerenciamento de Mudança de Arquitetura - Objetivos</vt:lpstr>
      <vt:lpstr>H – Gerenciamento de Mudança de Arquitetura- Entrada</vt:lpstr>
      <vt:lpstr>H – Gerenciamento de Mudança de Arquitetura- Passos</vt:lpstr>
      <vt:lpstr>Governança em 3 Pilares</vt:lpstr>
      <vt:lpstr>Apresentação do PowerPoint</vt:lpstr>
      <vt:lpstr>H – Gerenciamento de Mudança de Arquitetura - Saída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Elder Gorayb</dc:creator>
  <cp:lastModifiedBy>Elder Gorayb</cp:lastModifiedBy>
  <cp:revision>255</cp:revision>
  <cp:lastPrinted>2013-05-07T10:14:36Z</cp:lastPrinted>
  <dcterms:created xsi:type="dcterms:W3CDTF">2016-01-15T12:30:06Z</dcterms:created>
  <dcterms:modified xsi:type="dcterms:W3CDTF">2018-09-12T18:25:57Z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