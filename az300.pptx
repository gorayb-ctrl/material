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xml" ContentType="application/vnd.openxmlformats-officedocument.themeOverr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6"/>
  </p:notesMasterIdLst>
  <p:sldIdLst>
    <p:sldId id="256" r:id="rId2"/>
    <p:sldId id="257" r:id="rId3"/>
    <p:sldId id="348" r:id="rId4"/>
    <p:sldId id="343" r:id="rId5"/>
    <p:sldId id="344" r:id="rId6"/>
    <p:sldId id="345" r:id="rId7"/>
    <p:sldId id="346" r:id="rId8"/>
    <p:sldId id="350" r:id="rId9"/>
    <p:sldId id="351" r:id="rId10"/>
    <p:sldId id="347" r:id="rId11"/>
    <p:sldId id="352" r:id="rId12"/>
    <p:sldId id="258" r:id="rId13"/>
    <p:sldId id="259" r:id="rId14"/>
    <p:sldId id="261" r:id="rId15"/>
    <p:sldId id="357" r:id="rId16"/>
    <p:sldId id="359" r:id="rId17"/>
    <p:sldId id="260" r:id="rId18"/>
    <p:sldId id="358" r:id="rId19"/>
    <p:sldId id="360" r:id="rId20"/>
    <p:sldId id="361" r:id="rId21"/>
    <p:sldId id="362" r:id="rId22"/>
    <p:sldId id="363" r:id="rId23"/>
    <p:sldId id="364" r:id="rId24"/>
    <p:sldId id="365" r:id="rId25"/>
    <p:sldId id="430" r:id="rId26"/>
    <p:sldId id="353" r:id="rId27"/>
    <p:sldId id="263" r:id="rId28"/>
    <p:sldId id="264" r:id="rId29"/>
    <p:sldId id="265" r:id="rId30"/>
    <p:sldId id="266" r:id="rId31"/>
    <p:sldId id="267" r:id="rId32"/>
    <p:sldId id="268" r:id="rId33"/>
    <p:sldId id="270" r:id="rId34"/>
    <p:sldId id="271" r:id="rId35"/>
    <p:sldId id="272" r:id="rId36"/>
    <p:sldId id="273" r:id="rId37"/>
    <p:sldId id="366" r:id="rId38"/>
    <p:sldId id="367" r:id="rId39"/>
    <p:sldId id="368" r:id="rId40"/>
    <p:sldId id="369" r:id="rId41"/>
    <p:sldId id="370" r:id="rId42"/>
    <p:sldId id="371" r:id="rId43"/>
    <p:sldId id="274" r:id="rId44"/>
    <p:sldId id="275" r:id="rId45"/>
    <p:sldId id="372" r:id="rId46"/>
    <p:sldId id="373" r:id="rId47"/>
    <p:sldId id="374" r:id="rId48"/>
    <p:sldId id="375" r:id="rId49"/>
    <p:sldId id="376" r:id="rId50"/>
    <p:sldId id="377" r:id="rId51"/>
    <p:sldId id="354" r:id="rId52"/>
    <p:sldId id="278" r:id="rId53"/>
    <p:sldId id="378" r:id="rId54"/>
    <p:sldId id="276" r:id="rId55"/>
    <p:sldId id="277" r:id="rId56"/>
    <p:sldId id="379" r:id="rId57"/>
    <p:sldId id="279" r:id="rId58"/>
    <p:sldId id="280" r:id="rId59"/>
    <p:sldId id="286" r:id="rId60"/>
    <p:sldId id="380" r:id="rId61"/>
    <p:sldId id="381" r:id="rId62"/>
    <p:sldId id="382" r:id="rId63"/>
    <p:sldId id="383" r:id="rId64"/>
    <p:sldId id="384" r:id="rId65"/>
    <p:sldId id="385" r:id="rId66"/>
    <p:sldId id="386" r:id="rId67"/>
    <p:sldId id="387" r:id="rId68"/>
    <p:sldId id="284" r:id="rId69"/>
    <p:sldId id="281" r:id="rId70"/>
    <p:sldId id="388" r:id="rId71"/>
    <p:sldId id="389" r:id="rId72"/>
    <p:sldId id="282" r:id="rId73"/>
    <p:sldId id="391" r:id="rId74"/>
    <p:sldId id="285" r:id="rId75"/>
    <p:sldId id="392" r:id="rId76"/>
    <p:sldId id="355" r:id="rId77"/>
    <p:sldId id="287" r:id="rId78"/>
    <p:sldId id="393" r:id="rId79"/>
    <p:sldId id="394" r:id="rId80"/>
    <p:sldId id="395" r:id="rId81"/>
    <p:sldId id="396" r:id="rId82"/>
    <p:sldId id="397" r:id="rId83"/>
    <p:sldId id="398" r:id="rId84"/>
    <p:sldId id="399" r:id="rId85"/>
    <p:sldId id="400" r:id="rId86"/>
    <p:sldId id="390" r:id="rId87"/>
    <p:sldId id="288" r:id="rId88"/>
    <p:sldId id="289" r:id="rId89"/>
    <p:sldId id="401" r:id="rId90"/>
    <p:sldId id="290" r:id="rId91"/>
    <p:sldId id="402" r:id="rId92"/>
    <p:sldId id="403" r:id="rId93"/>
    <p:sldId id="404" r:id="rId94"/>
    <p:sldId id="291" r:id="rId95"/>
    <p:sldId id="292" r:id="rId96"/>
    <p:sldId id="293" r:id="rId97"/>
    <p:sldId id="294" r:id="rId98"/>
    <p:sldId id="295" r:id="rId99"/>
    <p:sldId id="296" r:id="rId100"/>
    <p:sldId id="297" r:id="rId101"/>
    <p:sldId id="298" r:id="rId102"/>
    <p:sldId id="299" r:id="rId103"/>
    <p:sldId id="300" r:id="rId104"/>
    <p:sldId id="301" r:id="rId105"/>
    <p:sldId id="302" r:id="rId106"/>
    <p:sldId id="303" r:id="rId107"/>
    <p:sldId id="304" r:id="rId108"/>
    <p:sldId id="305" r:id="rId109"/>
    <p:sldId id="356" r:id="rId110"/>
    <p:sldId id="306" r:id="rId111"/>
    <p:sldId id="311" r:id="rId112"/>
    <p:sldId id="307" r:id="rId113"/>
    <p:sldId id="308" r:id="rId114"/>
    <p:sldId id="309" r:id="rId115"/>
    <p:sldId id="310" r:id="rId116"/>
    <p:sldId id="312" r:id="rId117"/>
    <p:sldId id="313" r:id="rId118"/>
    <p:sldId id="314" r:id="rId119"/>
    <p:sldId id="315" r:id="rId120"/>
    <p:sldId id="316" r:id="rId121"/>
    <p:sldId id="317" r:id="rId122"/>
    <p:sldId id="319" r:id="rId123"/>
    <p:sldId id="342" r:id="rId124"/>
    <p:sldId id="318" r:id="rId125"/>
    <p:sldId id="322" r:id="rId126"/>
    <p:sldId id="323" r:id="rId127"/>
    <p:sldId id="324" r:id="rId128"/>
    <p:sldId id="320" r:id="rId129"/>
    <p:sldId id="325" r:id="rId130"/>
    <p:sldId id="326" r:id="rId131"/>
    <p:sldId id="327" r:id="rId132"/>
    <p:sldId id="328" r:id="rId133"/>
    <p:sldId id="321" r:id="rId134"/>
    <p:sldId id="337" r:id="rId135"/>
    <p:sldId id="335" r:id="rId136"/>
    <p:sldId id="339" r:id="rId137"/>
    <p:sldId id="338" r:id="rId138"/>
    <p:sldId id="428" r:id="rId139"/>
    <p:sldId id="341" r:id="rId140"/>
    <p:sldId id="330" r:id="rId141"/>
    <p:sldId id="329" r:id="rId142"/>
    <p:sldId id="331" r:id="rId143"/>
    <p:sldId id="332" r:id="rId144"/>
    <p:sldId id="333" r:id="rId1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9D6"/>
    <a:srgbClr val="3865B6"/>
    <a:srgbClr val="B4C7E7"/>
    <a:srgbClr val="CC3399"/>
    <a:srgbClr val="7093D2"/>
    <a:srgbClr val="8FAA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Estilo Claro 2 - Ênfas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Estilo Claro 1 - Ênfase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sorterViewPr>
    <p:cViewPr>
      <p:scale>
        <a:sx n="100" d="100"/>
        <a:sy n="100" d="100"/>
      </p:scale>
      <p:origin x="0" y="-96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viewProps" Target="viewProps.xml"/><Relationship Id="rId15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der Gorayb" userId="ab2a9a34-521b-4047-b15b-beb78d990b2f" providerId="ADAL" clId="{7B0D026A-BDE0-4A78-8919-2F9C77DECD55}"/>
    <pc:docChg chg="undo custSel mod addSld delSld modSld sldOrd modMainMaster">
      <pc:chgData name="Elder Gorayb" userId="ab2a9a34-521b-4047-b15b-beb78d990b2f" providerId="ADAL" clId="{7B0D026A-BDE0-4A78-8919-2F9C77DECD55}" dt="2026-06-10T14:40:00.601" v="5510" actId="20577"/>
      <pc:docMkLst>
        <pc:docMk/>
      </pc:docMkLst>
      <pc:sldChg chg="modSp mod">
        <pc:chgData name="Elder Gorayb" userId="ab2a9a34-521b-4047-b15b-beb78d990b2f" providerId="ADAL" clId="{7B0D026A-BDE0-4A78-8919-2F9C77DECD55}" dt="2026-06-10T14:25:13.895" v="5480" actId="20577"/>
        <pc:sldMkLst>
          <pc:docMk/>
          <pc:sldMk cId="4223595868" sldId="422"/>
        </pc:sldMkLst>
      </pc:sldChg>
      <pc:sldChg chg="modSp mod">
        <pc:chgData name="Elder Gorayb" userId="ab2a9a34-521b-4047-b15b-beb78d990b2f" providerId="ADAL" clId="{7B0D026A-BDE0-4A78-8919-2F9C77DECD55}" dt="2026-06-10T14:25:33.292" v="5481" actId="20577"/>
        <pc:sldMkLst>
          <pc:docMk/>
          <pc:sldMk cId="1457007468" sldId="423"/>
        </pc:sldMkLst>
      </pc:sldChg>
      <pc:sldChg chg="modSp mod">
        <pc:chgData name="Elder Gorayb" userId="ab2a9a34-521b-4047-b15b-beb78d990b2f" providerId="ADAL" clId="{7B0D026A-BDE0-4A78-8919-2F9C77DECD55}" dt="2026-06-10T14:40:00.601" v="5510" actId="20577"/>
        <pc:sldMkLst>
          <pc:docMk/>
          <pc:sldMk cId="1345230470" sldId="424"/>
        </pc:sldMkLst>
      </pc:sldChg>
      <pc:sldChg chg="addSp delSp modSp new mod">
        <pc:chgData name="Elder Gorayb" userId="ab2a9a34-521b-4047-b15b-beb78d990b2f" providerId="ADAL" clId="{7B0D026A-BDE0-4A78-8919-2F9C77DECD55}" dt="2026-05-20T17:01:18.616" v="5285" actId="1076"/>
        <pc:sldMkLst>
          <pc:docMk/>
          <pc:sldMk cId="2236812477" sldId="428"/>
        </pc:sldMkLst>
      </pc:sldChg>
      <pc:sldChg chg="new">
        <pc:chgData name="Elder Gorayb" userId="ab2a9a34-521b-4047-b15b-beb78d990b2f" providerId="ADAL" clId="{7B0D026A-BDE0-4A78-8919-2F9C77DECD55}" dt="2026-06-10T14:22:28.336" v="5286" actId="680"/>
        <pc:sldMkLst>
          <pc:docMk/>
          <pc:sldMk cId="4033624616" sldId="429"/>
        </pc:sldMkLst>
      </pc:sldChg>
    </pc:docChg>
  </pc:docChgLst>
  <pc:docChgLst>
    <pc:chgData name="Elder Gorayb" userId="2b36c9a13f8b2c09" providerId="LiveId" clId="{11155AE9-D1A6-4DDE-B530-3430856E27A2}"/>
    <pc:docChg chg="custSel addSld delSld modSld">
      <pc:chgData name="Elder Gorayb" userId="2b36c9a13f8b2c09" providerId="LiveId" clId="{11155AE9-D1A6-4DDE-B530-3430856E27A2}" dt="2026-10-07T00:43:37.633" v="1920" actId="47"/>
      <pc:docMkLst>
        <pc:docMk/>
      </pc:docMkLst>
      <pc:sldChg chg="modSp mod">
        <pc:chgData name="Elder Gorayb" userId="2b36c9a13f8b2c09" providerId="LiveId" clId="{11155AE9-D1A6-4DDE-B530-3430856E27A2}" dt="2026-07-08T21:32:50.586" v="488" actId="20577"/>
        <pc:sldMkLst>
          <pc:docMk/>
          <pc:sldMk cId="2911729358" sldId="268"/>
        </pc:sldMkLst>
      </pc:sldChg>
      <pc:sldChg chg="del">
        <pc:chgData name="Elder Gorayb" userId="2b36c9a13f8b2c09" providerId="LiveId" clId="{11155AE9-D1A6-4DDE-B530-3430856E27A2}" dt="2026-10-07T00:43:37.633" v="1920" actId="47"/>
        <pc:sldMkLst>
          <pc:docMk/>
          <pc:sldMk cId="102368783" sldId="405"/>
        </pc:sldMkLst>
      </pc:sldChg>
      <pc:sldChg chg="del">
        <pc:chgData name="Elder Gorayb" userId="2b36c9a13f8b2c09" providerId="LiveId" clId="{11155AE9-D1A6-4DDE-B530-3430856E27A2}" dt="2026-10-07T00:43:37.633" v="1920" actId="47"/>
        <pc:sldMkLst>
          <pc:docMk/>
          <pc:sldMk cId="539807580" sldId="406"/>
        </pc:sldMkLst>
      </pc:sldChg>
      <pc:sldChg chg="del">
        <pc:chgData name="Elder Gorayb" userId="2b36c9a13f8b2c09" providerId="LiveId" clId="{11155AE9-D1A6-4DDE-B530-3430856E27A2}" dt="2026-10-07T00:43:37.633" v="1920" actId="47"/>
        <pc:sldMkLst>
          <pc:docMk/>
          <pc:sldMk cId="3128776314" sldId="407"/>
        </pc:sldMkLst>
      </pc:sldChg>
      <pc:sldChg chg="del">
        <pc:chgData name="Elder Gorayb" userId="2b36c9a13f8b2c09" providerId="LiveId" clId="{11155AE9-D1A6-4DDE-B530-3430856E27A2}" dt="2026-10-07T00:43:37.633" v="1920" actId="47"/>
        <pc:sldMkLst>
          <pc:docMk/>
          <pc:sldMk cId="1375649174" sldId="408"/>
        </pc:sldMkLst>
      </pc:sldChg>
      <pc:sldChg chg="del">
        <pc:chgData name="Elder Gorayb" userId="2b36c9a13f8b2c09" providerId="LiveId" clId="{11155AE9-D1A6-4DDE-B530-3430856E27A2}" dt="2026-10-07T00:43:37.633" v="1920" actId="47"/>
        <pc:sldMkLst>
          <pc:docMk/>
          <pc:sldMk cId="2853901890" sldId="409"/>
        </pc:sldMkLst>
      </pc:sldChg>
      <pc:sldChg chg="del">
        <pc:chgData name="Elder Gorayb" userId="2b36c9a13f8b2c09" providerId="LiveId" clId="{11155AE9-D1A6-4DDE-B530-3430856E27A2}" dt="2026-10-07T00:43:37.633" v="1920" actId="47"/>
        <pc:sldMkLst>
          <pc:docMk/>
          <pc:sldMk cId="1429975403" sldId="410"/>
        </pc:sldMkLst>
      </pc:sldChg>
      <pc:sldChg chg="del">
        <pc:chgData name="Elder Gorayb" userId="2b36c9a13f8b2c09" providerId="LiveId" clId="{11155AE9-D1A6-4DDE-B530-3430856E27A2}" dt="2026-10-07T00:43:37.633" v="1920" actId="47"/>
        <pc:sldMkLst>
          <pc:docMk/>
          <pc:sldMk cId="500118210" sldId="411"/>
        </pc:sldMkLst>
      </pc:sldChg>
      <pc:sldChg chg="del">
        <pc:chgData name="Elder Gorayb" userId="2b36c9a13f8b2c09" providerId="LiveId" clId="{11155AE9-D1A6-4DDE-B530-3430856E27A2}" dt="2026-10-07T00:43:37.633" v="1920" actId="47"/>
        <pc:sldMkLst>
          <pc:docMk/>
          <pc:sldMk cId="1977626680" sldId="412"/>
        </pc:sldMkLst>
      </pc:sldChg>
      <pc:sldChg chg="del">
        <pc:chgData name="Elder Gorayb" userId="2b36c9a13f8b2c09" providerId="LiveId" clId="{11155AE9-D1A6-4DDE-B530-3430856E27A2}" dt="2026-10-07T00:43:37.633" v="1920" actId="47"/>
        <pc:sldMkLst>
          <pc:docMk/>
          <pc:sldMk cId="2816781704" sldId="413"/>
        </pc:sldMkLst>
      </pc:sldChg>
      <pc:sldChg chg="del">
        <pc:chgData name="Elder Gorayb" userId="2b36c9a13f8b2c09" providerId="LiveId" clId="{11155AE9-D1A6-4DDE-B530-3430856E27A2}" dt="2026-10-07T00:43:37.633" v="1920" actId="47"/>
        <pc:sldMkLst>
          <pc:docMk/>
          <pc:sldMk cId="2453594963" sldId="414"/>
        </pc:sldMkLst>
      </pc:sldChg>
      <pc:sldChg chg="del">
        <pc:chgData name="Elder Gorayb" userId="2b36c9a13f8b2c09" providerId="LiveId" clId="{11155AE9-D1A6-4DDE-B530-3430856E27A2}" dt="2026-10-07T00:43:37.633" v="1920" actId="47"/>
        <pc:sldMkLst>
          <pc:docMk/>
          <pc:sldMk cId="1549550972" sldId="415"/>
        </pc:sldMkLst>
      </pc:sldChg>
      <pc:sldChg chg="del">
        <pc:chgData name="Elder Gorayb" userId="2b36c9a13f8b2c09" providerId="LiveId" clId="{11155AE9-D1A6-4DDE-B530-3430856E27A2}" dt="2026-10-07T00:43:37.633" v="1920" actId="47"/>
        <pc:sldMkLst>
          <pc:docMk/>
          <pc:sldMk cId="1002414299" sldId="416"/>
        </pc:sldMkLst>
      </pc:sldChg>
      <pc:sldChg chg="del">
        <pc:chgData name="Elder Gorayb" userId="2b36c9a13f8b2c09" providerId="LiveId" clId="{11155AE9-D1A6-4DDE-B530-3430856E27A2}" dt="2026-10-07T00:43:37.633" v="1920" actId="47"/>
        <pc:sldMkLst>
          <pc:docMk/>
          <pc:sldMk cId="4059620708" sldId="417"/>
        </pc:sldMkLst>
      </pc:sldChg>
      <pc:sldChg chg="del">
        <pc:chgData name="Elder Gorayb" userId="2b36c9a13f8b2c09" providerId="LiveId" clId="{11155AE9-D1A6-4DDE-B530-3430856E27A2}" dt="2026-10-07T00:43:37.633" v="1920" actId="47"/>
        <pc:sldMkLst>
          <pc:docMk/>
          <pc:sldMk cId="1973681430" sldId="418"/>
        </pc:sldMkLst>
      </pc:sldChg>
      <pc:sldChg chg="del">
        <pc:chgData name="Elder Gorayb" userId="2b36c9a13f8b2c09" providerId="LiveId" clId="{11155AE9-D1A6-4DDE-B530-3430856E27A2}" dt="2026-10-07T00:43:37.633" v="1920" actId="47"/>
        <pc:sldMkLst>
          <pc:docMk/>
          <pc:sldMk cId="3664541173" sldId="419"/>
        </pc:sldMkLst>
      </pc:sldChg>
      <pc:sldChg chg="del">
        <pc:chgData name="Elder Gorayb" userId="2b36c9a13f8b2c09" providerId="LiveId" clId="{11155AE9-D1A6-4DDE-B530-3430856E27A2}" dt="2026-10-07T00:43:37.633" v="1920" actId="47"/>
        <pc:sldMkLst>
          <pc:docMk/>
          <pc:sldMk cId="2444352147" sldId="420"/>
        </pc:sldMkLst>
      </pc:sldChg>
      <pc:sldChg chg="modSp del mod">
        <pc:chgData name="Elder Gorayb" userId="2b36c9a13f8b2c09" providerId="LiveId" clId="{11155AE9-D1A6-4DDE-B530-3430856E27A2}" dt="2026-10-07T00:43:37.633" v="1920" actId="47"/>
        <pc:sldMkLst>
          <pc:docMk/>
          <pc:sldMk cId="142449504" sldId="421"/>
        </pc:sldMkLst>
      </pc:sldChg>
      <pc:sldChg chg="modSp del mod">
        <pc:chgData name="Elder Gorayb" userId="2b36c9a13f8b2c09" providerId="LiveId" clId="{11155AE9-D1A6-4DDE-B530-3430856E27A2}" dt="2026-10-07T00:43:37.633" v="1920" actId="47"/>
        <pc:sldMkLst>
          <pc:docMk/>
          <pc:sldMk cId="4223595868" sldId="422"/>
        </pc:sldMkLst>
      </pc:sldChg>
      <pc:sldChg chg="del">
        <pc:chgData name="Elder Gorayb" userId="2b36c9a13f8b2c09" providerId="LiveId" clId="{11155AE9-D1A6-4DDE-B530-3430856E27A2}" dt="2026-10-07T00:43:37.633" v="1920" actId="47"/>
        <pc:sldMkLst>
          <pc:docMk/>
          <pc:sldMk cId="1457007468" sldId="423"/>
        </pc:sldMkLst>
      </pc:sldChg>
      <pc:sldChg chg="del">
        <pc:chgData name="Elder Gorayb" userId="2b36c9a13f8b2c09" providerId="LiveId" clId="{11155AE9-D1A6-4DDE-B530-3430856E27A2}" dt="2026-10-07T00:43:37.633" v="1920" actId="47"/>
        <pc:sldMkLst>
          <pc:docMk/>
          <pc:sldMk cId="1345230470" sldId="424"/>
        </pc:sldMkLst>
      </pc:sldChg>
      <pc:sldChg chg="del">
        <pc:chgData name="Elder Gorayb" userId="2b36c9a13f8b2c09" providerId="LiveId" clId="{11155AE9-D1A6-4DDE-B530-3430856E27A2}" dt="2026-10-07T00:43:37.633" v="1920" actId="47"/>
        <pc:sldMkLst>
          <pc:docMk/>
          <pc:sldMk cId="2453806069" sldId="425"/>
        </pc:sldMkLst>
      </pc:sldChg>
      <pc:sldChg chg="del">
        <pc:chgData name="Elder Gorayb" userId="2b36c9a13f8b2c09" providerId="LiveId" clId="{11155AE9-D1A6-4DDE-B530-3430856E27A2}" dt="2026-10-07T00:43:37.633" v="1920" actId="47"/>
        <pc:sldMkLst>
          <pc:docMk/>
          <pc:sldMk cId="4213591755" sldId="426"/>
        </pc:sldMkLst>
      </pc:sldChg>
      <pc:sldChg chg="addSp modSp del mod">
        <pc:chgData name="Elder Gorayb" userId="2b36c9a13f8b2c09" providerId="LiveId" clId="{11155AE9-D1A6-4DDE-B530-3430856E27A2}" dt="2026-10-07T00:43:37.633" v="1920" actId="47"/>
        <pc:sldMkLst>
          <pc:docMk/>
          <pc:sldMk cId="1662511250" sldId="427"/>
        </pc:sldMkLst>
      </pc:sldChg>
      <pc:sldChg chg="del">
        <pc:chgData name="Elder Gorayb" userId="2b36c9a13f8b2c09" providerId="LiveId" clId="{11155AE9-D1A6-4DDE-B530-3430856E27A2}" dt="2026-10-07T00:43:37.633" v="1920" actId="47"/>
        <pc:sldMkLst>
          <pc:docMk/>
          <pc:sldMk cId="4033624616" sldId="429"/>
        </pc:sldMkLst>
      </pc:sldChg>
      <pc:sldChg chg="addSp delSp modSp new mod">
        <pc:chgData name="Elder Gorayb" userId="2b36c9a13f8b2c09" providerId="LiveId" clId="{11155AE9-D1A6-4DDE-B530-3430856E27A2}" dt="2026-07-08T18:24:58.386" v="476" actId="1076"/>
        <pc:sldMkLst>
          <pc:docMk/>
          <pc:sldMk cId="3882092390" sldId="430"/>
        </pc:sldMkLst>
      </pc:sldChg>
      <pc:sldChg chg="addSp modSp new del mod">
        <pc:chgData name="Elder Gorayb" userId="2b36c9a13f8b2c09" providerId="LiveId" clId="{11155AE9-D1A6-4DDE-B530-3430856E27A2}" dt="2026-10-07T00:43:37.633" v="1920" actId="47"/>
        <pc:sldMkLst>
          <pc:docMk/>
          <pc:sldMk cId="150005844" sldId="431"/>
        </pc:sldMkLst>
      </pc:sldChg>
      <pc:sldChg chg="addSp delSp modSp add del mod">
        <pc:chgData name="Elder Gorayb" userId="2b36c9a13f8b2c09" providerId="LiveId" clId="{11155AE9-D1A6-4DDE-B530-3430856E27A2}" dt="2026-10-07T00:43:37.633" v="1920" actId="47"/>
        <pc:sldMkLst>
          <pc:docMk/>
          <pc:sldMk cId="2876625738" sldId="432"/>
        </pc:sldMkLst>
      </pc:sldChg>
      <pc:sldChg chg="modSp add del mod">
        <pc:chgData name="Elder Gorayb" userId="2b36c9a13f8b2c09" providerId="LiveId" clId="{11155AE9-D1A6-4DDE-B530-3430856E27A2}" dt="2026-10-07T00:43:37.633" v="1920" actId="47"/>
        <pc:sldMkLst>
          <pc:docMk/>
          <pc:sldMk cId="3362046030" sldId="433"/>
        </pc:sldMkLst>
      </pc:sldChg>
      <pc:sldChg chg="addSp delSp modSp add del mod">
        <pc:chgData name="Elder Gorayb" userId="2b36c9a13f8b2c09" providerId="LiveId" clId="{11155AE9-D1A6-4DDE-B530-3430856E27A2}" dt="2026-10-07T00:43:37.633" v="1920" actId="47"/>
        <pc:sldMkLst>
          <pc:docMk/>
          <pc:sldMk cId="2120000332" sldId="434"/>
        </pc:sldMkLst>
      </pc:sldChg>
      <pc:sldChg chg="add del">
        <pc:chgData name="Elder Gorayb" userId="2b36c9a13f8b2c09" providerId="LiveId" clId="{11155AE9-D1A6-4DDE-B530-3430856E27A2}" dt="2026-10-07T00:43:37.633" v="1920" actId="47"/>
        <pc:sldMkLst>
          <pc:docMk/>
          <pc:sldMk cId="492845762" sldId="435"/>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3.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33.png"/><Relationship Id="rId18" Type="http://schemas.openxmlformats.org/officeDocument/2006/relationships/image" Target="../media/image38.sv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svg"/><Relationship Id="rId17" Type="http://schemas.openxmlformats.org/officeDocument/2006/relationships/image" Target="../media/image37.png"/><Relationship Id="rId2" Type="http://schemas.openxmlformats.org/officeDocument/2006/relationships/image" Target="../media/image22.svg"/><Relationship Id="rId16" Type="http://schemas.openxmlformats.org/officeDocument/2006/relationships/image" Target="../media/image36.svg"/><Relationship Id="rId20" Type="http://schemas.openxmlformats.org/officeDocument/2006/relationships/image" Target="../media/image40.svg"/><Relationship Id="rId1" Type="http://schemas.openxmlformats.org/officeDocument/2006/relationships/image" Target="../media/image21.png"/><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svg"/><Relationship Id="rId19" Type="http://schemas.openxmlformats.org/officeDocument/2006/relationships/image" Target="../media/image39.png"/><Relationship Id="rId4" Type="http://schemas.openxmlformats.org/officeDocument/2006/relationships/image" Target="../media/image24.svg"/><Relationship Id="rId9" Type="http://schemas.openxmlformats.org/officeDocument/2006/relationships/image" Target="../media/image29.png"/><Relationship Id="rId14" Type="http://schemas.openxmlformats.org/officeDocument/2006/relationships/image" Target="../media/image34.svg"/></Relationships>
</file>

<file path=ppt/diagrams/_rels/data7.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svg"/><Relationship Id="rId1" Type="http://schemas.openxmlformats.org/officeDocument/2006/relationships/image" Target="../media/image12.png"/><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svg"/></Relationships>
</file>

<file path=ppt/diagrams/_rels/data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svg"/><Relationship Id="rId1" Type="http://schemas.openxmlformats.org/officeDocument/2006/relationships/image" Target="../media/image92.png"/><Relationship Id="rId4" Type="http://schemas.openxmlformats.org/officeDocument/2006/relationships/image" Target="../media/image9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33.png"/><Relationship Id="rId18" Type="http://schemas.openxmlformats.org/officeDocument/2006/relationships/image" Target="../media/image38.sv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svg"/><Relationship Id="rId17" Type="http://schemas.openxmlformats.org/officeDocument/2006/relationships/image" Target="../media/image37.png"/><Relationship Id="rId2" Type="http://schemas.openxmlformats.org/officeDocument/2006/relationships/image" Target="../media/image22.svg"/><Relationship Id="rId16" Type="http://schemas.openxmlformats.org/officeDocument/2006/relationships/image" Target="../media/image36.svg"/><Relationship Id="rId20" Type="http://schemas.openxmlformats.org/officeDocument/2006/relationships/image" Target="../media/image40.svg"/><Relationship Id="rId1" Type="http://schemas.openxmlformats.org/officeDocument/2006/relationships/image" Target="../media/image21.png"/><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svg"/><Relationship Id="rId19" Type="http://schemas.openxmlformats.org/officeDocument/2006/relationships/image" Target="../media/image39.png"/><Relationship Id="rId4" Type="http://schemas.openxmlformats.org/officeDocument/2006/relationships/image" Target="../media/image24.svg"/><Relationship Id="rId9" Type="http://schemas.openxmlformats.org/officeDocument/2006/relationships/image" Target="../media/image29.png"/><Relationship Id="rId14" Type="http://schemas.openxmlformats.org/officeDocument/2006/relationships/image" Target="../media/image34.svg"/></Relationships>
</file>

<file path=ppt/diagrams/_rels/drawing7.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svg"/><Relationship Id="rId1" Type="http://schemas.openxmlformats.org/officeDocument/2006/relationships/image" Target="../media/image12.png"/><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svg"/></Relationships>
</file>

<file path=ppt/diagrams/_rels/drawing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svg"/><Relationship Id="rId1" Type="http://schemas.openxmlformats.org/officeDocument/2006/relationships/image" Target="../media/image92.png"/><Relationship Id="rId4" Type="http://schemas.openxmlformats.org/officeDocument/2006/relationships/image" Target="../media/image9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0843AEF-A627-4A3C-82EC-36182D40B327}"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341CFFA-657B-4E4D-AED1-5A13C90AC12B}">
      <dgm:prSet/>
      <dgm:spPr/>
      <dgm:t>
        <a:bodyPr/>
        <a:lstStyle/>
        <a:p>
          <a:r>
            <a:rPr lang="pt-BR"/>
            <a:t>Fundamentos Básicos – Fundamentos de Cloud - AZ 900</a:t>
          </a:r>
          <a:endParaRPr lang="en-US"/>
        </a:p>
      </dgm:t>
    </dgm:pt>
    <dgm:pt modelId="{7D1F29C2-27E5-4306-A487-3E37C4D7C792}" type="parTrans" cxnId="{08D199F9-1EA8-4621-BF12-17A122D03DAA}">
      <dgm:prSet/>
      <dgm:spPr/>
      <dgm:t>
        <a:bodyPr/>
        <a:lstStyle/>
        <a:p>
          <a:endParaRPr lang="en-US"/>
        </a:p>
      </dgm:t>
    </dgm:pt>
    <dgm:pt modelId="{0057B1D0-5DE5-4C4D-9179-5E7C9B57B952}" type="sibTrans" cxnId="{08D199F9-1EA8-4621-BF12-17A122D03DAA}">
      <dgm:prSet/>
      <dgm:spPr/>
      <dgm:t>
        <a:bodyPr/>
        <a:lstStyle/>
        <a:p>
          <a:endParaRPr lang="en-US"/>
        </a:p>
      </dgm:t>
    </dgm:pt>
    <dgm:pt modelId="{4D84D47A-CBE3-4B97-AABF-2BAEF13876B1}">
      <dgm:prSet/>
      <dgm:spPr/>
      <dgm:t>
        <a:bodyPr/>
        <a:lstStyle/>
        <a:p>
          <a:r>
            <a:rPr lang="pt-BR"/>
            <a:t>Administration associate - Administração do Sistema – AZ 10*</a:t>
          </a:r>
          <a:endParaRPr lang="en-US"/>
        </a:p>
      </dgm:t>
    </dgm:pt>
    <dgm:pt modelId="{E85F0BB6-02F5-49AA-B124-AF9F1D285FCE}" type="parTrans" cxnId="{F38B4F93-CE1F-461B-AF04-FE39CAB344D1}">
      <dgm:prSet/>
      <dgm:spPr/>
      <dgm:t>
        <a:bodyPr/>
        <a:lstStyle/>
        <a:p>
          <a:endParaRPr lang="en-US"/>
        </a:p>
      </dgm:t>
    </dgm:pt>
    <dgm:pt modelId="{450070D8-B085-489E-96D2-814C3AAFCED9}" type="sibTrans" cxnId="{F38B4F93-CE1F-461B-AF04-FE39CAB344D1}">
      <dgm:prSet/>
      <dgm:spPr/>
      <dgm:t>
        <a:bodyPr/>
        <a:lstStyle/>
        <a:p>
          <a:endParaRPr lang="en-US"/>
        </a:p>
      </dgm:t>
    </dgm:pt>
    <dgm:pt modelId="{F0E27206-1A91-4497-B982-D052999B6719}">
      <dgm:prSet/>
      <dgm:spPr/>
      <dgm:t>
        <a:bodyPr/>
        <a:lstStyle/>
        <a:p>
          <a:r>
            <a:rPr lang="pt-BR"/>
            <a:t>Azure Developer Associate – Desenvolvedor para cloud - AZ 20*</a:t>
          </a:r>
          <a:endParaRPr lang="en-US"/>
        </a:p>
      </dgm:t>
    </dgm:pt>
    <dgm:pt modelId="{0E245360-725B-4082-A042-28BB721ECF29}" type="parTrans" cxnId="{0C8A60A9-1918-418C-B4FA-F94B65AFE8DB}">
      <dgm:prSet/>
      <dgm:spPr/>
      <dgm:t>
        <a:bodyPr/>
        <a:lstStyle/>
        <a:p>
          <a:endParaRPr lang="en-US"/>
        </a:p>
      </dgm:t>
    </dgm:pt>
    <dgm:pt modelId="{C256D1A0-6F74-403A-A4BF-C1642E7BB223}" type="sibTrans" cxnId="{0C8A60A9-1918-418C-B4FA-F94B65AFE8DB}">
      <dgm:prSet/>
      <dgm:spPr/>
      <dgm:t>
        <a:bodyPr/>
        <a:lstStyle/>
        <a:p>
          <a:endParaRPr lang="en-US"/>
        </a:p>
      </dgm:t>
    </dgm:pt>
    <dgm:pt modelId="{9FF10473-5CD7-4C0F-B7CB-06477E881CB6}">
      <dgm:prSet/>
      <dgm:spPr/>
      <dgm:t>
        <a:bodyPr/>
        <a:lstStyle/>
        <a:p>
          <a:r>
            <a:rPr lang="pt-BR"/>
            <a:t>Azure Architects – Arquitetura Azure Cloud – AZ 30*</a:t>
          </a:r>
          <a:endParaRPr lang="en-US"/>
        </a:p>
      </dgm:t>
    </dgm:pt>
    <dgm:pt modelId="{1B13F80C-94A8-4FC6-AB99-77F760745BC0}" type="parTrans" cxnId="{512F1757-31A0-4F7A-9F6B-448EC1A496C4}">
      <dgm:prSet/>
      <dgm:spPr/>
      <dgm:t>
        <a:bodyPr/>
        <a:lstStyle/>
        <a:p>
          <a:endParaRPr lang="en-US"/>
        </a:p>
      </dgm:t>
    </dgm:pt>
    <dgm:pt modelId="{9C6F8F96-78F1-4A86-92CD-396615189043}" type="sibTrans" cxnId="{512F1757-31A0-4F7A-9F6B-448EC1A496C4}">
      <dgm:prSet/>
      <dgm:spPr/>
      <dgm:t>
        <a:bodyPr/>
        <a:lstStyle/>
        <a:p>
          <a:endParaRPr lang="en-US"/>
        </a:p>
      </dgm:t>
    </dgm:pt>
    <dgm:pt modelId="{87B9507D-91BB-4AE9-9424-9125524E3F07}">
      <dgm:prSet/>
      <dgm:spPr/>
      <dgm:t>
        <a:bodyPr/>
        <a:lstStyle/>
        <a:p>
          <a:r>
            <a:rPr lang="pt-BR"/>
            <a:t>DevOps expert – Azure devops – AZ 40*</a:t>
          </a:r>
          <a:endParaRPr lang="en-US"/>
        </a:p>
      </dgm:t>
    </dgm:pt>
    <dgm:pt modelId="{5C6D20A7-2FEA-43ED-9F5D-F30A15133B02}" type="parTrans" cxnId="{6AE2B903-786D-4A54-8458-327BB4E8FB3B}">
      <dgm:prSet/>
      <dgm:spPr/>
      <dgm:t>
        <a:bodyPr/>
        <a:lstStyle/>
        <a:p>
          <a:endParaRPr lang="en-US"/>
        </a:p>
      </dgm:t>
    </dgm:pt>
    <dgm:pt modelId="{C48564ED-CAB4-40CB-8744-EDD9C6E460C6}" type="sibTrans" cxnId="{6AE2B903-786D-4A54-8458-327BB4E8FB3B}">
      <dgm:prSet/>
      <dgm:spPr/>
      <dgm:t>
        <a:bodyPr/>
        <a:lstStyle/>
        <a:p>
          <a:endParaRPr lang="en-US"/>
        </a:p>
      </dgm:t>
    </dgm:pt>
    <dgm:pt modelId="{5B592879-7BBA-47F0-BF1A-1C2AAE4BF0B6}">
      <dgm:prSet/>
      <dgm:spPr/>
      <dgm:t>
        <a:bodyPr/>
        <a:lstStyle/>
        <a:p>
          <a:r>
            <a:rPr lang="pt-BR"/>
            <a:t>Azure Security – Segurança no Azure – AZ 50*</a:t>
          </a:r>
          <a:endParaRPr lang="en-US"/>
        </a:p>
      </dgm:t>
    </dgm:pt>
    <dgm:pt modelId="{FF9E3B5E-84F5-4BC5-940C-485BBBA5A6C9}" type="parTrans" cxnId="{1CD2BEC3-9397-4547-B110-C5F5BE5B6C13}">
      <dgm:prSet/>
      <dgm:spPr/>
      <dgm:t>
        <a:bodyPr/>
        <a:lstStyle/>
        <a:p>
          <a:endParaRPr lang="en-US"/>
        </a:p>
      </dgm:t>
    </dgm:pt>
    <dgm:pt modelId="{A6001E77-8B8C-44F7-9594-B6F797E67F96}" type="sibTrans" cxnId="{1CD2BEC3-9397-4547-B110-C5F5BE5B6C13}">
      <dgm:prSet/>
      <dgm:spPr/>
      <dgm:t>
        <a:bodyPr/>
        <a:lstStyle/>
        <a:p>
          <a:endParaRPr lang="en-US"/>
        </a:p>
      </dgm:t>
    </dgm:pt>
    <dgm:pt modelId="{8344D70E-0FDD-4AE9-8B75-2C08B1134851}" type="pres">
      <dgm:prSet presAssocID="{20843AEF-A627-4A3C-82EC-36182D40B327}" presName="root" presStyleCnt="0">
        <dgm:presLayoutVars>
          <dgm:dir/>
          <dgm:resizeHandles val="exact"/>
        </dgm:presLayoutVars>
      </dgm:prSet>
      <dgm:spPr/>
    </dgm:pt>
    <dgm:pt modelId="{C46D06BB-DC6C-44AE-9741-73C86CEF3DC5}" type="pres">
      <dgm:prSet presAssocID="{20843AEF-A627-4A3C-82EC-36182D40B327}" presName="container" presStyleCnt="0">
        <dgm:presLayoutVars>
          <dgm:dir/>
          <dgm:resizeHandles val="exact"/>
        </dgm:presLayoutVars>
      </dgm:prSet>
      <dgm:spPr/>
    </dgm:pt>
    <dgm:pt modelId="{715DF6A9-05E4-4F8D-AB1D-5C5D1878A56A}" type="pres">
      <dgm:prSet presAssocID="{2341CFFA-657B-4E4D-AED1-5A13C90AC12B}" presName="compNode" presStyleCnt="0"/>
      <dgm:spPr/>
    </dgm:pt>
    <dgm:pt modelId="{97360A04-602F-467B-A3E1-F20C40FAAF57}" type="pres">
      <dgm:prSet presAssocID="{2341CFFA-657B-4E4D-AED1-5A13C90AC12B}" presName="iconBgRect" presStyleLbl="bgShp" presStyleIdx="0" presStyleCnt="6"/>
      <dgm:spPr/>
    </dgm:pt>
    <dgm:pt modelId="{F6530C4A-DDD8-4221-89C3-F65707547A1F}" type="pres">
      <dgm:prSet presAssocID="{2341CFFA-657B-4E4D-AED1-5A13C90AC12B}"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2AD27E87-50F5-4ADB-AD3D-6027D15135CF}" type="pres">
      <dgm:prSet presAssocID="{2341CFFA-657B-4E4D-AED1-5A13C90AC12B}" presName="spaceRect" presStyleCnt="0"/>
      <dgm:spPr/>
    </dgm:pt>
    <dgm:pt modelId="{3673862B-0A54-4A28-BDAB-DE929495AB95}" type="pres">
      <dgm:prSet presAssocID="{2341CFFA-657B-4E4D-AED1-5A13C90AC12B}" presName="textRect" presStyleLbl="revTx" presStyleIdx="0" presStyleCnt="6">
        <dgm:presLayoutVars>
          <dgm:chMax val="1"/>
          <dgm:chPref val="1"/>
        </dgm:presLayoutVars>
      </dgm:prSet>
      <dgm:spPr/>
    </dgm:pt>
    <dgm:pt modelId="{C575A7AA-BF50-4D98-8107-8DA5400903A0}" type="pres">
      <dgm:prSet presAssocID="{0057B1D0-5DE5-4C4D-9179-5E7C9B57B952}" presName="sibTrans" presStyleLbl="sibTrans2D1" presStyleIdx="0" presStyleCnt="0"/>
      <dgm:spPr/>
    </dgm:pt>
    <dgm:pt modelId="{B8F6953D-0B7B-4AC3-ACE1-5B33C706BB86}" type="pres">
      <dgm:prSet presAssocID="{4D84D47A-CBE3-4B97-AABF-2BAEF13876B1}" presName="compNode" presStyleCnt="0"/>
      <dgm:spPr/>
    </dgm:pt>
    <dgm:pt modelId="{1289B534-84DC-4E68-83DC-C8BD99192576}" type="pres">
      <dgm:prSet presAssocID="{4D84D47A-CBE3-4B97-AABF-2BAEF13876B1}" presName="iconBgRect" presStyleLbl="bgShp" presStyleIdx="1" presStyleCnt="6"/>
      <dgm:spPr/>
    </dgm:pt>
    <dgm:pt modelId="{21174F83-E09E-4D88-83B4-EECD2ABA2C88}" type="pres">
      <dgm:prSet presAssocID="{4D84D47A-CBE3-4B97-AABF-2BAEF13876B1}"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ffice Worker"/>
        </a:ext>
      </dgm:extLst>
    </dgm:pt>
    <dgm:pt modelId="{F2AD1711-F19A-4932-92A8-E7E90C50EAB8}" type="pres">
      <dgm:prSet presAssocID="{4D84D47A-CBE3-4B97-AABF-2BAEF13876B1}" presName="spaceRect" presStyleCnt="0"/>
      <dgm:spPr/>
    </dgm:pt>
    <dgm:pt modelId="{50D87915-B02C-4974-A8E2-0DF35DC25A6D}" type="pres">
      <dgm:prSet presAssocID="{4D84D47A-CBE3-4B97-AABF-2BAEF13876B1}" presName="textRect" presStyleLbl="revTx" presStyleIdx="1" presStyleCnt="6">
        <dgm:presLayoutVars>
          <dgm:chMax val="1"/>
          <dgm:chPref val="1"/>
        </dgm:presLayoutVars>
      </dgm:prSet>
      <dgm:spPr/>
    </dgm:pt>
    <dgm:pt modelId="{70DBF509-8C09-4295-B5DC-639B0957F356}" type="pres">
      <dgm:prSet presAssocID="{450070D8-B085-489E-96D2-814C3AAFCED9}" presName="sibTrans" presStyleLbl="sibTrans2D1" presStyleIdx="0" presStyleCnt="0"/>
      <dgm:spPr/>
    </dgm:pt>
    <dgm:pt modelId="{079C5A58-BF68-4EC9-B1DA-27A4B7010426}" type="pres">
      <dgm:prSet presAssocID="{F0E27206-1A91-4497-B982-D052999B6719}" presName="compNode" presStyleCnt="0"/>
      <dgm:spPr/>
    </dgm:pt>
    <dgm:pt modelId="{33F4F5BB-24A1-4E49-8093-18FF42C2C956}" type="pres">
      <dgm:prSet presAssocID="{F0E27206-1A91-4497-B982-D052999B6719}" presName="iconBgRect" presStyleLbl="bgShp" presStyleIdx="2" presStyleCnt="6"/>
      <dgm:spPr/>
    </dgm:pt>
    <dgm:pt modelId="{F7E81E1F-958F-4346-B0AA-B3656D29DC3B}" type="pres">
      <dgm:prSet presAssocID="{F0E27206-1A91-4497-B982-D052999B6719}"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E390E43E-D518-44DF-84F1-B44AE7B42457}" type="pres">
      <dgm:prSet presAssocID="{F0E27206-1A91-4497-B982-D052999B6719}" presName="spaceRect" presStyleCnt="0"/>
      <dgm:spPr/>
    </dgm:pt>
    <dgm:pt modelId="{C4717F04-2002-49C9-A29A-0C43B3FA895E}" type="pres">
      <dgm:prSet presAssocID="{F0E27206-1A91-4497-B982-D052999B6719}" presName="textRect" presStyleLbl="revTx" presStyleIdx="2" presStyleCnt="6">
        <dgm:presLayoutVars>
          <dgm:chMax val="1"/>
          <dgm:chPref val="1"/>
        </dgm:presLayoutVars>
      </dgm:prSet>
      <dgm:spPr/>
    </dgm:pt>
    <dgm:pt modelId="{6AE078C2-958E-49C9-BB05-60044B7D8593}" type="pres">
      <dgm:prSet presAssocID="{C256D1A0-6F74-403A-A4BF-C1642E7BB223}" presName="sibTrans" presStyleLbl="sibTrans2D1" presStyleIdx="0" presStyleCnt="0"/>
      <dgm:spPr/>
    </dgm:pt>
    <dgm:pt modelId="{4889AC3D-292B-414D-AC1E-6E9C23FD5F65}" type="pres">
      <dgm:prSet presAssocID="{9FF10473-5CD7-4C0F-B7CB-06477E881CB6}" presName="compNode" presStyleCnt="0"/>
      <dgm:spPr/>
    </dgm:pt>
    <dgm:pt modelId="{A1D4AC01-055D-4955-8345-4273D3E86CF9}" type="pres">
      <dgm:prSet presAssocID="{9FF10473-5CD7-4C0F-B7CB-06477E881CB6}" presName="iconBgRect" presStyleLbl="bgShp" presStyleIdx="3" presStyleCnt="6"/>
      <dgm:spPr/>
    </dgm:pt>
    <dgm:pt modelId="{3E3E906D-7C7E-4F7C-85B3-52FD4E2D78E7}" type="pres">
      <dgm:prSet presAssocID="{9FF10473-5CD7-4C0F-B7CB-06477E881CB6}"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ud"/>
        </a:ext>
      </dgm:extLst>
    </dgm:pt>
    <dgm:pt modelId="{C07976B3-85FA-4FC7-BBAC-F8E020F1C657}" type="pres">
      <dgm:prSet presAssocID="{9FF10473-5CD7-4C0F-B7CB-06477E881CB6}" presName="spaceRect" presStyleCnt="0"/>
      <dgm:spPr/>
    </dgm:pt>
    <dgm:pt modelId="{FE6D9D83-6146-4EFE-BF49-09EADCCE50CA}" type="pres">
      <dgm:prSet presAssocID="{9FF10473-5CD7-4C0F-B7CB-06477E881CB6}" presName="textRect" presStyleLbl="revTx" presStyleIdx="3" presStyleCnt="6">
        <dgm:presLayoutVars>
          <dgm:chMax val="1"/>
          <dgm:chPref val="1"/>
        </dgm:presLayoutVars>
      </dgm:prSet>
      <dgm:spPr/>
    </dgm:pt>
    <dgm:pt modelId="{C251A049-845B-416E-9FD8-A4385D5B5C82}" type="pres">
      <dgm:prSet presAssocID="{9C6F8F96-78F1-4A86-92CD-396615189043}" presName="sibTrans" presStyleLbl="sibTrans2D1" presStyleIdx="0" presStyleCnt="0"/>
      <dgm:spPr/>
    </dgm:pt>
    <dgm:pt modelId="{1880314B-BF27-47B8-90BE-D592092E7E4B}" type="pres">
      <dgm:prSet presAssocID="{87B9507D-91BB-4AE9-9424-9125524E3F07}" presName="compNode" presStyleCnt="0"/>
      <dgm:spPr/>
    </dgm:pt>
    <dgm:pt modelId="{52CC8DF3-D157-4ADC-81C1-5D8A98E55BB9}" type="pres">
      <dgm:prSet presAssocID="{87B9507D-91BB-4AE9-9424-9125524E3F07}" presName="iconBgRect" presStyleLbl="bgShp" presStyleIdx="4" presStyleCnt="6"/>
      <dgm:spPr/>
    </dgm:pt>
    <dgm:pt modelId="{3594516A-3054-4512-92BD-8DD79AEB1D3A}" type="pres">
      <dgm:prSet presAssocID="{87B9507D-91BB-4AE9-9424-9125524E3F0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Robot"/>
        </a:ext>
      </dgm:extLst>
    </dgm:pt>
    <dgm:pt modelId="{77CDF0A4-9758-41AC-B973-4F39B39AFC66}" type="pres">
      <dgm:prSet presAssocID="{87B9507D-91BB-4AE9-9424-9125524E3F07}" presName="spaceRect" presStyleCnt="0"/>
      <dgm:spPr/>
    </dgm:pt>
    <dgm:pt modelId="{B9660334-42ED-4C6A-88B7-E2AE3FA87F90}" type="pres">
      <dgm:prSet presAssocID="{87B9507D-91BB-4AE9-9424-9125524E3F07}" presName="textRect" presStyleLbl="revTx" presStyleIdx="4" presStyleCnt="6">
        <dgm:presLayoutVars>
          <dgm:chMax val="1"/>
          <dgm:chPref val="1"/>
        </dgm:presLayoutVars>
      </dgm:prSet>
      <dgm:spPr/>
    </dgm:pt>
    <dgm:pt modelId="{CCE3B28A-0E1A-4427-A915-BAE9350CDC56}" type="pres">
      <dgm:prSet presAssocID="{C48564ED-CAB4-40CB-8744-EDD9C6E460C6}" presName="sibTrans" presStyleLbl="sibTrans2D1" presStyleIdx="0" presStyleCnt="0"/>
      <dgm:spPr/>
    </dgm:pt>
    <dgm:pt modelId="{48D61910-116B-4909-8955-0A7166E22921}" type="pres">
      <dgm:prSet presAssocID="{5B592879-7BBA-47F0-BF1A-1C2AAE4BF0B6}" presName="compNode" presStyleCnt="0"/>
      <dgm:spPr/>
    </dgm:pt>
    <dgm:pt modelId="{D8CA412D-5E50-4790-8358-8720F9566A2A}" type="pres">
      <dgm:prSet presAssocID="{5B592879-7BBA-47F0-BF1A-1C2AAE4BF0B6}" presName="iconBgRect" presStyleLbl="bgShp" presStyleIdx="5" presStyleCnt="6"/>
      <dgm:spPr/>
    </dgm:pt>
    <dgm:pt modelId="{501AA76A-C98B-43E0-A978-859D34C83AED}" type="pres">
      <dgm:prSet presAssocID="{5B592879-7BBA-47F0-BF1A-1C2AAE4BF0B6}"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Lock"/>
        </a:ext>
      </dgm:extLst>
    </dgm:pt>
    <dgm:pt modelId="{370939F5-2AD2-48BE-BEF4-68E5081A34DB}" type="pres">
      <dgm:prSet presAssocID="{5B592879-7BBA-47F0-BF1A-1C2AAE4BF0B6}" presName="spaceRect" presStyleCnt="0"/>
      <dgm:spPr/>
    </dgm:pt>
    <dgm:pt modelId="{230D636D-F259-409B-8645-46EE902932B3}" type="pres">
      <dgm:prSet presAssocID="{5B592879-7BBA-47F0-BF1A-1C2AAE4BF0B6}" presName="textRect" presStyleLbl="revTx" presStyleIdx="5" presStyleCnt="6">
        <dgm:presLayoutVars>
          <dgm:chMax val="1"/>
          <dgm:chPref val="1"/>
        </dgm:presLayoutVars>
      </dgm:prSet>
      <dgm:spPr/>
    </dgm:pt>
  </dgm:ptLst>
  <dgm:cxnLst>
    <dgm:cxn modelId="{8EA56E00-6CEE-4D10-879C-375C25DD1E54}" type="presOf" srcId="{87B9507D-91BB-4AE9-9424-9125524E3F07}" destId="{B9660334-42ED-4C6A-88B7-E2AE3FA87F90}" srcOrd="0" destOrd="0" presId="urn:microsoft.com/office/officeart/2018/2/layout/IconCircleList"/>
    <dgm:cxn modelId="{B0A35701-9AA4-439D-9271-3C32EE7FAB54}" type="presOf" srcId="{4D84D47A-CBE3-4B97-AABF-2BAEF13876B1}" destId="{50D87915-B02C-4974-A8E2-0DF35DC25A6D}" srcOrd="0" destOrd="0" presId="urn:microsoft.com/office/officeart/2018/2/layout/IconCircleList"/>
    <dgm:cxn modelId="{6AE2B903-786D-4A54-8458-327BB4E8FB3B}" srcId="{20843AEF-A627-4A3C-82EC-36182D40B327}" destId="{87B9507D-91BB-4AE9-9424-9125524E3F07}" srcOrd="4" destOrd="0" parTransId="{5C6D20A7-2FEA-43ED-9F5D-F30A15133B02}" sibTransId="{C48564ED-CAB4-40CB-8744-EDD9C6E460C6}"/>
    <dgm:cxn modelId="{211A2B19-EF76-4264-93F7-A2F7424833BD}" type="presOf" srcId="{5B592879-7BBA-47F0-BF1A-1C2AAE4BF0B6}" destId="{230D636D-F259-409B-8645-46EE902932B3}" srcOrd="0" destOrd="0" presId="urn:microsoft.com/office/officeart/2018/2/layout/IconCircleList"/>
    <dgm:cxn modelId="{D528DE2D-D144-4A96-8473-438FD6AFB049}" type="presOf" srcId="{20843AEF-A627-4A3C-82EC-36182D40B327}" destId="{8344D70E-0FDD-4AE9-8B75-2C08B1134851}" srcOrd="0" destOrd="0" presId="urn:microsoft.com/office/officeart/2018/2/layout/IconCircleList"/>
    <dgm:cxn modelId="{FEA92C42-43AD-4F2B-BB0D-9410F45ED7E6}" type="presOf" srcId="{9FF10473-5CD7-4C0F-B7CB-06477E881CB6}" destId="{FE6D9D83-6146-4EFE-BF49-09EADCCE50CA}" srcOrd="0" destOrd="0" presId="urn:microsoft.com/office/officeart/2018/2/layout/IconCircleList"/>
    <dgm:cxn modelId="{8C690B4F-A7AE-4B61-AB86-728D528FC431}" type="presOf" srcId="{0057B1D0-5DE5-4C4D-9179-5E7C9B57B952}" destId="{C575A7AA-BF50-4D98-8107-8DA5400903A0}" srcOrd="0" destOrd="0" presId="urn:microsoft.com/office/officeart/2018/2/layout/IconCircleList"/>
    <dgm:cxn modelId="{F4662770-82A2-4A54-B857-5F09FDD712A4}" type="presOf" srcId="{C256D1A0-6F74-403A-A4BF-C1642E7BB223}" destId="{6AE078C2-958E-49C9-BB05-60044B7D8593}" srcOrd="0" destOrd="0" presId="urn:microsoft.com/office/officeart/2018/2/layout/IconCircleList"/>
    <dgm:cxn modelId="{512F1757-31A0-4F7A-9F6B-448EC1A496C4}" srcId="{20843AEF-A627-4A3C-82EC-36182D40B327}" destId="{9FF10473-5CD7-4C0F-B7CB-06477E881CB6}" srcOrd="3" destOrd="0" parTransId="{1B13F80C-94A8-4FC6-AB99-77F760745BC0}" sibTransId="{9C6F8F96-78F1-4A86-92CD-396615189043}"/>
    <dgm:cxn modelId="{52FA9D7C-6906-4397-A41D-C087CE631675}" type="presOf" srcId="{9C6F8F96-78F1-4A86-92CD-396615189043}" destId="{C251A049-845B-416E-9FD8-A4385D5B5C82}" srcOrd="0" destOrd="0" presId="urn:microsoft.com/office/officeart/2018/2/layout/IconCircleList"/>
    <dgm:cxn modelId="{5BC23382-FA56-405B-A1FB-3418767557B6}" type="presOf" srcId="{F0E27206-1A91-4497-B982-D052999B6719}" destId="{C4717F04-2002-49C9-A29A-0C43B3FA895E}" srcOrd="0" destOrd="0" presId="urn:microsoft.com/office/officeart/2018/2/layout/IconCircleList"/>
    <dgm:cxn modelId="{97103A88-BBB8-4AEB-96DB-032E5F863BFD}" type="presOf" srcId="{C48564ED-CAB4-40CB-8744-EDD9C6E460C6}" destId="{CCE3B28A-0E1A-4427-A915-BAE9350CDC56}" srcOrd="0" destOrd="0" presId="urn:microsoft.com/office/officeart/2018/2/layout/IconCircleList"/>
    <dgm:cxn modelId="{69948F8A-919F-4E21-9342-FB28EB57A0B2}" type="presOf" srcId="{450070D8-B085-489E-96D2-814C3AAFCED9}" destId="{70DBF509-8C09-4295-B5DC-639B0957F356}" srcOrd="0" destOrd="0" presId="urn:microsoft.com/office/officeart/2018/2/layout/IconCircleList"/>
    <dgm:cxn modelId="{F38B4F93-CE1F-461B-AF04-FE39CAB344D1}" srcId="{20843AEF-A627-4A3C-82EC-36182D40B327}" destId="{4D84D47A-CBE3-4B97-AABF-2BAEF13876B1}" srcOrd="1" destOrd="0" parTransId="{E85F0BB6-02F5-49AA-B124-AF9F1D285FCE}" sibTransId="{450070D8-B085-489E-96D2-814C3AAFCED9}"/>
    <dgm:cxn modelId="{0C8A60A9-1918-418C-B4FA-F94B65AFE8DB}" srcId="{20843AEF-A627-4A3C-82EC-36182D40B327}" destId="{F0E27206-1A91-4497-B982-D052999B6719}" srcOrd="2" destOrd="0" parTransId="{0E245360-725B-4082-A042-28BB721ECF29}" sibTransId="{C256D1A0-6F74-403A-A4BF-C1642E7BB223}"/>
    <dgm:cxn modelId="{034710AE-9FE3-4A06-8753-07249196BABA}" type="presOf" srcId="{2341CFFA-657B-4E4D-AED1-5A13C90AC12B}" destId="{3673862B-0A54-4A28-BDAB-DE929495AB95}" srcOrd="0" destOrd="0" presId="urn:microsoft.com/office/officeart/2018/2/layout/IconCircleList"/>
    <dgm:cxn modelId="{1CD2BEC3-9397-4547-B110-C5F5BE5B6C13}" srcId="{20843AEF-A627-4A3C-82EC-36182D40B327}" destId="{5B592879-7BBA-47F0-BF1A-1C2AAE4BF0B6}" srcOrd="5" destOrd="0" parTransId="{FF9E3B5E-84F5-4BC5-940C-485BBBA5A6C9}" sibTransId="{A6001E77-8B8C-44F7-9594-B6F797E67F96}"/>
    <dgm:cxn modelId="{08D199F9-1EA8-4621-BF12-17A122D03DAA}" srcId="{20843AEF-A627-4A3C-82EC-36182D40B327}" destId="{2341CFFA-657B-4E4D-AED1-5A13C90AC12B}" srcOrd="0" destOrd="0" parTransId="{7D1F29C2-27E5-4306-A487-3E37C4D7C792}" sibTransId="{0057B1D0-5DE5-4C4D-9179-5E7C9B57B952}"/>
    <dgm:cxn modelId="{5BA46EC4-CA84-4D67-BA94-15076C2BB60D}" type="presParOf" srcId="{8344D70E-0FDD-4AE9-8B75-2C08B1134851}" destId="{C46D06BB-DC6C-44AE-9741-73C86CEF3DC5}" srcOrd="0" destOrd="0" presId="urn:microsoft.com/office/officeart/2018/2/layout/IconCircleList"/>
    <dgm:cxn modelId="{FEEBD022-D697-4D7B-846E-D690FED1B2D4}" type="presParOf" srcId="{C46D06BB-DC6C-44AE-9741-73C86CEF3DC5}" destId="{715DF6A9-05E4-4F8D-AB1D-5C5D1878A56A}" srcOrd="0" destOrd="0" presId="urn:microsoft.com/office/officeart/2018/2/layout/IconCircleList"/>
    <dgm:cxn modelId="{BB7CD6D7-167A-4837-A33A-972A0C26A8F9}" type="presParOf" srcId="{715DF6A9-05E4-4F8D-AB1D-5C5D1878A56A}" destId="{97360A04-602F-467B-A3E1-F20C40FAAF57}" srcOrd="0" destOrd="0" presId="urn:microsoft.com/office/officeart/2018/2/layout/IconCircleList"/>
    <dgm:cxn modelId="{D8EEA70B-01A1-4C90-97D6-1DE5902CC933}" type="presParOf" srcId="{715DF6A9-05E4-4F8D-AB1D-5C5D1878A56A}" destId="{F6530C4A-DDD8-4221-89C3-F65707547A1F}" srcOrd="1" destOrd="0" presId="urn:microsoft.com/office/officeart/2018/2/layout/IconCircleList"/>
    <dgm:cxn modelId="{3FEE80C6-BA83-433D-B583-91F5E152716D}" type="presParOf" srcId="{715DF6A9-05E4-4F8D-AB1D-5C5D1878A56A}" destId="{2AD27E87-50F5-4ADB-AD3D-6027D15135CF}" srcOrd="2" destOrd="0" presId="urn:microsoft.com/office/officeart/2018/2/layout/IconCircleList"/>
    <dgm:cxn modelId="{18DD846F-4730-4C14-9923-224BC40B0722}" type="presParOf" srcId="{715DF6A9-05E4-4F8D-AB1D-5C5D1878A56A}" destId="{3673862B-0A54-4A28-BDAB-DE929495AB95}" srcOrd="3" destOrd="0" presId="urn:microsoft.com/office/officeart/2018/2/layout/IconCircleList"/>
    <dgm:cxn modelId="{7E0DE302-96C1-464D-AF59-1F7866402045}" type="presParOf" srcId="{C46D06BB-DC6C-44AE-9741-73C86CEF3DC5}" destId="{C575A7AA-BF50-4D98-8107-8DA5400903A0}" srcOrd="1" destOrd="0" presId="urn:microsoft.com/office/officeart/2018/2/layout/IconCircleList"/>
    <dgm:cxn modelId="{58734836-85C1-4F1D-967B-E45C3B2E8EDD}" type="presParOf" srcId="{C46D06BB-DC6C-44AE-9741-73C86CEF3DC5}" destId="{B8F6953D-0B7B-4AC3-ACE1-5B33C706BB86}" srcOrd="2" destOrd="0" presId="urn:microsoft.com/office/officeart/2018/2/layout/IconCircleList"/>
    <dgm:cxn modelId="{B5E3461B-8669-497F-9DBE-82533541FE2F}" type="presParOf" srcId="{B8F6953D-0B7B-4AC3-ACE1-5B33C706BB86}" destId="{1289B534-84DC-4E68-83DC-C8BD99192576}" srcOrd="0" destOrd="0" presId="urn:microsoft.com/office/officeart/2018/2/layout/IconCircleList"/>
    <dgm:cxn modelId="{C9FD4D30-1FFA-46AE-8317-1A191D039FD0}" type="presParOf" srcId="{B8F6953D-0B7B-4AC3-ACE1-5B33C706BB86}" destId="{21174F83-E09E-4D88-83B4-EECD2ABA2C88}" srcOrd="1" destOrd="0" presId="urn:microsoft.com/office/officeart/2018/2/layout/IconCircleList"/>
    <dgm:cxn modelId="{A9A8D2B9-F693-43E4-9E04-C0A91C2CF909}" type="presParOf" srcId="{B8F6953D-0B7B-4AC3-ACE1-5B33C706BB86}" destId="{F2AD1711-F19A-4932-92A8-E7E90C50EAB8}" srcOrd="2" destOrd="0" presId="urn:microsoft.com/office/officeart/2018/2/layout/IconCircleList"/>
    <dgm:cxn modelId="{BB8852BA-E7E1-4892-BCDF-A481F5EDE0EF}" type="presParOf" srcId="{B8F6953D-0B7B-4AC3-ACE1-5B33C706BB86}" destId="{50D87915-B02C-4974-A8E2-0DF35DC25A6D}" srcOrd="3" destOrd="0" presId="urn:microsoft.com/office/officeart/2018/2/layout/IconCircleList"/>
    <dgm:cxn modelId="{70F4533F-1235-4C50-87E5-F6968BA17E75}" type="presParOf" srcId="{C46D06BB-DC6C-44AE-9741-73C86CEF3DC5}" destId="{70DBF509-8C09-4295-B5DC-639B0957F356}" srcOrd="3" destOrd="0" presId="urn:microsoft.com/office/officeart/2018/2/layout/IconCircleList"/>
    <dgm:cxn modelId="{82316EB3-AF9F-4423-A2E0-FD306FA9DC47}" type="presParOf" srcId="{C46D06BB-DC6C-44AE-9741-73C86CEF3DC5}" destId="{079C5A58-BF68-4EC9-B1DA-27A4B7010426}" srcOrd="4" destOrd="0" presId="urn:microsoft.com/office/officeart/2018/2/layout/IconCircleList"/>
    <dgm:cxn modelId="{2370DBE3-E33E-4519-8A9E-568389A2802B}" type="presParOf" srcId="{079C5A58-BF68-4EC9-B1DA-27A4B7010426}" destId="{33F4F5BB-24A1-4E49-8093-18FF42C2C956}" srcOrd="0" destOrd="0" presId="urn:microsoft.com/office/officeart/2018/2/layout/IconCircleList"/>
    <dgm:cxn modelId="{D9BE72FD-15BC-4E51-BAA2-75C9E57711A0}" type="presParOf" srcId="{079C5A58-BF68-4EC9-B1DA-27A4B7010426}" destId="{F7E81E1F-958F-4346-B0AA-B3656D29DC3B}" srcOrd="1" destOrd="0" presId="urn:microsoft.com/office/officeart/2018/2/layout/IconCircleList"/>
    <dgm:cxn modelId="{E2C498F2-25EA-49E8-861D-D93F345616FA}" type="presParOf" srcId="{079C5A58-BF68-4EC9-B1DA-27A4B7010426}" destId="{E390E43E-D518-44DF-84F1-B44AE7B42457}" srcOrd="2" destOrd="0" presId="urn:microsoft.com/office/officeart/2018/2/layout/IconCircleList"/>
    <dgm:cxn modelId="{7C2CBDF2-60BE-4466-9F5D-F72543AEA1C6}" type="presParOf" srcId="{079C5A58-BF68-4EC9-B1DA-27A4B7010426}" destId="{C4717F04-2002-49C9-A29A-0C43B3FA895E}" srcOrd="3" destOrd="0" presId="urn:microsoft.com/office/officeart/2018/2/layout/IconCircleList"/>
    <dgm:cxn modelId="{9F586D82-011A-4FDE-AD6F-6859AC5DD80C}" type="presParOf" srcId="{C46D06BB-DC6C-44AE-9741-73C86CEF3DC5}" destId="{6AE078C2-958E-49C9-BB05-60044B7D8593}" srcOrd="5" destOrd="0" presId="urn:microsoft.com/office/officeart/2018/2/layout/IconCircleList"/>
    <dgm:cxn modelId="{467D8924-1119-4C16-8547-13EF81585270}" type="presParOf" srcId="{C46D06BB-DC6C-44AE-9741-73C86CEF3DC5}" destId="{4889AC3D-292B-414D-AC1E-6E9C23FD5F65}" srcOrd="6" destOrd="0" presId="urn:microsoft.com/office/officeart/2018/2/layout/IconCircleList"/>
    <dgm:cxn modelId="{27309A7B-0F98-4EE9-AD40-F1B7B1ED1E22}" type="presParOf" srcId="{4889AC3D-292B-414D-AC1E-6E9C23FD5F65}" destId="{A1D4AC01-055D-4955-8345-4273D3E86CF9}" srcOrd="0" destOrd="0" presId="urn:microsoft.com/office/officeart/2018/2/layout/IconCircleList"/>
    <dgm:cxn modelId="{279387E3-7032-4C1B-9E83-92052DCC40FB}" type="presParOf" srcId="{4889AC3D-292B-414D-AC1E-6E9C23FD5F65}" destId="{3E3E906D-7C7E-4F7C-85B3-52FD4E2D78E7}" srcOrd="1" destOrd="0" presId="urn:microsoft.com/office/officeart/2018/2/layout/IconCircleList"/>
    <dgm:cxn modelId="{60625DCD-5692-41DB-A6D0-91DF942A813E}" type="presParOf" srcId="{4889AC3D-292B-414D-AC1E-6E9C23FD5F65}" destId="{C07976B3-85FA-4FC7-BBAC-F8E020F1C657}" srcOrd="2" destOrd="0" presId="urn:microsoft.com/office/officeart/2018/2/layout/IconCircleList"/>
    <dgm:cxn modelId="{518F3A45-293B-4AFA-B36E-B3E72C740EAB}" type="presParOf" srcId="{4889AC3D-292B-414D-AC1E-6E9C23FD5F65}" destId="{FE6D9D83-6146-4EFE-BF49-09EADCCE50CA}" srcOrd="3" destOrd="0" presId="urn:microsoft.com/office/officeart/2018/2/layout/IconCircleList"/>
    <dgm:cxn modelId="{7AC8AC8E-CD1C-42E8-9BF6-EAE81588C9E2}" type="presParOf" srcId="{C46D06BB-DC6C-44AE-9741-73C86CEF3DC5}" destId="{C251A049-845B-416E-9FD8-A4385D5B5C82}" srcOrd="7" destOrd="0" presId="urn:microsoft.com/office/officeart/2018/2/layout/IconCircleList"/>
    <dgm:cxn modelId="{F9173900-9705-40C7-973C-9175864AF0FB}" type="presParOf" srcId="{C46D06BB-DC6C-44AE-9741-73C86CEF3DC5}" destId="{1880314B-BF27-47B8-90BE-D592092E7E4B}" srcOrd="8" destOrd="0" presId="urn:microsoft.com/office/officeart/2018/2/layout/IconCircleList"/>
    <dgm:cxn modelId="{7BB212DD-6B19-4DF2-BAE8-58F8AA242F3D}" type="presParOf" srcId="{1880314B-BF27-47B8-90BE-D592092E7E4B}" destId="{52CC8DF3-D157-4ADC-81C1-5D8A98E55BB9}" srcOrd="0" destOrd="0" presId="urn:microsoft.com/office/officeart/2018/2/layout/IconCircleList"/>
    <dgm:cxn modelId="{CD160391-2B5E-444B-9D0D-A78E4DED2F4B}" type="presParOf" srcId="{1880314B-BF27-47B8-90BE-D592092E7E4B}" destId="{3594516A-3054-4512-92BD-8DD79AEB1D3A}" srcOrd="1" destOrd="0" presId="urn:microsoft.com/office/officeart/2018/2/layout/IconCircleList"/>
    <dgm:cxn modelId="{114E8A3A-09B6-48AC-A41D-737B357375FF}" type="presParOf" srcId="{1880314B-BF27-47B8-90BE-D592092E7E4B}" destId="{77CDF0A4-9758-41AC-B973-4F39B39AFC66}" srcOrd="2" destOrd="0" presId="urn:microsoft.com/office/officeart/2018/2/layout/IconCircleList"/>
    <dgm:cxn modelId="{CA2514C0-238B-4C14-A217-989B2C2D4ADE}" type="presParOf" srcId="{1880314B-BF27-47B8-90BE-D592092E7E4B}" destId="{B9660334-42ED-4C6A-88B7-E2AE3FA87F90}" srcOrd="3" destOrd="0" presId="urn:microsoft.com/office/officeart/2018/2/layout/IconCircleList"/>
    <dgm:cxn modelId="{EE5E6EE7-ABF2-44FA-9CB2-E1B061F31061}" type="presParOf" srcId="{C46D06BB-DC6C-44AE-9741-73C86CEF3DC5}" destId="{CCE3B28A-0E1A-4427-A915-BAE9350CDC56}" srcOrd="9" destOrd="0" presId="urn:microsoft.com/office/officeart/2018/2/layout/IconCircleList"/>
    <dgm:cxn modelId="{FE5FE211-20C0-400F-AA9C-536D07BFCB70}" type="presParOf" srcId="{C46D06BB-DC6C-44AE-9741-73C86CEF3DC5}" destId="{48D61910-116B-4909-8955-0A7166E22921}" srcOrd="10" destOrd="0" presId="urn:microsoft.com/office/officeart/2018/2/layout/IconCircleList"/>
    <dgm:cxn modelId="{5A463577-8A75-493E-B75F-6E6FDCB35887}" type="presParOf" srcId="{48D61910-116B-4909-8955-0A7166E22921}" destId="{D8CA412D-5E50-4790-8358-8720F9566A2A}" srcOrd="0" destOrd="0" presId="urn:microsoft.com/office/officeart/2018/2/layout/IconCircleList"/>
    <dgm:cxn modelId="{F94E5679-3992-4DBE-9029-3E9278361D51}" type="presParOf" srcId="{48D61910-116B-4909-8955-0A7166E22921}" destId="{501AA76A-C98B-43E0-A978-859D34C83AED}" srcOrd="1" destOrd="0" presId="urn:microsoft.com/office/officeart/2018/2/layout/IconCircleList"/>
    <dgm:cxn modelId="{70F087BA-09FE-489D-B6C0-FB0C678346E4}" type="presParOf" srcId="{48D61910-116B-4909-8955-0A7166E22921}" destId="{370939F5-2AD2-48BE-BEF4-68E5081A34DB}" srcOrd="2" destOrd="0" presId="urn:microsoft.com/office/officeart/2018/2/layout/IconCircleList"/>
    <dgm:cxn modelId="{6DCFFEA6-ABDB-4D76-9EAB-B56935AAED13}" type="presParOf" srcId="{48D61910-116B-4909-8955-0A7166E22921}" destId="{230D636D-F259-409B-8645-46EE902932B3}"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96ABF1-CF07-46C9-BA8B-87296534E1CA}"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96D96C2A-2D3D-4F4B-AA2C-25AF10171051}">
      <dgm:prSet/>
      <dgm:spPr/>
      <dgm:t>
        <a:bodyPr/>
        <a:lstStyle/>
        <a:p>
          <a:r>
            <a:rPr lang="pt-BR"/>
            <a:t>Availability Zone</a:t>
          </a:r>
          <a:endParaRPr lang="en-US"/>
        </a:p>
      </dgm:t>
    </dgm:pt>
    <dgm:pt modelId="{F0013F39-3167-4C76-8F9C-D04101B31929}" type="parTrans" cxnId="{8C1C99E7-95B5-438F-BA4B-F47FFDF872AC}">
      <dgm:prSet/>
      <dgm:spPr/>
      <dgm:t>
        <a:bodyPr/>
        <a:lstStyle/>
        <a:p>
          <a:endParaRPr lang="en-US"/>
        </a:p>
      </dgm:t>
    </dgm:pt>
    <dgm:pt modelId="{21E47642-2932-4AD5-9BB1-5A94F992CC9A}" type="sibTrans" cxnId="{8C1C99E7-95B5-438F-BA4B-F47FFDF872AC}">
      <dgm:prSet/>
      <dgm:spPr/>
      <dgm:t>
        <a:bodyPr/>
        <a:lstStyle/>
        <a:p>
          <a:endParaRPr lang="en-US"/>
        </a:p>
      </dgm:t>
    </dgm:pt>
    <dgm:pt modelId="{77BFCF6D-0CCD-4A23-B6F7-660F4E3F9B2B}">
      <dgm:prSet/>
      <dgm:spPr/>
      <dgm:t>
        <a:bodyPr/>
        <a:lstStyle/>
        <a:p>
          <a:r>
            <a:rPr lang="pt-BR" dirty="0"/>
            <a:t>As zonas de disponibilidade são locais fisicamente separados em uma região do Azure. Cada zona de disponibilidade é composta por um ou mais datacenters equipados com energia, refrigeração e rede independentes (Data Center).</a:t>
          </a:r>
          <a:endParaRPr lang="en-US" dirty="0"/>
        </a:p>
      </dgm:t>
    </dgm:pt>
    <dgm:pt modelId="{6B8F1C84-6166-4BD4-BC96-E481E10FAF9C}" type="parTrans" cxnId="{4E632789-E0D2-426B-BD43-B17FEDAD7A26}">
      <dgm:prSet/>
      <dgm:spPr/>
      <dgm:t>
        <a:bodyPr/>
        <a:lstStyle/>
        <a:p>
          <a:endParaRPr lang="en-US"/>
        </a:p>
      </dgm:t>
    </dgm:pt>
    <dgm:pt modelId="{1C50ADE4-B186-49D2-8CAE-2AF60C40CFB5}" type="sibTrans" cxnId="{4E632789-E0D2-426B-BD43-B17FEDAD7A26}">
      <dgm:prSet/>
      <dgm:spPr/>
      <dgm:t>
        <a:bodyPr/>
        <a:lstStyle/>
        <a:p>
          <a:endParaRPr lang="en-US"/>
        </a:p>
      </dgm:t>
    </dgm:pt>
    <dgm:pt modelId="{C79EC3B8-0472-4601-8259-9C21250C0ADC}">
      <dgm:prSet/>
      <dgm:spPr/>
      <dgm:t>
        <a:bodyPr/>
        <a:lstStyle/>
        <a:p>
          <a:r>
            <a:rPr lang="pt-BR"/>
            <a:t>As zonas de disponibilidade permitem que os clientes executem aplicativos de missão crítica com alta disponibilidade e replicação de baixa latência.</a:t>
          </a:r>
          <a:endParaRPr lang="en-US"/>
        </a:p>
      </dgm:t>
    </dgm:pt>
    <dgm:pt modelId="{A8717F8F-9A16-4199-B038-F576C6F268BA}" type="parTrans" cxnId="{13F4E61C-6913-4D54-917B-C1AAE4027576}">
      <dgm:prSet/>
      <dgm:spPr/>
      <dgm:t>
        <a:bodyPr/>
        <a:lstStyle/>
        <a:p>
          <a:endParaRPr lang="en-US"/>
        </a:p>
      </dgm:t>
    </dgm:pt>
    <dgm:pt modelId="{9E77E6F5-B6A5-4AC3-9BCA-3FB6681CE877}" type="sibTrans" cxnId="{13F4E61C-6913-4D54-917B-C1AAE4027576}">
      <dgm:prSet/>
      <dgm:spPr/>
      <dgm:t>
        <a:bodyPr/>
        <a:lstStyle/>
        <a:p>
          <a:endParaRPr lang="en-US"/>
        </a:p>
      </dgm:t>
    </dgm:pt>
    <dgm:pt modelId="{4318341C-9546-4D60-B1E4-F1DF80D9E9F5}">
      <dgm:prSet/>
      <dgm:spPr/>
      <dgm:t>
        <a:bodyPr/>
        <a:lstStyle/>
        <a:p>
          <a:r>
            <a:rPr lang="pt-BR"/>
            <a:t>Regions</a:t>
          </a:r>
          <a:endParaRPr lang="en-US"/>
        </a:p>
      </dgm:t>
    </dgm:pt>
    <dgm:pt modelId="{19CD9DC1-BAC6-44DB-9F0C-83958876F709}" type="parTrans" cxnId="{7240D7AF-4BB7-4BA5-AB97-52C9B518983D}">
      <dgm:prSet/>
      <dgm:spPr/>
      <dgm:t>
        <a:bodyPr/>
        <a:lstStyle/>
        <a:p>
          <a:endParaRPr lang="en-US"/>
        </a:p>
      </dgm:t>
    </dgm:pt>
    <dgm:pt modelId="{6504FEB4-4B8E-47EE-BB84-521A0824C5BA}" type="sibTrans" cxnId="{7240D7AF-4BB7-4BA5-AB97-52C9B518983D}">
      <dgm:prSet/>
      <dgm:spPr/>
      <dgm:t>
        <a:bodyPr/>
        <a:lstStyle/>
        <a:p>
          <a:endParaRPr lang="en-US"/>
        </a:p>
      </dgm:t>
    </dgm:pt>
    <dgm:pt modelId="{B76D2561-D4CA-4FD2-AB4C-1D511A8C1DCA}">
      <dgm:prSet/>
      <dgm:spPr/>
      <dgm:t>
        <a:bodyPr/>
        <a:lstStyle/>
        <a:p>
          <a:r>
            <a:rPr lang="pt-BR"/>
            <a:t>Uma região é um conjunto de datacenters implantados em um perímetro definido pela latência e conectados por meio de uma rede regional de baixa latência dedicada.</a:t>
          </a:r>
          <a:endParaRPr lang="en-US"/>
        </a:p>
      </dgm:t>
    </dgm:pt>
    <dgm:pt modelId="{21562B19-F2FE-429B-8501-26E8F90BCB97}" type="parTrans" cxnId="{EC07BC4D-F1EF-44C5-8F7D-5EF99A123CE8}">
      <dgm:prSet/>
      <dgm:spPr/>
      <dgm:t>
        <a:bodyPr/>
        <a:lstStyle/>
        <a:p>
          <a:endParaRPr lang="en-US"/>
        </a:p>
      </dgm:t>
    </dgm:pt>
    <dgm:pt modelId="{BC41E47A-96C1-48AF-99E7-A09306FF7F08}" type="sibTrans" cxnId="{EC07BC4D-F1EF-44C5-8F7D-5EF99A123CE8}">
      <dgm:prSet/>
      <dgm:spPr/>
      <dgm:t>
        <a:bodyPr/>
        <a:lstStyle/>
        <a:p>
          <a:endParaRPr lang="en-US"/>
        </a:p>
      </dgm:t>
    </dgm:pt>
    <dgm:pt modelId="{DE37FD04-C74C-407D-8693-F05AE5E103FA}">
      <dgm:prSet/>
      <dgm:spPr/>
      <dgm:t>
        <a:bodyPr/>
        <a:lstStyle/>
        <a:p>
          <a:r>
            <a:rPr lang="pt-BR"/>
            <a:t>Com mais regiões globais do que qualquer outro provedor de nuvem, o Azure oferece aos clientes a flexibilidade de implantar aplicativos onde eles precisam. O Azure geralmente está disponível em 50 regiões ao redor do mundo, com planos anunciados para 4 regiões adicionais.</a:t>
          </a:r>
          <a:endParaRPr lang="en-US"/>
        </a:p>
      </dgm:t>
    </dgm:pt>
    <dgm:pt modelId="{D0D4558D-9138-4BA2-92DF-51FDF7EC8435}" type="parTrans" cxnId="{7838E875-E72B-44A2-A3D9-FB94486F8039}">
      <dgm:prSet/>
      <dgm:spPr/>
      <dgm:t>
        <a:bodyPr/>
        <a:lstStyle/>
        <a:p>
          <a:endParaRPr lang="en-US"/>
        </a:p>
      </dgm:t>
    </dgm:pt>
    <dgm:pt modelId="{10B5A48E-29C2-4F02-999F-94E8D5BE1791}" type="sibTrans" cxnId="{7838E875-E72B-44A2-A3D9-FB94486F8039}">
      <dgm:prSet/>
      <dgm:spPr/>
      <dgm:t>
        <a:bodyPr/>
        <a:lstStyle/>
        <a:p>
          <a:endParaRPr lang="en-US"/>
        </a:p>
      </dgm:t>
    </dgm:pt>
    <dgm:pt modelId="{D18A4FAE-9E3E-4914-BB50-7954D2BCDB26}">
      <dgm:prSet/>
      <dgm:spPr/>
      <dgm:t>
        <a:bodyPr/>
        <a:lstStyle/>
        <a:p>
          <a:r>
            <a:rPr lang="pt-BR"/>
            <a:t>Geographies</a:t>
          </a:r>
          <a:endParaRPr lang="en-US"/>
        </a:p>
      </dgm:t>
    </dgm:pt>
    <dgm:pt modelId="{CDB6E5D1-5A09-4048-8943-7B222414B494}" type="parTrans" cxnId="{FD0A5D64-CD3B-44BD-A5FA-E1904A0E143F}">
      <dgm:prSet/>
      <dgm:spPr/>
      <dgm:t>
        <a:bodyPr/>
        <a:lstStyle/>
        <a:p>
          <a:endParaRPr lang="en-US"/>
        </a:p>
      </dgm:t>
    </dgm:pt>
    <dgm:pt modelId="{554D7F45-C0C2-4D1F-A546-8B2A6A88AC39}" type="sibTrans" cxnId="{FD0A5D64-CD3B-44BD-A5FA-E1904A0E143F}">
      <dgm:prSet/>
      <dgm:spPr/>
      <dgm:t>
        <a:bodyPr/>
        <a:lstStyle/>
        <a:p>
          <a:endParaRPr lang="en-US"/>
        </a:p>
      </dgm:t>
    </dgm:pt>
    <dgm:pt modelId="{0545EA82-F450-4C27-80C2-21806A428028}">
      <dgm:prSet/>
      <dgm:spPr/>
      <dgm:t>
        <a:bodyPr/>
        <a:lstStyle/>
        <a:p>
          <a:r>
            <a:rPr lang="pt-BR"/>
            <a:t>Uma geografia é um mercado discreto, geralmente contendo duas ou mais regiões, que preserva os limites de residência e conformidade de dados.</a:t>
          </a:r>
          <a:endParaRPr lang="en-US"/>
        </a:p>
      </dgm:t>
    </dgm:pt>
    <dgm:pt modelId="{99862F02-810F-4CFB-A9F6-2895256259CF}" type="parTrans" cxnId="{A238510B-F8AC-4F84-9527-FC7525F3EC5A}">
      <dgm:prSet/>
      <dgm:spPr/>
      <dgm:t>
        <a:bodyPr/>
        <a:lstStyle/>
        <a:p>
          <a:endParaRPr lang="en-US"/>
        </a:p>
      </dgm:t>
    </dgm:pt>
    <dgm:pt modelId="{8887A1A1-AAA2-4305-99DF-4D06F40F2CA4}" type="sibTrans" cxnId="{A238510B-F8AC-4F84-9527-FC7525F3EC5A}">
      <dgm:prSet/>
      <dgm:spPr/>
      <dgm:t>
        <a:bodyPr/>
        <a:lstStyle/>
        <a:p>
          <a:endParaRPr lang="en-US"/>
        </a:p>
      </dgm:t>
    </dgm:pt>
    <dgm:pt modelId="{0A421475-B0FE-4901-99A8-187AC579E539}">
      <dgm:prSet/>
      <dgm:spPr/>
      <dgm:t>
        <a:bodyPr/>
        <a:lstStyle/>
        <a:p>
          <a:r>
            <a:rPr lang="pt-BR"/>
            <a:t>As geografias permitem que os clientes com necessidades específicas de residência e conformidade de dados mantenham seus dados e aplicativos próximos. As regiões geográficas são tolerantes a falhas para resistir a falhas completas da região através da conexão com nossa infraestrutura de rede dedicada de alta capacidade.</a:t>
          </a:r>
          <a:endParaRPr lang="en-US"/>
        </a:p>
      </dgm:t>
    </dgm:pt>
    <dgm:pt modelId="{231404BE-E8E7-44AF-86F4-D80BD9F04231}" type="parTrans" cxnId="{532C429C-D64C-4502-9844-5F89584978B1}">
      <dgm:prSet/>
      <dgm:spPr/>
      <dgm:t>
        <a:bodyPr/>
        <a:lstStyle/>
        <a:p>
          <a:endParaRPr lang="en-US"/>
        </a:p>
      </dgm:t>
    </dgm:pt>
    <dgm:pt modelId="{B777D5D8-10DE-420B-A3CB-7B0C0AB274EA}" type="sibTrans" cxnId="{532C429C-D64C-4502-9844-5F89584978B1}">
      <dgm:prSet/>
      <dgm:spPr/>
      <dgm:t>
        <a:bodyPr/>
        <a:lstStyle/>
        <a:p>
          <a:endParaRPr lang="en-US"/>
        </a:p>
      </dgm:t>
    </dgm:pt>
    <dgm:pt modelId="{6E180B87-4B5F-49D1-B9B5-FA8AB70DDB53}" type="pres">
      <dgm:prSet presAssocID="{7296ABF1-CF07-46C9-BA8B-87296534E1CA}" presName="vert0" presStyleCnt="0">
        <dgm:presLayoutVars>
          <dgm:dir/>
          <dgm:animOne val="branch"/>
          <dgm:animLvl val="lvl"/>
        </dgm:presLayoutVars>
      </dgm:prSet>
      <dgm:spPr/>
    </dgm:pt>
    <dgm:pt modelId="{23ADB1FD-389C-4265-BFAC-839B227BDB69}" type="pres">
      <dgm:prSet presAssocID="{96D96C2A-2D3D-4F4B-AA2C-25AF10171051}" presName="thickLine" presStyleLbl="alignNode1" presStyleIdx="0" presStyleCnt="3"/>
      <dgm:spPr/>
    </dgm:pt>
    <dgm:pt modelId="{A35E51E2-5F20-48D3-98AB-30944BFF94CA}" type="pres">
      <dgm:prSet presAssocID="{96D96C2A-2D3D-4F4B-AA2C-25AF10171051}" presName="horz1" presStyleCnt="0"/>
      <dgm:spPr/>
    </dgm:pt>
    <dgm:pt modelId="{B341736C-5B0D-4484-827C-1FF46B5D6A42}" type="pres">
      <dgm:prSet presAssocID="{96D96C2A-2D3D-4F4B-AA2C-25AF10171051}" presName="tx1" presStyleLbl="revTx" presStyleIdx="0" presStyleCnt="9"/>
      <dgm:spPr/>
    </dgm:pt>
    <dgm:pt modelId="{28A3D329-E10E-4072-8339-14138AA54EB5}" type="pres">
      <dgm:prSet presAssocID="{96D96C2A-2D3D-4F4B-AA2C-25AF10171051}" presName="vert1" presStyleCnt="0"/>
      <dgm:spPr/>
    </dgm:pt>
    <dgm:pt modelId="{BE81E751-271D-4D1E-A032-4F0DCF5C187C}" type="pres">
      <dgm:prSet presAssocID="{77BFCF6D-0CCD-4A23-B6F7-660F4E3F9B2B}" presName="vertSpace2a" presStyleCnt="0"/>
      <dgm:spPr/>
    </dgm:pt>
    <dgm:pt modelId="{03A87926-6FA8-400A-98BB-66F31805E91F}" type="pres">
      <dgm:prSet presAssocID="{77BFCF6D-0CCD-4A23-B6F7-660F4E3F9B2B}" presName="horz2" presStyleCnt="0"/>
      <dgm:spPr/>
    </dgm:pt>
    <dgm:pt modelId="{CEBAB119-1834-4122-BA10-158A9EBE2B07}" type="pres">
      <dgm:prSet presAssocID="{77BFCF6D-0CCD-4A23-B6F7-660F4E3F9B2B}" presName="horzSpace2" presStyleCnt="0"/>
      <dgm:spPr/>
    </dgm:pt>
    <dgm:pt modelId="{FB70CE9A-6EF9-4DC7-BED2-3E0D17F104EA}" type="pres">
      <dgm:prSet presAssocID="{77BFCF6D-0CCD-4A23-B6F7-660F4E3F9B2B}" presName="tx2" presStyleLbl="revTx" presStyleIdx="1" presStyleCnt="9"/>
      <dgm:spPr/>
    </dgm:pt>
    <dgm:pt modelId="{C708B39E-6F86-48F8-8EB6-D0BC4B594212}" type="pres">
      <dgm:prSet presAssocID="{77BFCF6D-0CCD-4A23-B6F7-660F4E3F9B2B}" presName="vert2" presStyleCnt="0"/>
      <dgm:spPr/>
    </dgm:pt>
    <dgm:pt modelId="{72DB6593-B8C8-4F39-A5F4-5C24FECFBC56}" type="pres">
      <dgm:prSet presAssocID="{77BFCF6D-0CCD-4A23-B6F7-660F4E3F9B2B}" presName="thinLine2b" presStyleLbl="callout" presStyleIdx="0" presStyleCnt="6"/>
      <dgm:spPr/>
    </dgm:pt>
    <dgm:pt modelId="{46CDBE23-474D-4460-B48D-71E93EB11351}" type="pres">
      <dgm:prSet presAssocID="{77BFCF6D-0CCD-4A23-B6F7-660F4E3F9B2B}" presName="vertSpace2b" presStyleCnt="0"/>
      <dgm:spPr/>
    </dgm:pt>
    <dgm:pt modelId="{EFC1557A-92AD-4084-86A9-8FA59BF10089}" type="pres">
      <dgm:prSet presAssocID="{C79EC3B8-0472-4601-8259-9C21250C0ADC}" presName="horz2" presStyleCnt="0"/>
      <dgm:spPr/>
    </dgm:pt>
    <dgm:pt modelId="{D4CFDD6D-5760-464B-A62D-9347C1C6C48F}" type="pres">
      <dgm:prSet presAssocID="{C79EC3B8-0472-4601-8259-9C21250C0ADC}" presName="horzSpace2" presStyleCnt="0"/>
      <dgm:spPr/>
    </dgm:pt>
    <dgm:pt modelId="{B44189C5-9FE2-4C7E-9A56-7F16F9FF3955}" type="pres">
      <dgm:prSet presAssocID="{C79EC3B8-0472-4601-8259-9C21250C0ADC}" presName="tx2" presStyleLbl="revTx" presStyleIdx="2" presStyleCnt="9"/>
      <dgm:spPr/>
    </dgm:pt>
    <dgm:pt modelId="{9CBAC24D-98D5-4846-9567-7332D7A85488}" type="pres">
      <dgm:prSet presAssocID="{C79EC3B8-0472-4601-8259-9C21250C0ADC}" presName="vert2" presStyleCnt="0"/>
      <dgm:spPr/>
    </dgm:pt>
    <dgm:pt modelId="{E21E35F7-D50E-4423-8617-EB4503724533}" type="pres">
      <dgm:prSet presAssocID="{C79EC3B8-0472-4601-8259-9C21250C0ADC}" presName="thinLine2b" presStyleLbl="callout" presStyleIdx="1" presStyleCnt="6"/>
      <dgm:spPr/>
    </dgm:pt>
    <dgm:pt modelId="{0CB98319-34F5-49B5-A11A-8B6B238062DC}" type="pres">
      <dgm:prSet presAssocID="{C79EC3B8-0472-4601-8259-9C21250C0ADC}" presName="vertSpace2b" presStyleCnt="0"/>
      <dgm:spPr/>
    </dgm:pt>
    <dgm:pt modelId="{3CA7B12B-74B4-4AB7-901E-32768528D97B}" type="pres">
      <dgm:prSet presAssocID="{4318341C-9546-4D60-B1E4-F1DF80D9E9F5}" presName="thickLine" presStyleLbl="alignNode1" presStyleIdx="1" presStyleCnt="3"/>
      <dgm:spPr/>
    </dgm:pt>
    <dgm:pt modelId="{20DC2D09-59E2-41B3-9A51-9F242FF75112}" type="pres">
      <dgm:prSet presAssocID="{4318341C-9546-4D60-B1E4-F1DF80D9E9F5}" presName="horz1" presStyleCnt="0"/>
      <dgm:spPr/>
    </dgm:pt>
    <dgm:pt modelId="{33004482-9B47-4AA5-BF17-AE0CD6DF3329}" type="pres">
      <dgm:prSet presAssocID="{4318341C-9546-4D60-B1E4-F1DF80D9E9F5}" presName="tx1" presStyleLbl="revTx" presStyleIdx="3" presStyleCnt="9"/>
      <dgm:spPr/>
    </dgm:pt>
    <dgm:pt modelId="{165633B8-B207-45AB-ACBE-92F5073B5E73}" type="pres">
      <dgm:prSet presAssocID="{4318341C-9546-4D60-B1E4-F1DF80D9E9F5}" presName="vert1" presStyleCnt="0"/>
      <dgm:spPr/>
    </dgm:pt>
    <dgm:pt modelId="{CD2DF4F9-E596-4442-BF0E-BCC133AF5178}" type="pres">
      <dgm:prSet presAssocID="{B76D2561-D4CA-4FD2-AB4C-1D511A8C1DCA}" presName="vertSpace2a" presStyleCnt="0"/>
      <dgm:spPr/>
    </dgm:pt>
    <dgm:pt modelId="{C8EC3FCE-9627-476A-8872-00533C82B8C0}" type="pres">
      <dgm:prSet presAssocID="{B76D2561-D4CA-4FD2-AB4C-1D511A8C1DCA}" presName="horz2" presStyleCnt="0"/>
      <dgm:spPr/>
    </dgm:pt>
    <dgm:pt modelId="{B7680CCE-AD1B-4923-A506-76F32728A849}" type="pres">
      <dgm:prSet presAssocID="{B76D2561-D4CA-4FD2-AB4C-1D511A8C1DCA}" presName="horzSpace2" presStyleCnt="0"/>
      <dgm:spPr/>
    </dgm:pt>
    <dgm:pt modelId="{75D50777-7AEB-4CC9-92A0-34E2F25EDC52}" type="pres">
      <dgm:prSet presAssocID="{B76D2561-D4CA-4FD2-AB4C-1D511A8C1DCA}" presName="tx2" presStyleLbl="revTx" presStyleIdx="4" presStyleCnt="9"/>
      <dgm:spPr/>
    </dgm:pt>
    <dgm:pt modelId="{E9D7EECB-B776-467A-AE8D-EFECDEFCD3E8}" type="pres">
      <dgm:prSet presAssocID="{B76D2561-D4CA-4FD2-AB4C-1D511A8C1DCA}" presName="vert2" presStyleCnt="0"/>
      <dgm:spPr/>
    </dgm:pt>
    <dgm:pt modelId="{2E6E81DE-5903-44CC-B5BE-EBF6379F89AC}" type="pres">
      <dgm:prSet presAssocID="{B76D2561-D4CA-4FD2-AB4C-1D511A8C1DCA}" presName="thinLine2b" presStyleLbl="callout" presStyleIdx="2" presStyleCnt="6"/>
      <dgm:spPr/>
    </dgm:pt>
    <dgm:pt modelId="{2CAC44B5-6D69-4AF0-B3B7-F489A1162C84}" type="pres">
      <dgm:prSet presAssocID="{B76D2561-D4CA-4FD2-AB4C-1D511A8C1DCA}" presName="vertSpace2b" presStyleCnt="0"/>
      <dgm:spPr/>
    </dgm:pt>
    <dgm:pt modelId="{63E8D10A-1493-406E-ADDF-9663971B813B}" type="pres">
      <dgm:prSet presAssocID="{DE37FD04-C74C-407D-8693-F05AE5E103FA}" presName="horz2" presStyleCnt="0"/>
      <dgm:spPr/>
    </dgm:pt>
    <dgm:pt modelId="{0C625497-5577-4DFB-886B-10586A699E68}" type="pres">
      <dgm:prSet presAssocID="{DE37FD04-C74C-407D-8693-F05AE5E103FA}" presName="horzSpace2" presStyleCnt="0"/>
      <dgm:spPr/>
    </dgm:pt>
    <dgm:pt modelId="{9C480C1D-54A9-4A1E-8F70-20D91B543A43}" type="pres">
      <dgm:prSet presAssocID="{DE37FD04-C74C-407D-8693-F05AE5E103FA}" presName="tx2" presStyleLbl="revTx" presStyleIdx="5" presStyleCnt="9"/>
      <dgm:spPr/>
    </dgm:pt>
    <dgm:pt modelId="{CA688F60-8919-4134-AED5-E7346B0C73C2}" type="pres">
      <dgm:prSet presAssocID="{DE37FD04-C74C-407D-8693-F05AE5E103FA}" presName="vert2" presStyleCnt="0"/>
      <dgm:spPr/>
    </dgm:pt>
    <dgm:pt modelId="{3BAC27DD-3A57-4DE3-AA19-28E34490AE57}" type="pres">
      <dgm:prSet presAssocID="{DE37FD04-C74C-407D-8693-F05AE5E103FA}" presName="thinLine2b" presStyleLbl="callout" presStyleIdx="3" presStyleCnt="6"/>
      <dgm:spPr/>
    </dgm:pt>
    <dgm:pt modelId="{2F91F1E4-1F45-4AA4-B916-6B6D19FEC88B}" type="pres">
      <dgm:prSet presAssocID="{DE37FD04-C74C-407D-8693-F05AE5E103FA}" presName="vertSpace2b" presStyleCnt="0"/>
      <dgm:spPr/>
    </dgm:pt>
    <dgm:pt modelId="{3383EC68-84FB-4128-889A-79A5AFB730D5}" type="pres">
      <dgm:prSet presAssocID="{D18A4FAE-9E3E-4914-BB50-7954D2BCDB26}" presName="thickLine" presStyleLbl="alignNode1" presStyleIdx="2" presStyleCnt="3"/>
      <dgm:spPr/>
    </dgm:pt>
    <dgm:pt modelId="{603C1DAE-EF10-4126-806E-7BBC37B2E563}" type="pres">
      <dgm:prSet presAssocID="{D18A4FAE-9E3E-4914-BB50-7954D2BCDB26}" presName="horz1" presStyleCnt="0"/>
      <dgm:spPr/>
    </dgm:pt>
    <dgm:pt modelId="{2A823EDC-5D6C-42C7-8FC8-49B7C6D6754A}" type="pres">
      <dgm:prSet presAssocID="{D18A4FAE-9E3E-4914-BB50-7954D2BCDB26}" presName="tx1" presStyleLbl="revTx" presStyleIdx="6" presStyleCnt="9"/>
      <dgm:spPr/>
    </dgm:pt>
    <dgm:pt modelId="{4C832C53-B07E-49F0-BE74-C4DA4347238D}" type="pres">
      <dgm:prSet presAssocID="{D18A4FAE-9E3E-4914-BB50-7954D2BCDB26}" presName="vert1" presStyleCnt="0"/>
      <dgm:spPr/>
    </dgm:pt>
    <dgm:pt modelId="{EF8C57B0-05AE-49C4-8A8A-13C866C4A0AE}" type="pres">
      <dgm:prSet presAssocID="{0545EA82-F450-4C27-80C2-21806A428028}" presName="vertSpace2a" presStyleCnt="0"/>
      <dgm:spPr/>
    </dgm:pt>
    <dgm:pt modelId="{554CDA78-A4DF-412B-BE57-FA6F4E7D3C7B}" type="pres">
      <dgm:prSet presAssocID="{0545EA82-F450-4C27-80C2-21806A428028}" presName="horz2" presStyleCnt="0"/>
      <dgm:spPr/>
    </dgm:pt>
    <dgm:pt modelId="{C943A7D1-7D81-484D-ADF7-2571CAD20A1E}" type="pres">
      <dgm:prSet presAssocID="{0545EA82-F450-4C27-80C2-21806A428028}" presName="horzSpace2" presStyleCnt="0"/>
      <dgm:spPr/>
    </dgm:pt>
    <dgm:pt modelId="{3F6B4AC7-4D55-41D2-A3F2-8D824BC6B748}" type="pres">
      <dgm:prSet presAssocID="{0545EA82-F450-4C27-80C2-21806A428028}" presName="tx2" presStyleLbl="revTx" presStyleIdx="7" presStyleCnt="9"/>
      <dgm:spPr/>
    </dgm:pt>
    <dgm:pt modelId="{DB185042-B39A-445F-9870-7B2C3B8232CF}" type="pres">
      <dgm:prSet presAssocID="{0545EA82-F450-4C27-80C2-21806A428028}" presName="vert2" presStyleCnt="0"/>
      <dgm:spPr/>
    </dgm:pt>
    <dgm:pt modelId="{6613A0D6-2F52-415D-8694-A9DE1CABEB65}" type="pres">
      <dgm:prSet presAssocID="{0545EA82-F450-4C27-80C2-21806A428028}" presName="thinLine2b" presStyleLbl="callout" presStyleIdx="4" presStyleCnt="6"/>
      <dgm:spPr/>
    </dgm:pt>
    <dgm:pt modelId="{963FD71F-0376-458E-9341-57F7C9548039}" type="pres">
      <dgm:prSet presAssocID="{0545EA82-F450-4C27-80C2-21806A428028}" presName="vertSpace2b" presStyleCnt="0"/>
      <dgm:spPr/>
    </dgm:pt>
    <dgm:pt modelId="{23412B3D-1508-48D2-803A-68E28CECFCBD}" type="pres">
      <dgm:prSet presAssocID="{0A421475-B0FE-4901-99A8-187AC579E539}" presName="horz2" presStyleCnt="0"/>
      <dgm:spPr/>
    </dgm:pt>
    <dgm:pt modelId="{9214E01E-686D-4797-B50E-AE082BF47142}" type="pres">
      <dgm:prSet presAssocID="{0A421475-B0FE-4901-99A8-187AC579E539}" presName="horzSpace2" presStyleCnt="0"/>
      <dgm:spPr/>
    </dgm:pt>
    <dgm:pt modelId="{FA88787B-1B79-47CE-A5DE-1CF7B010607B}" type="pres">
      <dgm:prSet presAssocID="{0A421475-B0FE-4901-99A8-187AC579E539}" presName="tx2" presStyleLbl="revTx" presStyleIdx="8" presStyleCnt="9"/>
      <dgm:spPr/>
    </dgm:pt>
    <dgm:pt modelId="{6EC86A52-4EFC-4267-B04D-A2D3F686C500}" type="pres">
      <dgm:prSet presAssocID="{0A421475-B0FE-4901-99A8-187AC579E539}" presName="vert2" presStyleCnt="0"/>
      <dgm:spPr/>
    </dgm:pt>
    <dgm:pt modelId="{17F92A94-A9EC-49E5-9818-0ED4792BA74C}" type="pres">
      <dgm:prSet presAssocID="{0A421475-B0FE-4901-99A8-187AC579E539}" presName="thinLine2b" presStyleLbl="callout" presStyleIdx="5" presStyleCnt="6"/>
      <dgm:spPr/>
    </dgm:pt>
    <dgm:pt modelId="{BCC6B0A4-FCC1-42B6-A9EF-90218A5FECE6}" type="pres">
      <dgm:prSet presAssocID="{0A421475-B0FE-4901-99A8-187AC579E539}" presName="vertSpace2b" presStyleCnt="0"/>
      <dgm:spPr/>
    </dgm:pt>
  </dgm:ptLst>
  <dgm:cxnLst>
    <dgm:cxn modelId="{A238510B-F8AC-4F84-9527-FC7525F3EC5A}" srcId="{D18A4FAE-9E3E-4914-BB50-7954D2BCDB26}" destId="{0545EA82-F450-4C27-80C2-21806A428028}" srcOrd="0" destOrd="0" parTransId="{99862F02-810F-4CFB-A9F6-2895256259CF}" sibTransId="{8887A1A1-AAA2-4305-99DF-4D06F40F2CA4}"/>
    <dgm:cxn modelId="{13F4E61C-6913-4D54-917B-C1AAE4027576}" srcId="{96D96C2A-2D3D-4F4B-AA2C-25AF10171051}" destId="{C79EC3B8-0472-4601-8259-9C21250C0ADC}" srcOrd="1" destOrd="0" parTransId="{A8717F8F-9A16-4199-B038-F576C6F268BA}" sibTransId="{9E77E6F5-B6A5-4AC3-9BCA-3FB6681CE877}"/>
    <dgm:cxn modelId="{87FBA325-E4EE-49BC-B149-8DD722343804}" type="presOf" srcId="{DE37FD04-C74C-407D-8693-F05AE5E103FA}" destId="{9C480C1D-54A9-4A1E-8F70-20D91B543A43}" srcOrd="0" destOrd="0" presId="urn:microsoft.com/office/officeart/2008/layout/LinedList"/>
    <dgm:cxn modelId="{EC317040-D66E-4648-860C-97D836F11EA5}" type="presOf" srcId="{0545EA82-F450-4C27-80C2-21806A428028}" destId="{3F6B4AC7-4D55-41D2-A3F2-8D824BC6B748}" srcOrd="0" destOrd="0" presId="urn:microsoft.com/office/officeart/2008/layout/LinedList"/>
    <dgm:cxn modelId="{FD0A5D64-CD3B-44BD-A5FA-E1904A0E143F}" srcId="{7296ABF1-CF07-46C9-BA8B-87296534E1CA}" destId="{D18A4FAE-9E3E-4914-BB50-7954D2BCDB26}" srcOrd="2" destOrd="0" parTransId="{CDB6E5D1-5A09-4048-8943-7B222414B494}" sibTransId="{554D7F45-C0C2-4D1F-A546-8B2A6A88AC39}"/>
    <dgm:cxn modelId="{EC07BC4D-F1EF-44C5-8F7D-5EF99A123CE8}" srcId="{4318341C-9546-4D60-B1E4-F1DF80D9E9F5}" destId="{B76D2561-D4CA-4FD2-AB4C-1D511A8C1DCA}" srcOrd="0" destOrd="0" parTransId="{21562B19-F2FE-429B-8501-26E8F90BCB97}" sibTransId="{BC41E47A-96C1-48AF-99E7-A09306FF7F08}"/>
    <dgm:cxn modelId="{814F6B55-3757-48DD-8B36-4F7CD16DEA51}" type="presOf" srcId="{C79EC3B8-0472-4601-8259-9C21250C0ADC}" destId="{B44189C5-9FE2-4C7E-9A56-7F16F9FF3955}" srcOrd="0" destOrd="0" presId="urn:microsoft.com/office/officeart/2008/layout/LinedList"/>
    <dgm:cxn modelId="{7838E875-E72B-44A2-A3D9-FB94486F8039}" srcId="{4318341C-9546-4D60-B1E4-F1DF80D9E9F5}" destId="{DE37FD04-C74C-407D-8693-F05AE5E103FA}" srcOrd="1" destOrd="0" parTransId="{D0D4558D-9138-4BA2-92DF-51FDF7EC8435}" sibTransId="{10B5A48E-29C2-4F02-999F-94E8D5BE1791}"/>
    <dgm:cxn modelId="{4E632789-E0D2-426B-BD43-B17FEDAD7A26}" srcId="{96D96C2A-2D3D-4F4B-AA2C-25AF10171051}" destId="{77BFCF6D-0CCD-4A23-B6F7-660F4E3F9B2B}" srcOrd="0" destOrd="0" parTransId="{6B8F1C84-6166-4BD4-BC96-E481E10FAF9C}" sibTransId="{1C50ADE4-B186-49D2-8CAE-2AF60C40CFB5}"/>
    <dgm:cxn modelId="{2CDDEC8A-5217-4066-A987-0CC988F004EA}" type="presOf" srcId="{77BFCF6D-0CCD-4A23-B6F7-660F4E3F9B2B}" destId="{FB70CE9A-6EF9-4DC7-BED2-3E0D17F104EA}" srcOrd="0" destOrd="0" presId="urn:microsoft.com/office/officeart/2008/layout/LinedList"/>
    <dgm:cxn modelId="{532C429C-D64C-4502-9844-5F89584978B1}" srcId="{D18A4FAE-9E3E-4914-BB50-7954D2BCDB26}" destId="{0A421475-B0FE-4901-99A8-187AC579E539}" srcOrd="1" destOrd="0" parTransId="{231404BE-E8E7-44AF-86F4-D80BD9F04231}" sibTransId="{B777D5D8-10DE-420B-A3CB-7B0C0AB274EA}"/>
    <dgm:cxn modelId="{D4E8F1A8-7129-4FEF-A159-431D9B6F13F4}" type="presOf" srcId="{D18A4FAE-9E3E-4914-BB50-7954D2BCDB26}" destId="{2A823EDC-5D6C-42C7-8FC8-49B7C6D6754A}" srcOrd="0" destOrd="0" presId="urn:microsoft.com/office/officeart/2008/layout/LinedList"/>
    <dgm:cxn modelId="{D87187AD-87F0-4ADE-B2A2-A81DA6B9B277}" type="presOf" srcId="{B76D2561-D4CA-4FD2-AB4C-1D511A8C1DCA}" destId="{75D50777-7AEB-4CC9-92A0-34E2F25EDC52}" srcOrd="0" destOrd="0" presId="urn:microsoft.com/office/officeart/2008/layout/LinedList"/>
    <dgm:cxn modelId="{1CC941AF-DD4E-4891-A04E-E898E03D43FD}" type="presOf" srcId="{0A421475-B0FE-4901-99A8-187AC579E539}" destId="{FA88787B-1B79-47CE-A5DE-1CF7B010607B}" srcOrd="0" destOrd="0" presId="urn:microsoft.com/office/officeart/2008/layout/LinedList"/>
    <dgm:cxn modelId="{7240D7AF-4BB7-4BA5-AB97-52C9B518983D}" srcId="{7296ABF1-CF07-46C9-BA8B-87296534E1CA}" destId="{4318341C-9546-4D60-B1E4-F1DF80D9E9F5}" srcOrd="1" destOrd="0" parTransId="{19CD9DC1-BAC6-44DB-9F0C-83958876F709}" sibTransId="{6504FEB4-4B8E-47EE-BB84-521A0824C5BA}"/>
    <dgm:cxn modelId="{78ED9AB2-B026-4E00-80BD-486996EFCB60}" type="presOf" srcId="{4318341C-9546-4D60-B1E4-F1DF80D9E9F5}" destId="{33004482-9B47-4AA5-BF17-AE0CD6DF3329}" srcOrd="0" destOrd="0" presId="urn:microsoft.com/office/officeart/2008/layout/LinedList"/>
    <dgm:cxn modelId="{839A25D3-37EF-4B20-AEEB-3EC9173B806B}" type="presOf" srcId="{96D96C2A-2D3D-4F4B-AA2C-25AF10171051}" destId="{B341736C-5B0D-4484-827C-1FF46B5D6A42}" srcOrd="0" destOrd="0" presId="urn:microsoft.com/office/officeart/2008/layout/LinedList"/>
    <dgm:cxn modelId="{8C1C99E7-95B5-438F-BA4B-F47FFDF872AC}" srcId="{7296ABF1-CF07-46C9-BA8B-87296534E1CA}" destId="{96D96C2A-2D3D-4F4B-AA2C-25AF10171051}" srcOrd="0" destOrd="0" parTransId="{F0013F39-3167-4C76-8F9C-D04101B31929}" sibTransId="{21E47642-2932-4AD5-9BB1-5A94F992CC9A}"/>
    <dgm:cxn modelId="{E37160E8-7CF6-480E-999A-DC1975783249}" type="presOf" srcId="{7296ABF1-CF07-46C9-BA8B-87296534E1CA}" destId="{6E180B87-4B5F-49D1-B9B5-FA8AB70DDB53}" srcOrd="0" destOrd="0" presId="urn:microsoft.com/office/officeart/2008/layout/LinedList"/>
    <dgm:cxn modelId="{6A639250-2236-4B46-A291-A935AB76E058}" type="presParOf" srcId="{6E180B87-4B5F-49D1-B9B5-FA8AB70DDB53}" destId="{23ADB1FD-389C-4265-BFAC-839B227BDB69}" srcOrd="0" destOrd="0" presId="urn:microsoft.com/office/officeart/2008/layout/LinedList"/>
    <dgm:cxn modelId="{2E191C7A-DE95-4E52-9715-5DC87F0B81A3}" type="presParOf" srcId="{6E180B87-4B5F-49D1-B9B5-FA8AB70DDB53}" destId="{A35E51E2-5F20-48D3-98AB-30944BFF94CA}" srcOrd="1" destOrd="0" presId="urn:microsoft.com/office/officeart/2008/layout/LinedList"/>
    <dgm:cxn modelId="{159DD0BC-9A69-4BAB-AF78-D886A08D5D0F}" type="presParOf" srcId="{A35E51E2-5F20-48D3-98AB-30944BFF94CA}" destId="{B341736C-5B0D-4484-827C-1FF46B5D6A42}" srcOrd="0" destOrd="0" presId="urn:microsoft.com/office/officeart/2008/layout/LinedList"/>
    <dgm:cxn modelId="{05F99732-1A90-4340-965F-E3DC4441ADFB}" type="presParOf" srcId="{A35E51E2-5F20-48D3-98AB-30944BFF94CA}" destId="{28A3D329-E10E-4072-8339-14138AA54EB5}" srcOrd="1" destOrd="0" presId="urn:microsoft.com/office/officeart/2008/layout/LinedList"/>
    <dgm:cxn modelId="{3F1D6408-C212-4577-BFFB-74BD0D67A22D}" type="presParOf" srcId="{28A3D329-E10E-4072-8339-14138AA54EB5}" destId="{BE81E751-271D-4D1E-A032-4F0DCF5C187C}" srcOrd="0" destOrd="0" presId="urn:microsoft.com/office/officeart/2008/layout/LinedList"/>
    <dgm:cxn modelId="{39919D78-5EB8-4ACA-8046-9A84738E9247}" type="presParOf" srcId="{28A3D329-E10E-4072-8339-14138AA54EB5}" destId="{03A87926-6FA8-400A-98BB-66F31805E91F}" srcOrd="1" destOrd="0" presId="urn:microsoft.com/office/officeart/2008/layout/LinedList"/>
    <dgm:cxn modelId="{EE53DDEB-79DE-465E-A97C-12C4A9F7EB2D}" type="presParOf" srcId="{03A87926-6FA8-400A-98BB-66F31805E91F}" destId="{CEBAB119-1834-4122-BA10-158A9EBE2B07}" srcOrd="0" destOrd="0" presId="urn:microsoft.com/office/officeart/2008/layout/LinedList"/>
    <dgm:cxn modelId="{CCE6A16E-CF03-4444-84B2-2E3433460621}" type="presParOf" srcId="{03A87926-6FA8-400A-98BB-66F31805E91F}" destId="{FB70CE9A-6EF9-4DC7-BED2-3E0D17F104EA}" srcOrd="1" destOrd="0" presId="urn:microsoft.com/office/officeart/2008/layout/LinedList"/>
    <dgm:cxn modelId="{59E358A8-EC2D-4344-A9A8-08634F852505}" type="presParOf" srcId="{03A87926-6FA8-400A-98BB-66F31805E91F}" destId="{C708B39E-6F86-48F8-8EB6-D0BC4B594212}" srcOrd="2" destOrd="0" presId="urn:microsoft.com/office/officeart/2008/layout/LinedList"/>
    <dgm:cxn modelId="{C27FDBB2-C19D-4444-A539-90F83CD10F7C}" type="presParOf" srcId="{28A3D329-E10E-4072-8339-14138AA54EB5}" destId="{72DB6593-B8C8-4F39-A5F4-5C24FECFBC56}" srcOrd="2" destOrd="0" presId="urn:microsoft.com/office/officeart/2008/layout/LinedList"/>
    <dgm:cxn modelId="{EC79D3FB-9622-4167-A1DD-9061A2A2203E}" type="presParOf" srcId="{28A3D329-E10E-4072-8339-14138AA54EB5}" destId="{46CDBE23-474D-4460-B48D-71E93EB11351}" srcOrd="3" destOrd="0" presId="urn:microsoft.com/office/officeart/2008/layout/LinedList"/>
    <dgm:cxn modelId="{D658212C-7C31-4B24-840E-A52DB9E4F7D9}" type="presParOf" srcId="{28A3D329-E10E-4072-8339-14138AA54EB5}" destId="{EFC1557A-92AD-4084-86A9-8FA59BF10089}" srcOrd="4" destOrd="0" presId="urn:microsoft.com/office/officeart/2008/layout/LinedList"/>
    <dgm:cxn modelId="{AF3FF8DA-29AA-4648-BD7E-F694B8978CF8}" type="presParOf" srcId="{EFC1557A-92AD-4084-86A9-8FA59BF10089}" destId="{D4CFDD6D-5760-464B-A62D-9347C1C6C48F}" srcOrd="0" destOrd="0" presId="urn:microsoft.com/office/officeart/2008/layout/LinedList"/>
    <dgm:cxn modelId="{5876ADE4-1649-4887-AFB9-09424F76C893}" type="presParOf" srcId="{EFC1557A-92AD-4084-86A9-8FA59BF10089}" destId="{B44189C5-9FE2-4C7E-9A56-7F16F9FF3955}" srcOrd="1" destOrd="0" presId="urn:microsoft.com/office/officeart/2008/layout/LinedList"/>
    <dgm:cxn modelId="{5D7A8522-1663-4175-941E-DB762A14C261}" type="presParOf" srcId="{EFC1557A-92AD-4084-86A9-8FA59BF10089}" destId="{9CBAC24D-98D5-4846-9567-7332D7A85488}" srcOrd="2" destOrd="0" presId="urn:microsoft.com/office/officeart/2008/layout/LinedList"/>
    <dgm:cxn modelId="{58BF77EF-53B6-4D4D-A902-EAC72ED358AF}" type="presParOf" srcId="{28A3D329-E10E-4072-8339-14138AA54EB5}" destId="{E21E35F7-D50E-4423-8617-EB4503724533}" srcOrd="5" destOrd="0" presId="urn:microsoft.com/office/officeart/2008/layout/LinedList"/>
    <dgm:cxn modelId="{93763831-3C7C-44C8-8ACD-315DEE6686A8}" type="presParOf" srcId="{28A3D329-E10E-4072-8339-14138AA54EB5}" destId="{0CB98319-34F5-49B5-A11A-8B6B238062DC}" srcOrd="6" destOrd="0" presId="urn:microsoft.com/office/officeart/2008/layout/LinedList"/>
    <dgm:cxn modelId="{49BEC0A1-1587-4BD3-8C96-D1224A2D594A}" type="presParOf" srcId="{6E180B87-4B5F-49D1-B9B5-FA8AB70DDB53}" destId="{3CA7B12B-74B4-4AB7-901E-32768528D97B}" srcOrd="2" destOrd="0" presId="urn:microsoft.com/office/officeart/2008/layout/LinedList"/>
    <dgm:cxn modelId="{F91AE577-B02E-4DE4-9242-B6528C3AEE21}" type="presParOf" srcId="{6E180B87-4B5F-49D1-B9B5-FA8AB70DDB53}" destId="{20DC2D09-59E2-41B3-9A51-9F242FF75112}" srcOrd="3" destOrd="0" presId="urn:microsoft.com/office/officeart/2008/layout/LinedList"/>
    <dgm:cxn modelId="{724A7EA9-F817-410A-974D-2B88B6AA8B52}" type="presParOf" srcId="{20DC2D09-59E2-41B3-9A51-9F242FF75112}" destId="{33004482-9B47-4AA5-BF17-AE0CD6DF3329}" srcOrd="0" destOrd="0" presId="urn:microsoft.com/office/officeart/2008/layout/LinedList"/>
    <dgm:cxn modelId="{B6E6AA6B-7FCD-4A51-98BB-4F195C262F02}" type="presParOf" srcId="{20DC2D09-59E2-41B3-9A51-9F242FF75112}" destId="{165633B8-B207-45AB-ACBE-92F5073B5E73}" srcOrd="1" destOrd="0" presId="urn:microsoft.com/office/officeart/2008/layout/LinedList"/>
    <dgm:cxn modelId="{2433F2AA-160E-4B9C-B023-8797EF0059FE}" type="presParOf" srcId="{165633B8-B207-45AB-ACBE-92F5073B5E73}" destId="{CD2DF4F9-E596-4442-BF0E-BCC133AF5178}" srcOrd="0" destOrd="0" presId="urn:microsoft.com/office/officeart/2008/layout/LinedList"/>
    <dgm:cxn modelId="{BE826222-6B1F-4C02-9391-BB0B5004AE31}" type="presParOf" srcId="{165633B8-B207-45AB-ACBE-92F5073B5E73}" destId="{C8EC3FCE-9627-476A-8872-00533C82B8C0}" srcOrd="1" destOrd="0" presId="urn:microsoft.com/office/officeart/2008/layout/LinedList"/>
    <dgm:cxn modelId="{9B81A572-F07A-4A09-BAAE-A606421DDA80}" type="presParOf" srcId="{C8EC3FCE-9627-476A-8872-00533C82B8C0}" destId="{B7680CCE-AD1B-4923-A506-76F32728A849}" srcOrd="0" destOrd="0" presId="urn:microsoft.com/office/officeart/2008/layout/LinedList"/>
    <dgm:cxn modelId="{33A6D46D-92A8-4985-BFDA-4CA47C759EB2}" type="presParOf" srcId="{C8EC3FCE-9627-476A-8872-00533C82B8C0}" destId="{75D50777-7AEB-4CC9-92A0-34E2F25EDC52}" srcOrd="1" destOrd="0" presId="urn:microsoft.com/office/officeart/2008/layout/LinedList"/>
    <dgm:cxn modelId="{9E906173-59DA-4256-8BB0-21C6737623A2}" type="presParOf" srcId="{C8EC3FCE-9627-476A-8872-00533C82B8C0}" destId="{E9D7EECB-B776-467A-AE8D-EFECDEFCD3E8}" srcOrd="2" destOrd="0" presId="urn:microsoft.com/office/officeart/2008/layout/LinedList"/>
    <dgm:cxn modelId="{E4AD8196-7CD4-48D5-BDFF-25562E4837B7}" type="presParOf" srcId="{165633B8-B207-45AB-ACBE-92F5073B5E73}" destId="{2E6E81DE-5903-44CC-B5BE-EBF6379F89AC}" srcOrd="2" destOrd="0" presId="urn:microsoft.com/office/officeart/2008/layout/LinedList"/>
    <dgm:cxn modelId="{6CC68D3B-C50B-41B9-97B4-64A133525DAE}" type="presParOf" srcId="{165633B8-B207-45AB-ACBE-92F5073B5E73}" destId="{2CAC44B5-6D69-4AF0-B3B7-F489A1162C84}" srcOrd="3" destOrd="0" presId="urn:microsoft.com/office/officeart/2008/layout/LinedList"/>
    <dgm:cxn modelId="{5F6157D7-D893-41C1-9B2D-D9799D0A47E1}" type="presParOf" srcId="{165633B8-B207-45AB-ACBE-92F5073B5E73}" destId="{63E8D10A-1493-406E-ADDF-9663971B813B}" srcOrd="4" destOrd="0" presId="urn:microsoft.com/office/officeart/2008/layout/LinedList"/>
    <dgm:cxn modelId="{FB6B2A0F-6ACF-48CE-9D77-269CB67049F1}" type="presParOf" srcId="{63E8D10A-1493-406E-ADDF-9663971B813B}" destId="{0C625497-5577-4DFB-886B-10586A699E68}" srcOrd="0" destOrd="0" presId="urn:microsoft.com/office/officeart/2008/layout/LinedList"/>
    <dgm:cxn modelId="{10985081-340A-4625-97DA-D6309E889EB7}" type="presParOf" srcId="{63E8D10A-1493-406E-ADDF-9663971B813B}" destId="{9C480C1D-54A9-4A1E-8F70-20D91B543A43}" srcOrd="1" destOrd="0" presId="urn:microsoft.com/office/officeart/2008/layout/LinedList"/>
    <dgm:cxn modelId="{AF6A90F5-A624-4EFC-89E0-CFE01338F4BD}" type="presParOf" srcId="{63E8D10A-1493-406E-ADDF-9663971B813B}" destId="{CA688F60-8919-4134-AED5-E7346B0C73C2}" srcOrd="2" destOrd="0" presId="urn:microsoft.com/office/officeart/2008/layout/LinedList"/>
    <dgm:cxn modelId="{2B0FBDD9-4C32-4D6E-A519-6DEDFD5B8487}" type="presParOf" srcId="{165633B8-B207-45AB-ACBE-92F5073B5E73}" destId="{3BAC27DD-3A57-4DE3-AA19-28E34490AE57}" srcOrd="5" destOrd="0" presId="urn:microsoft.com/office/officeart/2008/layout/LinedList"/>
    <dgm:cxn modelId="{69F8C73E-336B-4B4C-BAB0-64CDC436874D}" type="presParOf" srcId="{165633B8-B207-45AB-ACBE-92F5073B5E73}" destId="{2F91F1E4-1F45-4AA4-B916-6B6D19FEC88B}" srcOrd="6" destOrd="0" presId="urn:microsoft.com/office/officeart/2008/layout/LinedList"/>
    <dgm:cxn modelId="{D00CB24C-F3B8-417E-A53C-DD91CA91A3F9}" type="presParOf" srcId="{6E180B87-4B5F-49D1-B9B5-FA8AB70DDB53}" destId="{3383EC68-84FB-4128-889A-79A5AFB730D5}" srcOrd="4" destOrd="0" presId="urn:microsoft.com/office/officeart/2008/layout/LinedList"/>
    <dgm:cxn modelId="{D84BC4DB-9E1F-4A5D-A02A-083A77F9724E}" type="presParOf" srcId="{6E180B87-4B5F-49D1-B9B5-FA8AB70DDB53}" destId="{603C1DAE-EF10-4126-806E-7BBC37B2E563}" srcOrd="5" destOrd="0" presId="urn:microsoft.com/office/officeart/2008/layout/LinedList"/>
    <dgm:cxn modelId="{A0E2C092-CF9D-4FE7-98F6-C9B48AA583BF}" type="presParOf" srcId="{603C1DAE-EF10-4126-806E-7BBC37B2E563}" destId="{2A823EDC-5D6C-42C7-8FC8-49B7C6D6754A}" srcOrd="0" destOrd="0" presId="urn:microsoft.com/office/officeart/2008/layout/LinedList"/>
    <dgm:cxn modelId="{8C46A831-6FBD-41F0-B515-9FA3D198534F}" type="presParOf" srcId="{603C1DAE-EF10-4126-806E-7BBC37B2E563}" destId="{4C832C53-B07E-49F0-BE74-C4DA4347238D}" srcOrd="1" destOrd="0" presId="urn:microsoft.com/office/officeart/2008/layout/LinedList"/>
    <dgm:cxn modelId="{43ECCF74-8E00-46AC-B01D-053699C9F33E}" type="presParOf" srcId="{4C832C53-B07E-49F0-BE74-C4DA4347238D}" destId="{EF8C57B0-05AE-49C4-8A8A-13C866C4A0AE}" srcOrd="0" destOrd="0" presId="urn:microsoft.com/office/officeart/2008/layout/LinedList"/>
    <dgm:cxn modelId="{D8777430-4564-436E-A67D-1D252BE32ED7}" type="presParOf" srcId="{4C832C53-B07E-49F0-BE74-C4DA4347238D}" destId="{554CDA78-A4DF-412B-BE57-FA6F4E7D3C7B}" srcOrd="1" destOrd="0" presId="urn:microsoft.com/office/officeart/2008/layout/LinedList"/>
    <dgm:cxn modelId="{CA3329FC-8AFB-40A7-8EF6-3877D875E387}" type="presParOf" srcId="{554CDA78-A4DF-412B-BE57-FA6F4E7D3C7B}" destId="{C943A7D1-7D81-484D-ADF7-2571CAD20A1E}" srcOrd="0" destOrd="0" presId="urn:microsoft.com/office/officeart/2008/layout/LinedList"/>
    <dgm:cxn modelId="{5E195DC3-1D1D-4B79-B557-E709DF6E2BE6}" type="presParOf" srcId="{554CDA78-A4DF-412B-BE57-FA6F4E7D3C7B}" destId="{3F6B4AC7-4D55-41D2-A3F2-8D824BC6B748}" srcOrd="1" destOrd="0" presId="urn:microsoft.com/office/officeart/2008/layout/LinedList"/>
    <dgm:cxn modelId="{999C97C8-68DA-4AF6-9D13-B12F13242425}" type="presParOf" srcId="{554CDA78-A4DF-412B-BE57-FA6F4E7D3C7B}" destId="{DB185042-B39A-445F-9870-7B2C3B8232CF}" srcOrd="2" destOrd="0" presId="urn:microsoft.com/office/officeart/2008/layout/LinedList"/>
    <dgm:cxn modelId="{75F25C04-0552-40F9-AE46-24ADAF6FA121}" type="presParOf" srcId="{4C832C53-B07E-49F0-BE74-C4DA4347238D}" destId="{6613A0D6-2F52-415D-8694-A9DE1CABEB65}" srcOrd="2" destOrd="0" presId="urn:microsoft.com/office/officeart/2008/layout/LinedList"/>
    <dgm:cxn modelId="{47806C0F-0C2F-403A-8A91-CDDD3A1D63A4}" type="presParOf" srcId="{4C832C53-B07E-49F0-BE74-C4DA4347238D}" destId="{963FD71F-0376-458E-9341-57F7C9548039}" srcOrd="3" destOrd="0" presId="urn:microsoft.com/office/officeart/2008/layout/LinedList"/>
    <dgm:cxn modelId="{37D6BBDB-840E-4CCA-AED5-8C5080612AD3}" type="presParOf" srcId="{4C832C53-B07E-49F0-BE74-C4DA4347238D}" destId="{23412B3D-1508-48D2-803A-68E28CECFCBD}" srcOrd="4" destOrd="0" presId="urn:microsoft.com/office/officeart/2008/layout/LinedList"/>
    <dgm:cxn modelId="{8E3271B0-D205-4E8A-8E9D-E6583797AAA6}" type="presParOf" srcId="{23412B3D-1508-48D2-803A-68E28CECFCBD}" destId="{9214E01E-686D-4797-B50E-AE082BF47142}" srcOrd="0" destOrd="0" presId="urn:microsoft.com/office/officeart/2008/layout/LinedList"/>
    <dgm:cxn modelId="{18E77C6C-EF4A-4EFE-B16F-B9EC40319158}" type="presParOf" srcId="{23412B3D-1508-48D2-803A-68E28CECFCBD}" destId="{FA88787B-1B79-47CE-A5DE-1CF7B010607B}" srcOrd="1" destOrd="0" presId="urn:microsoft.com/office/officeart/2008/layout/LinedList"/>
    <dgm:cxn modelId="{EE745E32-5F74-4454-8180-5C20D788F4C8}" type="presParOf" srcId="{23412B3D-1508-48D2-803A-68E28CECFCBD}" destId="{6EC86A52-4EFC-4267-B04D-A2D3F686C500}" srcOrd="2" destOrd="0" presId="urn:microsoft.com/office/officeart/2008/layout/LinedList"/>
    <dgm:cxn modelId="{0BF8F67C-FA99-4927-9D95-7D06D47D746B}" type="presParOf" srcId="{4C832C53-B07E-49F0-BE74-C4DA4347238D}" destId="{17F92A94-A9EC-49E5-9818-0ED4792BA74C}" srcOrd="5" destOrd="0" presId="urn:microsoft.com/office/officeart/2008/layout/LinedList"/>
    <dgm:cxn modelId="{710C7BE6-2451-490A-9B85-68ADD44F618A}" type="presParOf" srcId="{4C832C53-B07E-49F0-BE74-C4DA4347238D}" destId="{BCC6B0A4-FCC1-42B6-A9EF-90218A5FECE6}" srcOrd="6"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A2CB6ED-76AD-4D5D-95E0-6C66E28176CA}" type="doc">
      <dgm:prSet loTypeId="urn:microsoft.com/office/officeart/2009/layout/CirclePictureHierarchy" loCatId="hierarchy" qsTypeId="urn:microsoft.com/office/officeart/2005/8/quickstyle/simple2" qsCatId="simple" csTypeId="urn:microsoft.com/office/officeart/2005/8/colors/accent1_2" csCatId="accent1" phldr="1"/>
      <dgm:spPr/>
      <dgm:t>
        <a:bodyPr/>
        <a:lstStyle/>
        <a:p>
          <a:endParaRPr lang="pt-BR"/>
        </a:p>
      </dgm:t>
    </dgm:pt>
    <dgm:pt modelId="{0B2A4636-221B-44C3-988C-FBDD9F20E9C3}">
      <dgm:prSet phldrT="[Texto]"/>
      <dgm:spPr/>
      <dgm:t>
        <a:bodyPr/>
        <a:lstStyle/>
        <a:p>
          <a:r>
            <a:rPr lang="pt-BR" b="0" i="0" dirty="0"/>
            <a:t>Grupos são contêineres que o ajudam a gerenciar o acesso, a política e a conformidade para várias assinaturas. Todas as assinaturas em um grupo de gerenciamento herdam automaticamente as condições aplicadas ao grupo de gerenciamento.</a:t>
          </a:r>
          <a:endParaRPr lang="pt-BR" dirty="0"/>
        </a:p>
      </dgm:t>
    </dgm:pt>
    <dgm:pt modelId="{72F9D79B-E850-4C4E-A618-A09D32996407}" type="parTrans" cxnId="{7AA118CA-46A5-41EF-BCD7-C09B90114316}">
      <dgm:prSet/>
      <dgm:spPr/>
      <dgm:t>
        <a:bodyPr/>
        <a:lstStyle/>
        <a:p>
          <a:endParaRPr lang="pt-BR"/>
        </a:p>
      </dgm:t>
    </dgm:pt>
    <dgm:pt modelId="{D7AA4D4A-5B3D-462A-8E1E-E1E18681911F}" type="sibTrans" cxnId="{7AA118CA-46A5-41EF-BCD7-C09B90114316}">
      <dgm:prSet/>
      <dgm:spPr/>
      <dgm:t>
        <a:bodyPr/>
        <a:lstStyle/>
        <a:p>
          <a:endParaRPr lang="pt-BR"/>
        </a:p>
      </dgm:t>
    </dgm:pt>
    <dgm:pt modelId="{97FB7CFB-5776-40ED-AAF5-81C99F4CD6DB}">
      <dgm:prSet phldrT="[Texto]"/>
      <dgm:spPr/>
      <dgm:t>
        <a:bodyPr/>
        <a:lstStyle/>
        <a:p>
          <a:r>
            <a:rPr lang="pt-BR" b="0" i="0" dirty="0"/>
            <a:t>Assinatura agrupa contas de usuários e os recursos que foram criados pelas contas de usuário. Cada assinatura tem limites ou cotas na quantidade de recursos que você pode criar e usar. As organizações podem usar assinaturas para gerenciar os custos e os recursos criados por usuários, equipes ou projetos.</a:t>
          </a:r>
          <a:endParaRPr lang="pt-BR" dirty="0"/>
        </a:p>
      </dgm:t>
    </dgm:pt>
    <dgm:pt modelId="{5AF9D613-50AA-4575-B2C1-158B0B3EE03A}" type="parTrans" cxnId="{964068A8-BAC9-47F8-8F77-2AA05E9AA544}">
      <dgm:prSet/>
      <dgm:spPr/>
      <dgm:t>
        <a:bodyPr/>
        <a:lstStyle/>
        <a:p>
          <a:endParaRPr lang="pt-BR"/>
        </a:p>
      </dgm:t>
    </dgm:pt>
    <dgm:pt modelId="{1E1FE7C0-5251-41BE-8775-571965C69913}" type="sibTrans" cxnId="{964068A8-BAC9-47F8-8F77-2AA05E9AA544}">
      <dgm:prSet/>
      <dgm:spPr/>
      <dgm:t>
        <a:bodyPr/>
        <a:lstStyle/>
        <a:p>
          <a:endParaRPr lang="pt-BR"/>
        </a:p>
      </dgm:t>
    </dgm:pt>
    <dgm:pt modelId="{0BB87214-8A23-4421-B8A8-86537B535A2F}">
      <dgm:prSet phldrT="[Texto]"/>
      <dgm:spPr/>
      <dgm:t>
        <a:bodyPr/>
        <a:lstStyle/>
        <a:p>
          <a:endParaRPr lang="pt-BR" dirty="0"/>
        </a:p>
      </dgm:t>
    </dgm:pt>
    <dgm:pt modelId="{E5FC8E71-C41E-4D73-8127-E5C5D40B40E4}" type="parTrans" cxnId="{E33EC0D2-77FD-42AC-97A7-4C94B9D0817B}">
      <dgm:prSet/>
      <dgm:spPr/>
      <dgm:t>
        <a:bodyPr/>
        <a:lstStyle/>
        <a:p>
          <a:endParaRPr lang="pt-BR"/>
        </a:p>
      </dgm:t>
    </dgm:pt>
    <dgm:pt modelId="{4101D799-F48A-4B6A-98B2-214D2244F3DC}" type="sibTrans" cxnId="{E33EC0D2-77FD-42AC-97A7-4C94B9D0817B}">
      <dgm:prSet/>
      <dgm:spPr/>
      <dgm:t>
        <a:bodyPr/>
        <a:lstStyle/>
        <a:p>
          <a:endParaRPr lang="pt-BR"/>
        </a:p>
      </dgm:t>
    </dgm:pt>
    <dgm:pt modelId="{D942F9DD-CF20-4553-BDE7-EDD05C0DDD8F}">
      <dgm:prSet phldrT="[Texto]"/>
      <dgm:spPr/>
      <dgm:t>
        <a:bodyPr/>
        <a:lstStyle/>
        <a:p>
          <a:r>
            <a:rPr lang="pt-BR" b="0" i="0" dirty="0"/>
            <a:t>Grupo de recursos é um contêiner lógico no qual os recursos do Azure, como aplicativos Web, bancos de dados e contas de armazenamento, são implantados, agrupados e gerenciados.</a:t>
          </a:r>
          <a:endParaRPr lang="pt-BR" dirty="0"/>
        </a:p>
      </dgm:t>
    </dgm:pt>
    <dgm:pt modelId="{454054E4-33ED-4B8B-A008-24E9CE7C3208}" type="parTrans" cxnId="{A0042303-FFDF-4E84-8C1B-C78F1D4E760B}">
      <dgm:prSet/>
      <dgm:spPr/>
      <dgm:t>
        <a:bodyPr/>
        <a:lstStyle/>
        <a:p>
          <a:endParaRPr lang="pt-BR"/>
        </a:p>
      </dgm:t>
    </dgm:pt>
    <dgm:pt modelId="{FEAFC472-D79A-46BE-BF71-74DDB4218187}" type="sibTrans" cxnId="{A0042303-FFDF-4E84-8C1B-C78F1D4E760B}">
      <dgm:prSet/>
      <dgm:spPr/>
      <dgm:t>
        <a:bodyPr/>
        <a:lstStyle/>
        <a:p>
          <a:endParaRPr lang="pt-BR"/>
        </a:p>
      </dgm:t>
    </dgm:pt>
    <dgm:pt modelId="{461FBD8C-077C-4553-89E3-6EEEA8CAE5AC}">
      <dgm:prSet phldrT="[Texto]"/>
      <dgm:spPr/>
      <dgm:t>
        <a:bodyPr/>
        <a:lstStyle/>
        <a:p>
          <a:endParaRPr lang="pt-BR" dirty="0"/>
        </a:p>
      </dgm:t>
    </dgm:pt>
    <dgm:pt modelId="{C1A2B993-4152-42BB-99EA-FD9CF3BA3C9B}" type="parTrans" cxnId="{72ADC10A-9D3D-48C4-8605-48FF78EC214C}">
      <dgm:prSet/>
      <dgm:spPr/>
      <dgm:t>
        <a:bodyPr/>
        <a:lstStyle/>
        <a:p>
          <a:endParaRPr lang="pt-BR"/>
        </a:p>
      </dgm:t>
    </dgm:pt>
    <dgm:pt modelId="{B71F8CDC-CDD4-4D02-A387-D37077ED4398}" type="sibTrans" cxnId="{72ADC10A-9D3D-48C4-8605-48FF78EC214C}">
      <dgm:prSet/>
      <dgm:spPr/>
      <dgm:t>
        <a:bodyPr/>
        <a:lstStyle/>
        <a:p>
          <a:endParaRPr lang="pt-BR"/>
        </a:p>
      </dgm:t>
    </dgm:pt>
    <dgm:pt modelId="{2950F540-CC7A-433E-8FC5-5A492A4BEB74}">
      <dgm:prSet phldrT="[Texto]"/>
      <dgm:spPr/>
      <dgm:t>
        <a:bodyPr/>
        <a:lstStyle/>
        <a:p>
          <a:endParaRPr lang="pt-BR" dirty="0"/>
        </a:p>
      </dgm:t>
    </dgm:pt>
    <dgm:pt modelId="{8E51D170-1AE2-485A-B531-5CE9F6E35BB0}" type="parTrans" cxnId="{60348DC4-6832-41BF-9BCB-0F93DE9498E4}">
      <dgm:prSet/>
      <dgm:spPr/>
      <dgm:t>
        <a:bodyPr/>
        <a:lstStyle/>
        <a:p>
          <a:endParaRPr lang="pt-BR"/>
        </a:p>
      </dgm:t>
    </dgm:pt>
    <dgm:pt modelId="{85CFA247-B816-4BF6-8603-9CC4E5FCC414}" type="sibTrans" cxnId="{60348DC4-6832-41BF-9BCB-0F93DE9498E4}">
      <dgm:prSet/>
      <dgm:spPr/>
      <dgm:t>
        <a:bodyPr/>
        <a:lstStyle/>
        <a:p>
          <a:endParaRPr lang="pt-BR"/>
        </a:p>
      </dgm:t>
    </dgm:pt>
    <dgm:pt modelId="{01AF1FBE-2419-4123-B668-EAF3ECA463E0}">
      <dgm:prSet phldrT="[Texto]"/>
      <dgm:spPr/>
      <dgm:t>
        <a:bodyPr/>
        <a:lstStyle/>
        <a:p>
          <a:r>
            <a:rPr lang="pt-BR" b="0" i="0" dirty="0"/>
            <a:t>Recursos são instâncias dos serviços que você cria, como máquinas virtuais, armazenamento ou bancos de dados SQL.</a:t>
          </a:r>
          <a:endParaRPr lang="pt-BR" dirty="0"/>
        </a:p>
      </dgm:t>
    </dgm:pt>
    <dgm:pt modelId="{C5473868-B29F-4BFD-A3F3-89EA7CB9BAFC}" type="parTrans" cxnId="{343FA132-E17E-4EEF-90E9-145AE2411901}">
      <dgm:prSet/>
      <dgm:spPr/>
      <dgm:t>
        <a:bodyPr/>
        <a:lstStyle/>
        <a:p>
          <a:endParaRPr lang="pt-BR"/>
        </a:p>
      </dgm:t>
    </dgm:pt>
    <dgm:pt modelId="{575AD18E-440A-44D3-82CC-A38376C0000B}" type="sibTrans" cxnId="{343FA132-E17E-4EEF-90E9-145AE2411901}">
      <dgm:prSet/>
      <dgm:spPr/>
      <dgm:t>
        <a:bodyPr/>
        <a:lstStyle/>
        <a:p>
          <a:endParaRPr lang="pt-BR"/>
        </a:p>
      </dgm:t>
    </dgm:pt>
    <dgm:pt modelId="{49F033A2-CD5A-46FE-816A-E32DEDC28E1C}">
      <dgm:prSet phldrT="[Texto]"/>
      <dgm:spPr/>
      <dgm:t>
        <a:bodyPr/>
        <a:lstStyle/>
        <a:p>
          <a:endParaRPr lang="pt-BR" dirty="0"/>
        </a:p>
      </dgm:t>
    </dgm:pt>
    <dgm:pt modelId="{DFB33E87-7695-4F12-9471-3591967B16CA}" type="parTrans" cxnId="{ADD01CBB-F546-4ADB-8A1D-BAC7D1B98AB6}">
      <dgm:prSet/>
      <dgm:spPr/>
      <dgm:t>
        <a:bodyPr/>
        <a:lstStyle/>
        <a:p>
          <a:endParaRPr lang="pt-BR"/>
        </a:p>
      </dgm:t>
    </dgm:pt>
    <dgm:pt modelId="{625F28E0-BDD2-4189-81FD-C51134F83EEA}" type="sibTrans" cxnId="{ADD01CBB-F546-4ADB-8A1D-BAC7D1B98AB6}">
      <dgm:prSet/>
      <dgm:spPr/>
      <dgm:t>
        <a:bodyPr/>
        <a:lstStyle/>
        <a:p>
          <a:endParaRPr lang="pt-BR"/>
        </a:p>
      </dgm:t>
    </dgm:pt>
    <dgm:pt modelId="{C40A521A-324C-4058-A654-2BC8765ACA73}">
      <dgm:prSet phldrT="[Texto]"/>
      <dgm:spPr/>
      <dgm:t>
        <a:bodyPr/>
        <a:lstStyle/>
        <a:p>
          <a:endParaRPr lang="pt-BR" b="0" i="0" dirty="0"/>
        </a:p>
      </dgm:t>
    </dgm:pt>
    <dgm:pt modelId="{6927C403-00F3-4382-8EF8-94B951D95F36}" type="parTrans" cxnId="{3A33D2FA-A651-4820-AC33-DCE33F680855}">
      <dgm:prSet/>
      <dgm:spPr/>
      <dgm:t>
        <a:bodyPr/>
        <a:lstStyle/>
        <a:p>
          <a:endParaRPr lang="pt-BR"/>
        </a:p>
      </dgm:t>
    </dgm:pt>
    <dgm:pt modelId="{CDCE2DF6-B62D-4881-8934-9B1E270B11EA}" type="sibTrans" cxnId="{3A33D2FA-A651-4820-AC33-DCE33F680855}">
      <dgm:prSet/>
      <dgm:spPr/>
      <dgm:t>
        <a:bodyPr/>
        <a:lstStyle/>
        <a:p>
          <a:endParaRPr lang="pt-BR"/>
        </a:p>
      </dgm:t>
    </dgm:pt>
    <dgm:pt modelId="{FCAB131C-19DA-431B-A012-C3044FBA8D25}">
      <dgm:prSet phldrT="[Texto]"/>
      <dgm:spPr/>
      <dgm:t>
        <a:bodyPr/>
        <a:lstStyle/>
        <a:p>
          <a:endParaRPr lang="pt-BR" b="0" i="0" dirty="0"/>
        </a:p>
      </dgm:t>
    </dgm:pt>
    <dgm:pt modelId="{9220C402-64CA-4436-A186-276F52E8BC74}" type="parTrans" cxnId="{9B240F2F-1A84-4342-B073-7A31157139A8}">
      <dgm:prSet/>
      <dgm:spPr/>
      <dgm:t>
        <a:bodyPr/>
        <a:lstStyle/>
        <a:p>
          <a:endParaRPr lang="pt-BR"/>
        </a:p>
      </dgm:t>
    </dgm:pt>
    <dgm:pt modelId="{132CFAF6-1CB8-4AD5-AB5F-60293714780C}" type="sibTrans" cxnId="{9B240F2F-1A84-4342-B073-7A31157139A8}">
      <dgm:prSet/>
      <dgm:spPr/>
      <dgm:t>
        <a:bodyPr/>
        <a:lstStyle/>
        <a:p>
          <a:endParaRPr lang="pt-BR"/>
        </a:p>
      </dgm:t>
    </dgm:pt>
    <dgm:pt modelId="{55898EDF-C5E4-40D4-88EE-F2D3E3542E9E}">
      <dgm:prSet phldrT="[Texto]"/>
      <dgm:spPr/>
      <dgm:t>
        <a:bodyPr/>
        <a:lstStyle/>
        <a:p>
          <a:endParaRPr lang="pt-BR" dirty="0"/>
        </a:p>
      </dgm:t>
    </dgm:pt>
    <dgm:pt modelId="{BE9342F3-CCB2-40EB-8664-4CB99F045BB5}" type="sibTrans" cxnId="{65C2525E-8EF9-49B9-899F-A116E88ED2C4}">
      <dgm:prSet/>
      <dgm:spPr/>
      <dgm:t>
        <a:bodyPr/>
        <a:lstStyle/>
        <a:p>
          <a:endParaRPr lang="pt-BR"/>
        </a:p>
      </dgm:t>
    </dgm:pt>
    <dgm:pt modelId="{DF8E0F5C-7747-4BB6-8810-1AF757E714E4}" type="parTrans" cxnId="{65C2525E-8EF9-49B9-899F-A116E88ED2C4}">
      <dgm:prSet/>
      <dgm:spPr/>
      <dgm:t>
        <a:bodyPr/>
        <a:lstStyle/>
        <a:p>
          <a:endParaRPr lang="pt-BR"/>
        </a:p>
      </dgm:t>
    </dgm:pt>
    <dgm:pt modelId="{A4203D7C-C301-448A-8BC6-9AEBF7C709AD}" type="pres">
      <dgm:prSet presAssocID="{5A2CB6ED-76AD-4D5D-95E0-6C66E28176CA}" presName="hierChild1" presStyleCnt="0">
        <dgm:presLayoutVars>
          <dgm:chPref val="1"/>
          <dgm:dir/>
          <dgm:animOne val="branch"/>
          <dgm:animLvl val="lvl"/>
          <dgm:resizeHandles/>
        </dgm:presLayoutVars>
      </dgm:prSet>
      <dgm:spPr/>
    </dgm:pt>
    <dgm:pt modelId="{4D05DC5D-01B9-43A6-867F-9EA9E58F207B}" type="pres">
      <dgm:prSet presAssocID="{0B2A4636-221B-44C3-988C-FBDD9F20E9C3}" presName="hierRoot1" presStyleCnt="0"/>
      <dgm:spPr/>
    </dgm:pt>
    <dgm:pt modelId="{4D139513-EBDA-4A93-B872-B63D59F04204}" type="pres">
      <dgm:prSet presAssocID="{0B2A4636-221B-44C3-988C-FBDD9F20E9C3}" presName="composite" presStyleCnt="0"/>
      <dgm:spPr/>
    </dgm:pt>
    <dgm:pt modelId="{9AA73672-742F-4127-9684-69FB0F76154C}" type="pres">
      <dgm:prSet presAssocID="{0B2A4636-221B-44C3-988C-FBDD9F20E9C3}" presName="image" presStyleLbl="node0" presStyleIdx="0" presStyleCnt="1" custLinFactX="-73806" custLinFactY="-7216" custLinFactNeighborX="-100000" custLinFactNeighborY="-10000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Funcionário de escritório"/>
        </a:ext>
      </dgm:extLst>
    </dgm:pt>
    <dgm:pt modelId="{95E38F12-ED7A-418A-8351-2C408AB51BE4}" type="pres">
      <dgm:prSet presAssocID="{0B2A4636-221B-44C3-988C-FBDD9F20E9C3}" presName="text" presStyleLbl="revTx" presStyleIdx="0" presStyleCnt="11" custScaleX="592013" custLinFactX="57366" custLinFactY="-6718" custLinFactNeighborX="100000" custLinFactNeighborY="-100000">
        <dgm:presLayoutVars>
          <dgm:chPref val="3"/>
        </dgm:presLayoutVars>
      </dgm:prSet>
      <dgm:spPr/>
    </dgm:pt>
    <dgm:pt modelId="{438A6530-A736-4761-8A2A-2B3F611CEAFA}" type="pres">
      <dgm:prSet presAssocID="{0B2A4636-221B-44C3-988C-FBDD9F20E9C3}" presName="hierChild2" presStyleCnt="0"/>
      <dgm:spPr/>
    </dgm:pt>
    <dgm:pt modelId="{A129F2C9-1AFB-434E-A578-17AE96EEAA98}" type="pres">
      <dgm:prSet presAssocID="{5AF9D613-50AA-4575-B2C1-158B0B3EE03A}" presName="Name10" presStyleLbl="parChTrans1D2" presStyleIdx="0" presStyleCnt="2"/>
      <dgm:spPr/>
    </dgm:pt>
    <dgm:pt modelId="{1E1A292B-077C-43BF-95E2-D5E6E08179D8}" type="pres">
      <dgm:prSet presAssocID="{97FB7CFB-5776-40ED-AAF5-81C99F4CD6DB}" presName="hierRoot2" presStyleCnt="0"/>
      <dgm:spPr/>
    </dgm:pt>
    <dgm:pt modelId="{D0B1E0AE-7C5B-40B7-BBD2-7F8116DB40E1}" type="pres">
      <dgm:prSet presAssocID="{97FB7CFB-5776-40ED-AAF5-81C99F4CD6DB}" presName="composite2" presStyleCnt="0"/>
      <dgm:spPr/>
    </dgm:pt>
    <dgm:pt modelId="{9942B092-3441-4516-BB2E-256D393B1DDF}" type="pres">
      <dgm:prSet presAssocID="{97FB7CFB-5776-40ED-AAF5-81C99F4CD6DB}" presName="image2" presStyleLbl="node2" presStyleIdx="0" presStyleCnt="2" custLinFactX="-131816" custLinFactNeighborX="-200000" custLinFactNeighborY="-2466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ecla"/>
        </a:ext>
      </dgm:extLst>
    </dgm:pt>
    <dgm:pt modelId="{E1768491-73A9-4480-91C7-E9C8FACC927C}" type="pres">
      <dgm:prSet presAssocID="{97FB7CFB-5776-40ED-AAF5-81C99F4CD6DB}" presName="text2" presStyleLbl="revTx" presStyleIdx="1" presStyleCnt="11" custScaleX="562487" custScaleY="144151" custLinFactX="3520" custLinFactNeighborX="100000" custLinFactNeighborY="-20875">
        <dgm:presLayoutVars>
          <dgm:chPref val="3"/>
        </dgm:presLayoutVars>
      </dgm:prSet>
      <dgm:spPr/>
    </dgm:pt>
    <dgm:pt modelId="{D528E3B2-F2EB-47EB-84BB-81BA1F150F73}" type="pres">
      <dgm:prSet presAssocID="{97FB7CFB-5776-40ED-AAF5-81C99F4CD6DB}" presName="hierChild3" presStyleCnt="0"/>
      <dgm:spPr/>
    </dgm:pt>
    <dgm:pt modelId="{14950DB8-665A-4A13-B0C4-5C544E5073F0}" type="pres">
      <dgm:prSet presAssocID="{E5FC8E71-C41E-4D73-8127-E5C5D40B40E4}" presName="Name17" presStyleLbl="parChTrans1D3" presStyleIdx="0" presStyleCnt="3"/>
      <dgm:spPr/>
    </dgm:pt>
    <dgm:pt modelId="{DAAD3634-886E-4970-A245-186B490F1C19}" type="pres">
      <dgm:prSet presAssocID="{0BB87214-8A23-4421-B8A8-86537B535A2F}" presName="hierRoot3" presStyleCnt="0"/>
      <dgm:spPr/>
    </dgm:pt>
    <dgm:pt modelId="{8A62E43F-56FB-49D5-880A-92E0A1AEB5FD}" type="pres">
      <dgm:prSet presAssocID="{0BB87214-8A23-4421-B8A8-86537B535A2F}" presName="composite3" presStyleCnt="0"/>
      <dgm:spPr/>
    </dgm:pt>
    <dgm:pt modelId="{9936F4A5-69E5-4493-8254-79C24320933E}" type="pres">
      <dgm:prSet presAssocID="{0BB87214-8A23-4421-B8A8-86537B535A2F}" presName="image3" presStyleLbl="node3" presStyleIdx="0" presStyleCnt="3" custLinFactNeighborX="-10420" custLinFactNeighborY="4520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alança da justiça"/>
        </a:ext>
      </dgm:extLst>
    </dgm:pt>
    <dgm:pt modelId="{0B15A799-4047-4F2A-8681-21781AF45679}" type="pres">
      <dgm:prSet presAssocID="{0BB87214-8A23-4421-B8A8-86537B535A2F}" presName="text3" presStyleLbl="revTx" presStyleIdx="2" presStyleCnt="11" custScaleX="157389" custLinFactNeighborX="34463" custLinFactNeighborY="-2294">
        <dgm:presLayoutVars>
          <dgm:chPref val="3"/>
        </dgm:presLayoutVars>
      </dgm:prSet>
      <dgm:spPr/>
    </dgm:pt>
    <dgm:pt modelId="{5605683C-AB03-4540-93A2-DB0604658990}" type="pres">
      <dgm:prSet presAssocID="{0BB87214-8A23-4421-B8A8-86537B535A2F}" presName="hierChild4" presStyleCnt="0"/>
      <dgm:spPr/>
    </dgm:pt>
    <dgm:pt modelId="{D5C3457B-7F34-4D17-9607-88FE4194B259}" type="pres">
      <dgm:prSet presAssocID="{6927C403-00F3-4382-8EF8-94B951D95F36}" presName="Name23" presStyleLbl="parChTrans1D4" presStyleIdx="0" presStyleCnt="5"/>
      <dgm:spPr/>
    </dgm:pt>
    <dgm:pt modelId="{9F8A6578-8672-427D-9646-7AA3F40C71AE}" type="pres">
      <dgm:prSet presAssocID="{C40A521A-324C-4058-A654-2BC8765ACA73}" presName="hierRoot4" presStyleCnt="0"/>
      <dgm:spPr/>
    </dgm:pt>
    <dgm:pt modelId="{0DE36392-D4D0-4F54-B387-F64FB14CC583}" type="pres">
      <dgm:prSet presAssocID="{C40A521A-324C-4058-A654-2BC8765ACA73}" presName="composite4" presStyleCnt="0"/>
      <dgm:spPr/>
    </dgm:pt>
    <dgm:pt modelId="{42D34D30-3021-4319-BE57-136E389F9804}" type="pres">
      <dgm:prSet presAssocID="{C40A521A-324C-4058-A654-2BC8765ACA73}" presName="image4" presStyleLbl="node4" presStyleIdx="0" presStyleCnt="5" custLinFactY="18760" custLinFactNeighborX="25462" custLinFactNeighborY="100000"/>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Banco de dados"/>
        </a:ext>
      </dgm:extLst>
    </dgm:pt>
    <dgm:pt modelId="{22C78BD0-EB22-4255-A9E2-52219B1C6B34}" type="pres">
      <dgm:prSet presAssocID="{C40A521A-324C-4058-A654-2BC8765ACA73}" presName="text4" presStyleLbl="revTx" presStyleIdx="3" presStyleCnt="11" custScaleX="81878" custLinFactNeighborX="-6361" custLinFactNeighborY="1193">
        <dgm:presLayoutVars>
          <dgm:chPref val="3"/>
        </dgm:presLayoutVars>
      </dgm:prSet>
      <dgm:spPr/>
    </dgm:pt>
    <dgm:pt modelId="{8F3C1590-63F1-4D6E-9C9F-80004885283F}" type="pres">
      <dgm:prSet presAssocID="{C40A521A-324C-4058-A654-2BC8765ACA73}" presName="hierChild5" presStyleCnt="0"/>
      <dgm:spPr/>
    </dgm:pt>
    <dgm:pt modelId="{85FC9A3D-D5CB-4211-92C4-99342E8DE378}" type="pres">
      <dgm:prSet presAssocID="{9220C402-64CA-4436-A186-276F52E8BC74}" presName="Name23" presStyleLbl="parChTrans1D4" presStyleIdx="1" presStyleCnt="5"/>
      <dgm:spPr/>
    </dgm:pt>
    <dgm:pt modelId="{8D57E4D0-7854-4715-8A70-DA434C188918}" type="pres">
      <dgm:prSet presAssocID="{FCAB131C-19DA-431B-A012-C3044FBA8D25}" presName="hierRoot4" presStyleCnt="0"/>
      <dgm:spPr/>
    </dgm:pt>
    <dgm:pt modelId="{C3671C1F-8E78-4CC9-921D-325C73FD7718}" type="pres">
      <dgm:prSet presAssocID="{FCAB131C-19DA-431B-A012-C3044FBA8D25}" presName="composite4" presStyleCnt="0"/>
      <dgm:spPr/>
    </dgm:pt>
    <dgm:pt modelId="{58B3AD4A-4832-4DFE-BD42-9754D4D5B8B5}" type="pres">
      <dgm:prSet presAssocID="{FCAB131C-19DA-431B-A012-C3044FBA8D25}" presName="image4" presStyleLbl="node4" presStyleIdx="1" presStyleCnt="5" custLinFactY="18760" custLinFactNeighborX="-86767" custLinFactNeighborY="100000"/>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Computação em Nuvem"/>
        </a:ext>
      </dgm:extLst>
    </dgm:pt>
    <dgm:pt modelId="{BDC0A6B8-511B-45C1-903B-5790010597CD}" type="pres">
      <dgm:prSet presAssocID="{FCAB131C-19DA-431B-A012-C3044FBA8D25}" presName="text4" presStyleLbl="revTx" presStyleIdx="4" presStyleCnt="11" custScaleX="65891" custLinFactNeighborX="-11025">
        <dgm:presLayoutVars>
          <dgm:chPref val="3"/>
        </dgm:presLayoutVars>
      </dgm:prSet>
      <dgm:spPr/>
    </dgm:pt>
    <dgm:pt modelId="{45612C54-7AE8-412C-B40A-BBEAB8C4F789}" type="pres">
      <dgm:prSet presAssocID="{FCAB131C-19DA-431B-A012-C3044FBA8D25}" presName="hierChild5" presStyleCnt="0"/>
      <dgm:spPr/>
    </dgm:pt>
    <dgm:pt modelId="{8067E94B-70D9-4F33-9579-EF2DD750EAAC}" type="pres">
      <dgm:prSet presAssocID="{454054E4-33ED-4B8B-A008-24E9CE7C3208}" presName="Name17" presStyleLbl="parChTrans1D3" presStyleIdx="1" presStyleCnt="3"/>
      <dgm:spPr/>
    </dgm:pt>
    <dgm:pt modelId="{FB2B1034-B8F4-4CEE-A37E-263819E16281}" type="pres">
      <dgm:prSet presAssocID="{D942F9DD-CF20-4553-BDE7-EDD05C0DDD8F}" presName="hierRoot3" presStyleCnt="0"/>
      <dgm:spPr/>
    </dgm:pt>
    <dgm:pt modelId="{60C92229-068B-480C-BCB5-767CF452170C}" type="pres">
      <dgm:prSet presAssocID="{D942F9DD-CF20-4553-BDE7-EDD05C0DDD8F}" presName="composite3" presStyleCnt="0"/>
      <dgm:spPr/>
    </dgm:pt>
    <dgm:pt modelId="{A95855E0-1BC3-454E-AB84-0FBE55169C2C}" type="pres">
      <dgm:prSet presAssocID="{D942F9DD-CF20-4553-BDE7-EDD05C0DDD8F}" presName="image3" presStyleLbl="node3" presStyleIdx="1" presStyleCnt="3" custLinFactX="-173869" custLinFactNeighborX="-200000" custLinFactNeighborY="4520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a:blipFill>
      </dgm:spPr>
      <dgm:extLst>
        <a:ext uri="{E40237B7-FDA0-4F09-8148-C483321AD2D9}">
          <dgm14:cNvPr xmlns:dgm14="http://schemas.microsoft.com/office/drawing/2010/diagram" id="0" name="" descr="Cofre"/>
        </a:ext>
      </dgm:extLst>
    </dgm:pt>
    <dgm:pt modelId="{DF22925F-15B3-4B30-990B-D62F5E47B5EE}" type="pres">
      <dgm:prSet presAssocID="{D942F9DD-CF20-4553-BDE7-EDD05C0DDD8F}" presName="text3" presStyleLbl="revTx" presStyleIdx="5" presStyleCnt="11" custScaleX="471724" custLinFactNeighborX="-44296" custLinFactNeighborY="37604">
        <dgm:presLayoutVars>
          <dgm:chPref val="3"/>
        </dgm:presLayoutVars>
      </dgm:prSet>
      <dgm:spPr/>
    </dgm:pt>
    <dgm:pt modelId="{C006FFB4-A5F9-46CC-8BFE-2E84C40BFB06}" type="pres">
      <dgm:prSet presAssocID="{D942F9DD-CF20-4553-BDE7-EDD05C0DDD8F}" presName="hierChild4" presStyleCnt="0"/>
      <dgm:spPr/>
    </dgm:pt>
    <dgm:pt modelId="{B9E94C74-B13B-4E86-89DE-D348CA9EEF3D}" type="pres">
      <dgm:prSet presAssocID="{DFB33E87-7695-4F12-9471-3591967B16CA}" presName="Name23" presStyleLbl="parChTrans1D4" presStyleIdx="2" presStyleCnt="5"/>
      <dgm:spPr/>
    </dgm:pt>
    <dgm:pt modelId="{ABFE79B4-D2E5-4C04-8107-4B73986ADE27}" type="pres">
      <dgm:prSet presAssocID="{49F033A2-CD5A-46FE-816A-E32DEDC28E1C}" presName="hierRoot4" presStyleCnt="0"/>
      <dgm:spPr/>
    </dgm:pt>
    <dgm:pt modelId="{74789A49-0B9C-459C-B4EB-9D0E7E312B31}" type="pres">
      <dgm:prSet presAssocID="{49F033A2-CD5A-46FE-816A-E32DEDC28E1C}" presName="composite4" presStyleCnt="0"/>
      <dgm:spPr/>
    </dgm:pt>
    <dgm:pt modelId="{92D22110-F93B-4DF5-8B48-B6FC0CACC95D}" type="pres">
      <dgm:prSet presAssocID="{49F033A2-CD5A-46FE-816A-E32DEDC28E1C}" presName="image4" presStyleLbl="node4" presStyleIdx="2" presStyleCnt="5" custLinFactX="-68649" custLinFactY="19237" custLinFactNeighborX="-100000" custLinFactNeighborY="100000"/>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a:blipFill>
      </dgm:spPr>
      <dgm:extLst>
        <a:ext uri="{E40237B7-FDA0-4F09-8148-C483321AD2D9}">
          <dgm14:cNvPr xmlns:dgm14="http://schemas.microsoft.com/office/drawing/2010/diagram" id="0" name="" descr="Internet"/>
        </a:ext>
      </dgm:extLst>
    </dgm:pt>
    <dgm:pt modelId="{C3623EBC-F580-4AAC-9FAB-A7E5A21D438E}" type="pres">
      <dgm:prSet presAssocID="{49F033A2-CD5A-46FE-816A-E32DEDC28E1C}" presName="text4" presStyleLbl="revTx" presStyleIdx="6" presStyleCnt="11" custScaleX="60424" custLinFactNeighborX="-16175" custLinFactNeighborY="2307">
        <dgm:presLayoutVars>
          <dgm:chPref val="3"/>
        </dgm:presLayoutVars>
      </dgm:prSet>
      <dgm:spPr/>
    </dgm:pt>
    <dgm:pt modelId="{B14528A6-B529-48F8-8686-1F1F8F2EFFD0}" type="pres">
      <dgm:prSet presAssocID="{49F033A2-CD5A-46FE-816A-E32DEDC28E1C}" presName="hierChild5" presStyleCnt="0"/>
      <dgm:spPr/>
    </dgm:pt>
    <dgm:pt modelId="{69C3BD6F-D120-40DD-8EFC-4E3AD71463FB}" type="pres">
      <dgm:prSet presAssocID="{C5473868-B29F-4BFD-A3F3-89EA7CB9BAFC}" presName="Name23" presStyleLbl="parChTrans1D4" presStyleIdx="3" presStyleCnt="5"/>
      <dgm:spPr/>
    </dgm:pt>
    <dgm:pt modelId="{A5128E69-342A-417B-B7F5-A19C916A5174}" type="pres">
      <dgm:prSet presAssocID="{01AF1FBE-2419-4123-B668-EAF3ECA463E0}" presName="hierRoot4" presStyleCnt="0"/>
      <dgm:spPr/>
    </dgm:pt>
    <dgm:pt modelId="{43DD9608-340F-43E5-9C8F-3CEC69F18054}" type="pres">
      <dgm:prSet presAssocID="{01AF1FBE-2419-4123-B668-EAF3ECA463E0}" presName="composite4" presStyleCnt="0"/>
      <dgm:spPr/>
    </dgm:pt>
    <dgm:pt modelId="{236EF18E-A9B1-4F09-83C1-4CC736FCDFAE}" type="pres">
      <dgm:prSet presAssocID="{01AF1FBE-2419-4123-B668-EAF3ECA463E0}" presName="image4" presStyleLbl="node4" presStyleIdx="3" presStyleCnt="5" custLinFactX="-200000" custLinFactY="18761" custLinFactNeighborX="-225417" custLinFactNeighborY="100000"/>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a:fillRect/>
          </a:stretch>
        </a:blipFill>
      </dgm:spPr>
      <dgm:extLst>
        <a:ext uri="{E40237B7-FDA0-4F09-8148-C483321AD2D9}">
          <dgm14:cNvPr xmlns:dgm14="http://schemas.microsoft.com/office/drawing/2010/diagram" id="0" name="" descr="Ciclo com pessoas"/>
        </a:ext>
      </dgm:extLst>
    </dgm:pt>
    <dgm:pt modelId="{E881C3AB-046B-43B5-BA00-810C29FF3631}" type="pres">
      <dgm:prSet presAssocID="{01AF1FBE-2419-4123-B668-EAF3ECA463E0}" presName="text4" presStyleLbl="revTx" presStyleIdx="7" presStyleCnt="11" custScaleX="464214" custLinFactNeighborX="-16674" custLinFactNeighborY="92010">
        <dgm:presLayoutVars>
          <dgm:chPref val="3"/>
        </dgm:presLayoutVars>
      </dgm:prSet>
      <dgm:spPr/>
    </dgm:pt>
    <dgm:pt modelId="{E4EC1993-4ACD-48B3-BD32-65CCB7A2DD72}" type="pres">
      <dgm:prSet presAssocID="{01AF1FBE-2419-4123-B668-EAF3ECA463E0}" presName="hierChild5" presStyleCnt="0"/>
      <dgm:spPr/>
    </dgm:pt>
    <dgm:pt modelId="{248A337E-8A35-4C0C-8F8E-7DF5E25CBAFE}" type="pres">
      <dgm:prSet presAssocID="{C1A2B993-4152-42BB-99EA-FD9CF3BA3C9B}" presName="Name10" presStyleLbl="parChTrans1D2" presStyleIdx="1" presStyleCnt="2"/>
      <dgm:spPr/>
    </dgm:pt>
    <dgm:pt modelId="{86DB83A2-92AA-4675-BE5E-71390413B08A}" type="pres">
      <dgm:prSet presAssocID="{461FBD8C-077C-4553-89E3-6EEEA8CAE5AC}" presName="hierRoot2" presStyleCnt="0"/>
      <dgm:spPr/>
    </dgm:pt>
    <dgm:pt modelId="{5231BA5A-4039-4BB6-B4DB-FCFA940A17CC}" type="pres">
      <dgm:prSet presAssocID="{461FBD8C-077C-4553-89E3-6EEEA8CAE5AC}" presName="composite2" presStyleCnt="0"/>
      <dgm:spPr/>
    </dgm:pt>
    <dgm:pt modelId="{4B2432C5-E9E7-4A75-B0E5-F178F2B3910A}" type="pres">
      <dgm:prSet presAssocID="{461FBD8C-077C-4553-89E3-6EEEA8CAE5AC}" presName="image2" presStyleLbl="node2" presStyleIdx="1" presStyleCnt="2" custLinFactNeighborX="14443" custLinFactNeighborY="-342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ecla"/>
        </a:ext>
      </dgm:extLst>
    </dgm:pt>
    <dgm:pt modelId="{66A19B65-2F46-4EBA-8115-845248B7B92F}" type="pres">
      <dgm:prSet presAssocID="{461FBD8C-077C-4553-89E3-6EEEA8CAE5AC}" presName="text2" presStyleLbl="revTx" presStyleIdx="8" presStyleCnt="11">
        <dgm:presLayoutVars>
          <dgm:chPref val="3"/>
        </dgm:presLayoutVars>
      </dgm:prSet>
      <dgm:spPr/>
    </dgm:pt>
    <dgm:pt modelId="{7E4925A7-D4FD-4524-B2DD-52EF7B594A19}" type="pres">
      <dgm:prSet presAssocID="{461FBD8C-077C-4553-89E3-6EEEA8CAE5AC}" presName="hierChild3" presStyleCnt="0"/>
      <dgm:spPr/>
    </dgm:pt>
    <dgm:pt modelId="{24302077-A862-426A-88B4-C141DEF859E3}" type="pres">
      <dgm:prSet presAssocID="{8E51D170-1AE2-485A-B531-5CE9F6E35BB0}" presName="Name17" presStyleLbl="parChTrans1D3" presStyleIdx="2" presStyleCnt="3"/>
      <dgm:spPr/>
    </dgm:pt>
    <dgm:pt modelId="{D260A090-A8A9-494E-BB5B-7FA31B985273}" type="pres">
      <dgm:prSet presAssocID="{2950F540-CC7A-433E-8FC5-5A492A4BEB74}" presName="hierRoot3" presStyleCnt="0"/>
      <dgm:spPr/>
    </dgm:pt>
    <dgm:pt modelId="{1905C330-0C9E-4221-B4D7-81185591B5A5}" type="pres">
      <dgm:prSet presAssocID="{2950F540-CC7A-433E-8FC5-5A492A4BEB74}" presName="composite3" presStyleCnt="0"/>
      <dgm:spPr/>
    </dgm:pt>
    <dgm:pt modelId="{E47B71A0-71E0-470A-BD62-A747BC795F0D}" type="pres">
      <dgm:prSet presAssocID="{2950F540-CC7A-433E-8FC5-5A492A4BEB74}" presName="image3" presStyleLbl="node3" presStyleIdx="2" presStyleCnt="3" custLinFactNeighborX="20848" custLinFactNeighborY="93707"/>
      <dgm:spPr>
        <a:blipFill>
          <a:blip xmlns:r="http://schemas.openxmlformats.org/officeDocument/2006/relationships"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a:stretch>
            <a:fillRect/>
          </a:stretch>
        </a:blipFill>
      </dgm:spPr>
      <dgm:extLst>
        <a:ext uri="{E40237B7-FDA0-4F09-8148-C483321AD2D9}">
          <dgm14:cNvPr xmlns:dgm14="http://schemas.microsoft.com/office/drawing/2010/diagram" id="0" name="" descr="Cidade"/>
        </a:ext>
      </dgm:extLst>
    </dgm:pt>
    <dgm:pt modelId="{634CB68F-C0D9-442E-B8D8-D296629DE08B}" type="pres">
      <dgm:prSet presAssocID="{2950F540-CC7A-433E-8FC5-5A492A4BEB74}" presName="text3" presStyleLbl="revTx" presStyleIdx="9" presStyleCnt="11" custScaleX="118066" custLinFactNeighborX="18660" custLinFactNeighborY="-2075">
        <dgm:presLayoutVars>
          <dgm:chPref val="3"/>
        </dgm:presLayoutVars>
      </dgm:prSet>
      <dgm:spPr/>
    </dgm:pt>
    <dgm:pt modelId="{2F32FA41-E732-4A34-909C-B548D6E140BC}" type="pres">
      <dgm:prSet presAssocID="{2950F540-CC7A-433E-8FC5-5A492A4BEB74}" presName="hierChild4" presStyleCnt="0"/>
      <dgm:spPr/>
    </dgm:pt>
    <dgm:pt modelId="{3246744B-FF9C-4DF7-B970-1303BCADF878}" type="pres">
      <dgm:prSet presAssocID="{DF8E0F5C-7747-4BB6-8810-1AF757E714E4}" presName="Name23" presStyleLbl="parChTrans1D4" presStyleIdx="4" presStyleCnt="5"/>
      <dgm:spPr/>
    </dgm:pt>
    <dgm:pt modelId="{8338D26B-E914-42CE-8159-1D7054D99B8E}" type="pres">
      <dgm:prSet presAssocID="{55898EDF-C5E4-40D4-88EE-F2D3E3542E9E}" presName="hierRoot4" presStyleCnt="0"/>
      <dgm:spPr/>
    </dgm:pt>
    <dgm:pt modelId="{7AE499C0-A50F-4F86-A6A5-6FA6DEEDC41D}" type="pres">
      <dgm:prSet presAssocID="{55898EDF-C5E4-40D4-88EE-F2D3E3542E9E}" presName="composite4" presStyleCnt="0"/>
      <dgm:spPr/>
    </dgm:pt>
    <dgm:pt modelId="{2801FD4B-560A-4431-9043-220B913BAC6E}" type="pres">
      <dgm:prSet presAssocID="{55898EDF-C5E4-40D4-88EE-F2D3E3542E9E}" presName="image4" presStyleLbl="node4" presStyleIdx="4" presStyleCnt="5" custAng="0" custLinFactY="55672" custLinFactNeighborX="-216" custLinFactNeighborY="100000"/>
      <dgm:spPr>
        <a:blipFill>
          <a:blip xmlns:r="http://schemas.openxmlformats.org/officeDocument/2006/relationships"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a:stretch>
            <a:fillRect/>
          </a:stretch>
        </a:blipFill>
      </dgm:spPr>
      <dgm:extLst>
        <a:ext uri="{E40237B7-FDA0-4F09-8148-C483321AD2D9}">
          <dgm14:cNvPr xmlns:dgm14="http://schemas.microsoft.com/office/drawing/2010/diagram" id="0" name="" descr="Smartphone"/>
        </a:ext>
      </dgm:extLst>
    </dgm:pt>
    <dgm:pt modelId="{A81644C4-CF24-47C8-A1C5-7AAF5C6CFFCF}" type="pres">
      <dgm:prSet presAssocID="{55898EDF-C5E4-40D4-88EE-F2D3E3542E9E}" presName="text4" presStyleLbl="revTx" presStyleIdx="10" presStyleCnt="11" custScaleX="62477" custLinFactNeighborX="-35197" custLinFactNeighborY="959">
        <dgm:presLayoutVars>
          <dgm:chPref val="3"/>
        </dgm:presLayoutVars>
      </dgm:prSet>
      <dgm:spPr/>
    </dgm:pt>
    <dgm:pt modelId="{55B44C70-D616-4F1E-A5C0-4A524B7B09E2}" type="pres">
      <dgm:prSet presAssocID="{55898EDF-C5E4-40D4-88EE-F2D3E3542E9E}" presName="hierChild5" presStyleCnt="0"/>
      <dgm:spPr/>
    </dgm:pt>
  </dgm:ptLst>
  <dgm:cxnLst>
    <dgm:cxn modelId="{A0042303-FFDF-4E84-8C1B-C78F1D4E760B}" srcId="{97FB7CFB-5776-40ED-AAF5-81C99F4CD6DB}" destId="{D942F9DD-CF20-4553-BDE7-EDD05C0DDD8F}" srcOrd="1" destOrd="0" parTransId="{454054E4-33ED-4B8B-A008-24E9CE7C3208}" sibTransId="{FEAFC472-D79A-46BE-BF71-74DDB4218187}"/>
    <dgm:cxn modelId="{35242705-6389-47CF-AA25-C5395D77D424}" type="presOf" srcId="{454054E4-33ED-4B8B-A008-24E9CE7C3208}" destId="{8067E94B-70D9-4F33-9579-EF2DD750EAAC}" srcOrd="0" destOrd="0" presId="urn:microsoft.com/office/officeart/2009/layout/CirclePictureHierarchy"/>
    <dgm:cxn modelId="{D35C5406-FD89-47C3-A01C-7E11B47DC0DC}" type="presOf" srcId="{C5473868-B29F-4BFD-A3F3-89EA7CB9BAFC}" destId="{69C3BD6F-D120-40DD-8EFC-4E3AD71463FB}" srcOrd="0" destOrd="0" presId="urn:microsoft.com/office/officeart/2009/layout/CirclePictureHierarchy"/>
    <dgm:cxn modelId="{C2841E0A-78C9-4E6A-ADBB-CC64F417A196}" type="presOf" srcId="{C1A2B993-4152-42BB-99EA-FD9CF3BA3C9B}" destId="{248A337E-8A35-4C0C-8F8E-7DF5E25CBAFE}" srcOrd="0" destOrd="0" presId="urn:microsoft.com/office/officeart/2009/layout/CirclePictureHierarchy"/>
    <dgm:cxn modelId="{72ADC10A-9D3D-48C4-8605-48FF78EC214C}" srcId="{0B2A4636-221B-44C3-988C-FBDD9F20E9C3}" destId="{461FBD8C-077C-4553-89E3-6EEEA8CAE5AC}" srcOrd="1" destOrd="0" parTransId="{C1A2B993-4152-42BB-99EA-FD9CF3BA3C9B}" sibTransId="{B71F8CDC-CDD4-4D02-A387-D37077ED4398}"/>
    <dgm:cxn modelId="{7986CC0C-DE81-4C99-9E23-D9EA9E495B85}" type="presOf" srcId="{9220C402-64CA-4436-A186-276F52E8BC74}" destId="{85FC9A3D-D5CB-4211-92C4-99342E8DE378}" srcOrd="0" destOrd="0" presId="urn:microsoft.com/office/officeart/2009/layout/CirclePictureHierarchy"/>
    <dgm:cxn modelId="{60D1DF1A-DA56-47C8-87AB-6BE0707226DD}" type="presOf" srcId="{8E51D170-1AE2-485A-B531-5CE9F6E35BB0}" destId="{24302077-A862-426A-88B4-C141DEF859E3}" srcOrd="0" destOrd="0" presId="urn:microsoft.com/office/officeart/2009/layout/CirclePictureHierarchy"/>
    <dgm:cxn modelId="{09D2161D-FAC5-4193-BF38-77C781EEA094}" type="presOf" srcId="{D942F9DD-CF20-4553-BDE7-EDD05C0DDD8F}" destId="{DF22925F-15B3-4B30-990B-D62F5E47B5EE}" srcOrd="0" destOrd="0" presId="urn:microsoft.com/office/officeart/2009/layout/CirclePictureHierarchy"/>
    <dgm:cxn modelId="{FAF5B824-77A2-4E14-A417-C7044E921A86}" type="presOf" srcId="{DFB33E87-7695-4F12-9471-3591967B16CA}" destId="{B9E94C74-B13B-4E86-89DE-D348CA9EEF3D}" srcOrd="0" destOrd="0" presId="urn:microsoft.com/office/officeart/2009/layout/CirclePictureHierarchy"/>
    <dgm:cxn modelId="{E52D2329-3E80-4F91-9C49-BB86D971CF2A}" type="presOf" srcId="{5AF9D613-50AA-4575-B2C1-158B0B3EE03A}" destId="{A129F2C9-1AFB-434E-A578-17AE96EEAA98}" srcOrd="0" destOrd="0" presId="urn:microsoft.com/office/officeart/2009/layout/CirclePictureHierarchy"/>
    <dgm:cxn modelId="{FE39DE2E-D0F7-4FC6-9643-D24F046F7783}" type="presOf" srcId="{49F033A2-CD5A-46FE-816A-E32DEDC28E1C}" destId="{C3623EBC-F580-4AAC-9FAB-A7E5A21D438E}" srcOrd="0" destOrd="0" presId="urn:microsoft.com/office/officeart/2009/layout/CirclePictureHierarchy"/>
    <dgm:cxn modelId="{9B240F2F-1A84-4342-B073-7A31157139A8}" srcId="{0BB87214-8A23-4421-B8A8-86537B535A2F}" destId="{FCAB131C-19DA-431B-A012-C3044FBA8D25}" srcOrd="1" destOrd="0" parTransId="{9220C402-64CA-4436-A186-276F52E8BC74}" sibTransId="{132CFAF6-1CB8-4AD5-AB5F-60293714780C}"/>
    <dgm:cxn modelId="{343FA132-E17E-4EEF-90E9-145AE2411901}" srcId="{D942F9DD-CF20-4553-BDE7-EDD05C0DDD8F}" destId="{01AF1FBE-2419-4123-B668-EAF3ECA463E0}" srcOrd="1" destOrd="0" parTransId="{C5473868-B29F-4BFD-A3F3-89EA7CB9BAFC}" sibTransId="{575AD18E-440A-44D3-82CC-A38376C0000B}"/>
    <dgm:cxn modelId="{65C2525E-8EF9-49B9-899F-A116E88ED2C4}" srcId="{2950F540-CC7A-433E-8FC5-5A492A4BEB74}" destId="{55898EDF-C5E4-40D4-88EE-F2D3E3542E9E}" srcOrd="0" destOrd="0" parTransId="{DF8E0F5C-7747-4BB6-8810-1AF757E714E4}" sibTransId="{BE9342F3-CCB2-40EB-8664-4CB99F045BB5}"/>
    <dgm:cxn modelId="{78411566-30A4-4A0F-BFA3-008746F1838B}" type="presOf" srcId="{C40A521A-324C-4058-A654-2BC8765ACA73}" destId="{22C78BD0-EB22-4255-A9E2-52219B1C6B34}" srcOrd="0" destOrd="0" presId="urn:microsoft.com/office/officeart/2009/layout/CirclePictureHierarchy"/>
    <dgm:cxn modelId="{80CF344C-E36E-447C-9391-E018539BBC8B}" type="presOf" srcId="{97FB7CFB-5776-40ED-AAF5-81C99F4CD6DB}" destId="{E1768491-73A9-4480-91C7-E9C8FACC927C}" srcOrd="0" destOrd="0" presId="urn:microsoft.com/office/officeart/2009/layout/CirclePictureHierarchy"/>
    <dgm:cxn modelId="{383B036E-93ED-4479-AD82-ECBD7D042263}" type="presOf" srcId="{0B2A4636-221B-44C3-988C-FBDD9F20E9C3}" destId="{95E38F12-ED7A-418A-8351-2C408AB51BE4}" srcOrd="0" destOrd="0" presId="urn:microsoft.com/office/officeart/2009/layout/CirclePictureHierarchy"/>
    <dgm:cxn modelId="{8072E27F-9CBE-44FC-A809-9D31BDE1A215}" type="presOf" srcId="{FCAB131C-19DA-431B-A012-C3044FBA8D25}" destId="{BDC0A6B8-511B-45C1-903B-5790010597CD}" srcOrd="0" destOrd="0" presId="urn:microsoft.com/office/officeart/2009/layout/CirclePictureHierarchy"/>
    <dgm:cxn modelId="{7C731A8A-0AF6-4521-BEE0-464FA933D270}" type="presOf" srcId="{6927C403-00F3-4382-8EF8-94B951D95F36}" destId="{D5C3457B-7F34-4D17-9607-88FE4194B259}" srcOrd="0" destOrd="0" presId="urn:microsoft.com/office/officeart/2009/layout/CirclePictureHierarchy"/>
    <dgm:cxn modelId="{19C9CF8E-D71D-419A-A7E7-B14D9137320B}" type="presOf" srcId="{DF8E0F5C-7747-4BB6-8810-1AF757E714E4}" destId="{3246744B-FF9C-4DF7-B970-1303BCADF878}" srcOrd="0" destOrd="0" presId="urn:microsoft.com/office/officeart/2009/layout/CirclePictureHierarchy"/>
    <dgm:cxn modelId="{9F386BA2-F396-46FB-A5EC-EFE172E915BA}" type="presOf" srcId="{5A2CB6ED-76AD-4D5D-95E0-6C66E28176CA}" destId="{A4203D7C-C301-448A-8BC6-9AEBF7C709AD}" srcOrd="0" destOrd="0" presId="urn:microsoft.com/office/officeart/2009/layout/CirclePictureHierarchy"/>
    <dgm:cxn modelId="{964068A8-BAC9-47F8-8F77-2AA05E9AA544}" srcId="{0B2A4636-221B-44C3-988C-FBDD9F20E9C3}" destId="{97FB7CFB-5776-40ED-AAF5-81C99F4CD6DB}" srcOrd="0" destOrd="0" parTransId="{5AF9D613-50AA-4575-B2C1-158B0B3EE03A}" sibTransId="{1E1FE7C0-5251-41BE-8775-571965C69913}"/>
    <dgm:cxn modelId="{06F10BB7-1163-43B7-BF57-B9018362D7C4}" type="presOf" srcId="{0BB87214-8A23-4421-B8A8-86537B535A2F}" destId="{0B15A799-4047-4F2A-8681-21781AF45679}" srcOrd="0" destOrd="0" presId="urn:microsoft.com/office/officeart/2009/layout/CirclePictureHierarchy"/>
    <dgm:cxn modelId="{ADD01CBB-F546-4ADB-8A1D-BAC7D1B98AB6}" srcId="{D942F9DD-CF20-4553-BDE7-EDD05C0DDD8F}" destId="{49F033A2-CD5A-46FE-816A-E32DEDC28E1C}" srcOrd="0" destOrd="0" parTransId="{DFB33E87-7695-4F12-9471-3591967B16CA}" sibTransId="{625F28E0-BDD2-4189-81FD-C51134F83EEA}"/>
    <dgm:cxn modelId="{60348DC4-6832-41BF-9BCB-0F93DE9498E4}" srcId="{461FBD8C-077C-4553-89E3-6EEEA8CAE5AC}" destId="{2950F540-CC7A-433E-8FC5-5A492A4BEB74}" srcOrd="0" destOrd="0" parTransId="{8E51D170-1AE2-485A-B531-5CE9F6E35BB0}" sibTransId="{85CFA247-B816-4BF6-8603-9CC4E5FCC414}"/>
    <dgm:cxn modelId="{7AA118CA-46A5-41EF-BCD7-C09B90114316}" srcId="{5A2CB6ED-76AD-4D5D-95E0-6C66E28176CA}" destId="{0B2A4636-221B-44C3-988C-FBDD9F20E9C3}" srcOrd="0" destOrd="0" parTransId="{72F9D79B-E850-4C4E-A618-A09D32996407}" sibTransId="{D7AA4D4A-5B3D-462A-8E1E-E1E18681911F}"/>
    <dgm:cxn modelId="{08BDB5D0-9090-4F10-9827-02D0A1F40EB6}" type="presOf" srcId="{01AF1FBE-2419-4123-B668-EAF3ECA463E0}" destId="{E881C3AB-046B-43B5-BA00-810C29FF3631}" srcOrd="0" destOrd="0" presId="urn:microsoft.com/office/officeart/2009/layout/CirclePictureHierarchy"/>
    <dgm:cxn modelId="{E33EC0D2-77FD-42AC-97A7-4C94B9D0817B}" srcId="{97FB7CFB-5776-40ED-AAF5-81C99F4CD6DB}" destId="{0BB87214-8A23-4421-B8A8-86537B535A2F}" srcOrd="0" destOrd="0" parTransId="{E5FC8E71-C41E-4D73-8127-E5C5D40B40E4}" sibTransId="{4101D799-F48A-4B6A-98B2-214D2244F3DC}"/>
    <dgm:cxn modelId="{9AF0F9D7-AE67-46A6-8213-DA4D7172F999}" type="presOf" srcId="{55898EDF-C5E4-40D4-88EE-F2D3E3542E9E}" destId="{A81644C4-CF24-47C8-A1C5-7AAF5C6CFFCF}" srcOrd="0" destOrd="0" presId="urn:microsoft.com/office/officeart/2009/layout/CirclePictureHierarchy"/>
    <dgm:cxn modelId="{086EACDB-7CC1-4454-B1F1-F08AD68F4BE8}" type="presOf" srcId="{2950F540-CC7A-433E-8FC5-5A492A4BEB74}" destId="{634CB68F-C0D9-442E-B8D8-D296629DE08B}" srcOrd="0" destOrd="0" presId="urn:microsoft.com/office/officeart/2009/layout/CirclePictureHierarchy"/>
    <dgm:cxn modelId="{D6CECAEB-8643-4254-ABC1-F1CB34D8AD5D}" type="presOf" srcId="{E5FC8E71-C41E-4D73-8127-E5C5D40B40E4}" destId="{14950DB8-665A-4A13-B0C4-5C544E5073F0}" srcOrd="0" destOrd="0" presId="urn:microsoft.com/office/officeart/2009/layout/CirclePictureHierarchy"/>
    <dgm:cxn modelId="{B02FCFF6-05DF-409A-A702-2DDBC2DA975A}" type="presOf" srcId="{461FBD8C-077C-4553-89E3-6EEEA8CAE5AC}" destId="{66A19B65-2F46-4EBA-8115-845248B7B92F}" srcOrd="0" destOrd="0" presId="urn:microsoft.com/office/officeart/2009/layout/CirclePictureHierarchy"/>
    <dgm:cxn modelId="{3A33D2FA-A651-4820-AC33-DCE33F680855}" srcId="{0BB87214-8A23-4421-B8A8-86537B535A2F}" destId="{C40A521A-324C-4058-A654-2BC8765ACA73}" srcOrd="0" destOrd="0" parTransId="{6927C403-00F3-4382-8EF8-94B951D95F36}" sibTransId="{CDCE2DF6-B62D-4881-8934-9B1E270B11EA}"/>
    <dgm:cxn modelId="{BD955702-50F7-49AF-B109-75F4CE02CB38}" type="presParOf" srcId="{A4203D7C-C301-448A-8BC6-9AEBF7C709AD}" destId="{4D05DC5D-01B9-43A6-867F-9EA9E58F207B}" srcOrd="0" destOrd="0" presId="urn:microsoft.com/office/officeart/2009/layout/CirclePictureHierarchy"/>
    <dgm:cxn modelId="{4E616F02-1604-4FE7-AB27-12536BE5D642}" type="presParOf" srcId="{4D05DC5D-01B9-43A6-867F-9EA9E58F207B}" destId="{4D139513-EBDA-4A93-B872-B63D59F04204}" srcOrd="0" destOrd="0" presId="urn:microsoft.com/office/officeart/2009/layout/CirclePictureHierarchy"/>
    <dgm:cxn modelId="{819B8CA4-398B-485B-81CF-8992CF8F1396}" type="presParOf" srcId="{4D139513-EBDA-4A93-B872-B63D59F04204}" destId="{9AA73672-742F-4127-9684-69FB0F76154C}" srcOrd="0" destOrd="0" presId="urn:microsoft.com/office/officeart/2009/layout/CirclePictureHierarchy"/>
    <dgm:cxn modelId="{6614094C-65C4-43A7-8C19-32D78F861510}" type="presParOf" srcId="{4D139513-EBDA-4A93-B872-B63D59F04204}" destId="{95E38F12-ED7A-418A-8351-2C408AB51BE4}" srcOrd="1" destOrd="0" presId="urn:microsoft.com/office/officeart/2009/layout/CirclePictureHierarchy"/>
    <dgm:cxn modelId="{2DC2CD7F-4C64-49CF-BE99-E00AFE324F6F}" type="presParOf" srcId="{4D05DC5D-01B9-43A6-867F-9EA9E58F207B}" destId="{438A6530-A736-4761-8A2A-2B3F611CEAFA}" srcOrd="1" destOrd="0" presId="urn:microsoft.com/office/officeart/2009/layout/CirclePictureHierarchy"/>
    <dgm:cxn modelId="{AA2979BC-01F1-49BB-9D64-093CB0213235}" type="presParOf" srcId="{438A6530-A736-4761-8A2A-2B3F611CEAFA}" destId="{A129F2C9-1AFB-434E-A578-17AE96EEAA98}" srcOrd="0" destOrd="0" presId="urn:microsoft.com/office/officeart/2009/layout/CirclePictureHierarchy"/>
    <dgm:cxn modelId="{2E5EA2BF-DC49-4832-84FB-2A8A0BFF5FE0}" type="presParOf" srcId="{438A6530-A736-4761-8A2A-2B3F611CEAFA}" destId="{1E1A292B-077C-43BF-95E2-D5E6E08179D8}" srcOrd="1" destOrd="0" presId="urn:microsoft.com/office/officeart/2009/layout/CirclePictureHierarchy"/>
    <dgm:cxn modelId="{17420054-61C5-470C-9F55-62432B4730FA}" type="presParOf" srcId="{1E1A292B-077C-43BF-95E2-D5E6E08179D8}" destId="{D0B1E0AE-7C5B-40B7-BBD2-7F8116DB40E1}" srcOrd="0" destOrd="0" presId="urn:microsoft.com/office/officeart/2009/layout/CirclePictureHierarchy"/>
    <dgm:cxn modelId="{38C51444-9E9C-42E1-B3BA-9A2156D350A8}" type="presParOf" srcId="{D0B1E0AE-7C5B-40B7-BBD2-7F8116DB40E1}" destId="{9942B092-3441-4516-BB2E-256D393B1DDF}" srcOrd="0" destOrd="0" presId="urn:microsoft.com/office/officeart/2009/layout/CirclePictureHierarchy"/>
    <dgm:cxn modelId="{935A08E0-F4D2-43A0-971A-D7F36BCB5A29}" type="presParOf" srcId="{D0B1E0AE-7C5B-40B7-BBD2-7F8116DB40E1}" destId="{E1768491-73A9-4480-91C7-E9C8FACC927C}" srcOrd="1" destOrd="0" presId="urn:microsoft.com/office/officeart/2009/layout/CirclePictureHierarchy"/>
    <dgm:cxn modelId="{17B3CC75-00CF-42AA-92F3-F425EF8E9632}" type="presParOf" srcId="{1E1A292B-077C-43BF-95E2-D5E6E08179D8}" destId="{D528E3B2-F2EB-47EB-84BB-81BA1F150F73}" srcOrd="1" destOrd="0" presId="urn:microsoft.com/office/officeart/2009/layout/CirclePictureHierarchy"/>
    <dgm:cxn modelId="{210ACAB0-76FE-476B-86A7-638D5A0EB215}" type="presParOf" srcId="{D528E3B2-F2EB-47EB-84BB-81BA1F150F73}" destId="{14950DB8-665A-4A13-B0C4-5C544E5073F0}" srcOrd="0" destOrd="0" presId="urn:microsoft.com/office/officeart/2009/layout/CirclePictureHierarchy"/>
    <dgm:cxn modelId="{9A231E8C-7770-41AE-90F6-15583A0F36B2}" type="presParOf" srcId="{D528E3B2-F2EB-47EB-84BB-81BA1F150F73}" destId="{DAAD3634-886E-4970-A245-186B490F1C19}" srcOrd="1" destOrd="0" presId="urn:microsoft.com/office/officeart/2009/layout/CirclePictureHierarchy"/>
    <dgm:cxn modelId="{01F22554-4886-416B-BDCE-518624D05E57}" type="presParOf" srcId="{DAAD3634-886E-4970-A245-186B490F1C19}" destId="{8A62E43F-56FB-49D5-880A-92E0A1AEB5FD}" srcOrd="0" destOrd="0" presId="urn:microsoft.com/office/officeart/2009/layout/CirclePictureHierarchy"/>
    <dgm:cxn modelId="{2BE6F706-70C3-4ED1-B6D9-84B523CF57F4}" type="presParOf" srcId="{8A62E43F-56FB-49D5-880A-92E0A1AEB5FD}" destId="{9936F4A5-69E5-4493-8254-79C24320933E}" srcOrd="0" destOrd="0" presId="urn:microsoft.com/office/officeart/2009/layout/CirclePictureHierarchy"/>
    <dgm:cxn modelId="{4B2174B9-5F2A-48BB-B011-575D5229D597}" type="presParOf" srcId="{8A62E43F-56FB-49D5-880A-92E0A1AEB5FD}" destId="{0B15A799-4047-4F2A-8681-21781AF45679}" srcOrd="1" destOrd="0" presId="urn:microsoft.com/office/officeart/2009/layout/CirclePictureHierarchy"/>
    <dgm:cxn modelId="{5995C15B-C181-4CC4-9771-E2F91471D2A2}" type="presParOf" srcId="{DAAD3634-886E-4970-A245-186B490F1C19}" destId="{5605683C-AB03-4540-93A2-DB0604658990}" srcOrd="1" destOrd="0" presId="urn:microsoft.com/office/officeart/2009/layout/CirclePictureHierarchy"/>
    <dgm:cxn modelId="{2DAB66F4-DAE6-42A0-B717-EAC764681B71}" type="presParOf" srcId="{5605683C-AB03-4540-93A2-DB0604658990}" destId="{D5C3457B-7F34-4D17-9607-88FE4194B259}" srcOrd="0" destOrd="0" presId="urn:microsoft.com/office/officeart/2009/layout/CirclePictureHierarchy"/>
    <dgm:cxn modelId="{4EBF9BB1-D9D4-472E-BFB3-6CB68A42BF67}" type="presParOf" srcId="{5605683C-AB03-4540-93A2-DB0604658990}" destId="{9F8A6578-8672-427D-9646-7AA3F40C71AE}" srcOrd="1" destOrd="0" presId="urn:microsoft.com/office/officeart/2009/layout/CirclePictureHierarchy"/>
    <dgm:cxn modelId="{B06623C8-2A09-4F78-88B3-39E0DA3ACAD6}" type="presParOf" srcId="{9F8A6578-8672-427D-9646-7AA3F40C71AE}" destId="{0DE36392-D4D0-4F54-B387-F64FB14CC583}" srcOrd="0" destOrd="0" presId="urn:microsoft.com/office/officeart/2009/layout/CirclePictureHierarchy"/>
    <dgm:cxn modelId="{90904A4C-C432-444E-BDE4-57E11FCC51E5}" type="presParOf" srcId="{0DE36392-D4D0-4F54-B387-F64FB14CC583}" destId="{42D34D30-3021-4319-BE57-136E389F9804}" srcOrd="0" destOrd="0" presId="urn:microsoft.com/office/officeart/2009/layout/CirclePictureHierarchy"/>
    <dgm:cxn modelId="{7628B44E-89E0-404A-8A99-0EC6E32BE2B5}" type="presParOf" srcId="{0DE36392-D4D0-4F54-B387-F64FB14CC583}" destId="{22C78BD0-EB22-4255-A9E2-52219B1C6B34}" srcOrd="1" destOrd="0" presId="urn:microsoft.com/office/officeart/2009/layout/CirclePictureHierarchy"/>
    <dgm:cxn modelId="{DA3BDC0E-9477-4832-A027-8D946FB07626}" type="presParOf" srcId="{9F8A6578-8672-427D-9646-7AA3F40C71AE}" destId="{8F3C1590-63F1-4D6E-9C9F-80004885283F}" srcOrd="1" destOrd="0" presId="urn:microsoft.com/office/officeart/2009/layout/CirclePictureHierarchy"/>
    <dgm:cxn modelId="{67647D79-18FF-4B5B-B984-E3FC6010F7FB}" type="presParOf" srcId="{5605683C-AB03-4540-93A2-DB0604658990}" destId="{85FC9A3D-D5CB-4211-92C4-99342E8DE378}" srcOrd="2" destOrd="0" presId="urn:microsoft.com/office/officeart/2009/layout/CirclePictureHierarchy"/>
    <dgm:cxn modelId="{6C71F336-FF0E-42E6-B14A-030BD44D1A05}" type="presParOf" srcId="{5605683C-AB03-4540-93A2-DB0604658990}" destId="{8D57E4D0-7854-4715-8A70-DA434C188918}" srcOrd="3" destOrd="0" presId="urn:microsoft.com/office/officeart/2009/layout/CirclePictureHierarchy"/>
    <dgm:cxn modelId="{A0B92A75-FE67-4D7C-AE67-F7A5B65FBBCE}" type="presParOf" srcId="{8D57E4D0-7854-4715-8A70-DA434C188918}" destId="{C3671C1F-8E78-4CC9-921D-325C73FD7718}" srcOrd="0" destOrd="0" presId="urn:microsoft.com/office/officeart/2009/layout/CirclePictureHierarchy"/>
    <dgm:cxn modelId="{3D725606-DEB2-4E00-8069-06B5839C0C39}" type="presParOf" srcId="{C3671C1F-8E78-4CC9-921D-325C73FD7718}" destId="{58B3AD4A-4832-4DFE-BD42-9754D4D5B8B5}" srcOrd="0" destOrd="0" presId="urn:microsoft.com/office/officeart/2009/layout/CirclePictureHierarchy"/>
    <dgm:cxn modelId="{223D852C-6BE7-4AFC-83FF-953736DF97FB}" type="presParOf" srcId="{C3671C1F-8E78-4CC9-921D-325C73FD7718}" destId="{BDC0A6B8-511B-45C1-903B-5790010597CD}" srcOrd="1" destOrd="0" presId="urn:microsoft.com/office/officeart/2009/layout/CirclePictureHierarchy"/>
    <dgm:cxn modelId="{2EF3CD84-0606-4A7B-80FD-AD173E57E00C}" type="presParOf" srcId="{8D57E4D0-7854-4715-8A70-DA434C188918}" destId="{45612C54-7AE8-412C-B40A-BBEAB8C4F789}" srcOrd="1" destOrd="0" presId="urn:microsoft.com/office/officeart/2009/layout/CirclePictureHierarchy"/>
    <dgm:cxn modelId="{357FDC37-C6E9-4FCC-80F2-CE087D48C76D}" type="presParOf" srcId="{D528E3B2-F2EB-47EB-84BB-81BA1F150F73}" destId="{8067E94B-70D9-4F33-9579-EF2DD750EAAC}" srcOrd="2" destOrd="0" presId="urn:microsoft.com/office/officeart/2009/layout/CirclePictureHierarchy"/>
    <dgm:cxn modelId="{00D34DAC-180F-417C-B8AB-67DEEA3F3045}" type="presParOf" srcId="{D528E3B2-F2EB-47EB-84BB-81BA1F150F73}" destId="{FB2B1034-B8F4-4CEE-A37E-263819E16281}" srcOrd="3" destOrd="0" presId="urn:microsoft.com/office/officeart/2009/layout/CirclePictureHierarchy"/>
    <dgm:cxn modelId="{4057D558-53D9-4D42-A654-E60255B84E70}" type="presParOf" srcId="{FB2B1034-B8F4-4CEE-A37E-263819E16281}" destId="{60C92229-068B-480C-BCB5-767CF452170C}" srcOrd="0" destOrd="0" presId="urn:microsoft.com/office/officeart/2009/layout/CirclePictureHierarchy"/>
    <dgm:cxn modelId="{8C36E5A6-4D3B-45B3-BF37-45DBBC8D4C38}" type="presParOf" srcId="{60C92229-068B-480C-BCB5-767CF452170C}" destId="{A95855E0-1BC3-454E-AB84-0FBE55169C2C}" srcOrd="0" destOrd="0" presId="urn:microsoft.com/office/officeart/2009/layout/CirclePictureHierarchy"/>
    <dgm:cxn modelId="{BC41A8CB-D898-4D2D-8B64-1E6A397B46F0}" type="presParOf" srcId="{60C92229-068B-480C-BCB5-767CF452170C}" destId="{DF22925F-15B3-4B30-990B-D62F5E47B5EE}" srcOrd="1" destOrd="0" presId="urn:microsoft.com/office/officeart/2009/layout/CirclePictureHierarchy"/>
    <dgm:cxn modelId="{7FA19EF4-4EDB-457D-849C-4382E70EACCA}" type="presParOf" srcId="{FB2B1034-B8F4-4CEE-A37E-263819E16281}" destId="{C006FFB4-A5F9-46CC-8BFE-2E84C40BFB06}" srcOrd="1" destOrd="0" presId="urn:microsoft.com/office/officeart/2009/layout/CirclePictureHierarchy"/>
    <dgm:cxn modelId="{20B74AD5-2FAF-40ED-84BC-D6C2D5F022CA}" type="presParOf" srcId="{C006FFB4-A5F9-46CC-8BFE-2E84C40BFB06}" destId="{B9E94C74-B13B-4E86-89DE-D348CA9EEF3D}" srcOrd="0" destOrd="0" presId="urn:microsoft.com/office/officeart/2009/layout/CirclePictureHierarchy"/>
    <dgm:cxn modelId="{C33F992C-B1AD-4EE6-80AA-D315363ABC9D}" type="presParOf" srcId="{C006FFB4-A5F9-46CC-8BFE-2E84C40BFB06}" destId="{ABFE79B4-D2E5-4C04-8107-4B73986ADE27}" srcOrd="1" destOrd="0" presId="urn:microsoft.com/office/officeart/2009/layout/CirclePictureHierarchy"/>
    <dgm:cxn modelId="{7AEEC4F1-A326-448F-972C-9991CDC37C41}" type="presParOf" srcId="{ABFE79B4-D2E5-4C04-8107-4B73986ADE27}" destId="{74789A49-0B9C-459C-B4EB-9D0E7E312B31}" srcOrd="0" destOrd="0" presId="urn:microsoft.com/office/officeart/2009/layout/CirclePictureHierarchy"/>
    <dgm:cxn modelId="{1D904537-7AED-4C1E-AB54-E7305A9C283B}" type="presParOf" srcId="{74789A49-0B9C-459C-B4EB-9D0E7E312B31}" destId="{92D22110-F93B-4DF5-8B48-B6FC0CACC95D}" srcOrd="0" destOrd="0" presId="urn:microsoft.com/office/officeart/2009/layout/CirclePictureHierarchy"/>
    <dgm:cxn modelId="{9A29597E-44D0-4095-9882-0B946F5E6F10}" type="presParOf" srcId="{74789A49-0B9C-459C-B4EB-9D0E7E312B31}" destId="{C3623EBC-F580-4AAC-9FAB-A7E5A21D438E}" srcOrd="1" destOrd="0" presId="urn:microsoft.com/office/officeart/2009/layout/CirclePictureHierarchy"/>
    <dgm:cxn modelId="{913A14A3-4422-4BFC-955D-7595F9D27DA0}" type="presParOf" srcId="{ABFE79B4-D2E5-4C04-8107-4B73986ADE27}" destId="{B14528A6-B529-48F8-8686-1F1F8F2EFFD0}" srcOrd="1" destOrd="0" presId="urn:microsoft.com/office/officeart/2009/layout/CirclePictureHierarchy"/>
    <dgm:cxn modelId="{1E465462-0D60-472F-A5C8-A8584F83B8AA}" type="presParOf" srcId="{C006FFB4-A5F9-46CC-8BFE-2E84C40BFB06}" destId="{69C3BD6F-D120-40DD-8EFC-4E3AD71463FB}" srcOrd="2" destOrd="0" presId="urn:microsoft.com/office/officeart/2009/layout/CirclePictureHierarchy"/>
    <dgm:cxn modelId="{62698CE8-83DE-42D2-B11D-DDA6736B54C0}" type="presParOf" srcId="{C006FFB4-A5F9-46CC-8BFE-2E84C40BFB06}" destId="{A5128E69-342A-417B-B7F5-A19C916A5174}" srcOrd="3" destOrd="0" presId="urn:microsoft.com/office/officeart/2009/layout/CirclePictureHierarchy"/>
    <dgm:cxn modelId="{F541E091-7E07-424B-B4A6-3DD2EB4257E3}" type="presParOf" srcId="{A5128E69-342A-417B-B7F5-A19C916A5174}" destId="{43DD9608-340F-43E5-9C8F-3CEC69F18054}" srcOrd="0" destOrd="0" presId="urn:microsoft.com/office/officeart/2009/layout/CirclePictureHierarchy"/>
    <dgm:cxn modelId="{E3AD98C9-C84A-47EF-82F6-A6141B2720D5}" type="presParOf" srcId="{43DD9608-340F-43E5-9C8F-3CEC69F18054}" destId="{236EF18E-A9B1-4F09-83C1-4CC736FCDFAE}" srcOrd="0" destOrd="0" presId="urn:microsoft.com/office/officeart/2009/layout/CirclePictureHierarchy"/>
    <dgm:cxn modelId="{624D0AF8-75D7-4890-9607-222956799B3E}" type="presParOf" srcId="{43DD9608-340F-43E5-9C8F-3CEC69F18054}" destId="{E881C3AB-046B-43B5-BA00-810C29FF3631}" srcOrd="1" destOrd="0" presId="urn:microsoft.com/office/officeart/2009/layout/CirclePictureHierarchy"/>
    <dgm:cxn modelId="{A2EBE8A7-42F0-45DF-9F48-66471A51FDD3}" type="presParOf" srcId="{A5128E69-342A-417B-B7F5-A19C916A5174}" destId="{E4EC1993-4ACD-48B3-BD32-65CCB7A2DD72}" srcOrd="1" destOrd="0" presId="urn:microsoft.com/office/officeart/2009/layout/CirclePictureHierarchy"/>
    <dgm:cxn modelId="{BD3C4C9B-2841-42FB-93E7-5F7715E036DA}" type="presParOf" srcId="{438A6530-A736-4761-8A2A-2B3F611CEAFA}" destId="{248A337E-8A35-4C0C-8F8E-7DF5E25CBAFE}" srcOrd="2" destOrd="0" presId="urn:microsoft.com/office/officeart/2009/layout/CirclePictureHierarchy"/>
    <dgm:cxn modelId="{BCFFF80F-EE75-4454-9BC8-363A7AC26DB9}" type="presParOf" srcId="{438A6530-A736-4761-8A2A-2B3F611CEAFA}" destId="{86DB83A2-92AA-4675-BE5E-71390413B08A}" srcOrd="3" destOrd="0" presId="urn:microsoft.com/office/officeart/2009/layout/CirclePictureHierarchy"/>
    <dgm:cxn modelId="{A6628AAF-9542-4E97-A827-93D7E5AF9299}" type="presParOf" srcId="{86DB83A2-92AA-4675-BE5E-71390413B08A}" destId="{5231BA5A-4039-4BB6-B4DB-FCFA940A17CC}" srcOrd="0" destOrd="0" presId="urn:microsoft.com/office/officeart/2009/layout/CirclePictureHierarchy"/>
    <dgm:cxn modelId="{81C52614-C5EC-4447-81DE-4E1CAFE71CED}" type="presParOf" srcId="{5231BA5A-4039-4BB6-B4DB-FCFA940A17CC}" destId="{4B2432C5-E9E7-4A75-B0E5-F178F2B3910A}" srcOrd="0" destOrd="0" presId="urn:microsoft.com/office/officeart/2009/layout/CirclePictureHierarchy"/>
    <dgm:cxn modelId="{58EBC0BD-9332-4189-AA71-E52058EE6364}" type="presParOf" srcId="{5231BA5A-4039-4BB6-B4DB-FCFA940A17CC}" destId="{66A19B65-2F46-4EBA-8115-845248B7B92F}" srcOrd="1" destOrd="0" presId="urn:microsoft.com/office/officeart/2009/layout/CirclePictureHierarchy"/>
    <dgm:cxn modelId="{2C419E6B-8731-420C-9173-93F00D18049C}" type="presParOf" srcId="{86DB83A2-92AA-4675-BE5E-71390413B08A}" destId="{7E4925A7-D4FD-4524-B2DD-52EF7B594A19}" srcOrd="1" destOrd="0" presId="urn:microsoft.com/office/officeart/2009/layout/CirclePictureHierarchy"/>
    <dgm:cxn modelId="{B973F49E-D7D7-4300-95DF-2A7126319402}" type="presParOf" srcId="{7E4925A7-D4FD-4524-B2DD-52EF7B594A19}" destId="{24302077-A862-426A-88B4-C141DEF859E3}" srcOrd="0" destOrd="0" presId="urn:microsoft.com/office/officeart/2009/layout/CirclePictureHierarchy"/>
    <dgm:cxn modelId="{ACDBD727-F458-4518-A9FB-45453FAE163B}" type="presParOf" srcId="{7E4925A7-D4FD-4524-B2DD-52EF7B594A19}" destId="{D260A090-A8A9-494E-BB5B-7FA31B985273}" srcOrd="1" destOrd="0" presId="urn:microsoft.com/office/officeart/2009/layout/CirclePictureHierarchy"/>
    <dgm:cxn modelId="{AEAFF423-03B8-49D1-9AA2-5AA2EBA0F083}" type="presParOf" srcId="{D260A090-A8A9-494E-BB5B-7FA31B985273}" destId="{1905C330-0C9E-4221-B4D7-81185591B5A5}" srcOrd="0" destOrd="0" presId="urn:microsoft.com/office/officeart/2009/layout/CirclePictureHierarchy"/>
    <dgm:cxn modelId="{93537C0F-98B8-48EF-A779-DDD743EA23E8}" type="presParOf" srcId="{1905C330-0C9E-4221-B4D7-81185591B5A5}" destId="{E47B71A0-71E0-470A-BD62-A747BC795F0D}" srcOrd="0" destOrd="0" presId="urn:microsoft.com/office/officeart/2009/layout/CirclePictureHierarchy"/>
    <dgm:cxn modelId="{8DE8D400-AC25-467F-A9C1-94A2318F5C8D}" type="presParOf" srcId="{1905C330-0C9E-4221-B4D7-81185591B5A5}" destId="{634CB68F-C0D9-442E-B8D8-D296629DE08B}" srcOrd="1" destOrd="0" presId="urn:microsoft.com/office/officeart/2009/layout/CirclePictureHierarchy"/>
    <dgm:cxn modelId="{B76A1EA1-C5FC-40DD-9459-AB0C513A3961}" type="presParOf" srcId="{D260A090-A8A9-494E-BB5B-7FA31B985273}" destId="{2F32FA41-E732-4A34-909C-B548D6E140BC}" srcOrd="1" destOrd="0" presId="urn:microsoft.com/office/officeart/2009/layout/CirclePictureHierarchy"/>
    <dgm:cxn modelId="{4084DD43-23E0-4E3B-9B31-DAB21CB0FEBD}" type="presParOf" srcId="{2F32FA41-E732-4A34-909C-B548D6E140BC}" destId="{3246744B-FF9C-4DF7-B970-1303BCADF878}" srcOrd="0" destOrd="0" presId="urn:microsoft.com/office/officeart/2009/layout/CirclePictureHierarchy"/>
    <dgm:cxn modelId="{50443E38-15DF-49DB-A85A-CA6CD1DED1AF}" type="presParOf" srcId="{2F32FA41-E732-4A34-909C-B548D6E140BC}" destId="{8338D26B-E914-42CE-8159-1D7054D99B8E}" srcOrd="1" destOrd="0" presId="urn:microsoft.com/office/officeart/2009/layout/CirclePictureHierarchy"/>
    <dgm:cxn modelId="{8DE1DE93-CCA9-43C2-9D64-32B71ED13829}" type="presParOf" srcId="{8338D26B-E914-42CE-8159-1D7054D99B8E}" destId="{7AE499C0-A50F-4F86-A6A5-6FA6DEEDC41D}" srcOrd="0" destOrd="0" presId="urn:microsoft.com/office/officeart/2009/layout/CirclePictureHierarchy"/>
    <dgm:cxn modelId="{6C0646E0-1F90-4AAB-88E6-970076EABBAF}" type="presParOf" srcId="{7AE499C0-A50F-4F86-A6A5-6FA6DEEDC41D}" destId="{2801FD4B-560A-4431-9043-220B913BAC6E}" srcOrd="0" destOrd="0" presId="urn:microsoft.com/office/officeart/2009/layout/CirclePictureHierarchy"/>
    <dgm:cxn modelId="{49335C39-0F32-44EC-B329-0299F7A06404}" type="presParOf" srcId="{7AE499C0-A50F-4F86-A6A5-6FA6DEEDC41D}" destId="{A81644C4-CF24-47C8-A1C5-7AAF5C6CFFCF}" srcOrd="1" destOrd="0" presId="urn:microsoft.com/office/officeart/2009/layout/CirclePictureHierarchy"/>
    <dgm:cxn modelId="{51FF5D56-2BEC-49A4-984D-F14433367DBD}" type="presParOf" srcId="{8338D26B-E914-42CE-8159-1D7054D99B8E}" destId="{55B44C70-D616-4F1E-A5C0-4A524B7B09E2}" srcOrd="1" destOrd="0" presId="urn:microsoft.com/office/officeart/2009/layout/CirclePicture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8CD03B5-A4ED-426B-8F9E-110953D4BBFC}" type="doc">
      <dgm:prSet loTypeId="urn:microsoft.com/office/officeart/2005/8/layout/process4" loCatId="process" qsTypeId="urn:microsoft.com/office/officeart/2005/8/quickstyle/simple1" qsCatId="simple" csTypeId="urn:microsoft.com/office/officeart/2005/8/colors/colorful1" csCatId="colorful" phldr="1"/>
      <dgm:spPr/>
      <dgm:t>
        <a:bodyPr/>
        <a:lstStyle/>
        <a:p>
          <a:endParaRPr lang="en-US"/>
        </a:p>
      </dgm:t>
    </dgm:pt>
    <dgm:pt modelId="{FBAAB723-99C0-4839-898C-D33EC3D6EAE6}">
      <dgm:prSet/>
      <dgm:spPr/>
      <dgm:t>
        <a:bodyPr/>
        <a:lstStyle/>
        <a:p>
          <a:r>
            <a:rPr lang="pt-BR" dirty="0"/>
            <a:t>Serviço no Azure para criar, atribuir e gerenciar políticas. Impõem diferentes regras e efeitos sobre os recursos para que permaneçam em conformidade com padrões corporativos e contratos de nível de serviço.</a:t>
          </a:r>
          <a:endParaRPr lang="en-US" dirty="0"/>
        </a:p>
      </dgm:t>
    </dgm:pt>
    <dgm:pt modelId="{3BAE47DB-B813-45BF-B367-68F0A2819295}" type="parTrans" cxnId="{B0EEE37E-378F-4E64-9EC9-A1BC955520B0}">
      <dgm:prSet/>
      <dgm:spPr/>
      <dgm:t>
        <a:bodyPr/>
        <a:lstStyle/>
        <a:p>
          <a:endParaRPr lang="en-US"/>
        </a:p>
      </dgm:t>
    </dgm:pt>
    <dgm:pt modelId="{56561966-CFF2-4076-829E-FE9326284087}" type="sibTrans" cxnId="{B0EEE37E-378F-4E64-9EC9-A1BC955520B0}">
      <dgm:prSet/>
      <dgm:spPr/>
      <dgm:t>
        <a:bodyPr/>
        <a:lstStyle/>
        <a:p>
          <a:endParaRPr lang="en-US"/>
        </a:p>
      </dgm:t>
    </dgm:pt>
    <dgm:pt modelId="{2B5222F0-914C-445F-9A90-B93DAEA9F21D}">
      <dgm:prSet/>
      <dgm:spPr/>
      <dgm:t>
        <a:bodyPr/>
        <a:lstStyle/>
        <a:p>
          <a:r>
            <a:rPr lang="pt-BR" dirty="0"/>
            <a:t>Azure </a:t>
          </a:r>
          <a:r>
            <a:rPr lang="pt-BR" dirty="0" err="1"/>
            <a:t>Policy</a:t>
          </a:r>
          <a:r>
            <a:rPr lang="pt-BR" dirty="0"/>
            <a:t>.</a:t>
          </a:r>
          <a:endParaRPr lang="en-US" dirty="0"/>
        </a:p>
      </dgm:t>
    </dgm:pt>
    <dgm:pt modelId="{914E2856-2955-4F82-AD55-145065A8052A}" type="parTrans" cxnId="{328C4D3E-9FCA-4F5C-8AE4-199997E8B391}">
      <dgm:prSet/>
      <dgm:spPr/>
      <dgm:t>
        <a:bodyPr/>
        <a:lstStyle/>
        <a:p>
          <a:endParaRPr lang="en-US"/>
        </a:p>
      </dgm:t>
    </dgm:pt>
    <dgm:pt modelId="{76C24292-D6EA-4D55-AF12-75138D2D1162}" type="sibTrans" cxnId="{328C4D3E-9FCA-4F5C-8AE4-199997E8B391}">
      <dgm:prSet/>
      <dgm:spPr/>
      <dgm:t>
        <a:bodyPr/>
        <a:lstStyle/>
        <a:p>
          <a:endParaRPr lang="en-US"/>
        </a:p>
      </dgm:t>
    </dgm:pt>
    <dgm:pt modelId="{D131BA59-9E91-414A-A504-26C704086E7A}">
      <dgm:prSet/>
      <dgm:spPr/>
      <dgm:t>
        <a:bodyPr/>
        <a:lstStyle/>
        <a:p>
          <a:r>
            <a:rPr lang="pt-BR"/>
            <a:t>Azure Policy concentra-se nas propriedades de recurso durante a implantação e para recursos já existentes, controlando propriedades (tipos ou locais) </a:t>
          </a:r>
          <a:endParaRPr lang="en-US"/>
        </a:p>
      </dgm:t>
    </dgm:pt>
    <dgm:pt modelId="{F4C197E3-E561-421D-82B6-CF8911CCDA8C}" type="parTrans" cxnId="{92978484-7B15-451D-96F4-FC9547F9F05B}">
      <dgm:prSet/>
      <dgm:spPr/>
      <dgm:t>
        <a:bodyPr/>
        <a:lstStyle/>
        <a:p>
          <a:endParaRPr lang="en-US"/>
        </a:p>
      </dgm:t>
    </dgm:pt>
    <dgm:pt modelId="{F4B3FD39-167A-4D4C-8D96-87FAFE71CE06}" type="sibTrans" cxnId="{92978484-7B15-451D-96F4-FC9547F9F05B}">
      <dgm:prSet/>
      <dgm:spPr/>
      <dgm:t>
        <a:bodyPr/>
        <a:lstStyle/>
        <a:p>
          <a:endParaRPr lang="en-US"/>
        </a:p>
      </dgm:t>
    </dgm:pt>
    <dgm:pt modelId="{516CF1AE-B08C-42C6-BE2E-D5D3C5E5DA68}">
      <dgm:prSet/>
      <dgm:spPr/>
      <dgm:t>
        <a:bodyPr/>
        <a:lstStyle/>
        <a:p>
          <a:r>
            <a:rPr lang="pt-BR"/>
            <a:t>Azure Policy é um sistema de permissão padrão e negação explícita.</a:t>
          </a:r>
          <a:endParaRPr lang="en-US"/>
        </a:p>
      </dgm:t>
    </dgm:pt>
    <dgm:pt modelId="{D1F05037-0E76-44CB-95EB-0EF88D650AC9}" type="parTrans" cxnId="{FC27894E-B828-491C-AAFA-F19919DC2B5E}">
      <dgm:prSet/>
      <dgm:spPr/>
      <dgm:t>
        <a:bodyPr/>
        <a:lstStyle/>
        <a:p>
          <a:endParaRPr lang="en-US"/>
        </a:p>
      </dgm:t>
    </dgm:pt>
    <dgm:pt modelId="{02393702-BED8-4253-BD34-333B8B956364}" type="sibTrans" cxnId="{FC27894E-B828-491C-AAFA-F19919DC2B5E}">
      <dgm:prSet/>
      <dgm:spPr/>
      <dgm:t>
        <a:bodyPr/>
        <a:lstStyle/>
        <a:p>
          <a:endParaRPr lang="en-US"/>
        </a:p>
      </dgm:t>
    </dgm:pt>
    <dgm:pt modelId="{08CF215D-FAB0-4B3A-ACBC-9C4C0C21E67D}">
      <dgm:prSet/>
      <dgm:spPr/>
      <dgm:t>
        <a:bodyPr anchor="t"/>
        <a:lstStyle/>
        <a:p>
          <a:r>
            <a:rPr lang="pt-BR" dirty="0"/>
            <a:t>Regras do Azure </a:t>
          </a:r>
          <a:r>
            <a:rPr lang="pt-BR" dirty="0" err="1"/>
            <a:t>Policy</a:t>
          </a:r>
          <a:r>
            <a:rPr lang="pt-BR" dirty="0"/>
            <a:t>:</a:t>
          </a:r>
          <a:endParaRPr lang="en-US" dirty="0"/>
        </a:p>
      </dgm:t>
    </dgm:pt>
    <dgm:pt modelId="{6657425D-BC6B-45AB-A287-B54690B6D5EC}" type="parTrans" cxnId="{2D7425DC-CDE7-491C-A42A-00B0393ED597}">
      <dgm:prSet/>
      <dgm:spPr/>
      <dgm:t>
        <a:bodyPr/>
        <a:lstStyle/>
        <a:p>
          <a:endParaRPr lang="en-US"/>
        </a:p>
      </dgm:t>
    </dgm:pt>
    <dgm:pt modelId="{53BEC958-56BE-4AE7-B6E3-50B48EB4DB12}" type="sibTrans" cxnId="{2D7425DC-CDE7-491C-A42A-00B0393ED597}">
      <dgm:prSet/>
      <dgm:spPr/>
      <dgm:t>
        <a:bodyPr/>
        <a:lstStyle/>
        <a:p>
          <a:endParaRPr lang="en-US"/>
        </a:p>
      </dgm:t>
    </dgm:pt>
    <dgm:pt modelId="{EEB15997-825E-4C7A-8E95-C940DB66F913}">
      <dgm:prSet custT="1"/>
      <dgm:spPr/>
      <dgm:t>
        <a:bodyPr/>
        <a:lstStyle/>
        <a:p>
          <a:r>
            <a:rPr lang="pt-BR" sz="1100" b="1" dirty="0" err="1"/>
            <a:t>SKUs</a:t>
          </a:r>
          <a:r>
            <a:rPr lang="pt-BR" sz="1100" b="1" dirty="0"/>
            <a:t> de conta de armazenamento permitidos</a:t>
          </a:r>
          <a:r>
            <a:rPr lang="pt-BR" sz="1100" dirty="0"/>
            <a:t>: Determina se uma conta de armazenamento que está sendo implantada está dentro de um conjunto de tamanhos de SKU. </a:t>
          </a:r>
          <a:endParaRPr lang="en-US" sz="1100" dirty="0"/>
        </a:p>
      </dgm:t>
    </dgm:pt>
    <dgm:pt modelId="{7D95CCE4-BDB6-41D8-913F-1F84F41538C8}" type="parTrans" cxnId="{9AE9E64F-E568-4419-9971-F8F7C7C5472B}">
      <dgm:prSet/>
      <dgm:spPr/>
      <dgm:t>
        <a:bodyPr/>
        <a:lstStyle/>
        <a:p>
          <a:endParaRPr lang="en-US"/>
        </a:p>
      </dgm:t>
    </dgm:pt>
    <dgm:pt modelId="{B687279D-E946-4FA0-8694-5FFA80DB0F1E}" type="sibTrans" cxnId="{9AE9E64F-E568-4419-9971-F8F7C7C5472B}">
      <dgm:prSet/>
      <dgm:spPr/>
      <dgm:t>
        <a:bodyPr/>
        <a:lstStyle/>
        <a:p>
          <a:endParaRPr lang="en-US"/>
        </a:p>
      </dgm:t>
    </dgm:pt>
    <dgm:pt modelId="{473A9CEB-2967-4A44-A698-9D755F00665E}">
      <dgm:prSet custT="1"/>
      <dgm:spPr/>
      <dgm:t>
        <a:bodyPr/>
        <a:lstStyle/>
        <a:p>
          <a:r>
            <a:rPr lang="pt-BR" sz="1100" b="1" dirty="0"/>
            <a:t>Tipo de recurso permitido</a:t>
          </a:r>
          <a:r>
            <a:rPr lang="pt-BR" sz="1100" dirty="0"/>
            <a:t>: Define os tipos de recursos que você pode implantar. </a:t>
          </a:r>
          <a:endParaRPr lang="en-US" sz="1100" dirty="0"/>
        </a:p>
      </dgm:t>
    </dgm:pt>
    <dgm:pt modelId="{26D9A225-B60D-45E2-9C95-6664AE315C4D}" type="parTrans" cxnId="{447E9EA6-D669-4A15-95C5-2AC034F7FC5D}">
      <dgm:prSet/>
      <dgm:spPr/>
      <dgm:t>
        <a:bodyPr/>
        <a:lstStyle/>
        <a:p>
          <a:endParaRPr lang="en-US"/>
        </a:p>
      </dgm:t>
    </dgm:pt>
    <dgm:pt modelId="{131CB9F5-194A-45CC-9744-07DE0311587A}" type="sibTrans" cxnId="{447E9EA6-D669-4A15-95C5-2AC034F7FC5D}">
      <dgm:prSet/>
      <dgm:spPr/>
      <dgm:t>
        <a:bodyPr/>
        <a:lstStyle/>
        <a:p>
          <a:endParaRPr lang="en-US"/>
        </a:p>
      </dgm:t>
    </dgm:pt>
    <dgm:pt modelId="{DB9F4FC3-A855-49A5-9E4A-CA96890DB74C}">
      <dgm:prSet custT="1"/>
      <dgm:spPr/>
      <dgm:t>
        <a:bodyPr/>
        <a:lstStyle/>
        <a:p>
          <a:r>
            <a:rPr lang="pt-BR" sz="1100" b="1"/>
            <a:t>Locais permitidos</a:t>
          </a:r>
          <a:r>
            <a:rPr lang="pt-BR" sz="1100"/>
            <a:t>: Restringe os locais disponíveis para novos recursos. </a:t>
          </a:r>
          <a:endParaRPr lang="en-US" sz="1100"/>
        </a:p>
      </dgm:t>
    </dgm:pt>
    <dgm:pt modelId="{837346DE-755B-40FF-9CDA-2E7BD4528241}" type="parTrans" cxnId="{C907E11A-FE1F-4568-B94C-95E4A55CE26D}">
      <dgm:prSet/>
      <dgm:spPr/>
      <dgm:t>
        <a:bodyPr/>
        <a:lstStyle/>
        <a:p>
          <a:endParaRPr lang="en-US"/>
        </a:p>
      </dgm:t>
    </dgm:pt>
    <dgm:pt modelId="{FA46CD3D-7885-4A76-9DC6-DC6766B17020}" type="sibTrans" cxnId="{C907E11A-FE1F-4568-B94C-95E4A55CE26D}">
      <dgm:prSet/>
      <dgm:spPr/>
      <dgm:t>
        <a:bodyPr/>
        <a:lstStyle/>
        <a:p>
          <a:endParaRPr lang="en-US"/>
        </a:p>
      </dgm:t>
    </dgm:pt>
    <dgm:pt modelId="{AA8A9038-C824-4048-83CA-E7ED974611C3}">
      <dgm:prSet custT="1"/>
      <dgm:spPr/>
      <dgm:t>
        <a:bodyPr/>
        <a:lstStyle/>
        <a:p>
          <a:r>
            <a:rPr lang="pt-BR" sz="1100" b="1"/>
            <a:t>SKUs de máquinas virtuais permitidas</a:t>
          </a:r>
          <a:r>
            <a:rPr lang="pt-BR" sz="1100"/>
            <a:t>: Especifica um conjunto de SKUs de máquina virtual que você pode implantar.</a:t>
          </a:r>
          <a:endParaRPr lang="en-US" sz="1100"/>
        </a:p>
      </dgm:t>
    </dgm:pt>
    <dgm:pt modelId="{CFAD203D-A5EB-4782-8034-34AACBE644EF}" type="parTrans" cxnId="{DC480DCC-DED6-4858-B13A-DE6613E23EBE}">
      <dgm:prSet/>
      <dgm:spPr/>
      <dgm:t>
        <a:bodyPr/>
        <a:lstStyle/>
        <a:p>
          <a:endParaRPr lang="en-US"/>
        </a:p>
      </dgm:t>
    </dgm:pt>
    <dgm:pt modelId="{D3CBCAD9-076E-447E-BE7A-6BC61EE5BB32}" type="sibTrans" cxnId="{DC480DCC-DED6-4858-B13A-DE6613E23EBE}">
      <dgm:prSet/>
      <dgm:spPr/>
      <dgm:t>
        <a:bodyPr/>
        <a:lstStyle/>
        <a:p>
          <a:endParaRPr lang="en-US"/>
        </a:p>
      </dgm:t>
    </dgm:pt>
    <dgm:pt modelId="{C55C0600-6B77-4C1B-9FAC-92622D2CEA23}">
      <dgm:prSet custT="1"/>
      <dgm:spPr/>
      <dgm:t>
        <a:bodyPr/>
        <a:lstStyle/>
        <a:p>
          <a:r>
            <a:rPr lang="pt-BR" sz="1100" b="1"/>
            <a:t>Aplicar tag e seu valor padrão</a:t>
          </a:r>
          <a:r>
            <a:rPr lang="pt-BR" sz="1100"/>
            <a:t>: Aplica uma tag necessária e seu valor padrão se ele não é especificado pela solicitação de implantação.</a:t>
          </a:r>
          <a:endParaRPr lang="en-US" sz="1100"/>
        </a:p>
      </dgm:t>
    </dgm:pt>
    <dgm:pt modelId="{368A655D-1944-46CF-8133-497CA9291749}" type="parTrans" cxnId="{92D3A68C-B75D-479D-B081-9A23A2F36CC8}">
      <dgm:prSet/>
      <dgm:spPr/>
      <dgm:t>
        <a:bodyPr/>
        <a:lstStyle/>
        <a:p>
          <a:endParaRPr lang="en-US"/>
        </a:p>
      </dgm:t>
    </dgm:pt>
    <dgm:pt modelId="{04F892AA-351B-48D8-953A-CD35F6377E98}" type="sibTrans" cxnId="{92D3A68C-B75D-479D-B081-9A23A2F36CC8}">
      <dgm:prSet/>
      <dgm:spPr/>
      <dgm:t>
        <a:bodyPr/>
        <a:lstStyle/>
        <a:p>
          <a:endParaRPr lang="en-US"/>
        </a:p>
      </dgm:t>
    </dgm:pt>
    <dgm:pt modelId="{78984498-4BB2-491E-A945-B41ADB57EF40}">
      <dgm:prSet custT="1"/>
      <dgm:spPr/>
      <dgm:t>
        <a:bodyPr/>
        <a:lstStyle/>
        <a:p>
          <a:r>
            <a:rPr lang="pt-BR" sz="1100" b="1"/>
            <a:t>Impor tag e seu valor</a:t>
          </a:r>
          <a:r>
            <a:rPr lang="pt-BR" sz="1100"/>
            <a:t>: Impõe uma tag necessária e seu valor a um recurso.</a:t>
          </a:r>
          <a:endParaRPr lang="en-US" sz="1100"/>
        </a:p>
      </dgm:t>
    </dgm:pt>
    <dgm:pt modelId="{F9C6AB9B-8501-4950-A520-399E20E29ADF}" type="parTrans" cxnId="{814E7266-19A6-4696-982C-52FD7DBB9DE9}">
      <dgm:prSet/>
      <dgm:spPr/>
      <dgm:t>
        <a:bodyPr/>
        <a:lstStyle/>
        <a:p>
          <a:endParaRPr lang="en-US"/>
        </a:p>
      </dgm:t>
    </dgm:pt>
    <dgm:pt modelId="{3554F278-5BBE-4C14-9677-88FA986E95D1}" type="sibTrans" cxnId="{814E7266-19A6-4696-982C-52FD7DBB9DE9}">
      <dgm:prSet/>
      <dgm:spPr/>
      <dgm:t>
        <a:bodyPr/>
        <a:lstStyle/>
        <a:p>
          <a:endParaRPr lang="en-US"/>
        </a:p>
      </dgm:t>
    </dgm:pt>
    <dgm:pt modelId="{C100CABF-587D-4362-BFB6-4A1B0D25DF07}">
      <dgm:prSet custT="1"/>
      <dgm:spPr/>
      <dgm:t>
        <a:bodyPr/>
        <a:lstStyle/>
        <a:p>
          <a:r>
            <a:rPr lang="pt-BR" sz="1100" b="1" dirty="0"/>
            <a:t>Tipos de recurso não permitidos</a:t>
          </a:r>
          <a:r>
            <a:rPr lang="pt-BR" sz="1100" dirty="0"/>
            <a:t>: Impede que uma lista de tipos de recurso seja implantada.</a:t>
          </a:r>
          <a:endParaRPr lang="en-US" sz="1100" dirty="0"/>
        </a:p>
      </dgm:t>
    </dgm:pt>
    <dgm:pt modelId="{0CEB0EA4-66A2-4C37-837A-7F6C50D0EFC7}" type="parTrans" cxnId="{F33D9243-0222-4BAF-A82A-5991B64950A9}">
      <dgm:prSet/>
      <dgm:spPr/>
      <dgm:t>
        <a:bodyPr/>
        <a:lstStyle/>
        <a:p>
          <a:endParaRPr lang="en-US"/>
        </a:p>
      </dgm:t>
    </dgm:pt>
    <dgm:pt modelId="{82E52DBB-9C15-40AD-A093-EEA0F0ADDA44}" type="sibTrans" cxnId="{F33D9243-0222-4BAF-A82A-5991B64950A9}">
      <dgm:prSet/>
      <dgm:spPr/>
      <dgm:t>
        <a:bodyPr/>
        <a:lstStyle/>
        <a:p>
          <a:endParaRPr lang="en-US"/>
        </a:p>
      </dgm:t>
    </dgm:pt>
    <dgm:pt modelId="{CD5043E3-0D9E-49C4-A3AD-DA58CEC17960}" type="pres">
      <dgm:prSet presAssocID="{A8CD03B5-A4ED-426B-8F9E-110953D4BBFC}" presName="Name0" presStyleCnt="0">
        <dgm:presLayoutVars>
          <dgm:dir/>
          <dgm:animLvl val="lvl"/>
          <dgm:resizeHandles val="exact"/>
        </dgm:presLayoutVars>
      </dgm:prSet>
      <dgm:spPr/>
    </dgm:pt>
    <dgm:pt modelId="{6B7B896E-87B8-4DB5-B035-F5124F9D622E}" type="pres">
      <dgm:prSet presAssocID="{08CF215D-FAB0-4B3A-ACBC-9C4C0C21E67D}" presName="boxAndChildren" presStyleCnt="0"/>
      <dgm:spPr/>
    </dgm:pt>
    <dgm:pt modelId="{8416E79C-6341-4DD7-BCE3-2D67279A4E8A}" type="pres">
      <dgm:prSet presAssocID="{08CF215D-FAB0-4B3A-ACBC-9C4C0C21E67D}" presName="parentTextBox" presStyleLbl="node1" presStyleIdx="0" presStyleCnt="3"/>
      <dgm:spPr/>
    </dgm:pt>
    <dgm:pt modelId="{6E0F7B07-5EED-44B1-B3FF-6F24FE5F654E}" type="pres">
      <dgm:prSet presAssocID="{08CF215D-FAB0-4B3A-ACBC-9C4C0C21E67D}" presName="entireBox" presStyleLbl="node1" presStyleIdx="0" presStyleCnt="3" custScaleY="295099" custLinFactY="32988" custLinFactNeighborX="3382" custLinFactNeighborY="100000"/>
      <dgm:spPr/>
    </dgm:pt>
    <dgm:pt modelId="{43E3D380-E157-4C9F-AC45-4914B1BA6211}" type="pres">
      <dgm:prSet presAssocID="{08CF215D-FAB0-4B3A-ACBC-9C4C0C21E67D}" presName="descendantBox" presStyleCnt="0"/>
      <dgm:spPr/>
    </dgm:pt>
    <dgm:pt modelId="{8A7095E3-143E-4779-8566-8ED29DD62B68}" type="pres">
      <dgm:prSet presAssocID="{EEB15997-825E-4C7A-8E95-C940DB66F913}" presName="childTextBox" presStyleLbl="fgAccFollowNode1" presStyleIdx="0" presStyleCnt="9" custScaleY="505446" custLinFactNeighborX="-428" custLinFactNeighborY="13698">
        <dgm:presLayoutVars>
          <dgm:bulletEnabled val="1"/>
        </dgm:presLayoutVars>
      </dgm:prSet>
      <dgm:spPr/>
    </dgm:pt>
    <dgm:pt modelId="{E72134C6-B462-45DE-91FB-F9F5EAB2357B}" type="pres">
      <dgm:prSet presAssocID="{473A9CEB-2967-4A44-A698-9D755F00665E}" presName="childTextBox" presStyleLbl="fgAccFollowNode1" presStyleIdx="1" presStyleCnt="9" custScaleY="505446" custLinFactNeighborX="-428" custLinFactNeighborY="13698">
        <dgm:presLayoutVars>
          <dgm:bulletEnabled val="1"/>
        </dgm:presLayoutVars>
      </dgm:prSet>
      <dgm:spPr/>
    </dgm:pt>
    <dgm:pt modelId="{AFF7C469-3684-4A8D-A63B-96F90571B58D}" type="pres">
      <dgm:prSet presAssocID="{DB9F4FC3-A855-49A5-9E4A-CA96890DB74C}" presName="childTextBox" presStyleLbl="fgAccFollowNode1" presStyleIdx="2" presStyleCnt="9" custScaleY="505446" custLinFactNeighborX="-428" custLinFactNeighborY="13698">
        <dgm:presLayoutVars>
          <dgm:bulletEnabled val="1"/>
        </dgm:presLayoutVars>
      </dgm:prSet>
      <dgm:spPr/>
    </dgm:pt>
    <dgm:pt modelId="{579C2FED-6F0D-4065-8E49-12DA410658E3}" type="pres">
      <dgm:prSet presAssocID="{AA8A9038-C824-4048-83CA-E7ED974611C3}" presName="childTextBox" presStyleLbl="fgAccFollowNode1" presStyleIdx="3" presStyleCnt="9" custScaleY="505446" custLinFactNeighborX="-428" custLinFactNeighborY="13698">
        <dgm:presLayoutVars>
          <dgm:bulletEnabled val="1"/>
        </dgm:presLayoutVars>
      </dgm:prSet>
      <dgm:spPr/>
    </dgm:pt>
    <dgm:pt modelId="{322D0206-E01E-4C46-A5CA-8732B6E76018}" type="pres">
      <dgm:prSet presAssocID="{C55C0600-6B77-4C1B-9FAC-92622D2CEA23}" presName="childTextBox" presStyleLbl="fgAccFollowNode1" presStyleIdx="4" presStyleCnt="9" custScaleY="505446" custLinFactNeighborX="-428" custLinFactNeighborY="13698">
        <dgm:presLayoutVars>
          <dgm:bulletEnabled val="1"/>
        </dgm:presLayoutVars>
      </dgm:prSet>
      <dgm:spPr/>
    </dgm:pt>
    <dgm:pt modelId="{230A5780-2D9C-467B-B4A4-0710B52F62B2}" type="pres">
      <dgm:prSet presAssocID="{78984498-4BB2-491E-A945-B41ADB57EF40}" presName="childTextBox" presStyleLbl="fgAccFollowNode1" presStyleIdx="5" presStyleCnt="9" custScaleY="505446" custLinFactNeighborX="677" custLinFactNeighborY="13430">
        <dgm:presLayoutVars>
          <dgm:bulletEnabled val="1"/>
        </dgm:presLayoutVars>
      </dgm:prSet>
      <dgm:spPr/>
    </dgm:pt>
    <dgm:pt modelId="{891AB69E-AAE9-4428-8D54-0767C719363C}" type="pres">
      <dgm:prSet presAssocID="{C100CABF-587D-4362-BFB6-4A1B0D25DF07}" presName="childTextBox" presStyleLbl="fgAccFollowNode1" presStyleIdx="6" presStyleCnt="9" custScaleY="505446" custLinFactNeighborY="13430">
        <dgm:presLayoutVars>
          <dgm:bulletEnabled val="1"/>
        </dgm:presLayoutVars>
      </dgm:prSet>
      <dgm:spPr/>
    </dgm:pt>
    <dgm:pt modelId="{1DA4BFBD-958B-4AA8-9907-CCBD67946386}" type="pres">
      <dgm:prSet presAssocID="{76C24292-D6EA-4D55-AF12-75138D2D1162}" presName="sp" presStyleCnt="0"/>
      <dgm:spPr/>
    </dgm:pt>
    <dgm:pt modelId="{16BA1CCE-8D54-45A7-8BF7-7A2FE69319BE}" type="pres">
      <dgm:prSet presAssocID="{2B5222F0-914C-445F-9A90-B93DAEA9F21D}" presName="arrowAndChildren" presStyleCnt="0"/>
      <dgm:spPr/>
    </dgm:pt>
    <dgm:pt modelId="{14CB44FE-8EBD-4542-8A34-AA2C434A6E37}" type="pres">
      <dgm:prSet presAssocID="{2B5222F0-914C-445F-9A90-B93DAEA9F21D}" presName="parentTextArrow" presStyleLbl="node1" presStyleIdx="0" presStyleCnt="3"/>
      <dgm:spPr/>
    </dgm:pt>
    <dgm:pt modelId="{5949B5B3-638E-4BEC-8C36-401ECEBF01BF}" type="pres">
      <dgm:prSet presAssocID="{2B5222F0-914C-445F-9A90-B93DAEA9F21D}" presName="arrow" presStyleLbl="node1" presStyleIdx="1" presStyleCnt="3"/>
      <dgm:spPr/>
    </dgm:pt>
    <dgm:pt modelId="{FC91D643-200C-441D-A0F9-6A2DB548C23B}" type="pres">
      <dgm:prSet presAssocID="{2B5222F0-914C-445F-9A90-B93DAEA9F21D}" presName="descendantArrow" presStyleCnt="0"/>
      <dgm:spPr/>
    </dgm:pt>
    <dgm:pt modelId="{C6639D7F-A855-4A9C-A943-D9DB449C7EE8}" type="pres">
      <dgm:prSet presAssocID="{D131BA59-9E91-414A-A504-26C704086E7A}" presName="childTextArrow" presStyleLbl="fgAccFollowNode1" presStyleIdx="7" presStyleCnt="9">
        <dgm:presLayoutVars>
          <dgm:bulletEnabled val="1"/>
        </dgm:presLayoutVars>
      </dgm:prSet>
      <dgm:spPr/>
    </dgm:pt>
    <dgm:pt modelId="{58994994-CEBB-4165-97E5-998DC373117A}" type="pres">
      <dgm:prSet presAssocID="{516CF1AE-B08C-42C6-BE2E-D5D3C5E5DA68}" presName="childTextArrow" presStyleLbl="fgAccFollowNode1" presStyleIdx="8" presStyleCnt="9">
        <dgm:presLayoutVars>
          <dgm:bulletEnabled val="1"/>
        </dgm:presLayoutVars>
      </dgm:prSet>
      <dgm:spPr/>
    </dgm:pt>
    <dgm:pt modelId="{26478595-FC2F-49A5-A8CD-718BEE6DD8E9}" type="pres">
      <dgm:prSet presAssocID="{56561966-CFF2-4076-829E-FE9326284087}" presName="sp" presStyleCnt="0"/>
      <dgm:spPr/>
    </dgm:pt>
    <dgm:pt modelId="{2C014BFD-E9FB-48F0-900D-E57D942BB728}" type="pres">
      <dgm:prSet presAssocID="{FBAAB723-99C0-4839-898C-D33EC3D6EAE6}" presName="arrowAndChildren" presStyleCnt="0"/>
      <dgm:spPr/>
    </dgm:pt>
    <dgm:pt modelId="{5DB61DA0-1091-4BAE-A0B6-846C762621D3}" type="pres">
      <dgm:prSet presAssocID="{FBAAB723-99C0-4839-898C-D33EC3D6EAE6}" presName="parentTextArrow" presStyleLbl="node1" presStyleIdx="2" presStyleCnt="3" custScaleY="90536"/>
      <dgm:spPr/>
    </dgm:pt>
  </dgm:ptLst>
  <dgm:cxnLst>
    <dgm:cxn modelId="{C907E11A-FE1F-4568-B94C-95E4A55CE26D}" srcId="{08CF215D-FAB0-4B3A-ACBC-9C4C0C21E67D}" destId="{DB9F4FC3-A855-49A5-9E4A-CA96890DB74C}" srcOrd="2" destOrd="0" parTransId="{837346DE-755B-40FF-9CDA-2E7BD4528241}" sibTransId="{FA46CD3D-7885-4A76-9DC6-DC6766B17020}"/>
    <dgm:cxn modelId="{8A82AF21-290A-4E45-A132-B84854922A45}" type="presOf" srcId="{DB9F4FC3-A855-49A5-9E4A-CA96890DB74C}" destId="{AFF7C469-3684-4A8D-A63B-96F90571B58D}" srcOrd="0" destOrd="0" presId="urn:microsoft.com/office/officeart/2005/8/layout/process4"/>
    <dgm:cxn modelId="{BADAA324-C189-4378-A183-15F57609B598}" type="presOf" srcId="{2B5222F0-914C-445F-9A90-B93DAEA9F21D}" destId="{14CB44FE-8EBD-4542-8A34-AA2C434A6E37}" srcOrd="0" destOrd="0" presId="urn:microsoft.com/office/officeart/2005/8/layout/process4"/>
    <dgm:cxn modelId="{7667262D-506B-4CB0-AF4C-2360C2637D7F}" type="presOf" srcId="{516CF1AE-B08C-42C6-BE2E-D5D3C5E5DA68}" destId="{58994994-CEBB-4165-97E5-998DC373117A}" srcOrd="0" destOrd="0" presId="urn:microsoft.com/office/officeart/2005/8/layout/process4"/>
    <dgm:cxn modelId="{1191CC3C-3FC4-441F-859B-4F08D25D6AE8}" type="presOf" srcId="{C55C0600-6B77-4C1B-9FAC-92622D2CEA23}" destId="{322D0206-E01E-4C46-A5CA-8732B6E76018}" srcOrd="0" destOrd="0" presId="urn:microsoft.com/office/officeart/2005/8/layout/process4"/>
    <dgm:cxn modelId="{328C4D3E-9FCA-4F5C-8AE4-199997E8B391}" srcId="{A8CD03B5-A4ED-426B-8F9E-110953D4BBFC}" destId="{2B5222F0-914C-445F-9A90-B93DAEA9F21D}" srcOrd="1" destOrd="0" parTransId="{914E2856-2955-4F82-AD55-145065A8052A}" sibTransId="{76C24292-D6EA-4D55-AF12-75138D2D1162}"/>
    <dgm:cxn modelId="{F33D9243-0222-4BAF-A82A-5991B64950A9}" srcId="{08CF215D-FAB0-4B3A-ACBC-9C4C0C21E67D}" destId="{C100CABF-587D-4362-BFB6-4A1B0D25DF07}" srcOrd="6" destOrd="0" parTransId="{0CEB0EA4-66A2-4C37-837A-7F6C50D0EFC7}" sibTransId="{82E52DBB-9C15-40AD-A093-EEA0F0ADDA44}"/>
    <dgm:cxn modelId="{814E7266-19A6-4696-982C-52FD7DBB9DE9}" srcId="{08CF215D-FAB0-4B3A-ACBC-9C4C0C21E67D}" destId="{78984498-4BB2-491E-A945-B41ADB57EF40}" srcOrd="5" destOrd="0" parTransId="{F9C6AB9B-8501-4950-A520-399E20E29ADF}" sibTransId="{3554F278-5BBE-4C14-9677-88FA986E95D1}"/>
    <dgm:cxn modelId="{C3476D4D-04B6-4757-8137-194C0B59CB84}" type="presOf" srcId="{473A9CEB-2967-4A44-A698-9D755F00665E}" destId="{E72134C6-B462-45DE-91FB-F9F5EAB2357B}" srcOrd="0" destOrd="0" presId="urn:microsoft.com/office/officeart/2005/8/layout/process4"/>
    <dgm:cxn modelId="{FC27894E-B828-491C-AAFA-F19919DC2B5E}" srcId="{2B5222F0-914C-445F-9A90-B93DAEA9F21D}" destId="{516CF1AE-B08C-42C6-BE2E-D5D3C5E5DA68}" srcOrd="1" destOrd="0" parTransId="{D1F05037-0E76-44CB-95EB-0EF88D650AC9}" sibTransId="{02393702-BED8-4253-BD34-333B8B956364}"/>
    <dgm:cxn modelId="{9AE9E64F-E568-4419-9971-F8F7C7C5472B}" srcId="{08CF215D-FAB0-4B3A-ACBC-9C4C0C21E67D}" destId="{EEB15997-825E-4C7A-8E95-C940DB66F913}" srcOrd="0" destOrd="0" parTransId="{7D95CCE4-BDB6-41D8-913F-1F84F41538C8}" sibTransId="{B687279D-E946-4FA0-8694-5FFA80DB0F1E}"/>
    <dgm:cxn modelId="{B0EEE37E-378F-4E64-9EC9-A1BC955520B0}" srcId="{A8CD03B5-A4ED-426B-8F9E-110953D4BBFC}" destId="{FBAAB723-99C0-4839-898C-D33EC3D6EAE6}" srcOrd="0" destOrd="0" parTransId="{3BAE47DB-B813-45BF-B367-68F0A2819295}" sibTransId="{56561966-CFF2-4076-829E-FE9326284087}"/>
    <dgm:cxn modelId="{3ED5D080-5118-4E8A-9A01-7CB351B4AB51}" type="presOf" srcId="{FBAAB723-99C0-4839-898C-D33EC3D6EAE6}" destId="{5DB61DA0-1091-4BAE-A0B6-846C762621D3}" srcOrd="0" destOrd="0" presId="urn:microsoft.com/office/officeart/2005/8/layout/process4"/>
    <dgm:cxn modelId="{92978484-7B15-451D-96F4-FC9547F9F05B}" srcId="{2B5222F0-914C-445F-9A90-B93DAEA9F21D}" destId="{D131BA59-9E91-414A-A504-26C704086E7A}" srcOrd="0" destOrd="0" parTransId="{F4C197E3-E561-421D-82B6-CF8911CCDA8C}" sibTransId="{F4B3FD39-167A-4D4C-8D96-87FAFE71CE06}"/>
    <dgm:cxn modelId="{92D3A68C-B75D-479D-B081-9A23A2F36CC8}" srcId="{08CF215D-FAB0-4B3A-ACBC-9C4C0C21E67D}" destId="{C55C0600-6B77-4C1B-9FAC-92622D2CEA23}" srcOrd="4" destOrd="0" parTransId="{368A655D-1944-46CF-8133-497CA9291749}" sibTransId="{04F892AA-351B-48D8-953A-CD35F6377E98}"/>
    <dgm:cxn modelId="{41661697-A69D-4811-B07E-E0D0883A8BDE}" type="presOf" srcId="{C100CABF-587D-4362-BFB6-4A1B0D25DF07}" destId="{891AB69E-AAE9-4428-8D54-0767C719363C}" srcOrd="0" destOrd="0" presId="urn:microsoft.com/office/officeart/2005/8/layout/process4"/>
    <dgm:cxn modelId="{447E9EA6-D669-4A15-95C5-2AC034F7FC5D}" srcId="{08CF215D-FAB0-4B3A-ACBC-9C4C0C21E67D}" destId="{473A9CEB-2967-4A44-A698-9D755F00665E}" srcOrd="1" destOrd="0" parTransId="{26D9A225-B60D-45E2-9C95-6664AE315C4D}" sibTransId="{131CB9F5-194A-45CC-9744-07DE0311587A}"/>
    <dgm:cxn modelId="{A92427A7-CF41-49C8-A421-EBC2F1C81846}" type="presOf" srcId="{D131BA59-9E91-414A-A504-26C704086E7A}" destId="{C6639D7F-A855-4A9C-A943-D9DB449C7EE8}" srcOrd="0" destOrd="0" presId="urn:microsoft.com/office/officeart/2005/8/layout/process4"/>
    <dgm:cxn modelId="{7D4E0BB3-C5B8-428D-8AD8-3540EAF894AD}" type="presOf" srcId="{08CF215D-FAB0-4B3A-ACBC-9C4C0C21E67D}" destId="{6E0F7B07-5EED-44B1-B3FF-6F24FE5F654E}" srcOrd="1" destOrd="0" presId="urn:microsoft.com/office/officeart/2005/8/layout/process4"/>
    <dgm:cxn modelId="{5CB0E6BE-3232-420D-832B-B356C9375E82}" type="presOf" srcId="{08CF215D-FAB0-4B3A-ACBC-9C4C0C21E67D}" destId="{8416E79C-6341-4DD7-BCE3-2D67279A4E8A}" srcOrd="0" destOrd="0" presId="urn:microsoft.com/office/officeart/2005/8/layout/process4"/>
    <dgm:cxn modelId="{2294E6CB-660F-44AC-9567-1CC330EF05FA}" type="presOf" srcId="{AA8A9038-C824-4048-83CA-E7ED974611C3}" destId="{579C2FED-6F0D-4065-8E49-12DA410658E3}" srcOrd="0" destOrd="0" presId="urn:microsoft.com/office/officeart/2005/8/layout/process4"/>
    <dgm:cxn modelId="{DC480DCC-DED6-4858-B13A-DE6613E23EBE}" srcId="{08CF215D-FAB0-4B3A-ACBC-9C4C0C21E67D}" destId="{AA8A9038-C824-4048-83CA-E7ED974611C3}" srcOrd="3" destOrd="0" parTransId="{CFAD203D-A5EB-4782-8034-34AACBE644EF}" sibTransId="{D3CBCAD9-076E-447E-BE7A-6BC61EE5BB32}"/>
    <dgm:cxn modelId="{2D7425DC-CDE7-491C-A42A-00B0393ED597}" srcId="{A8CD03B5-A4ED-426B-8F9E-110953D4BBFC}" destId="{08CF215D-FAB0-4B3A-ACBC-9C4C0C21E67D}" srcOrd="2" destOrd="0" parTransId="{6657425D-BC6B-45AB-A287-B54690B6D5EC}" sibTransId="{53BEC958-56BE-4AE7-B6E3-50B48EB4DB12}"/>
    <dgm:cxn modelId="{6746BCDC-5D4A-4EBF-BEDB-1A7FE3A6DFCF}" type="presOf" srcId="{EEB15997-825E-4C7A-8E95-C940DB66F913}" destId="{8A7095E3-143E-4779-8566-8ED29DD62B68}" srcOrd="0" destOrd="0" presId="urn:microsoft.com/office/officeart/2005/8/layout/process4"/>
    <dgm:cxn modelId="{32F4FBE4-03B1-4C8F-8996-B1E011ABC91F}" type="presOf" srcId="{A8CD03B5-A4ED-426B-8F9E-110953D4BBFC}" destId="{CD5043E3-0D9E-49C4-A3AD-DA58CEC17960}" srcOrd="0" destOrd="0" presId="urn:microsoft.com/office/officeart/2005/8/layout/process4"/>
    <dgm:cxn modelId="{2FB8EFEB-BA02-46F5-B3A2-07D57187B4C6}" type="presOf" srcId="{78984498-4BB2-491E-A945-B41ADB57EF40}" destId="{230A5780-2D9C-467B-B4A4-0710B52F62B2}" srcOrd="0" destOrd="0" presId="urn:microsoft.com/office/officeart/2005/8/layout/process4"/>
    <dgm:cxn modelId="{6135D8FE-F549-4B77-B7C8-F4F617C43EEA}" type="presOf" srcId="{2B5222F0-914C-445F-9A90-B93DAEA9F21D}" destId="{5949B5B3-638E-4BEC-8C36-401ECEBF01BF}" srcOrd="1" destOrd="0" presId="urn:microsoft.com/office/officeart/2005/8/layout/process4"/>
    <dgm:cxn modelId="{59170FA0-B6BE-4B78-A84B-23953A63C36B}" type="presParOf" srcId="{CD5043E3-0D9E-49C4-A3AD-DA58CEC17960}" destId="{6B7B896E-87B8-4DB5-B035-F5124F9D622E}" srcOrd="0" destOrd="0" presId="urn:microsoft.com/office/officeart/2005/8/layout/process4"/>
    <dgm:cxn modelId="{406586A5-FC4A-46DB-8E44-2C3A45E9299D}" type="presParOf" srcId="{6B7B896E-87B8-4DB5-B035-F5124F9D622E}" destId="{8416E79C-6341-4DD7-BCE3-2D67279A4E8A}" srcOrd="0" destOrd="0" presId="urn:microsoft.com/office/officeart/2005/8/layout/process4"/>
    <dgm:cxn modelId="{89B3E2C1-2E02-473A-957E-FF46E5311F24}" type="presParOf" srcId="{6B7B896E-87B8-4DB5-B035-F5124F9D622E}" destId="{6E0F7B07-5EED-44B1-B3FF-6F24FE5F654E}" srcOrd="1" destOrd="0" presId="urn:microsoft.com/office/officeart/2005/8/layout/process4"/>
    <dgm:cxn modelId="{EFB0407D-4741-44EA-B243-B885B39E5947}" type="presParOf" srcId="{6B7B896E-87B8-4DB5-B035-F5124F9D622E}" destId="{43E3D380-E157-4C9F-AC45-4914B1BA6211}" srcOrd="2" destOrd="0" presId="urn:microsoft.com/office/officeart/2005/8/layout/process4"/>
    <dgm:cxn modelId="{D90EAB33-CB0C-48FE-82CF-CBA4AAF1F3F9}" type="presParOf" srcId="{43E3D380-E157-4C9F-AC45-4914B1BA6211}" destId="{8A7095E3-143E-4779-8566-8ED29DD62B68}" srcOrd="0" destOrd="0" presId="urn:microsoft.com/office/officeart/2005/8/layout/process4"/>
    <dgm:cxn modelId="{B8539383-4D07-4BAB-A947-1B3724071A7D}" type="presParOf" srcId="{43E3D380-E157-4C9F-AC45-4914B1BA6211}" destId="{E72134C6-B462-45DE-91FB-F9F5EAB2357B}" srcOrd="1" destOrd="0" presId="urn:microsoft.com/office/officeart/2005/8/layout/process4"/>
    <dgm:cxn modelId="{FF8532FF-43D2-4CAB-A521-6FAD7E860341}" type="presParOf" srcId="{43E3D380-E157-4C9F-AC45-4914B1BA6211}" destId="{AFF7C469-3684-4A8D-A63B-96F90571B58D}" srcOrd="2" destOrd="0" presId="urn:microsoft.com/office/officeart/2005/8/layout/process4"/>
    <dgm:cxn modelId="{A585DE5E-1C7F-48EE-872D-0D7DE11FD1CB}" type="presParOf" srcId="{43E3D380-E157-4C9F-AC45-4914B1BA6211}" destId="{579C2FED-6F0D-4065-8E49-12DA410658E3}" srcOrd="3" destOrd="0" presId="urn:microsoft.com/office/officeart/2005/8/layout/process4"/>
    <dgm:cxn modelId="{E86E4D33-8BF2-4326-9C4D-8E688F716674}" type="presParOf" srcId="{43E3D380-E157-4C9F-AC45-4914B1BA6211}" destId="{322D0206-E01E-4C46-A5CA-8732B6E76018}" srcOrd="4" destOrd="0" presId="urn:microsoft.com/office/officeart/2005/8/layout/process4"/>
    <dgm:cxn modelId="{9F7D4F74-7849-4FF1-A00C-36284F405EFD}" type="presParOf" srcId="{43E3D380-E157-4C9F-AC45-4914B1BA6211}" destId="{230A5780-2D9C-467B-B4A4-0710B52F62B2}" srcOrd="5" destOrd="0" presId="urn:microsoft.com/office/officeart/2005/8/layout/process4"/>
    <dgm:cxn modelId="{316DB0FB-F863-4859-9C56-22B5CFDD526B}" type="presParOf" srcId="{43E3D380-E157-4C9F-AC45-4914B1BA6211}" destId="{891AB69E-AAE9-4428-8D54-0767C719363C}" srcOrd="6" destOrd="0" presId="urn:microsoft.com/office/officeart/2005/8/layout/process4"/>
    <dgm:cxn modelId="{75B83494-5656-4D0F-B6BB-E7CDCD7162C8}" type="presParOf" srcId="{CD5043E3-0D9E-49C4-A3AD-DA58CEC17960}" destId="{1DA4BFBD-958B-4AA8-9907-CCBD67946386}" srcOrd="1" destOrd="0" presId="urn:microsoft.com/office/officeart/2005/8/layout/process4"/>
    <dgm:cxn modelId="{30232DE9-8F5D-4D33-9245-4EA92E6E02C3}" type="presParOf" srcId="{CD5043E3-0D9E-49C4-A3AD-DA58CEC17960}" destId="{16BA1CCE-8D54-45A7-8BF7-7A2FE69319BE}" srcOrd="2" destOrd="0" presId="urn:microsoft.com/office/officeart/2005/8/layout/process4"/>
    <dgm:cxn modelId="{3F2B6480-419A-4CF4-91C0-6CA35DA0C7A6}" type="presParOf" srcId="{16BA1CCE-8D54-45A7-8BF7-7A2FE69319BE}" destId="{14CB44FE-8EBD-4542-8A34-AA2C434A6E37}" srcOrd="0" destOrd="0" presId="urn:microsoft.com/office/officeart/2005/8/layout/process4"/>
    <dgm:cxn modelId="{18ED6F6E-FCFD-4D30-9502-EBB73294A6CF}" type="presParOf" srcId="{16BA1CCE-8D54-45A7-8BF7-7A2FE69319BE}" destId="{5949B5B3-638E-4BEC-8C36-401ECEBF01BF}" srcOrd="1" destOrd="0" presId="urn:microsoft.com/office/officeart/2005/8/layout/process4"/>
    <dgm:cxn modelId="{9B476C21-F098-4061-B728-F047A63266A8}" type="presParOf" srcId="{16BA1CCE-8D54-45A7-8BF7-7A2FE69319BE}" destId="{FC91D643-200C-441D-A0F9-6A2DB548C23B}" srcOrd="2" destOrd="0" presId="urn:microsoft.com/office/officeart/2005/8/layout/process4"/>
    <dgm:cxn modelId="{AE51BEC7-D719-41CB-8175-374398993B7D}" type="presParOf" srcId="{FC91D643-200C-441D-A0F9-6A2DB548C23B}" destId="{C6639D7F-A855-4A9C-A943-D9DB449C7EE8}" srcOrd="0" destOrd="0" presId="urn:microsoft.com/office/officeart/2005/8/layout/process4"/>
    <dgm:cxn modelId="{DCAED431-681D-44A6-8C4B-E0CB22EC5CAF}" type="presParOf" srcId="{FC91D643-200C-441D-A0F9-6A2DB548C23B}" destId="{58994994-CEBB-4165-97E5-998DC373117A}" srcOrd="1" destOrd="0" presId="urn:microsoft.com/office/officeart/2005/8/layout/process4"/>
    <dgm:cxn modelId="{2111AB6B-2823-4D54-BC4D-E6306271C7E3}" type="presParOf" srcId="{CD5043E3-0D9E-49C4-A3AD-DA58CEC17960}" destId="{26478595-FC2F-49A5-A8CD-718BEE6DD8E9}" srcOrd="3" destOrd="0" presId="urn:microsoft.com/office/officeart/2005/8/layout/process4"/>
    <dgm:cxn modelId="{7F109893-A03B-426D-90E0-7DE61B43D8DF}" type="presParOf" srcId="{CD5043E3-0D9E-49C4-A3AD-DA58CEC17960}" destId="{2C014BFD-E9FB-48F0-900D-E57D942BB728}" srcOrd="4" destOrd="0" presId="urn:microsoft.com/office/officeart/2005/8/layout/process4"/>
    <dgm:cxn modelId="{492BBAEF-BD58-430C-BDBE-EE667E44BCC5}" type="presParOf" srcId="{2C014BFD-E9FB-48F0-900D-E57D942BB728}" destId="{5DB61DA0-1091-4BAE-A0B6-846C762621D3}"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344311-E56B-483A-BECC-DE580AADC9FF}"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US"/>
        </a:p>
      </dgm:t>
    </dgm:pt>
    <dgm:pt modelId="{D5796E6A-B9A7-46D5-9360-E49389D308AB}">
      <dgm:prSet/>
      <dgm:spPr/>
      <dgm:t>
        <a:bodyPr/>
        <a:lstStyle/>
        <a:p>
          <a:r>
            <a:rPr lang="pt-BR" b="1"/>
            <a:t>Resource Manager:</a:t>
          </a:r>
          <a:endParaRPr lang="en-US"/>
        </a:p>
      </dgm:t>
    </dgm:pt>
    <dgm:pt modelId="{20F1FF69-0D72-47D6-B754-AF7D35C270BE}" type="parTrans" cxnId="{9616E20B-2464-4EB8-841C-2EF40AF6BDA3}">
      <dgm:prSet/>
      <dgm:spPr/>
      <dgm:t>
        <a:bodyPr/>
        <a:lstStyle/>
        <a:p>
          <a:endParaRPr lang="en-US"/>
        </a:p>
      </dgm:t>
    </dgm:pt>
    <dgm:pt modelId="{639CB0AB-445D-4C68-8A7B-F7AEB8C9D7C3}" type="sibTrans" cxnId="{9616E20B-2464-4EB8-841C-2EF40AF6BDA3}">
      <dgm:prSet/>
      <dgm:spPr/>
      <dgm:t>
        <a:bodyPr/>
        <a:lstStyle/>
        <a:p>
          <a:endParaRPr lang="en-US"/>
        </a:p>
      </dgm:t>
    </dgm:pt>
    <dgm:pt modelId="{F9D600BC-2FEC-4537-BCCA-22497E74D282}">
      <dgm:prSet custT="1"/>
      <dgm:spPr/>
      <dgm:t>
        <a:bodyPr/>
        <a:lstStyle/>
        <a:p>
          <a:r>
            <a:rPr lang="pt-BR" sz="1600" dirty="0"/>
            <a:t>Gerenciar infraestrutura por modelos declarativos em vez de scripts.</a:t>
          </a:r>
          <a:endParaRPr lang="en-US" sz="1600" dirty="0"/>
        </a:p>
      </dgm:t>
    </dgm:pt>
    <dgm:pt modelId="{02FEC823-07DD-4DDC-950E-5576D868693F}" type="parTrans" cxnId="{599A5CCF-EE51-4E27-BCFF-2B31FBAD431F}">
      <dgm:prSet/>
      <dgm:spPr/>
      <dgm:t>
        <a:bodyPr/>
        <a:lstStyle/>
        <a:p>
          <a:endParaRPr lang="en-US"/>
        </a:p>
      </dgm:t>
    </dgm:pt>
    <dgm:pt modelId="{C7CBA3CF-7CAF-466D-9EBE-0DDCB5A8ED48}" type="sibTrans" cxnId="{599A5CCF-EE51-4E27-BCFF-2B31FBAD431F}">
      <dgm:prSet/>
      <dgm:spPr/>
      <dgm:t>
        <a:bodyPr/>
        <a:lstStyle/>
        <a:p>
          <a:endParaRPr lang="en-US"/>
        </a:p>
      </dgm:t>
    </dgm:pt>
    <dgm:pt modelId="{1A7F34EF-972B-490E-AED0-F3070B59E4B7}">
      <dgm:prSet custT="1"/>
      <dgm:spPr/>
      <dgm:t>
        <a:bodyPr/>
        <a:lstStyle/>
        <a:p>
          <a:r>
            <a:rPr lang="pt-BR" sz="1600" dirty="0"/>
            <a:t>Implantar, gerenciar e monitorar todos os recursos  (grupo em vez de individualmente).</a:t>
          </a:r>
          <a:endParaRPr lang="en-US" sz="1600" dirty="0"/>
        </a:p>
      </dgm:t>
    </dgm:pt>
    <dgm:pt modelId="{D2AB2080-0684-4B08-A55E-53955C53CB76}" type="parTrans" cxnId="{795A4A5F-0252-4512-AADF-1E7CAA736B5A}">
      <dgm:prSet/>
      <dgm:spPr/>
      <dgm:t>
        <a:bodyPr/>
        <a:lstStyle/>
        <a:p>
          <a:endParaRPr lang="en-US"/>
        </a:p>
      </dgm:t>
    </dgm:pt>
    <dgm:pt modelId="{9B4D4C59-355A-41F9-8BA5-BF1467273510}" type="sibTrans" cxnId="{795A4A5F-0252-4512-AADF-1E7CAA736B5A}">
      <dgm:prSet/>
      <dgm:spPr/>
      <dgm:t>
        <a:bodyPr/>
        <a:lstStyle/>
        <a:p>
          <a:endParaRPr lang="en-US"/>
        </a:p>
      </dgm:t>
    </dgm:pt>
    <dgm:pt modelId="{CC32C923-6C0A-4B30-A691-441649DFF8F5}">
      <dgm:prSet custT="1"/>
      <dgm:spPr/>
      <dgm:t>
        <a:bodyPr/>
        <a:lstStyle/>
        <a:p>
          <a:r>
            <a:rPr lang="pt-BR" sz="1600" dirty="0" err="1"/>
            <a:t>Re-Implantar</a:t>
          </a:r>
          <a:r>
            <a:rPr lang="pt-BR" sz="1600" dirty="0"/>
            <a:t> solução.</a:t>
          </a:r>
          <a:endParaRPr lang="en-US" sz="1600" dirty="0"/>
        </a:p>
      </dgm:t>
    </dgm:pt>
    <dgm:pt modelId="{9AC36FAE-8721-4148-AEA1-E132C390799C}" type="parTrans" cxnId="{F9130E1E-A5CC-493D-98C6-796B56468B76}">
      <dgm:prSet/>
      <dgm:spPr/>
      <dgm:t>
        <a:bodyPr/>
        <a:lstStyle/>
        <a:p>
          <a:endParaRPr lang="en-US"/>
        </a:p>
      </dgm:t>
    </dgm:pt>
    <dgm:pt modelId="{21A91161-FF17-4B8F-BCAC-7323346F5437}" type="sibTrans" cxnId="{F9130E1E-A5CC-493D-98C6-796B56468B76}">
      <dgm:prSet/>
      <dgm:spPr/>
      <dgm:t>
        <a:bodyPr/>
        <a:lstStyle/>
        <a:p>
          <a:endParaRPr lang="en-US"/>
        </a:p>
      </dgm:t>
    </dgm:pt>
    <dgm:pt modelId="{665163CA-669E-4DAF-95D9-4CCD557A018B}">
      <dgm:prSet custT="1"/>
      <dgm:spPr/>
      <dgm:t>
        <a:bodyPr/>
        <a:lstStyle/>
        <a:p>
          <a:r>
            <a:rPr lang="pt-BR" sz="1600" dirty="0"/>
            <a:t>Definir as dependências entre recursos (recursos implantados na ordem correta).</a:t>
          </a:r>
          <a:endParaRPr lang="en-US" sz="1600" dirty="0"/>
        </a:p>
      </dgm:t>
    </dgm:pt>
    <dgm:pt modelId="{4ACF7461-60F6-451D-8DA3-B5AF6D404C52}" type="parTrans" cxnId="{5D4F0DCF-72B9-4869-BBEE-43E6BA7084D6}">
      <dgm:prSet/>
      <dgm:spPr/>
      <dgm:t>
        <a:bodyPr/>
        <a:lstStyle/>
        <a:p>
          <a:endParaRPr lang="en-US"/>
        </a:p>
      </dgm:t>
    </dgm:pt>
    <dgm:pt modelId="{A3CA65B4-3998-4C45-873E-A156C41C6B29}" type="sibTrans" cxnId="{5D4F0DCF-72B9-4869-BBEE-43E6BA7084D6}">
      <dgm:prSet/>
      <dgm:spPr/>
      <dgm:t>
        <a:bodyPr/>
        <a:lstStyle/>
        <a:p>
          <a:endParaRPr lang="en-US"/>
        </a:p>
      </dgm:t>
    </dgm:pt>
    <dgm:pt modelId="{B9D19E17-E3AA-487B-ACAA-A7A596E91304}">
      <dgm:prSet custT="1"/>
      <dgm:spPr/>
      <dgm:t>
        <a:bodyPr/>
        <a:lstStyle/>
        <a:p>
          <a:r>
            <a:rPr lang="pt-BR" sz="1600" dirty="0"/>
            <a:t>Aplicar o controle de acesso aos serviços no grupo de recursos (RBAC (Controle de Acesso Baseado em Função) é integrado nativamente).</a:t>
          </a:r>
          <a:endParaRPr lang="en-US" sz="1600" dirty="0"/>
        </a:p>
      </dgm:t>
    </dgm:pt>
    <dgm:pt modelId="{A9CBAA8C-AF5A-48F6-8273-205158215A2B}" type="parTrans" cxnId="{E197569A-8260-4A16-BD80-D1C33BBA368A}">
      <dgm:prSet/>
      <dgm:spPr/>
      <dgm:t>
        <a:bodyPr/>
        <a:lstStyle/>
        <a:p>
          <a:endParaRPr lang="en-US"/>
        </a:p>
      </dgm:t>
    </dgm:pt>
    <dgm:pt modelId="{CF6B19A3-477A-491C-A698-6629DA360F7C}" type="sibTrans" cxnId="{E197569A-8260-4A16-BD80-D1C33BBA368A}">
      <dgm:prSet/>
      <dgm:spPr/>
      <dgm:t>
        <a:bodyPr/>
        <a:lstStyle/>
        <a:p>
          <a:endParaRPr lang="en-US"/>
        </a:p>
      </dgm:t>
    </dgm:pt>
    <dgm:pt modelId="{FB704C2C-0E74-4582-B7F7-04893B7C30F0}">
      <dgm:prSet custT="1"/>
      <dgm:spPr/>
      <dgm:t>
        <a:bodyPr/>
        <a:lstStyle/>
        <a:p>
          <a:r>
            <a:rPr lang="pt-BR" sz="1600" dirty="0"/>
            <a:t>Aplicar marcas aos recursos para organizar de modo lógico.</a:t>
          </a:r>
          <a:endParaRPr lang="en-US" sz="1600" dirty="0"/>
        </a:p>
      </dgm:t>
    </dgm:pt>
    <dgm:pt modelId="{803EA8C5-A512-4F43-90E4-88975B450458}" type="parTrans" cxnId="{FED6ED3E-6195-4D6F-B0AB-2BA10BDC3E5F}">
      <dgm:prSet/>
      <dgm:spPr/>
      <dgm:t>
        <a:bodyPr/>
        <a:lstStyle/>
        <a:p>
          <a:endParaRPr lang="en-US"/>
        </a:p>
      </dgm:t>
    </dgm:pt>
    <dgm:pt modelId="{981AB3B6-A381-4436-93C8-C578288A5F49}" type="sibTrans" cxnId="{FED6ED3E-6195-4D6F-B0AB-2BA10BDC3E5F}">
      <dgm:prSet/>
      <dgm:spPr/>
      <dgm:t>
        <a:bodyPr/>
        <a:lstStyle/>
        <a:p>
          <a:endParaRPr lang="en-US"/>
        </a:p>
      </dgm:t>
    </dgm:pt>
    <dgm:pt modelId="{7B2F8AEA-1F18-484B-B541-9F57142A159E}">
      <dgm:prSet custT="1"/>
      <dgm:spPr/>
      <dgm:t>
        <a:bodyPr/>
        <a:lstStyle/>
        <a:p>
          <a:r>
            <a:rPr lang="pt-BR" sz="1600" dirty="0"/>
            <a:t>Esclarecer a cobrança, exibindo os custos para um grupo.</a:t>
          </a:r>
          <a:endParaRPr lang="en-US" sz="1600" dirty="0"/>
        </a:p>
      </dgm:t>
    </dgm:pt>
    <dgm:pt modelId="{85B37A27-2BAD-4FEF-B46B-EF3DE45E6DB9}" type="parTrans" cxnId="{52B5E19C-86D7-4088-AEDC-4A3499B5206E}">
      <dgm:prSet/>
      <dgm:spPr/>
      <dgm:t>
        <a:bodyPr/>
        <a:lstStyle/>
        <a:p>
          <a:endParaRPr lang="en-US"/>
        </a:p>
      </dgm:t>
    </dgm:pt>
    <dgm:pt modelId="{2B7183D3-4FB2-4691-B897-06B68FFD15D1}" type="sibTrans" cxnId="{52B5E19C-86D7-4088-AEDC-4A3499B5206E}">
      <dgm:prSet/>
      <dgm:spPr/>
      <dgm:t>
        <a:bodyPr/>
        <a:lstStyle/>
        <a:p>
          <a:endParaRPr lang="en-US"/>
        </a:p>
      </dgm:t>
    </dgm:pt>
    <dgm:pt modelId="{ECC54297-C154-40E7-8DFD-AAE5EB524553}">
      <dgm:prSet/>
      <dgm:spPr/>
      <dgm:t>
        <a:bodyPr/>
        <a:lstStyle/>
        <a:p>
          <a:r>
            <a:rPr lang="pt-BR" b="1" dirty="0"/>
            <a:t>Terminologia</a:t>
          </a:r>
          <a:endParaRPr lang="en-US" dirty="0"/>
        </a:p>
      </dgm:t>
    </dgm:pt>
    <dgm:pt modelId="{9868C285-F47F-4D81-9F93-DEECA6A525A1}" type="parTrans" cxnId="{756491DE-5282-487B-8671-E8A6D9DAEE8A}">
      <dgm:prSet/>
      <dgm:spPr/>
      <dgm:t>
        <a:bodyPr/>
        <a:lstStyle/>
        <a:p>
          <a:endParaRPr lang="en-US"/>
        </a:p>
      </dgm:t>
    </dgm:pt>
    <dgm:pt modelId="{4433997F-810C-4FF9-AD6B-64D3DBC60EDA}" type="sibTrans" cxnId="{756491DE-5282-487B-8671-E8A6D9DAEE8A}">
      <dgm:prSet/>
      <dgm:spPr/>
      <dgm:t>
        <a:bodyPr/>
        <a:lstStyle/>
        <a:p>
          <a:endParaRPr lang="en-US"/>
        </a:p>
      </dgm:t>
    </dgm:pt>
    <dgm:pt modelId="{9021D2A7-BD24-44C4-B0D7-21115D3790D4}">
      <dgm:prSet/>
      <dgm:spPr/>
      <dgm:t>
        <a:bodyPr/>
        <a:lstStyle/>
        <a:p>
          <a:r>
            <a:rPr lang="pt-BR" b="1"/>
            <a:t>Resource (recurso): </a:t>
          </a:r>
          <a:r>
            <a:rPr lang="pt-BR"/>
            <a:t>um item gerenciável que está disponível por meio do Azure. </a:t>
          </a:r>
          <a:endParaRPr lang="en-US"/>
        </a:p>
      </dgm:t>
    </dgm:pt>
    <dgm:pt modelId="{43EAE486-7BF2-4BA3-9333-860B5E16F32F}" type="parTrans" cxnId="{8DB77F13-3283-4FFB-A583-271CF910978D}">
      <dgm:prSet/>
      <dgm:spPr/>
      <dgm:t>
        <a:bodyPr/>
        <a:lstStyle/>
        <a:p>
          <a:endParaRPr lang="en-US"/>
        </a:p>
      </dgm:t>
    </dgm:pt>
    <dgm:pt modelId="{63AE4100-8CE7-4C67-838B-98CCA0742512}" type="sibTrans" cxnId="{8DB77F13-3283-4FFB-A583-271CF910978D}">
      <dgm:prSet/>
      <dgm:spPr/>
      <dgm:t>
        <a:bodyPr/>
        <a:lstStyle/>
        <a:p>
          <a:endParaRPr lang="en-US"/>
        </a:p>
      </dgm:t>
    </dgm:pt>
    <dgm:pt modelId="{7F580531-6204-47E7-9867-E54A24B85203}">
      <dgm:prSet/>
      <dgm:spPr/>
      <dgm:t>
        <a:bodyPr/>
        <a:lstStyle/>
        <a:p>
          <a:r>
            <a:rPr lang="pt-BR" b="1"/>
            <a:t>Resource Group (grupo de recursos):</a:t>
          </a:r>
          <a:r>
            <a:rPr lang="pt-BR"/>
            <a:t> Um contêiner que mantém os recursos relacionados a uma solução do Azure.</a:t>
          </a:r>
          <a:endParaRPr lang="en-US"/>
        </a:p>
      </dgm:t>
    </dgm:pt>
    <dgm:pt modelId="{C7817586-53AC-4188-B204-C22C0F024046}" type="parTrans" cxnId="{CEA35501-F3F5-4EAD-B5B0-184366C1AAA2}">
      <dgm:prSet/>
      <dgm:spPr/>
      <dgm:t>
        <a:bodyPr/>
        <a:lstStyle/>
        <a:p>
          <a:endParaRPr lang="en-US"/>
        </a:p>
      </dgm:t>
    </dgm:pt>
    <dgm:pt modelId="{3AF375B2-94EA-41D8-88CC-954E69CF1573}" type="sibTrans" cxnId="{CEA35501-F3F5-4EAD-B5B0-184366C1AAA2}">
      <dgm:prSet/>
      <dgm:spPr/>
      <dgm:t>
        <a:bodyPr/>
        <a:lstStyle/>
        <a:p>
          <a:endParaRPr lang="en-US"/>
        </a:p>
      </dgm:t>
    </dgm:pt>
    <dgm:pt modelId="{AFE1E7CF-A27E-4D57-B101-6579668E6CA1}">
      <dgm:prSet/>
      <dgm:spPr/>
      <dgm:t>
        <a:bodyPr/>
        <a:lstStyle/>
        <a:p>
          <a:r>
            <a:rPr lang="pt-BR" b="1"/>
            <a:t>Resource provide (provedor de recursos):</a:t>
          </a:r>
          <a:r>
            <a:rPr lang="pt-BR"/>
            <a:t> um serviço que fornece recursos do Azure (Microsoft.Compute, que fornece o recurso de máquina virtual ou Microsoft.Storage).</a:t>
          </a:r>
          <a:endParaRPr lang="en-US"/>
        </a:p>
      </dgm:t>
    </dgm:pt>
    <dgm:pt modelId="{120BFED2-E0DF-4EAE-9D3D-28D4BFCDCD9E}" type="parTrans" cxnId="{D6765CFE-F107-4F88-AEA5-95847DC22149}">
      <dgm:prSet/>
      <dgm:spPr/>
      <dgm:t>
        <a:bodyPr/>
        <a:lstStyle/>
        <a:p>
          <a:endParaRPr lang="en-US"/>
        </a:p>
      </dgm:t>
    </dgm:pt>
    <dgm:pt modelId="{C92387B8-1B3B-4CCB-8057-8BE9F4DD7546}" type="sibTrans" cxnId="{D6765CFE-F107-4F88-AEA5-95847DC22149}">
      <dgm:prSet/>
      <dgm:spPr/>
      <dgm:t>
        <a:bodyPr/>
        <a:lstStyle/>
        <a:p>
          <a:endParaRPr lang="en-US"/>
        </a:p>
      </dgm:t>
    </dgm:pt>
    <dgm:pt modelId="{1EB0086B-7AA0-4D22-94B9-999CFDAA34FF}">
      <dgm:prSet/>
      <dgm:spPr/>
      <dgm:t>
        <a:bodyPr/>
        <a:lstStyle/>
        <a:p>
          <a:r>
            <a:rPr lang="pt-BR" b="1"/>
            <a:t>Resource Manager Template (Modelo do Resource Manager):</a:t>
          </a:r>
          <a:r>
            <a:rPr lang="pt-BR"/>
            <a:t> Um arquivo JSON (JavaScript Object Notation) que define um ou mais recursos para implantação em um grupo de recursos ou assinatura.</a:t>
          </a:r>
          <a:endParaRPr lang="en-US"/>
        </a:p>
      </dgm:t>
    </dgm:pt>
    <dgm:pt modelId="{F655D7A6-73D2-40E4-84D5-455222AEAC9B}" type="parTrans" cxnId="{731DC835-496D-4CD1-BBAE-C88C14CAECE9}">
      <dgm:prSet/>
      <dgm:spPr/>
      <dgm:t>
        <a:bodyPr/>
        <a:lstStyle/>
        <a:p>
          <a:endParaRPr lang="en-US"/>
        </a:p>
      </dgm:t>
    </dgm:pt>
    <dgm:pt modelId="{F1FC6567-307F-4B8D-AB86-5F75AE7CE598}" type="sibTrans" cxnId="{731DC835-496D-4CD1-BBAE-C88C14CAECE9}">
      <dgm:prSet/>
      <dgm:spPr/>
      <dgm:t>
        <a:bodyPr/>
        <a:lstStyle/>
        <a:p>
          <a:endParaRPr lang="en-US"/>
        </a:p>
      </dgm:t>
    </dgm:pt>
    <dgm:pt modelId="{A49A1023-3032-4FFD-9945-C254BD5B07F4}">
      <dgm:prSet/>
      <dgm:spPr/>
      <dgm:t>
        <a:bodyPr/>
        <a:lstStyle/>
        <a:p>
          <a:r>
            <a:rPr lang="pt-BR" b="1" dirty="0" err="1"/>
            <a:t>Declarative</a:t>
          </a:r>
          <a:r>
            <a:rPr lang="pt-BR" b="1" dirty="0"/>
            <a:t> </a:t>
          </a:r>
          <a:r>
            <a:rPr lang="pt-BR" b="1" dirty="0" err="1"/>
            <a:t>syntax</a:t>
          </a:r>
          <a:r>
            <a:rPr lang="pt-BR" b="1" dirty="0"/>
            <a:t> (sintaxe declarativa):</a:t>
          </a:r>
          <a:r>
            <a:rPr lang="pt-BR" dirty="0"/>
            <a:t> Sintaxe que permite a declaração "Isso é o que pretendo criar" sem precisar escrever a sequência de comandos de programação para criá-la.</a:t>
          </a:r>
          <a:endParaRPr lang="en-US" dirty="0"/>
        </a:p>
      </dgm:t>
    </dgm:pt>
    <dgm:pt modelId="{5368AD14-96A9-428A-B605-1EA2454B6BC0}" type="parTrans" cxnId="{1249EC2D-D9B5-4A73-A0B3-4E649CEEE65F}">
      <dgm:prSet/>
      <dgm:spPr/>
      <dgm:t>
        <a:bodyPr/>
        <a:lstStyle/>
        <a:p>
          <a:endParaRPr lang="en-US"/>
        </a:p>
      </dgm:t>
    </dgm:pt>
    <dgm:pt modelId="{6225B60B-ECA5-4E8D-A31C-E3ECC9170BD5}" type="sibTrans" cxnId="{1249EC2D-D9B5-4A73-A0B3-4E649CEEE65F}">
      <dgm:prSet/>
      <dgm:spPr/>
      <dgm:t>
        <a:bodyPr/>
        <a:lstStyle/>
        <a:p>
          <a:endParaRPr lang="en-US"/>
        </a:p>
      </dgm:t>
    </dgm:pt>
    <dgm:pt modelId="{96537601-0C55-4AD5-9ED6-E248E7F2D5EC}" type="pres">
      <dgm:prSet presAssocID="{C0344311-E56B-483A-BECC-DE580AADC9FF}" presName="Name0" presStyleCnt="0">
        <dgm:presLayoutVars>
          <dgm:dir/>
          <dgm:animLvl val="lvl"/>
          <dgm:resizeHandles val="exact"/>
        </dgm:presLayoutVars>
      </dgm:prSet>
      <dgm:spPr/>
    </dgm:pt>
    <dgm:pt modelId="{B9B8D383-2520-44B8-BDD4-D33CB6BB6737}" type="pres">
      <dgm:prSet presAssocID="{D5796E6A-B9A7-46D5-9360-E49389D308AB}" presName="composite" presStyleCnt="0"/>
      <dgm:spPr/>
    </dgm:pt>
    <dgm:pt modelId="{1097117B-E134-4D47-B9F5-5DC9F382A7F0}" type="pres">
      <dgm:prSet presAssocID="{D5796E6A-B9A7-46D5-9360-E49389D308AB}" presName="parTx" presStyleLbl="alignNode1" presStyleIdx="0" presStyleCnt="2" custScaleX="143222">
        <dgm:presLayoutVars>
          <dgm:chMax val="0"/>
          <dgm:chPref val="0"/>
          <dgm:bulletEnabled val="1"/>
        </dgm:presLayoutVars>
      </dgm:prSet>
      <dgm:spPr/>
    </dgm:pt>
    <dgm:pt modelId="{5AD49010-AB3C-4959-95C9-F762299149E8}" type="pres">
      <dgm:prSet presAssocID="{D5796E6A-B9A7-46D5-9360-E49389D308AB}" presName="desTx" presStyleLbl="alignAccFollowNode1" presStyleIdx="0" presStyleCnt="2" custScaleX="143102">
        <dgm:presLayoutVars>
          <dgm:bulletEnabled val="1"/>
        </dgm:presLayoutVars>
      </dgm:prSet>
      <dgm:spPr/>
    </dgm:pt>
    <dgm:pt modelId="{BA11FC56-66CF-4D0F-A4A9-E9AB2217CEBE}" type="pres">
      <dgm:prSet presAssocID="{639CB0AB-445D-4C68-8A7B-F7AEB8C9D7C3}" presName="space" presStyleCnt="0"/>
      <dgm:spPr/>
    </dgm:pt>
    <dgm:pt modelId="{FFA05CB8-02AD-4912-A214-359629E71312}" type="pres">
      <dgm:prSet presAssocID="{ECC54297-C154-40E7-8DFD-AAE5EB524553}" presName="composite" presStyleCnt="0"/>
      <dgm:spPr/>
    </dgm:pt>
    <dgm:pt modelId="{DFCF54A9-73FF-4D35-8A45-26E5551901B1}" type="pres">
      <dgm:prSet presAssocID="{ECC54297-C154-40E7-8DFD-AAE5EB524553}" presName="parTx" presStyleLbl="alignNode1" presStyleIdx="1" presStyleCnt="2" custScaleX="127880">
        <dgm:presLayoutVars>
          <dgm:chMax val="0"/>
          <dgm:chPref val="0"/>
          <dgm:bulletEnabled val="1"/>
        </dgm:presLayoutVars>
      </dgm:prSet>
      <dgm:spPr/>
    </dgm:pt>
    <dgm:pt modelId="{8519A2B9-9A05-4A70-A6D8-39EA233A5DE8}" type="pres">
      <dgm:prSet presAssocID="{ECC54297-C154-40E7-8DFD-AAE5EB524553}" presName="desTx" presStyleLbl="alignAccFollowNode1" presStyleIdx="1" presStyleCnt="2" custScaleX="128000">
        <dgm:presLayoutVars>
          <dgm:bulletEnabled val="1"/>
        </dgm:presLayoutVars>
      </dgm:prSet>
      <dgm:spPr/>
    </dgm:pt>
  </dgm:ptLst>
  <dgm:cxnLst>
    <dgm:cxn modelId="{CEA35501-F3F5-4EAD-B5B0-184366C1AAA2}" srcId="{ECC54297-C154-40E7-8DFD-AAE5EB524553}" destId="{7F580531-6204-47E7-9867-E54A24B85203}" srcOrd="1" destOrd="0" parTransId="{C7817586-53AC-4188-B204-C22C0F024046}" sibTransId="{3AF375B2-94EA-41D8-88CC-954E69CF1573}"/>
    <dgm:cxn modelId="{9616E20B-2464-4EB8-841C-2EF40AF6BDA3}" srcId="{C0344311-E56B-483A-BECC-DE580AADC9FF}" destId="{D5796E6A-B9A7-46D5-9360-E49389D308AB}" srcOrd="0" destOrd="0" parTransId="{20F1FF69-0D72-47D6-B754-AF7D35C270BE}" sibTransId="{639CB0AB-445D-4C68-8A7B-F7AEB8C9D7C3}"/>
    <dgm:cxn modelId="{8DB77F13-3283-4FFB-A583-271CF910978D}" srcId="{ECC54297-C154-40E7-8DFD-AAE5EB524553}" destId="{9021D2A7-BD24-44C4-B0D7-21115D3790D4}" srcOrd="0" destOrd="0" parTransId="{43EAE486-7BF2-4BA3-9333-860B5E16F32F}" sibTransId="{63AE4100-8CE7-4C67-838B-98CCA0742512}"/>
    <dgm:cxn modelId="{1181F515-86B2-42C3-BF45-EF1134885AD1}" type="presOf" srcId="{7B2F8AEA-1F18-484B-B541-9F57142A159E}" destId="{5AD49010-AB3C-4959-95C9-F762299149E8}" srcOrd="0" destOrd="6" presId="urn:microsoft.com/office/officeart/2005/8/layout/hList1"/>
    <dgm:cxn modelId="{F9130E1E-A5CC-493D-98C6-796B56468B76}" srcId="{D5796E6A-B9A7-46D5-9360-E49389D308AB}" destId="{CC32C923-6C0A-4B30-A691-441649DFF8F5}" srcOrd="2" destOrd="0" parTransId="{9AC36FAE-8721-4148-AEA1-E132C390799C}" sibTransId="{21A91161-FF17-4B8F-BCAC-7323346F5437}"/>
    <dgm:cxn modelId="{C83AE320-4B29-4548-961C-02EE4A5DF0AA}" type="presOf" srcId="{ECC54297-C154-40E7-8DFD-AAE5EB524553}" destId="{DFCF54A9-73FF-4D35-8A45-26E5551901B1}" srcOrd="0" destOrd="0" presId="urn:microsoft.com/office/officeart/2005/8/layout/hList1"/>
    <dgm:cxn modelId="{A2F6612D-52E1-458E-8C95-8C8F574FA328}" type="presOf" srcId="{9021D2A7-BD24-44C4-B0D7-21115D3790D4}" destId="{8519A2B9-9A05-4A70-A6D8-39EA233A5DE8}" srcOrd="0" destOrd="0" presId="urn:microsoft.com/office/officeart/2005/8/layout/hList1"/>
    <dgm:cxn modelId="{1249EC2D-D9B5-4A73-A0B3-4E649CEEE65F}" srcId="{ECC54297-C154-40E7-8DFD-AAE5EB524553}" destId="{A49A1023-3032-4FFD-9945-C254BD5B07F4}" srcOrd="4" destOrd="0" parTransId="{5368AD14-96A9-428A-B605-1EA2454B6BC0}" sibTransId="{6225B60B-ECA5-4E8D-A31C-E3ECC9170BD5}"/>
    <dgm:cxn modelId="{731DC835-496D-4CD1-BBAE-C88C14CAECE9}" srcId="{ECC54297-C154-40E7-8DFD-AAE5EB524553}" destId="{1EB0086B-7AA0-4D22-94B9-999CFDAA34FF}" srcOrd="3" destOrd="0" parTransId="{F655D7A6-73D2-40E4-84D5-455222AEAC9B}" sibTransId="{F1FC6567-307F-4B8D-AB86-5F75AE7CE598}"/>
    <dgm:cxn modelId="{72A7F538-C589-4035-B296-1BA91629C6F2}" type="presOf" srcId="{665163CA-669E-4DAF-95D9-4CCD557A018B}" destId="{5AD49010-AB3C-4959-95C9-F762299149E8}" srcOrd="0" destOrd="3" presId="urn:microsoft.com/office/officeart/2005/8/layout/hList1"/>
    <dgm:cxn modelId="{FED6ED3E-6195-4D6F-B0AB-2BA10BDC3E5F}" srcId="{D5796E6A-B9A7-46D5-9360-E49389D308AB}" destId="{FB704C2C-0E74-4582-B7F7-04893B7C30F0}" srcOrd="5" destOrd="0" parTransId="{803EA8C5-A512-4F43-90E4-88975B450458}" sibTransId="{981AB3B6-A381-4436-93C8-C578288A5F49}"/>
    <dgm:cxn modelId="{795A4A5F-0252-4512-AADF-1E7CAA736B5A}" srcId="{D5796E6A-B9A7-46D5-9360-E49389D308AB}" destId="{1A7F34EF-972B-490E-AED0-F3070B59E4B7}" srcOrd="1" destOrd="0" parTransId="{D2AB2080-0684-4B08-A55E-53955C53CB76}" sibTransId="{9B4D4C59-355A-41F9-8BA5-BF1467273510}"/>
    <dgm:cxn modelId="{F12E5569-6DC5-4A3A-8554-3BB432C93F59}" type="presOf" srcId="{A49A1023-3032-4FFD-9945-C254BD5B07F4}" destId="{8519A2B9-9A05-4A70-A6D8-39EA233A5DE8}" srcOrd="0" destOrd="4" presId="urn:microsoft.com/office/officeart/2005/8/layout/hList1"/>
    <dgm:cxn modelId="{0A9AA349-4E80-42ED-8D81-EC3ACE9B9987}" type="presOf" srcId="{D5796E6A-B9A7-46D5-9360-E49389D308AB}" destId="{1097117B-E134-4D47-B9F5-5DC9F382A7F0}" srcOrd="0" destOrd="0" presId="urn:microsoft.com/office/officeart/2005/8/layout/hList1"/>
    <dgm:cxn modelId="{E2810E90-D53F-49B7-909A-305D46C1B495}" type="presOf" srcId="{1A7F34EF-972B-490E-AED0-F3070B59E4B7}" destId="{5AD49010-AB3C-4959-95C9-F762299149E8}" srcOrd="0" destOrd="1" presId="urn:microsoft.com/office/officeart/2005/8/layout/hList1"/>
    <dgm:cxn modelId="{E197569A-8260-4A16-BD80-D1C33BBA368A}" srcId="{D5796E6A-B9A7-46D5-9360-E49389D308AB}" destId="{B9D19E17-E3AA-487B-ACAA-A7A596E91304}" srcOrd="4" destOrd="0" parTransId="{A9CBAA8C-AF5A-48F6-8273-205158215A2B}" sibTransId="{CF6B19A3-477A-491C-A698-6629DA360F7C}"/>
    <dgm:cxn modelId="{52B5E19C-86D7-4088-AEDC-4A3499B5206E}" srcId="{D5796E6A-B9A7-46D5-9360-E49389D308AB}" destId="{7B2F8AEA-1F18-484B-B541-9F57142A159E}" srcOrd="6" destOrd="0" parTransId="{85B37A27-2BAD-4FEF-B46B-EF3DE45E6DB9}" sibTransId="{2B7183D3-4FB2-4691-B897-06B68FFD15D1}"/>
    <dgm:cxn modelId="{58474BAC-EB9B-4F04-8B5D-CEB5B57A868C}" type="presOf" srcId="{FB704C2C-0E74-4582-B7F7-04893B7C30F0}" destId="{5AD49010-AB3C-4959-95C9-F762299149E8}" srcOrd="0" destOrd="5" presId="urn:microsoft.com/office/officeart/2005/8/layout/hList1"/>
    <dgm:cxn modelId="{3AA402B7-9B64-4794-B74C-3ABD3BAD7B86}" type="presOf" srcId="{CC32C923-6C0A-4B30-A691-441649DFF8F5}" destId="{5AD49010-AB3C-4959-95C9-F762299149E8}" srcOrd="0" destOrd="2" presId="urn:microsoft.com/office/officeart/2005/8/layout/hList1"/>
    <dgm:cxn modelId="{5220FFC1-5989-418C-A85B-537634F98DF2}" type="presOf" srcId="{AFE1E7CF-A27E-4D57-B101-6579668E6CA1}" destId="{8519A2B9-9A05-4A70-A6D8-39EA233A5DE8}" srcOrd="0" destOrd="2" presId="urn:microsoft.com/office/officeart/2005/8/layout/hList1"/>
    <dgm:cxn modelId="{35A80BC7-0299-43F8-B155-5684397CACDC}" type="presOf" srcId="{F9D600BC-2FEC-4537-BCCA-22497E74D282}" destId="{5AD49010-AB3C-4959-95C9-F762299149E8}" srcOrd="0" destOrd="0" presId="urn:microsoft.com/office/officeart/2005/8/layout/hList1"/>
    <dgm:cxn modelId="{B507C6CB-3EE0-4D1C-A076-E592C0810B92}" type="presOf" srcId="{1EB0086B-7AA0-4D22-94B9-999CFDAA34FF}" destId="{8519A2B9-9A05-4A70-A6D8-39EA233A5DE8}" srcOrd="0" destOrd="3" presId="urn:microsoft.com/office/officeart/2005/8/layout/hList1"/>
    <dgm:cxn modelId="{5D4F0DCF-72B9-4869-BBEE-43E6BA7084D6}" srcId="{D5796E6A-B9A7-46D5-9360-E49389D308AB}" destId="{665163CA-669E-4DAF-95D9-4CCD557A018B}" srcOrd="3" destOrd="0" parTransId="{4ACF7461-60F6-451D-8DA3-B5AF6D404C52}" sibTransId="{A3CA65B4-3998-4C45-873E-A156C41C6B29}"/>
    <dgm:cxn modelId="{599A5CCF-EE51-4E27-BCFF-2B31FBAD431F}" srcId="{D5796E6A-B9A7-46D5-9360-E49389D308AB}" destId="{F9D600BC-2FEC-4537-BCCA-22497E74D282}" srcOrd="0" destOrd="0" parTransId="{02FEC823-07DD-4DDC-950E-5576D868693F}" sibTransId="{C7CBA3CF-7CAF-466D-9EBE-0DDCB5A8ED48}"/>
    <dgm:cxn modelId="{756491DE-5282-487B-8671-E8A6D9DAEE8A}" srcId="{C0344311-E56B-483A-BECC-DE580AADC9FF}" destId="{ECC54297-C154-40E7-8DFD-AAE5EB524553}" srcOrd="1" destOrd="0" parTransId="{9868C285-F47F-4D81-9F93-DEECA6A525A1}" sibTransId="{4433997F-810C-4FF9-AD6B-64D3DBC60EDA}"/>
    <dgm:cxn modelId="{C5B5F7E3-A0BE-4760-84EC-50FAE4CDC2A5}" type="presOf" srcId="{7F580531-6204-47E7-9867-E54A24B85203}" destId="{8519A2B9-9A05-4A70-A6D8-39EA233A5DE8}" srcOrd="0" destOrd="1" presId="urn:microsoft.com/office/officeart/2005/8/layout/hList1"/>
    <dgm:cxn modelId="{846EB5F0-629F-4CFE-A6B1-975DF4919DCB}" type="presOf" srcId="{B9D19E17-E3AA-487B-ACAA-A7A596E91304}" destId="{5AD49010-AB3C-4959-95C9-F762299149E8}" srcOrd="0" destOrd="4" presId="urn:microsoft.com/office/officeart/2005/8/layout/hList1"/>
    <dgm:cxn modelId="{40CBFAF9-2399-4E7A-933D-F62BBD956CAC}" type="presOf" srcId="{C0344311-E56B-483A-BECC-DE580AADC9FF}" destId="{96537601-0C55-4AD5-9ED6-E248E7F2D5EC}" srcOrd="0" destOrd="0" presId="urn:microsoft.com/office/officeart/2005/8/layout/hList1"/>
    <dgm:cxn modelId="{D6765CFE-F107-4F88-AEA5-95847DC22149}" srcId="{ECC54297-C154-40E7-8DFD-AAE5EB524553}" destId="{AFE1E7CF-A27E-4D57-B101-6579668E6CA1}" srcOrd="2" destOrd="0" parTransId="{120BFED2-E0DF-4EAE-9D3D-28D4BFCDCD9E}" sibTransId="{C92387B8-1B3B-4CCB-8057-8BE9F4DD7546}"/>
    <dgm:cxn modelId="{0551277F-DDDF-4ACB-AD83-9DC803D7AB4C}" type="presParOf" srcId="{96537601-0C55-4AD5-9ED6-E248E7F2D5EC}" destId="{B9B8D383-2520-44B8-BDD4-D33CB6BB6737}" srcOrd="0" destOrd="0" presId="urn:microsoft.com/office/officeart/2005/8/layout/hList1"/>
    <dgm:cxn modelId="{FD63AF3B-D5CF-4125-9307-37CBCFCF79AF}" type="presParOf" srcId="{B9B8D383-2520-44B8-BDD4-D33CB6BB6737}" destId="{1097117B-E134-4D47-B9F5-5DC9F382A7F0}" srcOrd="0" destOrd="0" presId="urn:microsoft.com/office/officeart/2005/8/layout/hList1"/>
    <dgm:cxn modelId="{A7073E3B-7A58-42FC-9FB0-06E974A2C481}" type="presParOf" srcId="{B9B8D383-2520-44B8-BDD4-D33CB6BB6737}" destId="{5AD49010-AB3C-4959-95C9-F762299149E8}" srcOrd="1" destOrd="0" presId="urn:microsoft.com/office/officeart/2005/8/layout/hList1"/>
    <dgm:cxn modelId="{78BE660F-CF6E-4A1A-BCC5-E1EB4399E909}" type="presParOf" srcId="{96537601-0C55-4AD5-9ED6-E248E7F2D5EC}" destId="{BA11FC56-66CF-4D0F-A4A9-E9AB2217CEBE}" srcOrd="1" destOrd="0" presId="urn:microsoft.com/office/officeart/2005/8/layout/hList1"/>
    <dgm:cxn modelId="{3BBF70E5-DE99-4198-A115-5AE266243B80}" type="presParOf" srcId="{96537601-0C55-4AD5-9ED6-E248E7F2D5EC}" destId="{FFA05CB8-02AD-4912-A214-359629E71312}" srcOrd="2" destOrd="0" presId="urn:microsoft.com/office/officeart/2005/8/layout/hList1"/>
    <dgm:cxn modelId="{CE936D83-9890-4B68-8366-0B75B8572C5B}" type="presParOf" srcId="{FFA05CB8-02AD-4912-A214-359629E71312}" destId="{DFCF54A9-73FF-4D35-8A45-26E5551901B1}" srcOrd="0" destOrd="0" presId="urn:microsoft.com/office/officeart/2005/8/layout/hList1"/>
    <dgm:cxn modelId="{47AEC6F2-109A-4531-A1AA-DEC02140E85B}" type="presParOf" srcId="{FFA05CB8-02AD-4912-A214-359629E71312}" destId="{8519A2B9-9A05-4A70-A6D8-39EA233A5DE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F1FFB66-AC35-431E-8243-596C05D1F10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pt-BR"/>
        </a:p>
      </dgm:t>
    </dgm:pt>
    <dgm:pt modelId="{932E034E-2C4D-47A2-B2D4-4A7844A152F5}">
      <dgm:prSet phldrT="[Texto]"/>
      <dgm:spPr/>
      <dgm:t>
        <a:bodyPr/>
        <a:lstStyle/>
        <a:p>
          <a:r>
            <a:rPr lang="pt-BR" b="1" i="0" dirty="0"/>
            <a:t>Ultra Disk</a:t>
          </a:r>
          <a:endParaRPr lang="pt-BR" dirty="0"/>
        </a:p>
      </dgm:t>
    </dgm:pt>
    <dgm:pt modelId="{4A87E036-E312-4C45-A23B-D43E0024DF56}" type="parTrans" cxnId="{D338CA73-27D9-44BD-9568-97A03E947CB9}">
      <dgm:prSet/>
      <dgm:spPr/>
      <dgm:t>
        <a:bodyPr/>
        <a:lstStyle/>
        <a:p>
          <a:endParaRPr lang="pt-BR"/>
        </a:p>
      </dgm:t>
    </dgm:pt>
    <dgm:pt modelId="{6B6C857B-1A47-4970-8501-A8BCFDD80E13}" type="sibTrans" cxnId="{D338CA73-27D9-44BD-9568-97A03E947CB9}">
      <dgm:prSet/>
      <dgm:spPr/>
      <dgm:t>
        <a:bodyPr/>
        <a:lstStyle/>
        <a:p>
          <a:endParaRPr lang="pt-BR"/>
        </a:p>
      </dgm:t>
    </dgm:pt>
    <dgm:pt modelId="{33C44191-74D7-4546-BDE5-C0E3B521C867}">
      <dgm:prSet phldrT="[Texto]"/>
      <dgm:spPr/>
      <dgm:t>
        <a:bodyPr/>
        <a:lstStyle/>
        <a:p>
          <a:r>
            <a:rPr lang="pt-BR" b="0" i="0" dirty="0"/>
            <a:t>Cargas de trabalho de E/S intensiva, como SAP HANA, bancos de dados de camada superior (por exemplo, SQL, Oracle) e outras cargas de trabalho de transações pesadas.</a:t>
          </a:r>
          <a:endParaRPr lang="pt-BR" dirty="0"/>
        </a:p>
      </dgm:t>
    </dgm:pt>
    <dgm:pt modelId="{A4FD2AD3-ABCB-474F-A0DD-E4F188F0FF1F}" type="parTrans" cxnId="{014CD8A7-E32D-455F-8865-BAD2D373D99A}">
      <dgm:prSet/>
      <dgm:spPr/>
      <dgm:t>
        <a:bodyPr/>
        <a:lstStyle/>
        <a:p>
          <a:endParaRPr lang="pt-BR"/>
        </a:p>
      </dgm:t>
    </dgm:pt>
    <dgm:pt modelId="{0141D86E-7132-4FED-A662-40664D1FA580}" type="sibTrans" cxnId="{014CD8A7-E32D-455F-8865-BAD2D373D99A}">
      <dgm:prSet/>
      <dgm:spPr/>
      <dgm:t>
        <a:bodyPr/>
        <a:lstStyle/>
        <a:p>
          <a:endParaRPr lang="pt-BR"/>
        </a:p>
      </dgm:t>
    </dgm:pt>
    <dgm:pt modelId="{11D31A0F-7C29-49DC-8710-C7FB6D0CF7F9}">
      <dgm:prSet phldrT="[Texto]"/>
      <dgm:spPr/>
      <dgm:t>
        <a:bodyPr/>
        <a:lstStyle/>
        <a:p>
          <a:r>
            <a:rPr lang="pt-BR" b="0" i="0" dirty="0"/>
            <a:t>Tamanho 65.536 </a:t>
          </a:r>
          <a:r>
            <a:rPr lang="pt-BR" b="0" i="0" dirty="0" err="1"/>
            <a:t>Gibibyte</a:t>
          </a:r>
          <a:r>
            <a:rPr lang="pt-BR" b="0" i="0" dirty="0"/>
            <a:t> (</a:t>
          </a:r>
          <a:r>
            <a:rPr lang="pt-BR" b="0" i="0" dirty="0" err="1"/>
            <a:t>GiB</a:t>
          </a:r>
          <a:r>
            <a:rPr lang="pt-BR" b="0" i="0" dirty="0"/>
            <a:t>)</a:t>
          </a:r>
          <a:endParaRPr lang="pt-BR" dirty="0"/>
        </a:p>
      </dgm:t>
    </dgm:pt>
    <dgm:pt modelId="{85B698C8-5C84-4D64-B828-7A2855B703E5}" type="parTrans" cxnId="{F5A9DF1A-916F-41BD-8B67-81704A9C3487}">
      <dgm:prSet/>
      <dgm:spPr/>
      <dgm:t>
        <a:bodyPr/>
        <a:lstStyle/>
        <a:p>
          <a:endParaRPr lang="pt-BR"/>
        </a:p>
      </dgm:t>
    </dgm:pt>
    <dgm:pt modelId="{66585F3F-4ECF-401F-BA0F-D45FDFA17B5D}" type="sibTrans" cxnId="{F5A9DF1A-916F-41BD-8B67-81704A9C3487}">
      <dgm:prSet/>
      <dgm:spPr/>
      <dgm:t>
        <a:bodyPr/>
        <a:lstStyle/>
        <a:p>
          <a:endParaRPr lang="pt-BR"/>
        </a:p>
      </dgm:t>
    </dgm:pt>
    <dgm:pt modelId="{D8CB5D6E-404D-40E4-9D7C-839EFF48C1EB}">
      <dgm:prSet phldrT="[Texto]"/>
      <dgm:spPr/>
      <dgm:t>
        <a:bodyPr/>
        <a:lstStyle/>
        <a:p>
          <a:r>
            <a:rPr lang="pt-BR" b="1" i="0" dirty="0"/>
            <a:t>SSD Premium</a:t>
          </a:r>
          <a:endParaRPr lang="pt-BR" dirty="0"/>
        </a:p>
      </dgm:t>
    </dgm:pt>
    <dgm:pt modelId="{D4544CDF-1518-4D34-AF6D-8847A4A30B95}" type="parTrans" cxnId="{A277CF8F-AD62-42F7-8D1C-17CE7E5F690F}">
      <dgm:prSet/>
      <dgm:spPr/>
      <dgm:t>
        <a:bodyPr/>
        <a:lstStyle/>
        <a:p>
          <a:endParaRPr lang="pt-BR"/>
        </a:p>
      </dgm:t>
    </dgm:pt>
    <dgm:pt modelId="{D4F14E2A-94E6-4D9A-9561-04F2CAE51772}" type="sibTrans" cxnId="{A277CF8F-AD62-42F7-8D1C-17CE7E5F690F}">
      <dgm:prSet/>
      <dgm:spPr/>
      <dgm:t>
        <a:bodyPr/>
        <a:lstStyle/>
        <a:p>
          <a:endParaRPr lang="pt-BR"/>
        </a:p>
      </dgm:t>
    </dgm:pt>
    <dgm:pt modelId="{4ADDD1E7-881D-44BB-903B-E66D2F0ACD76}">
      <dgm:prSet phldrT="[Texto]"/>
      <dgm:spPr/>
      <dgm:t>
        <a:bodyPr/>
        <a:lstStyle/>
        <a:p>
          <a:r>
            <a:rPr lang="pt-BR" b="0" i="0" dirty="0"/>
            <a:t>Cargas de trabalho confidenciais produção e desempenho</a:t>
          </a:r>
          <a:endParaRPr lang="pt-BR" dirty="0"/>
        </a:p>
      </dgm:t>
    </dgm:pt>
    <dgm:pt modelId="{150A5D07-33D6-44D2-BFE1-FD38D27E5866}" type="parTrans" cxnId="{BDB5CF43-539A-4E57-A945-677FFC88BBBD}">
      <dgm:prSet/>
      <dgm:spPr/>
      <dgm:t>
        <a:bodyPr/>
        <a:lstStyle/>
        <a:p>
          <a:endParaRPr lang="pt-BR"/>
        </a:p>
      </dgm:t>
    </dgm:pt>
    <dgm:pt modelId="{4D27C22B-B04A-42B1-ADBE-2472704D6ED7}" type="sibTrans" cxnId="{BDB5CF43-539A-4E57-A945-677FFC88BBBD}">
      <dgm:prSet/>
      <dgm:spPr/>
      <dgm:t>
        <a:bodyPr/>
        <a:lstStyle/>
        <a:p>
          <a:endParaRPr lang="pt-BR"/>
        </a:p>
      </dgm:t>
    </dgm:pt>
    <dgm:pt modelId="{04AFF403-9020-4B48-A932-28DFB95E13D7}">
      <dgm:prSet phldrT="[Texto]"/>
      <dgm:spPr/>
      <dgm:t>
        <a:bodyPr/>
        <a:lstStyle/>
        <a:p>
          <a:r>
            <a:rPr lang="pt-BR" b="0" i="0" dirty="0"/>
            <a:t>Tamanho 32,767 </a:t>
          </a:r>
          <a:r>
            <a:rPr lang="pt-BR" b="0" i="0" dirty="0" err="1"/>
            <a:t>GiB</a:t>
          </a:r>
          <a:endParaRPr lang="pt-BR" dirty="0"/>
        </a:p>
      </dgm:t>
    </dgm:pt>
    <dgm:pt modelId="{F2BFE8F3-9E26-4B95-A083-09CD2910F56F}" type="parTrans" cxnId="{B20B1707-A5A9-4BFC-9781-8DFBA97F83DB}">
      <dgm:prSet/>
      <dgm:spPr/>
      <dgm:t>
        <a:bodyPr/>
        <a:lstStyle/>
        <a:p>
          <a:endParaRPr lang="pt-BR"/>
        </a:p>
      </dgm:t>
    </dgm:pt>
    <dgm:pt modelId="{BD122BC5-F859-4A83-A8E1-D3D8C36C0388}" type="sibTrans" cxnId="{B20B1707-A5A9-4BFC-9781-8DFBA97F83DB}">
      <dgm:prSet/>
      <dgm:spPr/>
      <dgm:t>
        <a:bodyPr/>
        <a:lstStyle/>
        <a:p>
          <a:endParaRPr lang="pt-BR"/>
        </a:p>
      </dgm:t>
    </dgm:pt>
    <dgm:pt modelId="{491E54D5-3400-4025-AAEA-FA29CA631D38}">
      <dgm:prSet phldrT="[Texto]"/>
      <dgm:spPr/>
      <dgm:t>
        <a:bodyPr/>
        <a:lstStyle/>
        <a:p>
          <a:r>
            <a:rPr lang="pt-BR" b="1" i="0" dirty="0"/>
            <a:t>SSD Standard</a:t>
          </a:r>
          <a:endParaRPr lang="pt-BR" dirty="0"/>
        </a:p>
      </dgm:t>
    </dgm:pt>
    <dgm:pt modelId="{735B870C-BB0E-4B9E-BC8A-896995418D45}" type="parTrans" cxnId="{A5166558-2E99-4EC3-9624-B993F56B9928}">
      <dgm:prSet/>
      <dgm:spPr/>
      <dgm:t>
        <a:bodyPr/>
        <a:lstStyle/>
        <a:p>
          <a:endParaRPr lang="pt-BR"/>
        </a:p>
      </dgm:t>
    </dgm:pt>
    <dgm:pt modelId="{D95B393C-0558-4ADE-AE7C-1986D7E2BB45}" type="sibTrans" cxnId="{A5166558-2E99-4EC3-9624-B993F56B9928}">
      <dgm:prSet/>
      <dgm:spPr/>
      <dgm:t>
        <a:bodyPr/>
        <a:lstStyle/>
        <a:p>
          <a:endParaRPr lang="pt-BR"/>
        </a:p>
      </dgm:t>
    </dgm:pt>
    <dgm:pt modelId="{E6049559-3F6E-4654-B124-E074CD098154}">
      <dgm:prSet phldrT="[Texto]"/>
      <dgm:spPr/>
      <dgm:t>
        <a:bodyPr/>
        <a:lstStyle/>
        <a:p>
          <a:r>
            <a:rPr lang="pt-BR" b="0" i="0" dirty="0"/>
            <a:t>Backup, não crítico, acesso não frequente</a:t>
          </a:r>
          <a:endParaRPr lang="pt-BR" dirty="0"/>
        </a:p>
      </dgm:t>
    </dgm:pt>
    <dgm:pt modelId="{0DD4A42A-68D5-4960-898F-86093677E659}" type="parTrans" cxnId="{79ACDF6B-B077-4001-8F60-B1B9822D1C9C}">
      <dgm:prSet/>
      <dgm:spPr/>
      <dgm:t>
        <a:bodyPr/>
        <a:lstStyle/>
        <a:p>
          <a:endParaRPr lang="pt-BR"/>
        </a:p>
      </dgm:t>
    </dgm:pt>
    <dgm:pt modelId="{A6BF43B1-ED3B-47F5-B284-B01B3455EBBD}" type="sibTrans" cxnId="{79ACDF6B-B077-4001-8F60-B1B9822D1C9C}">
      <dgm:prSet/>
      <dgm:spPr/>
      <dgm:t>
        <a:bodyPr/>
        <a:lstStyle/>
        <a:p>
          <a:endParaRPr lang="pt-BR"/>
        </a:p>
      </dgm:t>
    </dgm:pt>
    <dgm:pt modelId="{6BB63526-D26A-4DB7-B930-3701333D16AA}">
      <dgm:prSet phldrT="[Texto]"/>
      <dgm:spPr/>
      <dgm:t>
        <a:bodyPr/>
        <a:lstStyle/>
        <a:p>
          <a:r>
            <a:rPr lang="pt-BR" b="0" i="0" dirty="0"/>
            <a:t>Tamanho 32,767 </a:t>
          </a:r>
          <a:r>
            <a:rPr lang="pt-BR" b="0" i="0" dirty="0" err="1"/>
            <a:t>GiB</a:t>
          </a:r>
          <a:endParaRPr lang="pt-BR" dirty="0"/>
        </a:p>
      </dgm:t>
    </dgm:pt>
    <dgm:pt modelId="{F2357D59-E6ED-4D15-BF03-9D61FF385CA9}" type="parTrans" cxnId="{5D4C8F26-7244-4D6B-9247-C85FE28FEC21}">
      <dgm:prSet/>
      <dgm:spPr/>
      <dgm:t>
        <a:bodyPr/>
        <a:lstStyle/>
        <a:p>
          <a:endParaRPr lang="pt-BR"/>
        </a:p>
      </dgm:t>
    </dgm:pt>
    <dgm:pt modelId="{B77A9032-C964-4664-A752-62AFA636CC00}" type="sibTrans" cxnId="{5D4C8F26-7244-4D6B-9247-C85FE28FEC21}">
      <dgm:prSet/>
      <dgm:spPr/>
      <dgm:t>
        <a:bodyPr/>
        <a:lstStyle/>
        <a:p>
          <a:endParaRPr lang="pt-BR"/>
        </a:p>
      </dgm:t>
    </dgm:pt>
    <dgm:pt modelId="{FC3EE38F-F627-4B43-BC54-FF33B2EAA4EE}">
      <dgm:prSet phldrT="[Texto]"/>
      <dgm:spPr/>
      <dgm:t>
        <a:bodyPr/>
        <a:lstStyle/>
        <a:p>
          <a:r>
            <a:rPr lang="pt-BR" b="1" i="0" dirty="0"/>
            <a:t>HDD Standard</a:t>
          </a:r>
          <a:endParaRPr lang="pt-BR" dirty="0"/>
        </a:p>
      </dgm:t>
    </dgm:pt>
    <dgm:pt modelId="{5EAD860A-1650-4D79-ADE0-8494DDBCF650}" type="parTrans" cxnId="{E0EBE848-7D4E-4504-899E-57FE8448FC7B}">
      <dgm:prSet/>
      <dgm:spPr/>
      <dgm:t>
        <a:bodyPr/>
        <a:lstStyle/>
        <a:p>
          <a:endParaRPr lang="pt-BR"/>
        </a:p>
      </dgm:t>
    </dgm:pt>
    <dgm:pt modelId="{01BE1AC9-7369-4F54-8863-FF3572F91391}" type="sibTrans" cxnId="{E0EBE848-7D4E-4504-899E-57FE8448FC7B}">
      <dgm:prSet/>
      <dgm:spPr/>
      <dgm:t>
        <a:bodyPr/>
        <a:lstStyle/>
        <a:p>
          <a:endParaRPr lang="pt-BR"/>
        </a:p>
      </dgm:t>
    </dgm:pt>
    <dgm:pt modelId="{2F65F564-614B-4B29-BB57-E12435265EA7}">
      <dgm:prSet/>
      <dgm:spPr/>
      <dgm:t>
        <a:bodyPr/>
        <a:lstStyle/>
        <a:p>
          <a:r>
            <a:rPr lang="pt-BR" b="0" i="0" dirty="0"/>
            <a:t>Servidores Web, aplicativos empresariais pouco usados e desenvolvimento/teste</a:t>
          </a:r>
          <a:endParaRPr lang="pt-BR" dirty="0"/>
        </a:p>
      </dgm:t>
    </dgm:pt>
    <dgm:pt modelId="{5B510190-EAB6-4FE0-99B4-38C1522F16F1}" type="parTrans" cxnId="{1701444A-FFE6-4A0C-BBF3-A794DC64FDDE}">
      <dgm:prSet/>
      <dgm:spPr/>
      <dgm:t>
        <a:bodyPr/>
        <a:lstStyle/>
        <a:p>
          <a:endParaRPr lang="pt-BR"/>
        </a:p>
      </dgm:t>
    </dgm:pt>
    <dgm:pt modelId="{94999A6B-2FF1-43C1-A479-2F75FA1892B8}" type="sibTrans" cxnId="{1701444A-FFE6-4A0C-BBF3-A794DC64FDDE}">
      <dgm:prSet/>
      <dgm:spPr/>
      <dgm:t>
        <a:bodyPr/>
        <a:lstStyle/>
        <a:p>
          <a:endParaRPr lang="pt-BR"/>
        </a:p>
      </dgm:t>
    </dgm:pt>
    <dgm:pt modelId="{70971647-2E84-4116-8331-2F3A0D266ED3}">
      <dgm:prSet phldrT="[Texto]"/>
      <dgm:spPr/>
      <dgm:t>
        <a:bodyPr/>
        <a:lstStyle/>
        <a:p>
          <a:r>
            <a:rPr lang="pt-BR" b="0" i="0" dirty="0"/>
            <a:t>Tamanho 32,767 </a:t>
          </a:r>
          <a:r>
            <a:rPr lang="pt-BR" b="0" i="0" dirty="0" err="1"/>
            <a:t>GiB</a:t>
          </a:r>
          <a:endParaRPr lang="pt-BR" dirty="0"/>
        </a:p>
      </dgm:t>
    </dgm:pt>
    <dgm:pt modelId="{D38090C2-3A0D-4C16-AF11-3FFD0AEEF325}" type="parTrans" cxnId="{92B4D5BE-01C4-4B3A-BB81-5FF2CF60566B}">
      <dgm:prSet/>
      <dgm:spPr/>
      <dgm:t>
        <a:bodyPr/>
        <a:lstStyle/>
        <a:p>
          <a:endParaRPr lang="pt-BR"/>
        </a:p>
      </dgm:t>
    </dgm:pt>
    <dgm:pt modelId="{883315EA-FEC1-48C8-A019-BB667B13BAF5}" type="sibTrans" cxnId="{92B4D5BE-01C4-4B3A-BB81-5FF2CF60566B}">
      <dgm:prSet/>
      <dgm:spPr/>
      <dgm:t>
        <a:bodyPr/>
        <a:lstStyle/>
        <a:p>
          <a:endParaRPr lang="pt-BR"/>
        </a:p>
      </dgm:t>
    </dgm:pt>
    <dgm:pt modelId="{D618AF0B-FFF8-4DA1-84D3-7E91B99C43F5}">
      <dgm:prSet phldrT="[Texto]"/>
      <dgm:spPr/>
      <dgm:t>
        <a:bodyPr/>
        <a:lstStyle/>
        <a:p>
          <a:r>
            <a:rPr lang="pt-BR" b="0" i="0" dirty="0"/>
            <a:t>Transferência 2.000 </a:t>
          </a:r>
          <a:r>
            <a:rPr lang="pt-BR" b="0" i="0" dirty="0" err="1"/>
            <a:t>MiB</a:t>
          </a:r>
          <a:r>
            <a:rPr lang="pt-BR" b="0" i="0" dirty="0"/>
            <a:t>/s</a:t>
          </a:r>
          <a:endParaRPr lang="pt-BR" dirty="0"/>
        </a:p>
      </dgm:t>
    </dgm:pt>
    <dgm:pt modelId="{AECE9BE2-8478-4393-BD96-22C6D1987019}" type="parTrans" cxnId="{A7668A0C-D786-46B6-95FE-45D62A00AA82}">
      <dgm:prSet/>
      <dgm:spPr/>
      <dgm:t>
        <a:bodyPr/>
        <a:lstStyle/>
        <a:p>
          <a:endParaRPr lang="pt-BR"/>
        </a:p>
      </dgm:t>
    </dgm:pt>
    <dgm:pt modelId="{737ED3BA-403D-49C8-8CB7-04C308663690}" type="sibTrans" cxnId="{A7668A0C-D786-46B6-95FE-45D62A00AA82}">
      <dgm:prSet/>
      <dgm:spPr/>
      <dgm:t>
        <a:bodyPr/>
        <a:lstStyle/>
        <a:p>
          <a:endParaRPr lang="pt-BR"/>
        </a:p>
      </dgm:t>
    </dgm:pt>
    <dgm:pt modelId="{56FD0EDC-5422-448D-99C5-24D31197AAE8}">
      <dgm:prSet phldrT="[Texto]"/>
      <dgm:spPr/>
      <dgm:t>
        <a:bodyPr/>
        <a:lstStyle/>
        <a:p>
          <a:r>
            <a:rPr lang="pt-BR" b="0" i="0" dirty="0"/>
            <a:t>Transferência 900 </a:t>
          </a:r>
          <a:r>
            <a:rPr lang="pt-BR" b="0" i="0" dirty="0" err="1"/>
            <a:t>MiB</a:t>
          </a:r>
          <a:r>
            <a:rPr lang="pt-BR" b="0" i="0" dirty="0"/>
            <a:t>/s</a:t>
          </a:r>
          <a:endParaRPr lang="pt-BR" dirty="0"/>
        </a:p>
      </dgm:t>
    </dgm:pt>
    <dgm:pt modelId="{67E89E1F-37EC-4571-AA2A-A2B88814949B}" type="parTrans" cxnId="{04E5B71C-E9D2-4CBE-88DA-BBCD71A37490}">
      <dgm:prSet/>
      <dgm:spPr/>
      <dgm:t>
        <a:bodyPr/>
        <a:lstStyle/>
        <a:p>
          <a:endParaRPr lang="pt-BR"/>
        </a:p>
      </dgm:t>
    </dgm:pt>
    <dgm:pt modelId="{CD2D2059-8F98-4ED0-B49A-290C61757A46}" type="sibTrans" cxnId="{04E5B71C-E9D2-4CBE-88DA-BBCD71A37490}">
      <dgm:prSet/>
      <dgm:spPr/>
      <dgm:t>
        <a:bodyPr/>
        <a:lstStyle/>
        <a:p>
          <a:endParaRPr lang="pt-BR"/>
        </a:p>
      </dgm:t>
    </dgm:pt>
    <dgm:pt modelId="{D1D4F045-92C7-4B72-916C-3DC4BA28A23E}">
      <dgm:prSet phldrT="[Texto]"/>
      <dgm:spPr/>
      <dgm:t>
        <a:bodyPr/>
        <a:lstStyle/>
        <a:p>
          <a:r>
            <a:rPr lang="pt-BR" b="0" i="0" dirty="0"/>
            <a:t>Transferência 750 </a:t>
          </a:r>
          <a:r>
            <a:rPr lang="pt-BR" b="0" i="0" dirty="0" err="1"/>
            <a:t>MiB</a:t>
          </a:r>
          <a:r>
            <a:rPr lang="pt-BR" b="0" i="0" dirty="0"/>
            <a:t>/s</a:t>
          </a:r>
          <a:endParaRPr lang="pt-BR" dirty="0"/>
        </a:p>
      </dgm:t>
    </dgm:pt>
    <dgm:pt modelId="{8A29C4E1-9F88-4F10-BC9A-26AED18877A0}" type="parTrans" cxnId="{569223AD-D99C-4AF3-AD1F-E61334FFD499}">
      <dgm:prSet/>
      <dgm:spPr/>
      <dgm:t>
        <a:bodyPr/>
        <a:lstStyle/>
        <a:p>
          <a:endParaRPr lang="pt-BR"/>
        </a:p>
      </dgm:t>
    </dgm:pt>
    <dgm:pt modelId="{07CDA395-EED9-4DDD-83C7-7383B56DC434}" type="sibTrans" cxnId="{569223AD-D99C-4AF3-AD1F-E61334FFD499}">
      <dgm:prSet/>
      <dgm:spPr/>
      <dgm:t>
        <a:bodyPr/>
        <a:lstStyle/>
        <a:p>
          <a:endParaRPr lang="pt-BR"/>
        </a:p>
      </dgm:t>
    </dgm:pt>
    <dgm:pt modelId="{CCB950E9-DA4F-40C0-8EB3-67D384E1D5BF}">
      <dgm:prSet phldrT="[Texto]"/>
      <dgm:spPr/>
      <dgm:t>
        <a:bodyPr/>
        <a:lstStyle/>
        <a:p>
          <a:r>
            <a:rPr lang="pt-BR" b="0" i="0" dirty="0"/>
            <a:t>Transferência 500 </a:t>
          </a:r>
          <a:r>
            <a:rPr lang="pt-BR" b="0" i="0" dirty="0" err="1"/>
            <a:t>MiB</a:t>
          </a:r>
          <a:r>
            <a:rPr lang="pt-BR" b="0" i="0" dirty="0"/>
            <a:t>/s</a:t>
          </a:r>
          <a:endParaRPr lang="pt-BR" dirty="0"/>
        </a:p>
      </dgm:t>
    </dgm:pt>
    <dgm:pt modelId="{55813FB7-FFFE-4462-ABDC-A7DCB0A8440E}" type="parTrans" cxnId="{A40B4309-D464-447E-A4F1-CC683A976B8B}">
      <dgm:prSet/>
      <dgm:spPr/>
      <dgm:t>
        <a:bodyPr/>
        <a:lstStyle/>
        <a:p>
          <a:endParaRPr lang="pt-BR"/>
        </a:p>
      </dgm:t>
    </dgm:pt>
    <dgm:pt modelId="{932297FE-2412-4674-AEFB-A972BDF0F63A}" type="sibTrans" cxnId="{A40B4309-D464-447E-A4F1-CC683A976B8B}">
      <dgm:prSet/>
      <dgm:spPr/>
      <dgm:t>
        <a:bodyPr/>
        <a:lstStyle/>
        <a:p>
          <a:endParaRPr lang="pt-BR"/>
        </a:p>
      </dgm:t>
    </dgm:pt>
    <dgm:pt modelId="{BBAC64C1-310C-4D0A-AC72-44E946BE26A1}">
      <dgm:prSet phldrT="[Texto]"/>
      <dgm:spPr/>
      <dgm:t>
        <a:bodyPr/>
        <a:lstStyle/>
        <a:p>
          <a:r>
            <a:rPr lang="pt-BR" b="0" i="0" dirty="0"/>
            <a:t>160.000 IOPS</a:t>
          </a:r>
          <a:endParaRPr lang="pt-BR" dirty="0"/>
        </a:p>
      </dgm:t>
    </dgm:pt>
    <dgm:pt modelId="{B7B49869-EA82-4976-ACB1-ADE7119C1860}" type="parTrans" cxnId="{57071692-5A5F-4647-9F7E-2767EC668484}">
      <dgm:prSet/>
      <dgm:spPr/>
      <dgm:t>
        <a:bodyPr/>
        <a:lstStyle/>
        <a:p>
          <a:endParaRPr lang="pt-BR"/>
        </a:p>
      </dgm:t>
    </dgm:pt>
    <dgm:pt modelId="{60241998-FE1D-45EA-8E59-2AB42C999DD1}" type="sibTrans" cxnId="{57071692-5A5F-4647-9F7E-2767EC668484}">
      <dgm:prSet/>
      <dgm:spPr/>
      <dgm:t>
        <a:bodyPr/>
        <a:lstStyle/>
        <a:p>
          <a:endParaRPr lang="pt-BR"/>
        </a:p>
      </dgm:t>
    </dgm:pt>
    <dgm:pt modelId="{B704021D-3C62-461F-96BA-D62D6081717B}">
      <dgm:prSet phldrT="[Texto]"/>
      <dgm:spPr/>
      <dgm:t>
        <a:bodyPr/>
        <a:lstStyle/>
        <a:p>
          <a:r>
            <a:rPr lang="pt-BR" b="0" i="0" dirty="0"/>
            <a:t>20.000 IOPS</a:t>
          </a:r>
          <a:endParaRPr lang="pt-BR" dirty="0"/>
        </a:p>
      </dgm:t>
    </dgm:pt>
    <dgm:pt modelId="{123462DB-CF4F-4BC2-A17F-3617ADEB4AB8}" type="parTrans" cxnId="{E9AEC634-629A-4A17-9003-596375638C5D}">
      <dgm:prSet/>
      <dgm:spPr/>
      <dgm:t>
        <a:bodyPr/>
        <a:lstStyle/>
        <a:p>
          <a:endParaRPr lang="pt-BR"/>
        </a:p>
      </dgm:t>
    </dgm:pt>
    <dgm:pt modelId="{635A5324-ACAA-4B2F-A07E-BB4354028923}" type="sibTrans" cxnId="{E9AEC634-629A-4A17-9003-596375638C5D}">
      <dgm:prSet/>
      <dgm:spPr/>
      <dgm:t>
        <a:bodyPr/>
        <a:lstStyle/>
        <a:p>
          <a:endParaRPr lang="pt-BR"/>
        </a:p>
      </dgm:t>
    </dgm:pt>
    <dgm:pt modelId="{685A9436-90C9-48E0-99F6-815298033537}">
      <dgm:prSet phldrT="[Texto]"/>
      <dgm:spPr/>
      <dgm:t>
        <a:bodyPr/>
        <a:lstStyle/>
        <a:p>
          <a:r>
            <a:rPr lang="pt-BR" b="0" i="0" dirty="0"/>
            <a:t>6.000 IOPS</a:t>
          </a:r>
          <a:endParaRPr lang="pt-BR" dirty="0"/>
        </a:p>
      </dgm:t>
    </dgm:pt>
    <dgm:pt modelId="{F2276FC2-0F93-42CC-BDE4-2D153911EC56}" type="parTrans" cxnId="{8BB77F34-819F-4035-88B4-F275139CD3BD}">
      <dgm:prSet/>
      <dgm:spPr/>
      <dgm:t>
        <a:bodyPr/>
        <a:lstStyle/>
        <a:p>
          <a:endParaRPr lang="pt-BR"/>
        </a:p>
      </dgm:t>
    </dgm:pt>
    <dgm:pt modelId="{CF1F4234-E4D5-4F4B-B837-71C951BB60D8}" type="sibTrans" cxnId="{8BB77F34-819F-4035-88B4-F275139CD3BD}">
      <dgm:prSet/>
      <dgm:spPr/>
      <dgm:t>
        <a:bodyPr/>
        <a:lstStyle/>
        <a:p>
          <a:endParaRPr lang="pt-BR"/>
        </a:p>
      </dgm:t>
    </dgm:pt>
    <dgm:pt modelId="{F1B0F4BC-40E0-4EEC-868C-3CF220BF27B9}">
      <dgm:prSet phldrT="[Texto]"/>
      <dgm:spPr/>
      <dgm:t>
        <a:bodyPr/>
        <a:lstStyle/>
        <a:p>
          <a:r>
            <a:rPr lang="pt-BR" b="0" i="0" dirty="0"/>
            <a:t>2.000 IOPS</a:t>
          </a:r>
          <a:endParaRPr lang="pt-BR" dirty="0"/>
        </a:p>
      </dgm:t>
    </dgm:pt>
    <dgm:pt modelId="{BE010098-542F-417D-9060-1FD8D816BA78}" type="parTrans" cxnId="{F9530DAB-9D8E-411C-996B-19970CA7F138}">
      <dgm:prSet/>
      <dgm:spPr/>
      <dgm:t>
        <a:bodyPr/>
        <a:lstStyle/>
        <a:p>
          <a:endParaRPr lang="pt-BR"/>
        </a:p>
      </dgm:t>
    </dgm:pt>
    <dgm:pt modelId="{2B29C08F-D01C-4676-AC05-83C3565945D8}" type="sibTrans" cxnId="{F9530DAB-9D8E-411C-996B-19970CA7F138}">
      <dgm:prSet/>
      <dgm:spPr/>
      <dgm:t>
        <a:bodyPr/>
        <a:lstStyle/>
        <a:p>
          <a:endParaRPr lang="pt-BR"/>
        </a:p>
      </dgm:t>
    </dgm:pt>
    <dgm:pt modelId="{11D2768F-00CD-4821-B452-C4E2099DCEB8}" type="pres">
      <dgm:prSet presAssocID="{2F1FFB66-AC35-431E-8243-596C05D1F10A}" presName="Name0" presStyleCnt="0">
        <dgm:presLayoutVars>
          <dgm:dir/>
          <dgm:animLvl val="lvl"/>
          <dgm:resizeHandles val="exact"/>
        </dgm:presLayoutVars>
      </dgm:prSet>
      <dgm:spPr/>
    </dgm:pt>
    <dgm:pt modelId="{EAA9BA44-811D-479D-A761-6DA8F72654BB}" type="pres">
      <dgm:prSet presAssocID="{932E034E-2C4D-47A2-B2D4-4A7844A152F5}" presName="composite" presStyleCnt="0"/>
      <dgm:spPr/>
    </dgm:pt>
    <dgm:pt modelId="{8C94117D-A297-49AD-9A77-7E361E88E06C}" type="pres">
      <dgm:prSet presAssocID="{932E034E-2C4D-47A2-B2D4-4A7844A152F5}" presName="parTx" presStyleLbl="alignNode1" presStyleIdx="0" presStyleCnt="4">
        <dgm:presLayoutVars>
          <dgm:chMax val="0"/>
          <dgm:chPref val="0"/>
          <dgm:bulletEnabled val="1"/>
        </dgm:presLayoutVars>
      </dgm:prSet>
      <dgm:spPr/>
    </dgm:pt>
    <dgm:pt modelId="{F3E80BBF-BF55-42C1-B763-9173CDB129C7}" type="pres">
      <dgm:prSet presAssocID="{932E034E-2C4D-47A2-B2D4-4A7844A152F5}" presName="desTx" presStyleLbl="alignAccFollowNode1" presStyleIdx="0" presStyleCnt="4">
        <dgm:presLayoutVars>
          <dgm:bulletEnabled val="1"/>
        </dgm:presLayoutVars>
      </dgm:prSet>
      <dgm:spPr/>
    </dgm:pt>
    <dgm:pt modelId="{2A23BFB2-4D2A-4230-8D60-9FB07A1B4A73}" type="pres">
      <dgm:prSet presAssocID="{6B6C857B-1A47-4970-8501-A8BCFDD80E13}" presName="space" presStyleCnt="0"/>
      <dgm:spPr/>
    </dgm:pt>
    <dgm:pt modelId="{1136C00D-68C1-4658-B310-5037FCEC21A8}" type="pres">
      <dgm:prSet presAssocID="{D8CB5D6E-404D-40E4-9D7C-839EFF48C1EB}" presName="composite" presStyleCnt="0"/>
      <dgm:spPr/>
    </dgm:pt>
    <dgm:pt modelId="{384C5016-9F62-4A07-B22E-5D735BBF00CC}" type="pres">
      <dgm:prSet presAssocID="{D8CB5D6E-404D-40E4-9D7C-839EFF48C1EB}" presName="parTx" presStyleLbl="alignNode1" presStyleIdx="1" presStyleCnt="4">
        <dgm:presLayoutVars>
          <dgm:chMax val="0"/>
          <dgm:chPref val="0"/>
          <dgm:bulletEnabled val="1"/>
        </dgm:presLayoutVars>
      </dgm:prSet>
      <dgm:spPr/>
    </dgm:pt>
    <dgm:pt modelId="{42F65E4A-4046-423F-816F-F604C63C24CE}" type="pres">
      <dgm:prSet presAssocID="{D8CB5D6E-404D-40E4-9D7C-839EFF48C1EB}" presName="desTx" presStyleLbl="alignAccFollowNode1" presStyleIdx="1" presStyleCnt="4">
        <dgm:presLayoutVars>
          <dgm:bulletEnabled val="1"/>
        </dgm:presLayoutVars>
      </dgm:prSet>
      <dgm:spPr/>
    </dgm:pt>
    <dgm:pt modelId="{1C972F8B-C7B5-4323-9EAC-7DD3CF65FB87}" type="pres">
      <dgm:prSet presAssocID="{D4F14E2A-94E6-4D9A-9561-04F2CAE51772}" presName="space" presStyleCnt="0"/>
      <dgm:spPr/>
    </dgm:pt>
    <dgm:pt modelId="{62CA7642-1D47-4295-9FF7-ED55811D529D}" type="pres">
      <dgm:prSet presAssocID="{491E54D5-3400-4025-AAEA-FA29CA631D38}" presName="composite" presStyleCnt="0"/>
      <dgm:spPr/>
    </dgm:pt>
    <dgm:pt modelId="{58914A5B-37AE-409B-839B-E694BB55D56F}" type="pres">
      <dgm:prSet presAssocID="{491E54D5-3400-4025-AAEA-FA29CA631D38}" presName="parTx" presStyleLbl="alignNode1" presStyleIdx="2" presStyleCnt="4">
        <dgm:presLayoutVars>
          <dgm:chMax val="0"/>
          <dgm:chPref val="0"/>
          <dgm:bulletEnabled val="1"/>
        </dgm:presLayoutVars>
      </dgm:prSet>
      <dgm:spPr/>
    </dgm:pt>
    <dgm:pt modelId="{6BE20856-638A-4495-891E-0DE4A4107915}" type="pres">
      <dgm:prSet presAssocID="{491E54D5-3400-4025-AAEA-FA29CA631D38}" presName="desTx" presStyleLbl="alignAccFollowNode1" presStyleIdx="2" presStyleCnt="4">
        <dgm:presLayoutVars>
          <dgm:bulletEnabled val="1"/>
        </dgm:presLayoutVars>
      </dgm:prSet>
      <dgm:spPr/>
    </dgm:pt>
    <dgm:pt modelId="{27E5CAA9-84FA-4DFA-AAFD-37A131FB7B2E}" type="pres">
      <dgm:prSet presAssocID="{D95B393C-0558-4ADE-AE7C-1986D7E2BB45}" presName="space" presStyleCnt="0"/>
      <dgm:spPr/>
    </dgm:pt>
    <dgm:pt modelId="{11CF15E9-4971-4E40-86DF-49E6D63DF271}" type="pres">
      <dgm:prSet presAssocID="{FC3EE38F-F627-4B43-BC54-FF33B2EAA4EE}" presName="composite" presStyleCnt="0"/>
      <dgm:spPr/>
    </dgm:pt>
    <dgm:pt modelId="{E8CF4082-94F3-4A40-B19A-EFC7A3261758}" type="pres">
      <dgm:prSet presAssocID="{FC3EE38F-F627-4B43-BC54-FF33B2EAA4EE}" presName="parTx" presStyleLbl="alignNode1" presStyleIdx="3" presStyleCnt="4">
        <dgm:presLayoutVars>
          <dgm:chMax val="0"/>
          <dgm:chPref val="0"/>
          <dgm:bulletEnabled val="1"/>
        </dgm:presLayoutVars>
      </dgm:prSet>
      <dgm:spPr/>
    </dgm:pt>
    <dgm:pt modelId="{E46D2A28-3955-4C02-B1FD-361BAB6A81C6}" type="pres">
      <dgm:prSet presAssocID="{FC3EE38F-F627-4B43-BC54-FF33B2EAA4EE}" presName="desTx" presStyleLbl="alignAccFollowNode1" presStyleIdx="3" presStyleCnt="4">
        <dgm:presLayoutVars>
          <dgm:bulletEnabled val="1"/>
        </dgm:presLayoutVars>
      </dgm:prSet>
      <dgm:spPr/>
    </dgm:pt>
  </dgm:ptLst>
  <dgm:cxnLst>
    <dgm:cxn modelId="{B20B1707-A5A9-4BFC-9781-8DFBA97F83DB}" srcId="{D8CB5D6E-404D-40E4-9D7C-839EFF48C1EB}" destId="{04AFF403-9020-4B48-A932-28DFB95E13D7}" srcOrd="1" destOrd="0" parTransId="{F2BFE8F3-9E26-4B95-A083-09CD2910F56F}" sibTransId="{BD122BC5-F859-4A83-A8E1-D3D8C36C0388}"/>
    <dgm:cxn modelId="{A40B4309-D464-447E-A4F1-CC683A976B8B}" srcId="{FC3EE38F-F627-4B43-BC54-FF33B2EAA4EE}" destId="{CCB950E9-DA4F-40C0-8EB3-67D384E1D5BF}" srcOrd="2" destOrd="0" parTransId="{55813FB7-FFFE-4462-ABDC-A7DCB0A8440E}" sibTransId="{932297FE-2412-4674-AEFB-A972BDF0F63A}"/>
    <dgm:cxn modelId="{A7668A0C-D786-46B6-95FE-45D62A00AA82}" srcId="{932E034E-2C4D-47A2-B2D4-4A7844A152F5}" destId="{D618AF0B-FFF8-4DA1-84D3-7E91B99C43F5}" srcOrd="2" destOrd="0" parTransId="{AECE9BE2-8478-4393-BD96-22C6D1987019}" sibTransId="{737ED3BA-403D-49C8-8CB7-04C308663690}"/>
    <dgm:cxn modelId="{972A7916-324E-4C7C-892B-9616F50E5A13}" type="presOf" srcId="{56FD0EDC-5422-448D-99C5-24D31197AAE8}" destId="{42F65E4A-4046-423F-816F-F604C63C24CE}" srcOrd="0" destOrd="2" presId="urn:microsoft.com/office/officeart/2005/8/layout/hList1"/>
    <dgm:cxn modelId="{F5A9DF1A-916F-41BD-8B67-81704A9C3487}" srcId="{932E034E-2C4D-47A2-B2D4-4A7844A152F5}" destId="{11D31A0F-7C29-49DC-8710-C7FB6D0CF7F9}" srcOrd="1" destOrd="0" parTransId="{85B698C8-5C84-4D64-B828-7A2855B703E5}" sibTransId="{66585F3F-4ECF-401F-BA0F-D45FDFA17B5D}"/>
    <dgm:cxn modelId="{04E5B71C-E9D2-4CBE-88DA-BBCD71A37490}" srcId="{D8CB5D6E-404D-40E4-9D7C-839EFF48C1EB}" destId="{56FD0EDC-5422-448D-99C5-24D31197AAE8}" srcOrd="2" destOrd="0" parTransId="{67E89E1F-37EC-4571-AA2A-A2B88814949B}" sibTransId="{CD2D2059-8F98-4ED0-B49A-290C61757A46}"/>
    <dgm:cxn modelId="{5D4C8F26-7244-4D6B-9247-C85FE28FEC21}" srcId="{FC3EE38F-F627-4B43-BC54-FF33B2EAA4EE}" destId="{6BB63526-D26A-4DB7-B930-3701333D16AA}" srcOrd="1" destOrd="0" parTransId="{F2357D59-E6ED-4D15-BF03-9D61FF385CA9}" sibTransId="{B77A9032-C964-4664-A752-62AFA636CC00}"/>
    <dgm:cxn modelId="{C51F9B2D-C5A1-4C9B-A79B-E5CEED68F12F}" type="presOf" srcId="{4ADDD1E7-881D-44BB-903B-E66D2F0ACD76}" destId="{42F65E4A-4046-423F-816F-F604C63C24CE}" srcOrd="0" destOrd="0" presId="urn:microsoft.com/office/officeart/2005/8/layout/hList1"/>
    <dgm:cxn modelId="{8BB77F34-819F-4035-88B4-F275139CD3BD}" srcId="{491E54D5-3400-4025-AAEA-FA29CA631D38}" destId="{685A9436-90C9-48E0-99F6-815298033537}" srcOrd="3" destOrd="0" parTransId="{F2276FC2-0F93-42CC-BDE4-2D153911EC56}" sibTransId="{CF1F4234-E4D5-4F4B-B837-71C951BB60D8}"/>
    <dgm:cxn modelId="{E9AEC634-629A-4A17-9003-596375638C5D}" srcId="{D8CB5D6E-404D-40E4-9D7C-839EFF48C1EB}" destId="{B704021D-3C62-461F-96BA-D62D6081717B}" srcOrd="3" destOrd="0" parTransId="{123462DB-CF4F-4BC2-A17F-3617ADEB4AB8}" sibTransId="{635A5324-ACAA-4B2F-A07E-BB4354028923}"/>
    <dgm:cxn modelId="{96BC8636-BE3B-42FA-B4C4-75FE8E77E2DA}" type="presOf" srcId="{D8CB5D6E-404D-40E4-9D7C-839EFF48C1EB}" destId="{384C5016-9F62-4A07-B22E-5D735BBF00CC}" srcOrd="0" destOrd="0" presId="urn:microsoft.com/office/officeart/2005/8/layout/hList1"/>
    <dgm:cxn modelId="{5595A541-623E-420B-AEAD-E79477F6B1C9}" type="presOf" srcId="{D618AF0B-FFF8-4DA1-84D3-7E91B99C43F5}" destId="{F3E80BBF-BF55-42C1-B763-9173CDB129C7}" srcOrd="0" destOrd="2" presId="urn:microsoft.com/office/officeart/2005/8/layout/hList1"/>
    <dgm:cxn modelId="{9BC04F43-B77B-47BF-8C89-7DB7B93208D5}" type="presOf" srcId="{6BB63526-D26A-4DB7-B930-3701333D16AA}" destId="{E46D2A28-3955-4C02-B1FD-361BAB6A81C6}" srcOrd="0" destOrd="1" presId="urn:microsoft.com/office/officeart/2005/8/layout/hList1"/>
    <dgm:cxn modelId="{BDB5CF43-539A-4E57-A945-677FFC88BBBD}" srcId="{D8CB5D6E-404D-40E4-9D7C-839EFF48C1EB}" destId="{4ADDD1E7-881D-44BB-903B-E66D2F0ACD76}" srcOrd="0" destOrd="0" parTransId="{150A5D07-33D6-44D2-BFE1-FD38D27E5866}" sibTransId="{4D27C22B-B04A-42B1-ADBE-2472704D6ED7}"/>
    <dgm:cxn modelId="{E0EBE848-7D4E-4504-899E-57FE8448FC7B}" srcId="{2F1FFB66-AC35-431E-8243-596C05D1F10A}" destId="{FC3EE38F-F627-4B43-BC54-FF33B2EAA4EE}" srcOrd="3" destOrd="0" parTransId="{5EAD860A-1650-4D79-ADE0-8494DDBCF650}" sibTransId="{01BE1AC9-7369-4F54-8863-FF3572F91391}"/>
    <dgm:cxn modelId="{1701444A-FFE6-4A0C-BBF3-A794DC64FDDE}" srcId="{491E54D5-3400-4025-AAEA-FA29CA631D38}" destId="{2F65F564-614B-4B29-BB57-E12435265EA7}" srcOrd="0" destOrd="0" parTransId="{5B510190-EAB6-4FE0-99B4-38C1522F16F1}" sibTransId="{94999A6B-2FF1-43C1-A479-2F75FA1892B8}"/>
    <dgm:cxn modelId="{79ACDF6B-B077-4001-8F60-B1B9822D1C9C}" srcId="{FC3EE38F-F627-4B43-BC54-FF33B2EAA4EE}" destId="{E6049559-3F6E-4654-B124-E074CD098154}" srcOrd="0" destOrd="0" parTransId="{0DD4A42A-68D5-4960-898F-86093677E659}" sibTransId="{A6BF43B1-ED3B-47F5-B284-B01B3455EBBD}"/>
    <dgm:cxn modelId="{4A67FA4B-78BC-463B-9EA3-56C64467CA56}" type="presOf" srcId="{2F65F564-614B-4B29-BB57-E12435265EA7}" destId="{6BE20856-638A-4495-891E-0DE4A4107915}" srcOrd="0" destOrd="0" presId="urn:microsoft.com/office/officeart/2005/8/layout/hList1"/>
    <dgm:cxn modelId="{6D2F824E-04EE-40F0-BB75-DC3AFFE7CE0B}" type="presOf" srcId="{491E54D5-3400-4025-AAEA-FA29CA631D38}" destId="{58914A5B-37AE-409B-839B-E694BB55D56F}" srcOrd="0" destOrd="0" presId="urn:microsoft.com/office/officeart/2005/8/layout/hList1"/>
    <dgm:cxn modelId="{25514171-3F60-4D6A-8BB5-266680BD3D88}" type="presOf" srcId="{F1B0F4BC-40E0-4EEC-868C-3CF220BF27B9}" destId="{E46D2A28-3955-4C02-B1FD-361BAB6A81C6}" srcOrd="0" destOrd="3" presId="urn:microsoft.com/office/officeart/2005/8/layout/hList1"/>
    <dgm:cxn modelId="{D338CA73-27D9-44BD-9568-97A03E947CB9}" srcId="{2F1FFB66-AC35-431E-8243-596C05D1F10A}" destId="{932E034E-2C4D-47A2-B2D4-4A7844A152F5}" srcOrd="0" destOrd="0" parTransId="{4A87E036-E312-4C45-A23B-D43E0024DF56}" sibTransId="{6B6C857B-1A47-4970-8501-A8BCFDD80E13}"/>
    <dgm:cxn modelId="{55EB8957-E6A9-444A-A6B4-77DCB7F0F36F}" type="presOf" srcId="{D1D4F045-92C7-4B72-916C-3DC4BA28A23E}" destId="{6BE20856-638A-4495-891E-0DE4A4107915}" srcOrd="0" destOrd="2" presId="urn:microsoft.com/office/officeart/2005/8/layout/hList1"/>
    <dgm:cxn modelId="{A5166558-2E99-4EC3-9624-B993F56B9928}" srcId="{2F1FFB66-AC35-431E-8243-596C05D1F10A}" destId="{491E54D5-3400-4025-AAEA-FA29CA631D38}" srcOrd="2" destOrd="0" parTransId="{735B870C-BB0E-4B9E-BC8A-896995418D45}" sibTransId="{D95B393C-0558-4ADE-AE7C-1986D7E2BB45}"/>
    <dgm:cxn modelId="{E55EFD79-5CD5-4358-97C8-3596D8B0C381}" type="presOf" srcId="{B704021D-3C62-461F-96BA-D62D6081717B}" destId="{42F65E4A-4046-423F-816F-F604C63C24CE}" srcOrd="0" destOrd="3" presId="urn:microsoft.com/office/officeart/2005/8/layout/hList1"/>
    <dgm:cxn modelId="{6C775080-9350-40B0-A470-86F8942EE5BD}" type="presOf" srcId="{2F1FFB66-AC35-431E-8243-596C05D1F10A}" destId="{11D2768F-00CD-4821-B452-C4E2099DCEB8}" srcOrd="0" destOrd="0" presId="urn:microsoft.com/office/officeart/2005/8/layout/hList1"/>
    <dgm:cxn modelId="{A277CF8F-AD62-42F7-8D1C-17CE7E5F690F}" srcId="{2F1FFB66-AC35-431E-8243-596C05D1F10A}" destId="{D8CB5D6E-404D-40E4-9D7C-839EFF48C1EB}" srcOrd="1" destOrd="0" parTransId="{D4544CDF-1518-4D34-AF6D-8847A4A30B95}" sibTransId="{D4F14E2A-94E6-4D9A-9561-04F2CAE51772}"/>
    <dgm:cxn modelId="{57071692-5A5F-4647-9F7E-2767EC668484}" srcId="{932E034E-2C4D-47A2-B2D4-4A7844A152F5}" destId="{BBAC64C1-310C-4D0A-AC72-44E946BE26A1}" srcOrd="3" destOrd="0" parTransId="{B7B49869-EA82-4976-ACB1-ADE7119C1860}" sibTransId="{60241998-FE1D-45EA-8E59-2AB42C999DD1}"/>
    <dgm:cxn modelId="{E1812395-F7CB-4BE3-85A8-115F952BA51A}" type="presOf" srcId="{932E034E-2C4D-47A2-B2D4-4A7844A152F5}" destId="{8C94117D-A297-49AD-9A77-7E361E88E06C}" srcOrd="0" destOrd="0" presId="urn:microsoft.com/office/officeart/2005/8/layout/hList1"/>
    <dgm:cxn modelId="{014CD8A7-E32D-455F-8865-BAD2D373D99A}" srcId="{932E034E-2C4D-47A2-B2D4-4A7844A152F5}" destId="{33C44191-74D7-4546-BDE5-C0E3B521C867}" srcOrd="0" destOrd="0" parTransId="{A4FD2AD3-ABCB-474F-A0DD-E4F188F0FF1F}" sibTransId="{0141D86E-7132-4FED-A662-40664D1FA580}"/>
    <dgm:cxn modelId="{562E7BAA-86AD-4C15-AAFD-B01FCB162FD9}" type="presOf" srcId="{FC3EE38F-F627-4B43-BC54-FF33B2EAA4EE}" destId="{E8CF4082-94F3-4A40-B19A-EFC7A3261758}" srcOrd="0" destOrd="0" presId="urn:microsoft.com/office/officeart/2005/8/layout/hList1"/>
    <dgm:cxn modelId="{F9530DAB-9D8E-411C-996B-19970CA7F138}" srcId="{FC3EE38F-F627-4B43-BC54-FF33B2EAA4EE}" destId="{F1B0F4BC-40E0-4EEC-868C-3CF220BF27B9}" srcOrd="3" destOrd="0" parTransId="{BE010098-542F-417D-9060-1FD8D816BA78}" sibTransId="{2B29C08F-D01C-4676-AC05-83C3565945D8}"/>
    <dgm:cxn modelId="{3373D9AC-00A0-48FC-A764-F6E4F4F74149}" type="presOf" srcId="{11D31A0F-7C29-49DC-8710-C7FB6D0CF7F9}" destId="{F3E80BBF-BF55-42C1-B763-9173CDB129C7}" srcOrd="0" destOrd="1" presId="urn:microsoft.com/office/officeart/2005/8/layout/hList1"/>
    <dgm:cxn modelId="{569223AD-D99C-4AF3-AD1F-E61334FFD499}" srcId="{491E54D5-3400-4025-AAEA-FA29CA631D38}" destId="{D1D4F045-92C7-4B72-916C-3DC4BA28A23E}" srcOrd="2" destOrd="0" parTransId="{8A29C4E1-9F88-4F10-BC9A-26AED18877A0}" sibTransId="{07CDA395-EED9-4DDD-83C7-7383B56DC434}"/>
    <dgm:cxn modelId="{A24117B6-8EC8-49EF-B6AC-C14D0E4AA43A}" type="presOf" srcId="{CCB950E9-DA4F-40C0-8EB3-67D384E1D5BF}" destId="{E46D2A28-3955-4C02-B1FD-361BAB6A81C6}" srcOrd="0" destOrd="2" presId="urn:microsoft.com/office/officeart/2005/8/layout/hList1"/>
    <dgm:cxn modelId="{70BCF0BD-E277-40DE-B362-A59F7EEED39F}" type="presOf" srcId="{E6049559-3F6E-4654-B124-E074CD098154}" destId="{E46D2A28-3955-4C02-B1FD-361BAB6A81C6}" srcOrd="0" destOrd="0" presId="urn:microsoft.com/office/officeart/2005/8/layout/hList1"/>
    <dgm:cxn modelId="{92B4D5BE-01C4-4B3A-BB81-5FF2CF60566B}" srcId="{491E54D5-3400-4025-AAEA-FA29CA631D38}" destId="{70971647-2E84-4116-8331-2F3A0D266ED3}" srcOrd="1" destOrd="0" parTransId="{D38090C2-3A0D-4C16-AF11-3FFD0AEEF325}" sibTransId="{883315EA-FEC1-48C8-A019-BB667B13BAF5}"/>
    <dgm:cxn modelId="{927BC0C4-EF21-453D-B1AA-F1BACA3D9168}" type="presOf" srcId="{04AFF403-9020-4B48-A932-28DFB95E13D7}" destId="{42F65E4A-4046-423F-816F-F604C63C24CE}" srcOrd="0" destOrd="1" presId="urn:microsoft.com/office/officeart/2005/8/layout/hList1"/>
    <dgm:cxn modelId="{0DEC37CF-C5A2-4D09-A320-8323BF58DED0}" type="presOf" srcId="{685A9436-90C9-48E0-99F6-815298033537}" destId="{6BE20856-638A-4495-891E-0DE4A4107915}" srcOrd="0" destOrd="3" presId="urn:microsoft.com/office/officeart/2005/8/layout/hList1"/>
    <dgm:cxn modelId="{CDF39CCF-74ED-401C-A393-DD12F28FF2B0}" type="presOf" srcId="{33C44191-74D7-4546-BDE5-C0E3B521C867}" destId="{F3E80BBF-BF55-42C1-B763-9173CDB129C7}" srcOrd="0" destOrd="0" presId="urn:microsoft.com/office/officeart/2005/8/layout/hList1"/>
    <dgm:cxn modelId="{C107CDF1-8F4A-45F0-94F5-7E1CC8FC8FEE}" type="presOf" srcId="{BBAC64C1-310C-4D0A-AC72-44E946BE26A1}" destId="{F3E80BBF-BF55-42C1-B763-9173CDB129C7}" srcOrd="0" destOrd="3" presId="urn:microsoft.com/office/officeart/2005/8/layout/hList1"/>
    <dgm:cxn modelId="{68E602F5-664B-45DF-8BC5-B42564043C18}" type="presOf" srcId="{70971647-2E84-4116-8331-2F3A0D266ED3}" destId="{6BE20856-638A-4495-891E-0DE4A4107915}" srcOrd="0" destOrd="1" presId="urn:microsoft.com/office/officeart/2005/8/layout/hList1"/>
    <dgm:cxn modelId="{A640C137-051C-4EFC-AB52-09E57FB5489E}" type="presParOf" srcId="{11D2768F-00CD-4821-B452-C4E2099DCEB8}" destId="{EAA9BA44-811D-479D-A761-6DA8F72654BB}" srcOrd="0" destOrd="0" presId="urn:microsoft.com/office/officeart/2005/8/layout/hList1"/>
    <dgm:cxn modelId="{3B7C11CB-1E8B-4125-A36D-0881F1DEA3B0}" type="presParOf" srcId="{EAA9BA44-811D-479D-A761-6DA8F72654BB}" destId="{8C94117D-A297-49AD-9A77-7E361E88E06C}" srcOrd="0" destOrd="0" presId="urn:microsoft.com/office/officeart/2005/8/layout/hList1"/>
    <dgm:cxn modelId="{07BBF09B-32D5-4E76-B534-085ED41F80A4}" type="presParOf" srcId="{EAA9BA44-811D-479D-A761-6DA8F72654BB}" destId="{F3E80BBF-BF55-42C1-B763-9173CDB129C7}" srcOrd="1" destOrd="0" presId="urn:microsoft.com/office/officeart/2005/8/layout/hList1"/>
    <dgm:cxn modelId="{1FDE7E55-92F4-4488-B452-48A0091A66AE}" type="presParOf" srcId="{11D2768F-00CD-4821-B452-C4E2099DCEB8}" destId="{2A23BFB2-4D2A-4230-8D60-9FB07A1B4A73}" srcOrd="1" destOrd="0" presId="urn:microsoft.com/office/officeart/2005/8/layout/hList1"/>
    <dgm:cxn modelId="{2965C69F-4B81-4784-8709-595E5BC84946}" type="presParOf" srcId="{11D2768F-00CD-4821-B452-C4E2099DCEB8}" destId="{1136C00D-68C1-4658-B310-5037FCEC21A8}" srcOrd="2" destOrd="0" presId="urn:microsoft.com/office/officeart/2005/8/layout/hList1"/>
    <dgm:cxn modelId="{6EC52D53-4F49-441E-9C68-2C4017DF60E5}" type="presParOf" srcId="{1136C00D-68C1-4658-B310-5037FCEC21A8}" destId="{384C5016-9F62-4A07-B22E-5D735BBF00CC}" srcOrd="0" destOrd="0" presId="urn:microsoft.com/office/officeart/2005/8/layout/hList1"/>
    <dgm:cxn modelId="{3D7D5CAB-DFA7-42FA-9B28-E8BF4285F1C0}" type="presParOf" srcId="{1136C00D-68C1-4658-B310-5037FCEC21A8}" destId="{42F65E4A-4046-423F-816F-F604C63C24CE}" srcOrd="1" destOrd="0" presId="urn:microsoft.com/office/officeart/2005/8/layout/hList1"/>
    <dgm:cxn modelId="{35CFC1A2-5738-434F-92E7-CDAF2FE69FDF}" type="presParOf" srcId="{11D2768F-00CD-4821-B452-C4E2099DCEB8}" destId="{1C972F8B-C7B5-4323-9EAC-7DD3CF65FB87}" srcOrd="3" destOrd="0" presId="urn:microsoft.com/office/officeart/2005/8/layout/hList1"/>
    <dgm:cxn modelId="{0827F2DE-AF1A-44A5-A878-B4BDE75F0CD6}" type="presParOf" srcId="{11D2768F-00CD-4821-B452-C4E2099DCEB8}" destId="{62CA7642-1D47-4295-9FF7-ED55811D529D}" srcOrd="4" destOrd="0" presId="urn:microsoft.com/office/officeart/2005/8/layout/hList1"/>
    <dgm:cxn modelId="{19B9B9B7-D634-431F-ADD3-AC298A3060C8}" type="presParOf" srcId="{62CA7642-1D47-4295-9FF7-ED55811D529D}" destId="{58914A5B-37AE-409B-839B-E694BB55D56F}" srcOrd="0" destOrd="0" presId="urn:microsoft.com/office/officeart/2005/8/layout/hList1"/>
    <dgm:cxn modelId="{8AC81E11-976E-45B2-A51C-80252E761507}" type="presParOf" srcId="{62CA7642-1D47-4295-9FF7-ED55811D529D}" destId="{6BE20856-638A-4495-891E-0DE4A4107915}" srcOrd="1" destOrd="0" presId="urn:microsoft.com/office/officeart/2005/8/layout/hList1"/>
    <dgm:cxn modelId="{90B3F704-8F46-43C1-B93D-69ADB7AB4DFB}" type="presParOf" srcId="{11D2768F-00CD-4821-B452-C4E2099DCEB8}" destId="{27E5CAA9-84FA-4DFA-AAFD-37A131FB7B2E}" srcOrd="5" destOrd="0" presId="urn:microsoft.com/office/officeart/2005/8/layout/hList1"/>
    <dgm:cxn modelId="{6A22F90D-C711-48F1-818D-42151CEFA41B}" type="presParOf" srcId="{11D2768F-00CD-4821-B452-C4E2099DCEB8}" destId="{11CF15E9-4971-4E40-86DF-49E6D63DF271}" srcOrd="6" destOrd="0" presId="urn:microsoft.com/office/officeart/2005/8/layout/hList1"/>
    <dgm:cxn modelId="{0E2C35AD-839F-4F5A-9856-60E51D80C5E3}" type="presParOf" srcId="{11CF15E9-4971-4E40-86DF-49E6D63DF271}" destId="{E8CF4082-94F3-4A40-B19A-EFC7A3261758}" srcOrd="0" destOrd="0" presId="urn:microsoft.com/office/officeart/2005/8/layout/hList1"/>
    <dgm:cxn modelId="{6B976FA8-4604-46E7-8D33-3DC469FE33C2}" type="presParOf" srcId="{11CF15E9-4971-4E40-86DF-49E6D63DF271}" destId="{E46D2A28-3955-4C02-B1FD-361BAB6A81C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D865ED7-1574-444F-BA39-D12551FB993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pt-BR"/>
        </a:p>
      </dgm:t>
    </dgm:pt>
    <dgm:pt modelId="{3BCCBD13-9D8B-442B-8CB9-4C7684748121}">
      <dgm:prSet phldrT="[Texto]"/>
      <dgm:spPr/>
      <dgm:t>
        <a:bodyPr/>
        <a:lstStyle/>
        <a:p>
          <a:pPr>
            <a:lnSpc>
              <a:spcPct val="100000"/>
            </a:lnSpc>
          </a:pPr>
          <a:r>
            <a:rPr lang="pt-BR" dirty="0" err="1"/>
            <a:t>Secure</a:t>
          </a:r>
          <a:r>
            <a:rPr lang="pt-BR" dirty="0"/>
            <a:t> </a:t>
          </a:r>
          <a:r>
            <a:rPr lang="pt-BR" dirty="0" err="1"/>
            <a:t>Transfer</a:t>
          </a:r>
          <a:r>
            <a:rPr lang="pt-BR" dirty="0"/>
            <a:t> </a:t>
          </a:r>
          <a:r>
            <a:rPr lang="pt-BR" dirty="0" err="1"/>
            <a:t>Required</a:t>
          </a:r>
          <a:endParaRPr lang="pt-BR" dirty="0"/>
        </a:p>
      </dgm:t>
    </dgm:pt>
    <dgm:pt modelId="{BDFEE509-5A0F-444A-9779-770BF9351FCD}" type="parTrans" cxnId="{4066DAF4-4336-4DB6-B833-A19B90B7AF3D}">
      <dgm:prSet/>
      <dgm:spPr/>
      <dgm:t>
        <a:bodyPr/>
        <a:lstStyle/>
        <a:p>
          <a:endParaRPr lang="pt-BR"/>
        </a:p>
      </dgm:t>
    </dgm:pt>
    <dgm:pt modelId="{4112AD05-580F-4F55-8595-7EE4121D13CE}" type="sibTrans" cxnId="{4066DAF4-4336-4DB6-B833-A19B90B7AF3D}">
      <dgm:prSet/>
      <dgm:spPr/>
      <dgm:t>
        <a:bodyPr/>
        <a:lstStyle/>
        <a:p>
          <a:endParaRPr lang="pt-BR"/>
        </a:p>
      </dgm:t>
    </dgm:pt>
    <dgm:pt modelId="{477CD47B-CEA1-4886-B096-CC2D679AB412}">
      <dgm:prSet phldrT="[Texto]"/>
      <dgm:spPr/>
      <dgm:t>
        <a:bodyPr/>
        <a:lstStyle/>
        <a:p>
          <a:pPr>
            <a:lnSpc>
              <a:spcPct val="100000"/>
            </a:lnSpc>
          </a:pPr>
          <a:r>
            <a:rPr lang="pt-BR" kern="1200">
              <a:latin typeface="Calibri" panose="020F0502020204030204"/>
              <a:ea typeface="+mn-ea"/>
              <a:cs typeface="+mn-cs"/>
            </a:rPr>
            <a:t>Data</a:t>
          </a:r>
          <a:r>
            <a:rPr lang="pt-BR" kern="1200"/>
            <a:t> </a:t>
          </a:r>
          <a:r>
            <a:rPr lang="pt-BR" kern="1200">
              <a:latin typeface="Calibri" panose="020F0502020204030204"/>
              <a:ea typeface="+mn-ea"/>
              <a:cs typeface="+mn-cs"/>
            </a:rPr>
            <a:t>Protection</a:t>
          </a:r>
        </a:p>
      </dgm:t>
    </dgm:pt>
    <dgm:pt modelId="{EB2EF39D-E269-41BD-8E76-7E043B8FFE1E}" type="parTrans" cxnId="{85D99866-6CE7-407C-9957-6D12F7DDABD0}">
      <dgm:prSet/>
      <dgm:spPr/>
      <dgm:t>
        <a:bodyPr/>
        <a:lstStyle/>
        <a:p>
          <a:endParaRPr lang="pt-BR"/>
        </a:p>
      </dgm:t>
    </dgm:pt>
    <dgm:pt modelId="{794034B4-D77D-4FB7-85BD-7CCFB35A8D23}" type="sibTrans" cxnId="{85D99866-6CE7-407C-9957-6D12F7DDABD0}">
      <dgm:prSet/>
      <dgm:spPr/>
      <dgm:t>
        <a:bodyPr/>
        <a:lstStyle/>
        <a:p>
          <a:endParaRPr lang="pt-BR"/>
        </a:p>
      </dgm:t>
    </dgm:pt>
    <dgm:pt modelId="{5EECF1B6-3A5A-414C-AA12-13B5B22BDC17}">
      <dgm:prSet phldrT="[Texto]"/>
      <dgm:spPr/>
      <dgm:t>
        <a:bodyPr/>
        <a:lstStyle/>
        <a:p>
          <a:pPr>
            <a:lnSpc>
              <a:spcPct val="100000"/>
            </a:lnSpc>
          </a:pPr>
          <a:r>
            <a:rPr lang="pt-BR" kern="1200">
              <a:latin typeface="Calibri" panose="020F0502020204030204"/>
              <a:ea typeface="+mn-ea"/>
              <a:cs typeface="+mn-cs"/>
            </a:rPr>
            <a:t>Data</a:t>
          </a:r>
          <a:r>
            <a:rPr lang="pt-BR" kern="1200"/>
            <a:t> </a:t>
          </a:r>
          <a:r>
            <a:rPr lang="pt-BR" kern="1200">
              <a:latin typeface="Calibri" panose="020F0502020204030204"/>
              <a:ea typeface="+mn-ea"/>
              <a:cs typeface="+mn-cs"/>
            </a:rPr>
            <a:t>Lake</a:t>
          </a:r>
          <a:r>
            <a:rPr lang="pt-BR" kern="1200"/>
            <a:t> </a:t>
          </a:r>
          <a:r>
            <a:rPr lang="pt-BR" kern="1200">
              <a:latin typeface="Calibri" panose="020F0502020204030204"/>
              <a:ea typeface="+mn-ea"/>
              <a:cs typeface="+mn-cs"/>
            </a:rPr>
            <a:t>Storage</a:t>
          </a:r>
          <a:r>
            <a:rPr lang="pt-BR" kern="1200"/>
            <a:t> </a:t>
          </a:r>
          <a:r>
            <a:rPr lang="pt-BR" kern="1200">
              <a:latin typeface="Calibri" panose="020F0502020204030204"/>
              <a:ea typeface="+mn-ea"/>
              <a:cs typeface="+mn-cs"/>
            </a:rPr>
            <a:t>Gen</a:t>
          </a:r>
          <a:r>
            <a:rPr lang="pt-BR" kern="1200"/>
            <a:t> </a:t>
          </a:r>
          <a:r>
            <a:rPr lang="pt-BR" kern="1200">
              <a:latin typeface="Calibri" panose="020F0502020204030204"/>
              <a:ea typeface="+mn-ea"/>
              <a:cs typeface="+mn-cs"/>
            </a:rPr>
            <a:t>2</a:t>
          </a:r>
        </a:p>
      </dgm:t>
    </dgm:pt>
    <dgm:pt modelId="{BA5B0183-B5CB-4A3C-B4E3-F21811186582}" type="parTrans" cxnId="{C073B1F7-7799-48FA-BF04-B17C4664F2C3}">
      <dgm:prSet/>
      <dgm:spPr/>
      <dgm:t>
        <a:bodyPr/>
        <a:lstStyle/>
        <a:p>
          <a:endParaRPr lang="pt-BR"/>
        </a:p>
      </dgm:t>
    </dgm:pt>
    <dgm:pt modelId="{2F75639F-6F09-498A-B9D4-8A0C32C7B831}" type="sibTrans" cxnId="{C073B1F7-7799-48FA-BF04-B17C4664F2C3}">
      <dgm:prSet/>
      <dgm:spPr/>
      <dgm:t>
        <a:bodyPr/>
        <a:lstStyle/>
        <a:p>
          <a:endParaRPr lang="pt-BR"/>
        </a:p>
      </dgm:t>
    </dgm:pt>
    <dgm:pt modelId="{480B366E-CC52-4364-8E83-C847A469A6FE}">
      <dgm:prSet custT="1"/>
      <dgm:spPr/>
      <dgm:t>
        <a:bodyPr/>
        <a:lstStyle/>
        <a:p>
          <a:pPr>
            <a:lnSpc>
              <a:spcPct val="100000"/>
            </a:lnSpc>
          </a:pPr>
          <a:r>
            <a:rPr lang="pt-BR" sz="1400" b="0" i="0" dirty="0"/>
            <a:t>Melhora a segurança da conta de armazenamento, permitindo apenas solicitações seguras, qualquer conexão sem criptografia falhará. Por exemplo aceita conexão HTTPS e rejeita HTTP, SMB 2.1, SMB 3.0 e cliente Linux SMB sem criptografia.</a:t>
          </a:r>
          <a:endParaRPr lang="pt-BR" sz="1400" dirty="0"/>
        </a:p>
      </dgm:t>
    </dgm:pt>
    <dgm:pt modelId="{23F11388-314D-42FC-8586-71E3B337A3ED}" type="parTrans" cxnId="{39228796-0129-4F74-8AF5-4654095A1E83}">
      <dgm:prSet/>
      <dgm:spPr/>
      <dgm:t>
        <a:bodyPr/>
        <a:lstStyle/>
        <a:p>
          <a:endParaRPr lang="pt-BR"/>
        </a:p>
      </dgm:t>
    </dgm:pt>
    <dgm:pt modelId="{3E1A892F-B907-45D9-9A7F-1D266E76EC8F}" type="sibTrans" cxnId="{39228796-0129-4F74-8AF5-4654095A1E83}">
      <dgm:prSet/>
      <dgm:spPr/>
      <dgm:t>
        <a:bodyPr/>
        <a:lstStyle/>
        <a:p>
          <a:endParaRPr lang="pt-BR"/>
        </a:p>
      </dgm:t>
    </dgm:pt>
    <dgm:pt modelId="{3F71A125-E860-4201-8A5D-DD014B5B2324}">
      <dgm:prSet custT="1"/>
      <dgm:spPr/>
      <dgm:t>
        <a:bodyPr/>
        <a:lstStyle/>
        <a:p>
          <a:pPr>
            <a:lnSpc>
              <a:spcPct val="100000"/>
            </a:lnSpc>
          </a:pPr>
          <a:r>
            <a:rPr lang="pt-BR" sz="1400" b="0" i="0" kern="1200" dirty="0">
              <a:solidFill>
                <a:prstClr val="white">
                  <a:hueOff val="0"/>
                  <a:satOff val="0"/>
                  <a:lumOff val="0"/>
                  <a:alphaOff val="0"/>
                </a:prstClr>
              </a:solidFill>
              <a:latin typeface="Calibri" panose="020F0502020204030204"/>
              <a:ea typeface="+mn-ea"/>
              <a:cs typeface="+mn-cs"/>
            </a:rPr>
            <a:t>Quando os dados são excluídos, eles passam para um estado excluído suave em vez de serem permanentemente apagados.</a:t>
          </a:r>
        </a:p>
      </dgm:t>
    </dgm:pt>
    <dgm:pt modelId="{0CA6E707-07A7-4449-85AE-DEBABF30F402}" type="parTrans" cxnId="{93DA8260-D82A-4C6F-B0D8-3F54E83C1D58}">
      <dgm:prSet/>
      <dgm:spPr/>
      <dgm:t>
        <a:bodyPr/>
        <a:lstStyle/>
        <a:p>
          <a:endParaRPr lang="pt-BR"/>
        </a:p>
      </dgm:t>
    </dgm:pt>
    <dgm:pt modelId="{FE21D61F-BC1B-42B6-8CF4-A86A4A658AE8}" type="sibTrans" cxnId="{93DA8260-D82A-4C6F-B0D8-3F54E83C1D58}">
      <dgm:prSet/>
      <dgm:spPr/>
      <dgm:t>
        <a:bodyPr/>
        <a:lstStyle/>
        <a:p>
          <a:endParaRPr lang="pt-BR"/>
        </a:p>
      </dgm:t>
    </dgm:pt>
    <dgm:pt modelId="{8FB8CB22-43F6-4B49-8839-C124212CC5AC}">
      <dgm:prSet phldrT="[Texto]"/>
      <dgm:spPr/>
      <dgm:t>
        <a:bodyPr/>
        <a:lstStyle/>
        <a:p>
          <a:pPr>
            <a:lnSpc>
              <a:spcPct val="100000"/>
            </a:lnSpc>
          </a:pPr>
          <a:r>
            <a:rPr lang="pt-BR" kern="1200" dirty="0">
              <a:latin typeface="Calibri" panose="020F0502020204030204"/>
              <a:ea typeface="+mn-ea"/>
              <a:cs typeface="+mn-cs"/>
            </a:rPr>
            <a:t>Virtual</a:t>
          </a:r>
          <a:r>
            <a:rPr lang="pt-BR" kern="1200" dirty="0"/>
            <a:t> </a:t>
          </a:r>
          <a:r>
            <a:rPr lang="pt-BR" kern="1200" dirty="0">
              <a:latin typeface="Calibri" panose="020F0502020204030204"/>
              <a:ea typeface="+mn-ea"/>
              <a:cs typeface="+mn-cs"/>
            </a:rPr>
            <a:t>Networks</a:t>
          </a:r>
        </a:p>
      </dgm:t>
    </dgm:pt>
    <dgm:pt modelId="{70482BDD-4B3D-4EC7-BBB7-722BC2C05819}" type="parTrans" cxnId="{F2420C07-10EA-4197-98CC-C7EDAB66F765}">
      <dgm:prSet/>
      <dgm:spPr/>
      <dgm:t>
        <a:bodyPr/>
        <a:lstStyle/>
        <a:p>
          <a:endParaRPr lang="pt-BR"/>
        </a:p>
      </dgm:t>
    </dgm:pt>
    <dgm:pt modelId="{C107CC24-DFE6-44CB-84F0-8BD4121B16FE}" type="sibTrans" cxnId="{F2420C07-10EA-4197-98CC-C7EDAB66F765}">
      <dgm:prSet/>
      <dgm:spPr/>
      <dgm:t>
        <a:bodyPr/>
        <a:lstStyle/>
        <a:p>
          <a:endParaRPr lang="pt-BR"/>
        </a:p>
      </dgm:t>
    </dgm:pt>
    <dgm:pt modelId="{5087EC7F-8BC3-4BCF-A2B3-093965480D05}">
      <dgm:prSet custT="1"/>
      <dgm:spPr/>
      <dgm:t>
        <a:bodyPr/>
        <a:lstStyle/>
        <a:p>
          <a:pPr>
            <a:lnSpc>
              <a:spcPct val="100000"/>
            </a:lnSpc>
          </a:pPr>
          <a:r>
            <a:rPr lang="pt-BR" sz="1400" b="0" i="0" kern="1200" dirty="0">
              <a:solidFill>
                <a:prstClr val="white">
                  <a:hueOff val="0"/>
                  <a:satOff val="0"/>
                  <a:lumOff val="0"/>
                  <a:alphaOff val="0"/>
                </a:prstClr>
              </a:solidFill>
              <a:latin typeface="Calibri" panose="020F0502020204030204"/>
              <a:ea typeface="+mn-ea"/>
              <a:cs typeface="+mn-cs"/>
            </a:rPr>
            <a:t>Define as permissões para redes acessarem as </a:t>
          </a:r>
          <a:r>
            <a:rPr lang="pt-BR" sz="1400" b="0" i="0" kern="1200" dirty="0" err="1">
              <a:solidFill>
                <a:prstClr val="white">
                  <a:hueOff val="0"/>
                  <a:satOff val="0"/>
                  <a:lumOff val="0"/>
                  <a:alphaOff val="0"/>
                </a:prstClr>
              </a:solidFill>
              <a:latin typeface="Calibri" panose="020F0502020204030204"/>
              <a:ea typeface="+mn-ea"/>
              <a:cs typeface="+mn-cs"/>
            </a:rPr>
            <a:t>storages</a:t>
          </a:r>
          <a:endParaRPr lang="pt-BR" sz="1400" b="0" i="0" kern="1200" dirty="0">
            <a:solidFill>
              <a:prstClr val="white">
                <a:hueOff val="0"/>
                <a:satOff val="0"/>
                <a:lumOff val="0"/>
                <a:alphaOff val="0"/>
              </a:prstClr>
            </a:solidFill>
            <a:latin typeface="Calibri" panose="020F0502020204030204"/>
            <a:ea typeface="+mn-ea"/>
            <a:cs typeface="+mn-cs"/>
          </a:endParaRPr>
        </a:p>
      </dgm:t>
    </dgm:pt>
    <dgm:pt modelId="{27011991-2260-464D-B804-4C178EBE447B}" type="parTrans" cxnId="{AE5AB508-5209-4B8D-8853-D680689A5229}">
      <dgm:prSet/>
      <dgm:spPr/>
      <dgm:t>
        <a:bodyPr/>
        <a:lstStyle/>
        <a:p>
          <a:endParaRPr lang="pt-BR"/>
        </a:p>
      </dgm:t>
    </dgm:pt>
    <dgm:pt modelId="{454564C9-205B-4A83-AF1B-E76590614824}" type="sibTrans" cxnId="{AE5AB508-5209-4B8D-8853-D680689A5229}">
      <dgm:prSet/>
      <dgm:spPr/>
      <dgm:t>
        <a:bodyPr/>
        <a:lstStyle/>
        <a:p>
          <a:endParaRPr lang="pt-BR"/>
        </a:p>
      </dgm:t>
    </dgm:pt>
    <dgm:pt modelId="{3B53DD56-8673-4441-92BF-B06688680323}">
      <dgm:prSet custT="1"/>
      <dgm:spPr/>
      <dgm:t>
        <a:bodyPr/>
        <a:lstStyle/>
        <a:p>
          <a:pPr>
            <a:lnSpc>
              <a:spcPct val="100000"/>
            </a:lnSpc>
          </a:pPr>
          <a:r>
            <a:rPr lang="pt-BR" sz="1400" b="0" i="0" kern="1200" dirty="0">
              <a:solidFill>
                <a:prstClr val="white">
                  <a:hueOff val="0"/>
                  <a:satOff val="0"/>
                  <a:lumOff val="0"/>
                  <a:alphaOff val="0"/>
                </a:prstClr>
              </a:solidFill>
              <a:latin typeface="Calibri" panose="020F0502020204030204"/>
              <a:ea typeface="+mn-ea"/>
              <a:cs typeface="+mn-cs"/>
            </a:rPr>
            <a:t>Torna o armazenamento do Azure a fundação para a criação de data </a:t>
          </a:r>
          <a:r>
            <a:rPr lang="pt-BR" sz="1400" b="0" i="0" kern="1200" dirty="0" err="1">
              <a:solidFill>
                <a:prstClr val="white">
                  <a:hueOff val="0"/>
                  <a:satOff val="0"/>
                  <a:lumOff val="0"/>
                  <a:alphaOff val="0"/>
                </a:prstClr>
              </a:solidFill>
              <a:latin typeface="Calibri" panose="020F0502020204030204"/>
              <a:ea typeface="+mn-ea"/>
              <a:cs typeface="+mn-cs"/>
            </a:rPr>
            <a:t>lakes</a:t>
          </a:r>
          <a:r>
            <a:rPr lang="pt-BR" sz="1400" b="0" i="0" kern="1200" dirty="0">
              <a:solidFill>
                <a:prstClr val="white">
                  <a:hueOff val="0"/>
                  <a:satOff val="0"/>
                  <a:lumOff val="0"/>
                  <a:alphaOff val="0"/>
                </a:prstClr>
              </a:solidFill>
              <a:latin typeface="Calibri" panose="020F0502020204030204"/>
              <a:ea typeface="+mn-ea"/>
              <a:cs typeface="+mn-cs"/>
            </a:rPr>
            <a:t> empresariais. Projetado atender a vários </a:t>
          </a:r>
          <a:r>
            <a:rPr lang="pt-BR" sz="1400" b="0" i="0" kern="1200" dirty="0" err="1">
              <a:solidFill>
                <a:prstClr val="white">
                  <a:hueOff val="0"/>
                  <a:satOff val="0"/>
                  <a:lumOff val="0"/>
                  <a:alphaOff val="0"/>
                </a:prstClr>
              </a:solidFill>
              <a:latin typeface="Calibri" panose="020F0502020204030204"/>
              <a:ea typeface="+mn-ea"/>
              <a:cs typeface="+mn-cs"/>
            </a:rPr>
            <a:t>petabytes</a:t>
          </a:r>
          <a:r>
            <a:rPr lang="pt-BR" sz="1400" b="0" i="0" kern="1200" dirty="0">
              <a:solidFill>
                <a:prstClr val="white">
                  <a:hueOff val="0"/>
                  <a:satOff val="0"/>
                  <a:lumOff val="0"/>
                  <a:alphaOff val="0"/>
                </a:prstClr>
              </a:solidFill>
              <a:latin typeface="Calibri" panose="020F0502020204030204"/>
              <a:ea typeface="+mn-ea"/>
              <a:cs typeface="+mn-cs"/>
            </a:rPr>
            <a:t> de informações, mantém centenas de gigabits de taxa de transferência permitindo que você gerencie de uma maneira fácil grandes quantidades de dados.</a:t>
          </a:r>
        </a:p>
      </dgm:t>
    </dgm:pt>
    <dgm:pt modelId="{84979E65-2523-407C-A98B-31563EFF7757}" type="parTrans" cxnId="{1054F626-B9BF-40F3-BBFA-12E3F8D2AB23}">
      <dgm:prSet/>
      <dgm:spPr/>
      <dgm:t>
        <a:bodyPr/>
        <a:lstStyle/>
        <a:p>
          <a:endParaRPr lang="pt-BR"/>
        </a:p>
      </dgm:t>
    </dgm:pt>
    <dgm:pt modelId="{875ED01B-C7AE-4A74-B653-0FBB2936A0CA}" type="sibTrans" cxnId="{1054F626-B9BF-40F3-BBFA-12E3F8D2AB23}">
      <dgm:prSet/>
      <dgm:spPr/>
      <dgm:t>
        <a:bodyPr/>
        <a:lstStyle/>
        <a:p>
          <a:endParaRPr lang="pt-BR"/>
        </a:p>
      </dgm:t>
    </dgm:pt>
    <dgm:pt modelId="{286BB799-6A84-4DF1-82FA-FCE5B2263163}" type="pres">
      <dgm:prSet presAssocID="{9D865ED7-1574-444F-BA39-D12551FB9931}" presName="root" presStyleCnt="0">
        <dgm:presLayoutVars>
          <dgm:dir/>
          <dgm:resizeHandles val="exact"/>
        </dgm:presLayoutVars>
      </dgm:prSet>
      <dgm:spPr/>
    </dgm:pt>
    <dgm:pt modelId="{D947C5B4-39E5-479B-AA11-3240622C798E}" type="pres">
      <dgm:prSet presAssocID="{3BCCBD13-9D8B-442B-8CB9-4C7684748121}" presName="compNode" presStyleCnt="0"/>
      <dgm:spPr/>
    </dgm:pt>
    <dgm:pt modelId="{1A18DF67-1D23-4AF1-BD1F-E6CC2A58F5D1}" type="pres">
      <dgm:prSet presAssocID="{3BCCBD13-9D8B-442B-8CB9-4C7684748121}" presName="bgRect" presStyleLbl="bgShp" presStyleIdx="0" presStyleCnt="4"/>
      <dgm:spPr/>
    </dgm:pt>
    <dgm:pt modelId="{43B974E2-1D06-40C4-9CC7-7ECD2C9194C2}" type="pres">
      <dgm:prSet presAssocID="{3BCCBD13-9D8B-442B-8CB9-4C768474812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F6AA6C2F-34F2-4A83-B547-B6167E3F54E5}" type="pres">
      <dgm:prSet presAssocID="{3BCCBD13-9D8B-442B-8CB9-4C7684748121}" presName="spaceRect" presStyleCnt="0"/>
      <dgm:spPr/>
    </dgm:pt>
    <dgm:pt modelId="{13C2123B-51B1-4DBC-958A-70DF696BE4D6}" type="pres">
      <dgm:prSet presAssocID="{3BCCBD13-9D8B-442B-8CB9-4C7684748121}" presName="parTx" presStyleLbl="revTx" presStyleIdx="0" presStyleCnt="8" custScaleX="75879" custLinFactNeighborX="-31881">
        <dgm:presLayoutVars>
          <dgm:chMax val="0"/>
          <dgm:chPref val="0"/>
        </dgm:presLayoutVars>
      </dgm:prSet>
      <dgm:spPr/>
    </dgm:pt>
    <dgm:pt modelId="{3A86E44E-1530-451B-8CFF-735B601BDEFD}" type="pres">
      <dgm:prSet presAssocID="{3BCCBD13-9D8B-442B-8CB9-4C7684748121}" presName="desTx" presStyleLbl="revTx" presStyleIdx="1" presStyleCnt="8" custScaleX="165647">
        <dgm:presLayoutVars/>
      </dgm:prSet>
      <dgm:spPr/>
    </dgm:pt>
    <dgm:pt modelId="{738695F8-93FD-472D-AAA9-9A0C65E550F4}" type="pres">
      <dgm:prSet presAssocID="{4112AD05-580F-4F55-8595-7EE4121D13CE}" presName="sibTrans" presStyleCnt="0"/>
      <dgm:spPr/>
    </dgm:pt>
    <dgm:pt modelId="{95ED97EE-5AF5-480F-B9A2-EC5E57D32F97}" type="pres">
      <dgm:prSet presAssocID="{8FB8CB22-43F6-4B49-8839-C124212CC5AC}" presName="compNode" presStyleCnt="0"/>
      <dgm:spPr/>
    </dgm:pt>
    <dgm:pt modelId="{B0622A69-C6EB-48D4-BAAA-98AEDAA03953}" type="pres">
      <dgm:prSet presAssocID="{8FB8CB22-43F6-4B49-8839-C124212CC5AC}" presName="bgRect" presStyleLbl="bgShp" presStyleIdx="1" presStyleCnt="4"/>
      <dgm:spPr/>
    </dgm:pt>
    <dgm:pt modelId="{741FD759-D5F0-4E3C-B78E-7830B6E153DD}" type="pres">
      <dgm:prSet presAssocID="{8FB8CB22-43F6-4B49-8839-C124212CC5A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orbidden"/>
        </a:ext>
      </dgm:extLst>
    </dgm:pt>
    <dgm:pt modelId="{3BA95A84-52AB-4333-8481-B6277995933A}" type="pres">
      <dgm:prSet presAssocID="{8FB8CB22-43F6-4B49-8839-C124212CC5AC}" presName="spaceRect" presStyleCnt="0"/>
      <dgm:spPr/>
    </dgm:pt>
    <dgm:pt modelId="{FD592BE8-5527-4E9E-80C4-23F27FD3995C}" type="pres">
      <dgm:prSet presAssocID="{8FB8CB22-43F6-4B49-8839-C124212CC5AC}" presName="parTx" presStyleLbl="revTx" presStyleIdx="2" presStyleCnt="8" custScaleX="75879" custLinFactNeighborX="-31881">
        <dgm:presLayoutVars>
          <dgm:chMax val="0"/>
          <dgm:chPref val="0"/>
        </dgm:presLayoutVars>
      </dgm:prSet>
      <dgm:spPr/>
    </dgm:pt>
    <dgm:pt modelId="{0C74E160-2B01-412F-BC98-7D3B85F2A305}" type="pres">
      <dgm:prSet presAssocID="{8FB8CB22-43F6-4B49-8839-C124212CC5AC}" presName="desTx" presStyleLbl="revTx" presStyleIdx="3" presStyleCnt="8" custScaleX="165647">
        <dgm:presLayoutVars/>
      </dgm:prSet>
      <dgm:spPr/>
    </dgm:pt>
    <dgm:pt modelId="{E45C4734-15BC-44D8-8BDB-C89C37CDCBBE}" type="pres">
      <dgm:prSet presAssocID="{C107CC24-DFE6-44CB-84F0-8BD4121B16FE}" presName="sibTrans" presStyleCnt="0"/>
      <dgm:spPr/>
    </dgm:pt>
    <dgm:pt modelId="{F312164B-5160-45B4-BA88-FAA58526568B}" type="pres">
      <dgm:prSet presAssocID="{477CD47B-CEA1-4886-B096-CC2D679AB412}" presName="compNode" presStyleCnt="0"/>
      <dgm:spPr/>
    </dgm:pt>
    <dgm:pt modelId="{127B532F-E12E-40B4-9883-CEA140382F9E}" type="pres">
      <dgm:prSet presAssocID="{477CD47B-CEA1-4886-B096-CC2D679AB412}" presName="bgRect" presStyleLbl="bgShp" presStyleIdx="2" presStyleCnt="4"/>
      <dgm:spPr/>
    </dgm:pt>
    <dgm:pt modelId="{C263F48A-9A58-4D96-9095-AB4782EF2EF3}" type="pres">
      <dgm:prSet presAssocID="{477CD47B-CEA1-4886-B096-CC2D679AB41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3A5C9C52-B6F5-4DCC-94C6-3FDB7444826B}" type="pres">
      <dgm:prSet presAssocID="{477CD47B-CEA1-4886-B096-CC2D679AB412}" presName="spaceRect" presStyleCnt="0"/>
      <dgm:spPr/>
    </dgm:pt>
    <dgm:pt modelId="{495E4023-862A-44D5-96D2-DF9958CB6CB2}" type="pres">
      <dgm:prSet presAssocID="{477CD47B-CEA1-4886-B096-CC2D679AB412}" presName="parTx" presStyleLbl="revTx" presStyleIdx="4" presStyleCnt="8" custScaleX="75879" custLinFactNeighborX="-31881">
        <dgm:presLayoutVars>
          <dgm:chMax val="0"/>
          <dgm:chPref val="0"/>
        </dgm:presLayoutVars>
      </dgm:prSet>
      <dgm:spPr/>
    </dgm:pt>
    <dgm:pt modelId="{2820AFAF-71D9-47D9-BDC3-1E13732FFE77}" type="pres">
      <dgm:prSet presAssocID="{477CD47B-CEA1-4886-B096-CC2D679AB412}" presName="desTx" presStyleLbl="revTx" presStyleIdx="5" presStyleCnt="8" custScaleX="165647">
        <dgm:presLayoutVars/>
      </dgm:prSet>
      <dgm:spPr/>
    </dgm:pt>
    <dgm:pt modelId="{E85D66B1-F3AF-4D90-A49F-7D1F0FA371A9}" type="pres">
      <dgm:prSet presAssocID="{794034B4-D77D-4FB7-85BD-7CCFB35A8D23}" presName="sibTrans" presStyleCnt="0"/>
      <dgm:spPr/>
    </dgm:pt>
    <dgm:pt modelId="{59DD8E7E-925B-4D3B-8F50-1DF51DB51898}" type="pres">
      <dgm:prSet presAssocID="{5EECF1B6-3A5A-414C-AA12-13B5B22BDC17}" presName="compNode" presStyleCnt="0"/>
      <dgm:spPr/>
    </dgm:pt>
    <dgm:pt modelId="{9B689EF3-DD76-469D-ACC2-BC7BDF98577E}" type="pres">
      <dgm:prSet presAssocID="{5EECF1B6-3A5A-414C-AA12-13B5B22BDC17}" presName="bgRect" presStyleLbl="bgShp" presStyleIdx="3" presStyleCnt="4"/>
      <dgm:spPr/>
    </dgm:pt>
    <dgm:pt modelId="{B56FFB07-9B2F-4285-9602-28EB1D3D9606}" type="pres">
      <dgm:prSet presAssocID="{5EECF1B6-3A5A-414C-AA12-13B5B22BDC1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Network"/>
        </a:ext>
      </dgm:extLst>
    </dgm:pt>
    <dgm:pt modelId="{06618C27-BEB0-4F20-88E9-7A77E20D63C7}" type="pres">
      <dgm:prSet presAssocID="{5EECF1B6-3A5A-414C-AA12-13B5B22BDC17}" presName="spaceRect" presStyleCnt="0"/>
      <dgm:spPr/>
    </dgm:pt>
    <dgm:pt modelId="{5236BADC-13E5-4E94-AD20-B90C4BA6E7B9}" type="pres">
      <dgm:prSet presAssocID="{5EECF1B6-3A5A-414C-AA12-13B5B22BDC17}" presName="parTx" presStyleLbl="revTx" presStyleIdx="6" presStyleCnt="8" custScaleX="75879" custLinFactNeighborX="-31881">
        <dgm:presLayoutVars>
          <dgm:chMax val="0"/>
          <dgm:chPref val="0"/>
        </dgm:presLayoutVars>
      </dgm:prSet>
      <dgm:spPr/>
    </dgm:pt>
    <dgm:pt modelId="{69726DAD-724F-4195-B60D-6DEF5189BC2C}" type="pres">
      <dgm:prSet presAssocID="{5EECF1B6-3A5A-414C-AA12-13B5B22BDC17}" presName="desTx" presStyleLbl="revTx" presStyleIdx="7" presStyleCnt="8" custScaleX="165647">
        <dgm:presLayoutVars/>
      </dgm:prSet>
      <dgm:spPr/>
    </dgm:pt>
  </dgm:ptLst>
  <dgm:cxnLst>
    <dgm:cxn modelId="{F2420C07-10EA-4197-98CC-C7EDAB66F765}" srcId="{9D865ED7-1574-444F-BA39-D12551FB9931}" destId="{8FB8CB22-43F6-4B49-8839-C124212CC5AC}" srcOrd="1" destOrd="0" parTransId="{70482BDD-4B3D-4EC7-BBB7-722BC2C05819}" sibTransId="{C107CC24-DFE6-44CB-84F0-8BD4121B16FE}"/>
    <dgm:cxn modelId="{AE5AB508-5209-4B8D-8853-D680689A5229}" srcId="{8FB8CB22-43F6-4B49-8839-C124212CC5AC}" destId="{5087EC7F-8BC3-4BCF-A2B3-093965480D05}" srcOrd="0" destOrd="0" parTransId="{27011991-2260-464D-B804-4C178EBE447B}" sibTransId="{454564C9-205B-4A83-AF1B-E76590614824}"/>
    <dgm:cxn modelId="{47182E21-FE78-42E8-9459-D45DE48A824E}" type="presOf" srcId="{5EECF1B6-3A5A-414C-AA12-13B5B22BDC17}" destId="{5236BADC-13E5-4E94-AD20-B90C4BA6E7B9}" srcOrd="0" destOrd="0" presId="urn:microsoft.com/office/officeart/2018/2/layout/IconVerticalSolidList"/>
    <dgm:cxn modelId="{1054F626-B9BF-40F3-BBFA-12E3F8D2AB23}" srcId="{5EECF1B6-3A5A-414C-AA12-13B5B22BDC17}" destId="{3B53DD56-8673-4441-92BF-B06688680323}" srcOrd="0" destOrd="0" parTransId="{84979E65-2523-407C-A98B-31563EFF7757}" sibTransId="{875ED01B-C7AE-4A74-B653-0FBB2936A0CA}"/>
    <dgm:cxn modelId="{93DA8260-D82A-4C6F-B0D8-3F54E83C1D58}" srcId="{477CD47B-CEA1-4886-B096-CC2D679AB412}" destId="{3F71A125-E860-4201-8A5D-DD014B5B2324}" srcOrd="0" destOrd="0" parTransId="{0CA6E707-07A7-4449-85AE-DEBABF30F402}" sibTransId="{FE21D61F-BC1B-42B6-8CF4-A86A4A658AE8}"/>
    <dgm:cxn modelId="{E7B99D65-E438-48E7-8488-F5856F8D981C}" type="presOf" srcId="{3B53DD56-8673-4441-92BF-B06688680323}" destId="{69726DAD-724F-4195-B60D-6DEF5189BC2C}" srcOrd="0" destOrd="0" presId="urn:microsoft.com/office/officeart/2018/2/layout/IconVerticalSolidList"/>
    <dgm:cxn modelId="{85D99866-6CE7-407C-9957-6D12F7DDABD0}" srcId="{9D865ED7-1574-444F-BA39-D12551FB9931}" destId="{477CD47B-CEA1-4886-B096-CC2D679AB412}" srcOrd="2" destOrd="0" parTransId="{EB2EF39D-E269-41BD-8E76-7E043B8FFE1E}" sibTransId="{794034B4-D77D-4FB7-85BD-7CCFB35A8D23}"/>
    <dgm:cxn modelId="{603BC64C-AE1A-4732-B74C-95E75FB6B7F3}" type="presOf" srcId="{3F71A125-E860-4201-8A5D-DD014B5B2324}" destId="{2820AFAF-71D9-47D9-BDC3-1E13732FFE77}" srcOrd="0" destOrd="0" presId="urn:microsoft.com/office/officeart/2018/2/layout/IconVerticalSolidList"/>
    <dgm:cxn modelId="{8AC5CB7D-9F60-4AE6-B39E-AA24E6AEBCEC}" type="presOf" srcId="{3BCCBD13-9D8B-442B-8CB9-4C7684748121}" destId="{13C2123B-51B1-4DBC-958A-70DF696BE4D6}" srcOrd="0" destOrd="0" presId="urn:microsoft.com/office/officeart/2018/2/layout/IconVerticalSolidList"/>
    <dgm:cxn modelId="{C71D6981-7BF2-4927-9ED7-CEC368F72C1F}" type="presOf" srcId="{8FB8CB22-43F6-4B49-8839-C124212CC5AC}" destId="{FD592BE8-5527-4E9E-80C4-23F27FD3995C}" srcOrd="0" destOrd="0" presId="urn:microsoft.com/office/officeart/2018/2/layout/IconVerticalSolidList"/>
    <dgm:cxn modelId="{000BE486-6286-455C-8CA7-FEDF230CB33B}" type="presOf" srcId="{477CD47B-CEA1-4886-B096-CC2D679AB412}" destId="{495E4023-862A-44D5-96D2-DF9958CB6CB2}" srcOrd="0" destOrd="0" presId="urn:microsoft.com/office/officeart/2018/2/layout/IconVerticalSolidList"/>
    <dgm:cxn modelId="{39228796-0129-4F74-8AF5-4654095A1E83}" srcId="{3BCCBD13-9D8B-442B-8CB9-4C7684748121}" destId="{480B366E-CC52-4364-8E83-C847A469A6FE}" srcOrd="0" destOrd="0" parTransId="{23F11388-314D-42FC-8586-71E3B337A3ED}" sibTransId="{3E1A892F-B907-45D9-9A7F-1D266E76EC8F}"/>
    <dgm:cxn modelId="{DBF247CC-A180-4822-8B34-5ECD6EC5F799}" type="presOf" srcId="{480B366E-CC52-4364-8E83-C847A469A6FE}" destId="{3A86E44E-1530-451B-8CFF-735B601BDEFD}" srcOrd="0" destOrd="0" presId="urn:microsoft.com/office/officeart/2018/2/layout/IconVerticalSolidList"/>
    <dgm:cxn modelId="{1FBD7ED9-790A-479C-9EB3-5878B6D287D5}" type="presOf" srcId="{5087EC7F-8BC3-4BCF-A2B3-093965480D05}" destId="{0C74E160-2B01-412F-BC98-7D3B85F2A305}" srcOrd="0" destOrd="0" presId="urn:microsoft.com/office/officeart/2018/2/layout/IconVerticalSolidList"/>
    <dgm:cxn modelId="{4066DAF4-4336-4DB6-B833-A19B90B7AF3D}" srcId="{9D865ED7-1574-444F-BA39-D12551FB9931}" destId="{3BCCBD13-9D8B-442B-8CB9-4C7684748121}" srcOrd="0" destOrd="0" parTransId="{BDFEE509-5A0F-444A-9779-770BF9351FCD}" sibTransId="{4112AD05-580F-4F55-8595-7EE4121D13CE}"/>
    <dgm:cxn modelId="{39CB3AF7-A3BF-4611-BA8E-3B1EBF11BBA2}" type="presOf" srcId="{9D865ED7-1574-444F-BA39-D12551FB9931}" destId="{286BB799-6A84-4DF1-82FA-FCE5B2263163}" srcOrd="0" destOrd="0" presId="urn:microsoft.com/office/officeart/2018/2/layout/IconVerticalSolidList"/>
    <dgm:cxn modelId="{C073B1F7-7799-48FA-BF04-B17C4664F2C3}" srcId="{9D865ED7-1574-444F-BA39-D12551FB9931}" destId="{5EECF1B6-3A5A-414C-AA12-13B5B22BDC17}" srcOrd="3" destOrd="0" parTransId="{BA5B0183-B5CB-4A3C-B4E3-F21811186582}" sibTransId="{2F75639F-6F09-498A-B9D4-8A0C32C7B831}"/>
    <dgm:cxn modelId="{737F725B-C1AA-47AD-A2D4-158D06A06C99}" type="presParOf" srcId="{286BB799-6A84-4DF1-82FA-FCE5B2263163}" destId="{D947C5B4-39E5-479B-AA11-3240622C798E}" srcOrd="0" destOrd="0" presId="urn:microsoft.com/office/officeart/2018/2/layout/IconVerticalSolidList"/>
    <dgm:cxn modelId="{3BA955FA-15AE-470F-8C91-DBF0E2ED93A8}" type="presParOf" srcId="{D947C5B4-39E5-479B-AA11-3240622C798E}" destId="{1A18DF67-1D23-4AF1-BD1F-E6CC2A58F5D1}" srcOrd="0" destOrd="0" presId="urn:microsoft.com/office/officeart/2018/2/layout/IconVerticalSolidList"/>
    <dgm:cxn modelId="{2BA44627-A878-4C4B-8CC9-EFCD0988CB7D}" type="presParOf" srcId="{D947C5B4-39E5-479B-AA11-3240622C798E}" destId="{43B974E2-1D06-40C4-9CC7-7ECD2C9194C2}" srcOrd="1" destOrd="0" presId="urn:microsoft.com/office/officeart/2018/2/layout/IconVerticalSolidList"/>
    <dgm:cxn modelId="{E7CA2470-16B6-49FC-BDDC-3D3564032D43}" type="presParOf" srcId="{D947C5B4-39E5-479B-AA11-3240622C798E}" destId="{F6AA6C2F-34F2-4A83-B547-B6167E3F54E5}" srcOrd="2" destOrd="0" presId="urn:microsoft.com/office/officeart/2018/2/layout/IconVerticalSolidList"/>
    <dgm:cxn modelId="{45CCF99A-5891-4BA3-9761-CBB2384E4EEA}" type="presParOf" srcId="{D947C5B4-39E5-479B-AA11-3240622C798E}" destId="{13C2123B-51B1-4DBC-958A-70DF696BE4D6}" srcOrd="3" destOrd="0" presId="urn:microsoft.com/office/officeart/2018/2/layout/IconVerticalSolidList"/>
    <dgm:cxn modelId="{E112FD5E-EE37-4F35-BC9F-9DCCC8181721}" type="presParOf" srcId="{D947C5B4-39E5-479B-AA11-3240622C798E}" destId="{3A86E44E-1530-451B-8CFF-735B601BDEFD}" srcOrd="4" destOrd="0" presId="urn:microsoft.com/office/officeart/2018/2/layout/IconVerticalSolidList"/>
    <dgm:cxn modelId="{3381A0AD-4C42-49D2-B2B7-A79214A7D641}" type="presParOf" srcId="{286BB799-6A84-4DF1-82FA-FCE5B2263163}" destId="{738695F8-93FD-472D-AAA9-9A0C65E550F4}" srcOrd="1" destOrd="0" presId="urn:microsoft.com/office/officeart/2018/2/layout/IconVerticalSolidList"/>
    <dgm:cxn modelId="{745D85BC-1E51-49BD-809A-D543CAAA5CBF}" type="presParOf" srcId="{286BB799-6A84-4DF1-82FA-FCE5B2263163}" destId="{95ED97EE-5AF5-480F-B9A2-EC5E57D32F97}" srcOrd="2" destOrd="0" presId="urn:microsoft.com/office/officeart/2018/2/layout/IconVerticalSolidList"/>
    <dgm:cxn modelId="{DBAA158A-9C8C-4FB4-8EFA-A705D95199A9}" type="presParOf" srcId="{95ED97EE-5AF5-480F-B9A2-EC5E57D32F97}" destId="{B0622A69-C6EB-48D4-BAAA-98AEDAA03953}" srcOrd="0" destOrd="0" presId="urn:microsoft.com/office/officeart/2018/2/layout/IconVerticalSolidList"/>
    <dgm:cxn modelId="{C2845428-FD35-4461-83CD-75F8E6476598}" type="presParOf" srcId="{95ED97EE-5AF5-480F-B9A2-EC5E57D32F97}" destId="{741FD759-D5F0-4E3C-B78E-7830B6E153DD}" srcOrd="1" destOrd="0" presId="urn:microsoft.com/office/officeart/2018/2/layout/IconVerticalSolidList"/>
    <dgm:cxn modelId="{BEE7E135-8CE0-4EF8-B3CB-84DF31C26067}" type="presParOf" srcId="{95ED97EE-5AF5-480F-B9A2-EC5E57D32F97}" destId="{3BA95A84-52AB-4333-8481-B6277995933A}" srcOrd="2" destOrd="0" presId="urn:microsoft.com/office/officeart/2018/2/layout/IconVerticalSolidList"/>
    <dgm:cxn modelId="{74761F6C-8C9D-48E7-B3C5-B9FD20FC5942}" type="presParOf" srcId="{95ED97EE-5AF5-480F-B9A2-EC5E57D32F97}" destId="{FD592BE8-5527-4E9E-80C4-23F27FD3995C}" srcOrd="3" destOrd="0" presId="urn:microsoft.com/office/officeart/2018/2/layout/IconVerticalSolidList"/>
    <dgm:cxn modelId="{6B6CBD0B-E023-441B-9ACD-678FE5B3567C}" type="presParOf" srcId="{95ED97EE-5AF5-480F-B9A2-EC5E57D32F97}" destId="{0C74E160-2B01-412F-BC98-7D3B85F2A305}" srcOrd="4" destOrd="0" presId="urn:microsoft.com/office/officeart/2018/2/layout/IconVerticalSolidList"/>
    <dgm:cxn modelId="{BEB66C69-00DF-4882-B2A2-86CC7BC7D04D}" type="presParOf" srcId="{286BB799-6A84-4DF1-82FA-FCE5B2263163}" destId="{E45C4734-15BC-44D8-8BDB-C89C37CDCBBE}" srcOrd="3" destOrd="0" presId="urn:microsoft.com/office/officeart/2018/2/layout/IconVerticalSolidList"/>
    <dgm:cxn modelId="{7542216F-5868-4D6E-B723-747D356E88F2}" type="presParOf" srcId="{286BB799-6A84-4DF1-82FA-FCE5B2263163}" destId="{F312164B-5160-45B4-BA88-FAA58526568B}" srcOrd="4" destOrd="0" presId="urn:microsoft.com/office/officeart/2018/2/layout/IconVerticalSolidList"/>
    <dgm:cxn modelId="{73C13C78-AAF0-4874-869A-A414C4658371}" type="presParOf" srcId="{F312164B-5160-45B4-BA88-FAA58526568B}" destId="{127B532F-E12E-40B4-9883-CEA140382F9E}" srcOrd="0" destOrd="0" presId="urn:microsoft.com/office/officeart/2018/2/layout/IconVerticalSolidList"/>
    <dgm:cxn modelId="{06A29772-D391-41FE-9D48-F167BC4150D6}" type="presParOf" srcId="{F312164B-5160-45B4-BA88-FAA58526568B}" destId="{C263F48A-9A58-4D96-9095-AB4782EF2EF3}" srcOrd="1" destOrd="0" presId="urn:microsoft.com/office/officeart/2018/2/layout/IconVerticalSolidList"/>
    <dgm:cxn modelId="{9A17DC98-719A-4337-BE14-8ADB70A0D3C7}" type="presParOf" srcId="{F312164B-5160-45B4-BA88-FAA58526568B}" destId="{3A5C9C52-B6F5-4DCC-94C6-3FDB7444826B}" srcOrd="2" destOrd="0" presId="urn:microsoft.com/office/officeart/2018/2/layout/IconVerticalSolidList"/>
    <dgm:cxn modelId="{53483290-331D-4C6D-88EC-BE8E4F76D882}" type="presParOf" srcId="{F312164B-5160-45B4-BA88-FAA58526568B}" destId="{495E4023-862A-44D5-96D2-DF9958CB6CB2}" srcOrd="3" destOrd="0" presId="urn:microsoft.com/office/officeart/2018/2/layout/IconVerticalSolidList"/>
    <dgm:cxn modelId="{99A8DCF5-F0E7-4E78-B7B5-F17A0C09E8D8}" type="presParOf" srcId="{F312164B-5160-45B4-BA88-FAA58526568B}" destId="{2820AFAF-71D9-47D9-BDC3-1E13732FFE77}" srcOrd="4" destOrd="0" presId="urn:microsoft.com/office/officeart/2018/2/layout/IconVerticalSolidList"/>
    <dgm:cxn modelId="{06A00007-1760-4BD3-BDB5-F2A138BE06D5}" type="presParOf" srcId="{286BB799-6A84-4DF1-82FA-FCE5B2263163}" destId="{E85D66B1-F3AF-4D90-A49F-7D1F0FA371A9}" srcOrd="5" destOrd="0" presId="urn:microsoft.com/office/officeart/2018/2/layout/IconVerticalSolidList"/>
    <dgm:cxn modelId="{D0A50F2C-7116-4ABF-B941-C1792DCD4920}" type="presParOf" srcId="{286BB799-6A84-4DF1-82FA-FCE5B2263163}" destId="{59DD8E7E-925B-4D3B-8F50-1DF51DB51898}" srcOrd="6" destOrd="0" presId="urn:microsoft.com/office/officeart/2018/2/layout/IconVerticalSolidList"/>
    <dgm:cxn modelId="{016A670D-6CF8-4FFF-8C81-4AFFEF291087}" type="presParOf" srcId="{59DD8E7E-925B-4D3B-8F50-1DF51DB51898}" destId="{9B689EF3-DD76-469D-ACC2-BC7BDF98577E}" srcOrd="0" destOrd="0" presId="urn:microsoft.com/office/officeart/2018/2/layout/IconVerticalSolidList"/>
    <dgm:cxn modelId="{97D00B05-07CE-42D6-B6BC-6BD75C6C88A8}" type="presParOf" srcId="{59DD8E7E-925B-4D3B-8F50-1DF51DB51898}" destId="{B56FFB07-9B2F-4285-9602-28EB1D3D9606}" srcOrd="1" destOrd="0" presId="urn:microsoft.com/office/officeart/2018/2/layout/IconVerticalSolidList"/>
    <dgm:cxn modelId="{C853C4B2-4F3E-4985-BFBC-157A6D6D4C71}" type="presParOf" srcId="{59DD8E7E-925B-4D3B-8F50-1DF51DB51898}" destId="{06618C27-BEB0-4F20-88E9-7A77E20D63C7}" srcOrd="2" destOrd="0" presId="urn:microsoft.com/office/officeart/2018/2/layout/IconVerticalSolidList"/>
    <dgm:cxn modelId="{BAF42BDD-6C11-4094-9A70-0554F538E5E2}" type="presParOf" srcId="{59DD8E7E-925B-4D3B-8F50-1DF51DB51898}" destId="{5236BADC-13E5-4E94-AD20-B90C4BA6E7B9}" srcOrd="3" destOrd="0" presId="urn:microsoft.com/office/officeart/2018/2/layout/IconVerticalSolidList"/>
    <dgm:cxn modelId="{0A2ADD57-CAFC-4539-A3C5-A59974628B7C}" type="presParOf" srcId="{59DD8E7E-925B-4D3B-8F50-1DF51DB51898}" destId="{69726DAD-724F-4195-B60D-6DEF5189BC2C}"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4B44854-BDD1-4F32-8761-C3CFE4450A9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028C575-259D-426B-BE71-33CD230F592C}">
      <dgm:prSet/>
      <dgm:spPr/>
      <dgm:t>
        <a:bodyPr/>
        <a:lstStyle/>
        <a:p>
          <a:r>
            <a:rPr lang="pt-BR"/>
            <a:t>O conceito da ACU (Unidade de Computação do Azure) fornece uma maneira de comparar o desempenho de computação (CPU) em diferentes máquinas virtuais do Azure.</a:t>
          </a:r>
          <a:endParaRPr lang="en-US"/>
        </a:p>
      </dgm:t>
    </dgm:pt>
    <dgm:pt modelId="{33107A4A-A33C-4937-B2DF-4082B248C4D4}" type="parTrans" cxnId="{F8155EB1-6354-46EB-B70B-641F9AE95E9C}">
      <dgm:prSet/>
      <dgm:spPr/>
      <dgm:t>
        <a:bodyPr/>
        <a:lstStyle/>
        <a:p>
          <a:endParaRPr lang="en-US"/>
        </a:p>
      </dgm:t>
    </dgm:pt>
    <dgm:pt modelId="{6F3A352E-B750-409D-AA9D-E49080FE5889}" type="sibTrans" cxnId="{F8155EB1-6354-46EB-B70B-641F9AE95E9C}">
      <dgm:prSet/>
      <dgm:spPr/>
      <dgm:t>
        <a:bodyPr/>
        <a:lstStyle/>
        <a:p>
          <a:endParaRPr lang="en-US"/>
        </a:p>
      </dgm:t>
    </dgm:pt>
    <dgm:pt modelId="{CF02E9C5-A0E0-4574-AF40-869198097DBA}">
      <dgm:prSet/>
      <dgm:spPr/>
      <dgm:t>
        <a:bodyPr/>
        <a:lstStyle/>
        <a:p>
          <a:r>
            <a:rPr lang="pt-BR"/>
            <a:t>A ACU é apenas uma diretriz. Os resultados para sua carga de trabalho podem variar</a:t>
          </a:r>
          <a:endParaRPr lang="en-US"/>
        </a:p>
      </dgm:t>
    </dgm:pt>
    <dgm:pt modelId="{3EDECBDF-36A5-4964-8413-AA821A4A3902}" type="parTrans" cxnId="{7B9382E2-8A1E-45D0-B404-AB753B9600FC}">
      <dgm:prSet/>
      <dgm:spPr/>
      <dgm:t>
        <a:bodyPr/>
        <a:lstStyle/>
        <a:p>
          <a:endParaRPr lang="en-US"/>
        </a:p>
      </dgm:t>
    </dgm:pt>
    <dgm:pt modelId="{04040DC4-55DF-4257-90EE-9B1DEC81DD57}" type="sibTrans" cxnId="{7B9382E2-8A1E-45D0-B404-AB753B9600FC}">
      <dgm:prSet/>
      <dgm:spPr/>
      <dgm:t>
        <a:bodyPr/>
        <a:lstStyle/>
        <a:p>
          <a:endParaRPr lang="en-US"/>
        </a:p>
      </dgm:t>
    </dgm:pt>
    <dgm:pt modelId="{0FD1C500-2F9E-424C-A3B5-7282D9465936}" type="pres">
      <dgm:prSet presAssocID="{24B44854-BDD1-4F32-8761-C3CFE4450A9F}" presName="root" presStyleCnt="0">
        <dgm:presLayoutVars>
          <dgm:dir/>
          <dgm:resizeHandles val="exact"/>
        </dgm:presLayoutVars>
      </dgm:prSet>
      <dgm:spPr/>
    </dgm:pt>
    <dgm:pt modelId="{0B65D214-C402-4959-A5F5-DCEADD80E6C3}" type="pres">
      <dgm:prSet presAssocID="{E028C575-259D-426B-BE71-33CD230F592C}" presName="compNode" presStyleCnt="0"/>
      <dgm:spPr/>
    </dgm:pt>
    <dgm:pt modelId="{9BA00D28-1A2A-4C46-B228-028510A62965}" type="pres">
      <dgm:prSet presAssocID="{E028C575-259D-426B-BE71-33CD230F592C}" presName="bgRect" presStyleLbl="bgShp" presStyleIdx="0" presStyleCnt="2"/>
      <dgm:spPr/>
    </dgm:pt>
    <dgm:pt modelId="{230D3E21-D81E-4D6A-BD89-199A5333B551}" type="pres">
      <dgm:prSet presAssocID="{E028C575-259D-426B-BE71-33CD230F592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B77ECFE9-28BA-4DFE-85AC-D738293D4CCC}" type="pres">
      <dgm:prSet presAssocID="{E028C575-259D-426B-BE71-33CD230F592C}" presName="spaceRect" presStyleCnt="0"/>
      <dgm:spPr/>
    </dgm:pt>
    <dgm:pt modelId="{F37EB010-7B40-4FDE-B821-AE5EE429CC39}" type="pres">
      <dgm:prSet presAssocID="{E028C575-259D-426B-BE71-33CD230F592C}" presName="parTx" presStyleLbl="revTx" presStyleIdx="0" presStyleCnt="2">
        <dgm:presLayoutVars>
          <dgm:chMax val="0"/>
          <dgm:chPref val="0"/>
        </dgm:presLayoutVars>
      </dgm:prSet>
      <dgm:spPr/>
    </dgm:pt>
    <dgm:pt modelId="{33CBAC94-0E34-4062-9A12-DA85DC9CE14F}" type="pres">
      <dgm:prSet presAssocID="{6F3A352E-B750-409D-AA9D-E49080FE5889}" presName="sibTrans" presStyleCnt="0"/>
      <dgm:spPr/>
    </dgm:pt>
    <dgm:pt modelId="{450DDFFE-491F-46D1-99EB-C05DDA44886E}" type="pres">
      <dgm:prSet presAssocID="{CF02E9C5-A0E0-4574-AF40-869198097DBA}" presName="compNode" presStyleCnt="0"/>
      <dgm:spPr/>
    </dgm:pt>
    <dgm:pt modelId="{36A51196-3CAD-4192-86EF-0C8F033ED092}" type="pres">
      <dgm:prSet presAssocID="{CF02E9C5-A0E0-4574-AF40-869198097DBA}" presName="bgRect" presStyleLbl="bgShp" presStyleIdx="1" presStyleCnt="2"/>
      <dgm:spPr/>
    </dgm:pt>
    <dgm:pt modelId="{BADFEC2B-9C66-4291-BCEB-39C6AD3A52C3}" type="pres">
      <dgm:prSet presAssocID="{CF02E9C5-A0E0-4574-AF40-869198097DB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lder"/>
        </a:ext>
      </dgm:extLst>
    </dgm:pt>
    <dgm:pt modelId="{C6EA43B4-6BFF-497D-9C4D-C55B0B8983ED}" type="pres">
      <dgm:prSet presAssocID="{CF02E9C5-A0E0-4574-AF40-869198097DBA}" presName="spaceRect" presStyleCnt="0"/>
      <dgm:spPr/>
    </dgm:pt>
    <dgm:pt modelId="{E45CEA0A-08B6-484F-A040-CECA2F67105B}" type="pres">
      <dgm:prSet presAssocID="{CF02E9C5-A0E0-4574-AF40-869198097DBA}" presName="parTx" presStyleLbl="revTx" presStyleIdx="1" presStyleCnt="2">
        <dgm:presLayoutVars>
          <dgm:chMax val="0"/>
          <dgm:chPref val="0"/>
        </dgm:presLayoutVars>
      </dgm:prSet>
      <dgm:spPr/>
    </dgm:pt>
  </dgm:ptLst>
  <dgm:cxnLst>
    <dgm:cxn modelId="{63B1562A-87A5-406F-AE36-7B9400BC5283}" type="presOf" srcId="{CF02E9C5-A0E0-4574-AF40-869198097DBA}" destId="{E45CEA0A-08B6-484F-A040-CECA2F67105B}" srcOrd="0" destOrd="0" presId="urn:microsoft.com/office/officeart/2018/2/layout/IconVerticalSolidList"/>
    <dgm:cxn modelId="{1BD2C179-E1FA-4EC9-BDFC-1B111A3DEBF4}" type="presOf" srcId="{E028C575-259D-426B-BE71-33CD230F592C}" destId="{F37EB010-7B40-4FDE-B821-AE5EE429CC39}" srcOrd="0" destOrd="0" presId="urn:microsoft.com/office/officeart/2018/2/layout/IconVerticalSolidList"/>
    <dgm:cxn modelId="{F8155EB1-6354-46EB-B70B-641F9AE95E9C}" srcId="{24B44854-BDD1-4F32-8761-C3CFE4450A9F}" destId="{E028C575-259D-426B-BE71-33CD230F592C}" srcOrd="0" destOrd="0" parTransId="{33107A4A-A33C-4937-B2DF-4082B248C4D4}" sibTransId="{6F3A352E-B750-409D-AA9D-E49080FE5889}"/>
    <dgm:cxn modelId="{C21F11D6-DF1C-43EB-B3F9-5F768AA65FC8}" type="presOf" srcId="{24B44854-BDD1-4F32-8761-C3CFE4450A9F}" destId="{0FD1C500-2F9E-424C-A3B5-7282D9465936}" srcOrd="0" destOrd="0" presId="urn:microsoft.com/office/officeart/2018/2/layout/IconVerticalSolidList"/>
    <dgm:cxn modelId="{7B9382E2-8A1E-45D0-B404-AB753B9600FC}" srcId="{24B44854-BDD1-4F32-8761-C3CFE4450A9F}" destId="{CF02E9C5-A0E0-4574-AF40-869198097DBA}" srcOrd="1" destOrd="0" parTransId="{3EDECBDF-36A5-4964-8413-AA821A4A3902}" sibTransId="{04040DC4-55DF-4257-90EE-9B1DEC81DD57}"/>
    <dgm:cxn modelId="{89FE3E45-F35B-425F-8589-FD301B9A27AE}" type="presParOf" srcId="{0FD1C500-2F9E-424C-A3B5-7282D9465936}" destId="{0B65D214-C402-4959-A5F5-DCEADD80E6C3}" srcOrd="0" destOrd="0" presId="urn:microsoft.com/office/officeart/2018/2/layout/IconVerticalSolidList"/>
    <dgm:cxn modelId="{80D3C260-64E9-4A29-8752-14DB0D1A2D7B}" type="presParOf" srcId="{0B65D214-C402-4959-A5F5-DCEADD80E6C3}" destId="{9BA00D28-1A2A-4C46-B228-028510A62965}" srcOrd="0" destOrd="0" presId="urn:microsoft.com/office/officeart/2018/2/layout/IconVerticalSolidList"/>
    <dgm:cxn modelId="{C5ECE775-4F06-44A4-9EB3-F88A585859E2}" type="presParOf" srcId="{0B65D214-C402-4959-A5F5-DCEADD80E6C3}" destId="{230D3E21-D81E-4D6A-BD89-199A5333B551}" srcOrd="1" destOrd="0" presId="urn:microsoft.com/office/officeart/2018/2/layout/IconVerticalSolidList"/>
    <dgm:cxn modelId="{B30F19D0-09AC-4458-9E9E-D2013A13C900}" type="presParOf" srcId="{0B65D214-C402-4959-A5F5-DCEADD80E6C3}" destId="{B77ECFE9-28BA-4DFE-85AC-D738293D4CCC}" srcOrd="2" destOrd="0" presId="urn:microsoft.com/office/officeart/2018/2/layout/IconVerticalSolidList"/>
    <dgm:cxn modelId="{78E87BEF-9080-4715-8BE3-E35E06C53D74}" type="presParOf" srcId="{0B65D214-C402-4959-A5F5-DCEADD80E6C3}" destId="{F37EB010-7B40-4FDE-B821-AE5EE429CC39}" srcOrd="3" destOrd="0" presId="urn:microsoft.com/office/officeart/2018/2/layout/IconVerticalSolidList"/>
    <dgm:cxn modelId="{BFCA4DCD-F7D9-470E-B3C3-D2BAB1B66FBA}" type="presParOf" srcId="{0FD1C500-2F9E-424C-A3B5-7282D9465936}" destId="{33CBAC94-0E34-4062-9A12-DA85DC9CE14F}" srcOrd="1" destOrd="0" presId="urn:microsoft.com/office/officeart/2018/2/layout/IconVerticalSolidList"/>
    <dgm:cxn modelId="{4E641717-C4F4-42C4-9924-7484A63AA5AF}" type="presParOf" srcId="{0FD1C500-2F9E-424C-A3B5-7282D9465936}" destId="{450DDFFE-491F-46D1-99EB-C05DDA44886E}" srcOrd="2" destOrd="0" presId="urn:microsoft.com/office/officeart/2018/2/layout/IconVerticalSolidList"/>
    <dgm:cxn modelId="{22B41D3E-5D57-4BB3-B7CA-1B7EC6D38AA6}" type="presParOf" srcId="{450DDFFE-491F-46D1-99EB-C05DDA44886E}" destId="{36A51196-3CAD-4192-86EF-0C8F033ED092}" srcOrd="0" destOrd="0" presId="urn:microsoft.com/office/officeart/2018/2/layout/IconVerticalSolidList"/>
    <dgm:cxn modelId="{7138BB21-884C-4C68-A5D7-FDC44231B67F}" type="presParOf" srcId="{450DDFFE-491F-46D1-99EB-C05DDA44886E}" destId="{BADFEC2B-9C66-4291-BCEB-39C6AD3A52C3}" srcOrd="1" destOrd="0" presId="urn:microsoft.com/office/officeart/2018/2/layout/IconVerticalSolidList"/>
    <dgm:cxn modelId="{7E2BAF8A-24C8-4FD1-9F68-AC2FA4E36C40}" type="presParOf" srcId="{450DDFFE-491F-46D1-99EB-C05DDA44886E}" destId="{C6EA43B4-6BFF-497D-9C4D-C55B0B8983ED}" srcOrd="2" destOrd="0" presId="urn:microsoft.com/office/officeart/2018/2/layout/IconVerticalSolidList"/>
    <dgm:cxn modelId="{CF37BB0D-EF88-4A2C-82D7-76B4BC8A15DC}" type="presParOf" srcId="{450DDFFE-491F-46D1-99EB-C05DDA44886E}" destId="{E45CEA0A-08B6-484F-A040-CECA2F67105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360A04-602F-467B-A3E1-F20C40FAAF57}">
      <dsp:nvSpPr>
        <dsp:cNvPr id="0" name=""/>
        <dsp:cNvSpPr/>
      </dsp:nvSpPr>
      <dsp:spPr>
        <a:xfrm>
          <a:off x="82613" y="908559"/>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530C4A-DDD8-4221-89C3-F65707547A1F}">
      <dsp:nvSpPr>
        <dsp:cNvPr id="0" name=""/>
        <dsp:cNvSpPr/>
      </dsp:nvSpPr>
      <dsp:spPr>
        <a:xfrm>
          <a:off x="271034" y="1096980"/>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73862B-0A54-4A28-BDAB-DE929495AB95}">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pt-BR" sz="1600" kern="1200"/>
            <a:t>Fundamentos Básicos – Fundamentos de Cloud - AZ 900</a:t>
          </a:r>
          <a:endParaRPr lang="en-US" sz="1600" kern="1200"/>
        </a:p>
      </dsp:txBody>
      <dsp:txXfrm>
        <a:off x="1172126" y="908559"/>
        <a:ext cx="2114937" cy="897246"/>
      </dsp:txXfrm>
    </dsp:sp>
    <dsp:sp modelId="{1289B534-84DC-4E68-83DC-C8BD99192576}">
      <dsp:nvSpPr>
        <dsp:cNvPr id="0" name=""/>
        <dsp:cNvSpPr/>
      </dsp:nvSpPr>
      <dsp:spPr>
        <a:xfrm>
          <a:off x="3655575" y="908559"/>
          <a:ext cx="897246" cy="89724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174F83-E09E-4D88-83B4-EECD2ABA2C88}">
      <dsp:nvSpPr>
        <dsp:cNvPr id="0" name=""/>
        <dsp:cNvSpPr/>
      </dsp:nvSpPr>
      <dsp:spPr>
        <a:xfrm>
          <a:off x="3843996" y="1096980"/>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D87915-B02C-4974-A8E2-0DF35DC25A6D}">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pt-BR" sz="1600" kern="1200"/>
            <a:t>Administration associate - Administração do Sistema – AZ 10*</a:t>
          </a:r>
          <a:endParaRPr lang="en-US" sz="1600" kern="1200"/>
        </a:p>
      </dsp:txBody>
      <dsp:txXfrm>
        <a:off x="4745088" y="908559"/>
        <a:ext cx="2114937" cy="897246"/>
      </dsp:txXfrm>
    </dsp:sp>
    <dsp:sp modelId="{33F4F5BB-24A1-4E49-8093-18FF42C2C956}">
      <dsp:nvSpPr>
        <dsp:cNvPr id="0" name=""/>
        <dsp:cNvSpPr/>
      </dsp:nvSpPr>
      <dsp:spPr>
        <a:xfrm>
          <a:off x="7228536" y="908559"/>
          <a:ext cx="897246" cy="89724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E81E1F-958F-4346-B0AA-B3656D29DC3B}">
      <dsp:nvSpPr>
        <dsp:cNvPr id="0" name=""/>
        <dsp:cNvSpPr/>
      </dsp:nvSpPr>
      <dsp:spPr>
        <a:xfrm>
          <a:off x="7416958" y="1096980"/>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717F04-2002-49C9-A29A-0C43B3FA895E}">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pt-BR" sz="1600" kern="1200"/>
            <a:t>Azure Developer Associate – Desenvolvedor para cloud - AZ 20*</a:t>
          </a:r>
          <a:endParaRPr lang="en-US" sz="1600" kern="1200"/>
        </a:p>
      </dsp:txBody>
      <dsp:txXfrm>
        <a:off x="8318049" y="908559"/>
        <a:ext cx="2114937" cy="897246"/>
      </dsp:txXfrm>
    </dsp:sp>
    <dsp:sp modelId="{A1D4AC01-055D-4955-8345-4273D3E86CF9}">
      <dsp:nvSpPr>
        <dsp:cNvPr id="0" name=""/>
        <dsp:cNvSpPr/>
      </dsp:nvSpPr>
      <dsp:spPr>
        <a:xfrm>
          <a:off x="82613" y="2545532"/>
          <a:ext cx="897246" cy="89724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3E906D-7C7E-4F7C-85B3-52FD4E2D78E7}">
      <dsp:nvSpPr>
        <dsp:cNvPr id="0" name=""/>
        <dsp:cNvSpPr/>
      </dsp:nvSpPr>
      <dsp:spPr>
        <a:xfrm>
          <a:off x="271034" y="2733954"/>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6D9D83-6146-4EFE-BF49-09EADCCE50CA}">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pt-BR" sz="1600" kern="1200"/>
            <a:t>Azure Architects – Arquitetura Azure Cloud – AZ 30*</a:t>
          </a:r>
          <a:endParaRPr lang="en-US" sz="1600" kern="1200"/>
        </a:p>
      </dsp:txBody>
      <dsp:txXfrm>
        <a:off x="1172126" y="2545532"/>
        <a:ext cx="2114937" cy="897246"/>
      </dsp:txXfrm>
    </dsp:sp>
    <dsp:sp modelId="{52CC8DF3-D157-4ADC-81C1-5D8A98E55BB9}">
      <dsp:nvSpPr>
        <dsp:cNvPr id="0" name=""/>
        <dsp:cNvSpPr/>
      </dsp:nvSpPr>
      <dsp:spPr>
        <a:xfrm>
          <a:off x="3655575" y="2545532"/>
          <a:ext cx="897246" cy="89724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94516A-3054-4512-92BD-8DD79AEB1D3A}">
      <dsp:nvSpPr>
        <dsp:cNvPr id="0" name=""/>
        <dsp:cNvSpPr/>
      </dsp:nvSpPr>
      <dsp:spPr>
        <a:xfrm>
          <a:off x="3843996" y="2733954"/>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660334-42ED-4C6A-88B7-E2AE3FA87F90}">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pt-BR" sz="1600" kern="1200"/>
            <a:t>DevOps expert – Azure devops – AZ 40*</a:t>
          </a:r>
          <a:endParaRPr lang="en-US" sz="1600" kern="1200"/>
        </a:p>
      </dsp:txBody>
      <dsp:txXfrm>
        <a:off x="4745088" y="2545532"/>
        <a:ext cx="2114937" cy="897246"/>
      </dsp:txXfrm>
    </dsp:sp>
    <dsp:sp modelId="{D8CA412D-5E50-4790-8358-8720F9566A2A}">
      <dsp:nvSpPr>
        <dsp:cNvPr id="0" name=""/>
        <dsp:cNvSpPr/>
      </dsp:nvSpPr>
      <dsp:spPr>
        <a:xfrm>
          <a:off x="7228536" y="2545532"/>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1AA76A-C98B-43E0-A978-859D34C83AED}">
      <dsp:nvSpPr>
        <dsp:cNvPr id="0" name=""/>
        <dsp:cNvSpPr/>
      </dsp:nvSpPr>
      <dsp:spPr>
        <a:xfrm>
          <a:off x="7416958" y="2733954"/>
          <a:ext cx="520402" cy="5204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0D636D-F259-409B-8645-46EE902932B3}">
      <dsp:nvSpPr>
        <dsp:cNvPr id="0" name=""/>
        <dsp:cNvSpPr/>
      </dsp:nvSpPr>
      <dsp:spPr>
        <a:xfrm>
          <a:off x="8318049"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pt-BR" sz="1600" kern="1200"/>
            <a:t>Azure Security – Segurança no Azure – AZ 50*</a:t>
          </a:r>
          <a:endParaRPr lang="en-US" sz="1600" kern="1200"/>
        </a:p>
      </dsp:txBody>
      <dsp:txXfrm>
        <a:off x="8318049" y="2545532"/>
        <a:ext cx="2114937" cy="8972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ADB1FD-389C-4265-BFAC-839B227BDB69}">
      <dsp:nvSpPr>
        <dsp:cNvPr id="0" name=""/>
        <dsp:cNvSpPr/>
      </dsp:nvSpPr>
      <dsp:spPr>
        <a:xfrm>
          <a:off x="0" y="2986"/>
          <a:ext cx="1136599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41736C-5B0D-4484-827C-1FF46B5D6A42}">
      <dsp:nvSpPr>
        <dsp:cNvPr id="0" name=""/>
        <dsp:cNvSpPr/>
      </dsp:nvSpPr>
      <dsp:spPr>
        <a:xfrm>
          <a:off x="0" y="2986"/>
          <a:ext cx="2273198" cy="2036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pt-BR" sz="3100" kern="1200"/>
            <a:t>Availability Zone</a:t>
          </a:r>
          <a:endParaRPr lang="en-US" sz="3100" kern="1200"/>
        </a:p>
      </dsp:txBody>
      <dsp:txXfrm>
        <a:off x="0" y="2986"/>
        <a:ext cx="2273198" cy="2036571"/>
      </dsp:txXfrm>
    </dsp:sp>
    <dsp:sp modelId="{FB70CE9A-6EF9-4DC7-BED2-3E0D17F104EA}">
      <dsp:nvSpPr>
        <dsp:cNvPr id="0" name=""/>
        <dsp:cNvSpPr/>
      </dsp:nvSpPr>
      <dsp:spPr>
        <a:xfrm>
          <a:off x="2443688" y="50320"/>
          <a:ext cx="8922303" cy="946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pt-BR" sz="1500" kern="1200" dirty="0"/>
            <a:t>As zonas de disponibilidade são locais fisicamente separados em uma região do Azure. Cada zona de disponibilidade é composta por um ou mais datacenters equipados com energia, refrigeração e rede independentes (Data Center).</a:t>
          </a:r>
          <a:endParaRPr lang="en-US" sz="1500" kern="1200" dirty="0"/>
        </a:p>
      </dsp:txBody>
      <dsp:txXfrm>
        <a:off x="2443688" y="50320"/>
        <a:ext cx="8922303" cy="946687"/>
      </dsp:txXfrm>
    </dsp:sp>
    <dsp:sp modelId="{72DB6593-B8C8-4F39-A5F4-5C24FECFBC56}">
      <dsp:nvSpPr>
        <dsp:cNvPr id="0" name=""/>
        <dsp:cNvSpPr/>
      </dsp:nvSpPr>
      <dsp:spPr>
        <a:xfrm>
          <a:off x="2273198" y="997008"/>
          <a:ext cx="9092793" cy="0"/>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4189C5-9FE2-4C7E-9A56-7F16F9FF3955}">
      <dsp:nvSpPr>
        <dsp:cNvPr id="0" name=""/>
        <dsp:cNvSpPr/>
      </dsp:nvSpPr>
      <dsp:spPr>
        <a:xfrm>
          <a:off x="2443688" y="1044342"/>
          <a:ext cx="8922303" cy="946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pt-BR" sz="1500" kern="1200"/>
            <a:t>As zonas de disponibilidade permitem que os clientes executem aplicativos de missão crítica com alta disponibilidade e replicação de baixa latência.</a:t>
          </a:r>
          <a:endParaRPr lang="en-US" sz="1500" kern="1200"/>
        </a:p>
      </dsp:txBody>
      <dsp:txXfrm>
        <a:off x="2443688" y="1044342"/>
        <a:ext cx="8922303" cy="946687"/>
      </dsp:txXfrm>
    </dsp:sp>
    <dsp:sp modelId="{E21E35F7-D50E-4423-8617-EB4503724533}">
      <dsp:nvSpPr>
        <dsp:cNvPr id="0" name=""/>
        <dsp:cNvSpPr/>
      </dsp:nvSpPr>
      <dsp:spPr>
        <a:xfrm>
          <a:off x="2273198" y="1991030"/>
          <a:ext cx="9092793" cy="0"/>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A7B12B-74B4-4AB7-901E-32768528D97B}">
      <dsp:nvSpPr>
        <dsp:cNvPr id="0" name=""/>
        <dsp:cNvSpPr/>
      </dsp:nvSpPr>
      <dsp:spPr>
        <a:xfrm>
          <a:off x="0" y="2039558"/>
          <a:ext cx="11365992" cy="0"/>
        </a:xfrm>
        <a:prstGeom prst="line">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004482-9B47-4AA5-BF17-AE0CD6DF3329}">
      <dsp:nvSpPr>
        <dsp:cNvPr id="0" name=""/>
        <dsp:cNvSpPr/>
      </dsp:nvSpPr>
      <dsp:spPr>
        <a:xfrm>
          <a:off x="0" y="2039558"/>
          <a:ext cx="2273198" cy="2036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pt-BR" sz="3100" kern="1200"/>
            <a:t>Regions</a:t>
          </a:r>
          <a:endParaRPr lang="en-US" sz="3100" kern="1200"/>
        </a:p>
      </dsp:txBody>
      <dsp:txXfrm>
        <a:off x="0" y="2039558"/>
        <a:ext cx="2273198" cy="2036571"/>
      </dsp:txXfrm>
    </dsp:sp>
    <dsp:sp modelId="{75D50777-7AEB-4CC9-92A0-34E2F25EDC52}">
      <dsp:nvSpPr>
        <dsp:cNvPr id="0" name=""/>
        <dsp:cNvSpPr/>
      </dsp:nvSpPr>
      <dsp:spPr>
        <a:xfrm>
          <a:off x="2443688" y="2086892"/>
          <a:ext cx="8922303" cy="946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pt-BR" sz="1500" kern="1200"/>
            <a:t>Uma região é um conjunto de datacenters implantados em um perímetro definido pela latência e conectados por meio de uma rede regional de baixa latência dedicada.</a:t>
          </a:r>
          <a:endParaRPr lang="en-US" sz="1500" kern="1200"/>
        </a:p>
      </dsp:txBody>
      <dsp:txXfrm>
        <a:off x="2443688" y="2086892"/>
        <a:ext cx="8922303" cy="946687"/>
      </dsp:txXfrm>
    </dsp:sp>
    <dsp:sp modelId="{2E6E81DE-5903-44CC-B5BE-EBF6379F89AC}">
      <dsp:nvSpPr>
        <dsp:cNvPr id="0" name=""/>
        <dsp:cNvSpPr/>
      </dsp:nvSpPr>
      <dsp:spPr>
        <a:xfrm>
          <a:off x="2273198" y="3033580"/>
          <a:ext cx="9092793" cy="0"/>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C480C1D-54A9-4A1E-8F70-20D91B543A43}">
      <dsp:nvSpPr>
        <dsp:cNvPr id="0" name=""/>
        <dsp:cNvSpPr/>
      </dsp:nvSpPr>
      <dsp:spPr>
        <a:xfrm>
          <a:off x="2443688" y="3080914"/>
          <a:ext cx="8922303" cy="946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pt-BR" sz="1500" kern="1200"/>
            <a:t>Com mais regiões globais do que qualquer outro provedor de nuvem, o Azure oferece aos clientes a flexibilidade de implantar aplicativos onde eles precisam. O Azure geralmente está disponível em 50 regiões ao redor do mundo, com planos anunciados para 4 regiões adicionais.</a:t>
          </a:r>
          <a:endParaRPr lang="en-US" sz="1500" kern="1200"/>
        </a:p>
      </dsp:txBody>
      <dsp:txXfrm>
        <a:off x="2443688" y="3080914"/>
        <a:ext cx="8922303" cy="946687"/>
      </dsp:txXfrm>
    </dsp:sp>
    <dsp:sp modelId="{3BAC27DD-3A57-4DE3-AA19-28E34490AE57}">
      <dsp:nvSpPr>
        <dsp:cNvPr id="0" name=""/>
        <dsp:cNvSpPr/>
      </dsp:nvSpPr>
      <dsp:spPr>
        <a:xfrm>
          <a:off x="2273198" y="4027602"/>
          <a:ext cx="9092793" cy="0"/>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383EC68-84FB-4128-889A-79A5AFB730D5}">
      <dsp:nvSpPr>
        <dsp:cNvPr id="0" name=""/>
        <dsp:cNvSpPr/>
      </dsp:nvSpPr>
      <dsp:spPr>
        <a:xfrm>
          <a:off x="0" y="4076129"/>
          <a:ext cx="11365992" cy="0"/>
        </a:xfrm>
        <a:prstGeom prst="line">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823EDC-5D6C-42C7-8FC8-49B7C6D6754A}">
      <dsp:nvSpPr>
        <dsp:cNvPr id="0" name=""/>
        <dsp:cNvSpPr/>
      </dsp:nvSpPr>
      <dsp:spPr>
        <a:xfrm>
          <a:off x="0" y="4076129"/>
          <a:ext cx="2273198" cy="2036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pt-BR" sz="3100" kern="1200"/>
            <a:t>Geographies</a:t>
          </a:r>
          <a:endParaRPr lang="en-US" sz="3100" kern="1200"/>
        </a:p>
      </dsp:txBody>
      <dsp:txXfrm>
        <a:off x="0" y="4076129"/>
        <a:ext cx="2273198" cy="2036571"/>
      </dsp:txXfrm>
    </dsp:sp>
    <dsp:sp modelId="{3F6B4AC7-4D55-41D2-A3F2-8D824BC6B748}">
      <dsp:nvSpPr>
        <dsp:cNvPr id="0" name=""/>
        <dsp:cNvSpPr/>
      </dsp:nvSpPr>
      <dsp:spPr>
        <a:xfrm>
          <a:off x="2443688" y="4123464"/>
          <a:ext cx="8922303" cy="946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pt-BR" sz="1500" kern="1200"/>
            <a:t>Uma geografia é um mercado discreto, geralmente contendo duas ou mais regiões, que preserva os limites de residência e conformidade de dados.</a:t>
          </a:r>
          <a:endParaRPr lang="en-US" sz="1500" kern="1200"/>
        </a:p>
      </dsp:txBody>
      <dsp:txXfrm>
        <a:off x="2443688" y="4123464"/>
        <a:ext cx="8922303" cy="946687"/>
      </dsp:txXfrm>
    </dsp:sp>
    <dsp:sp modelId="{6613A0D6-2F52-415D-8694-A9DE1CABEB65}">
      <dsp:nvSpPr>
        <dsp:cNvPr id="0" name=""/>
        <dsp:cNvSpPr/>
      </dsp:nvSpPr>
      <dsp:spPr>
        <a:xfrm>
          <a:off x="2273198" y="5070152"/>
          <a:ext cx="9092793" cy="0"/>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A88787B-1B79-47CE-A5DE-1CF7B010607B}">
      <dsp:nvSpPr>
        <dsp:cNvPr id="0" name=""/>
        <dsp:cNvSpPr/>
      </dsp:nvSpPr>
      <dsp:spPr>
        <a:xfrm>
          <a:off x="2443688" y="5117486"/>
          <a:ext cx="8922303" cy="946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pt-BR" sz="1500" kern="1200"/>
            <a:t>As geografias permitem que os clientes com necessidades específicas de residência e conformidade de dados mantenham seus dados e aplicativos próximos. As regiões geográficas são tolerantes a falhas para resistir a falhas completas da região através da conexão com nossa infraestrutura de rede dedicada de alta capacidade.</a:t>
          </a:r>
          <a:endParaRPr lang="en-US" sz="1500" kern="1200"/>
        </a:p>
      </dsp:txBody>
      <dsp:txXfrm>
        <a:off x="2443688" y="5117486"/>
        <a:ext cx="8922303" cy="946687"/>
      </dsp:txXfrm>
    </dsp:sp>
    <dsp:sp modelId="{17F92A94-A9EC-49E5-9818-0ED4792BA74C}">
      <dsp:nvSpPr>
        <dsp:cNvPr id="0" name=""/>
        <dsp:cNvSpPr/>
      </dsp:nvSpPr>
      <dsp:spPr>
        <a:xfrm>
          <a:off x="2273198" y="6064174"/>
          <a:ext cx="9092793" cy="0"/>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46744B-FF9C-4DF7-B970-1303BCADF878}">
      <dsp:nvSpPr>
        <dsp:cNvPr id="0" name=""/>
        <dsp:cNvSpPr/>
      </dsp:nvSpPr>
      <dsp:spPr>
        <a:xfrm>
          <a:off x="10918194" y="4401049"/>
          <a:ext cx="91440" cy="670788"/>
        </a:xfrm>
        <a:custGeom>
          <a:avLst/>
          <a:gdLst/>
          <a:ahLst/>
          <a:cxnLst/>
          <a:rect l="0" t="0" r="0" b="0"/>
          <a:pathLst>
            <a:path>
              <a:moveTo>
                <a:pt x="47285" y="0"/>
              </a:moveTo>
              <a:lnTo>
                <a:pt x="47285" y="558649"/>
              </a:lnTo>
              <a:lnTo>
                <a:pt x="45720" y="558649"/>
              </a:lnTo>
              <a:lnTo>
                <a:pt x="45720" y="6707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302077-A862-426A-88B4-C141DEF859E3}">
      <dsp:nvSpPr>
        <dsp:cNvPr id="0" name=""/>
        <dsp:cNvSpPr/>
      </dsp:nvSpPr>
      <dsp:spPr>
        <a:xfrm>
          <a:off x="10919759" y="2760182"/>
          <a:ext cx="91440" cy="923177"/>
        </a:xfrm>
        <a:custGeom>
          <a:avLst/>
          <a:gdLst/>
          <a:ahLst/>
          <a:cxnLst/>
          <a:rect l="0" t="0" r="0" b="0"/>
          <a:pathLst>
            <a:path>
              <a:moveTo>
                <a:pt x="48373" y="0"/>
              </a:moveTo>
              <a:lnTo>
                <a:pt x="48373" y="811038"/>
              </a:lnTo>
              <a:lnTo>
                <a:pt x="45720" y="811038"/>
              </a:lnTo>
              <a:lnTo>
                <a:pt x="45720" y="92317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8A337E-8A35-4C0C-8F8E-7DF5E25CBAFE}">
      <dsp:nvSpPr>
        <dsp:cNvPr id="0" name=""/>
        <dsp:cNvSpPr/>
      </dsp:nvSpPr>
      <dsp:spPr>
        <a:xfrm>
          <a:off x="5062119" y="1071524"/>
          <a:ext cx="5906013" cy="970968"/>
        </a:xfrm>
        <a:custGeom>
          <a:avLst/>
          <a:gdLst/>
          <a:ahLst/>
          <a:cxnLst/>
          <a:rect l="0" t="0" r="0" b="0"/>
          <a:pathLst>
            <a:path>
              <a:moveTo>
                <a:pt x="0" y="0"/>
              </a:moveTo>
              <a:lnTo>
                <a:pt x="0" y="858829"/>
              </a:lnTo>
              <a:lnTo>
                <a:pt x="5906013" y="858829"/>
              </a:lnTo>
              <a:lnTo>
                <a:pt x="5906013" y="97096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C3BD6F-D120-40DD-8EFC-4E3AD71463FB}">
      <dsp:nvSpPr>
        <dsp:cNvPr id="0" name=""/>
        <dsp:cNvSpPr/>
      </dsp:nvSpPr>
      <dsp:spPr>
        <a:xfrm>
          <a:off x="3467850" y="4368035"/>
          <a:ext cx="510355" cy="753968"/>
        </a:xfrm>
        <a:custGeom>
          <a:avLst/>
          <a:gdLst/>
          <a:ahLst/>
          <a:cxnLst/>
          <a:rect l="0" t="0" r="0" b="0"/>
          <a:pathLst>
            <a:path>
              <a:moveTo>
                <a:pt x="0" y="0"/>
              </a:moveTo>
              <a:lnTo>
                <a:pt x="0" y="641829"/>
              </a:lnTo>
              <a:lnTo>
                <a:pt x="510355" y="641829"/>
              </a:lnTo>
              <a:lnTo>
                <a:pt x="510355" y="75396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E94C74-B13B-4E86-89DE-D348CA9EEF3D}">
      <dsp:nvSpPr>
        <dsp:cNvPr id="0" name=""/>
        <dsp:cNvSpPr/>
      </dsp:nvSpPr>
      <dsp:spPr>
        <a:xfrm>
          <a:off x="2817627" y="4368035"/>
          <a:ext cx="650222" cy="757384"/>
        </a:xfrm>
        <a:custGeom>
          <a:avLst/>
          <a:gdLst/>
          <a:ahLst/>
          <a:cxnLst/>
          <a:rect l="0" t="0" r="0" b="0"/>
          <a:pathLst>
            <a:path>
              <a:moveTo>
                <a:pt x="650222" y="0"/>
              </a:moveTo>
              <a:lnTo>
                <a:pt x="650222" y="645245"/>
              </a:lnTo>
              <a:lnTo>
                <a:pt x="0" y="645245"/>
              </a:lnTo>
              <a:lnTo>
                <a:pt x="0" y="7573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67E94B-70D9-4F33-9579-EF2DD750EAAC}">
      <dsp:nvSpPr>
        <dsp:cNvPr id="0" name=""/>
        <dsp:cNvSpPr/>
      </dsp:nvSpPr>
      <dsp:spPr>
        <a:xfrm>
          <a:off x="1862542" y="2766185"/>
          <a:ext cx="1605307" cy="884160"/>
        </a:xfrm>
        <a:custGeom>
          <a:avLst/>
          <a:gdLst/>
          <a:ahLst/>
          <a:cxnLst/>
          <a:rect l="0" t="0" r="0" b="0"/>
          <a:pathLst>
            <a:path>
              <a:moveTo>
                <a:pt x="0" y="0"/>
              </a:moveTo>
              <a:lnTo>
                <a:pt x="0" y="772021"/>
              </a:lnTo>
              <a:lnTo>
                <a:pt x="1605307" y="772021"/>
              </a:lnTo>
              <a:lnTo>
                <a:pt x="1605307" y="88416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FC9A3D-D5CB-4211-92C4-99342E8DE378}">
      <dsp:nvSpPr>
        <dsp:cNvPr id="0" name=""/>
        <dsp:cNvSpPr/>
      </dsp:nvSpPr>
      <dsp:spPr>
        <a:xfrm>
          <a:off x="978870" y="4368035"/>
          <a:ext cx="636367" cy="753961"/>
        </a:xfrm>
        <a:custGeom>
          <a:avLst/>
          <a:gdLst/>
          <a:ahLst/>
          <a:cxnLst/>
          <a:rect l="0" t="0" r="0" b="0"/>
          <a:pathLst>
            <a:path>
              <a:moveTo>
                <a:pt x="0" y="0"/>
              </a:moveTo>
              <a:lnTo>
                <a:pt x="0" y="641822"/>
              </a:lnTo>
              <a:lnTo>
                <a:pt x="636367" y="641822"/>
              </a:lnTo>
              <a:lnTo>
                <a:pt x="636367" y="75396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C3457B-7F34-4D17-9607-88FE4194B259}">
      <dsp:nvSpPr>
        <dsp:cNvPr id="0" name=""/>
        <dsp:cNvSpPr/>
      </dsp:nvSpPr>
      <dsp:spPr>
        <a:xfrm>
          <a:off x="544593" y="4368035"/>
          <a:ext cx="434277" cy="753961"/>
        </a:xfrm>
        <a:custGeom>
          <a:avLst/>
          <a:gdLst/>
          <a:ahLst/>
          <a:cxnLst/>
          <a:rect l="0" t="0" r="0" b="0"/>
          <a:pathLst>
            <a:path>
              <a:moveTo>
                <a:pt x="434277" y="0"/>
              </a:moveTo>
              <a:lnTo>
                <a:pt x="434277" y="641822"/>
              </a:lnTo>
              <a:lnTo>
                <a:pt x="0" y="641822"/>
              </a:lnTo>
              <a:lnTo>
                <a:pt x="0" y="75396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950DB8-665A-4A13-B0C4-5C544E5073F0}">
      <dsp:nvSpPr>
        <dsp:cNvPr id="0" name=""/>
        <dsp:cNvSpPr/>
      </dsp:nvSpPr>
      <dsp:spPr>
        <a:xfrm>
          <a:off x="978870" y="2766185"/>
          <a:ext cx="883671" cy="884160"/>
        </a:xfrm>
        <a:custGeom>
          <a:avLst/>
          <a:gdLst/>
          <a:ahLst/>
          <a:cxnLst/>
          <a:rect l="0" t="0" r="0" b="0"/>
          <a:pathLst>
            <a:path>
              <a:moveTo>
                <a:pt x="883671" y="0"/>
              </a:moveTo>
              <a:lnTo>
                <a:pt x="883671" y="772021"/>
              </a:lnTo>
              <a:lnTo>
                <a:pt x="0" y="772021"/>
              </a:lnTo>
              <a:lnTo>
                <a:pt x="0" y="88416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29F2C9-1AFB-434E-A578-17AE96EEAA98}">
      <dsp:nvSpPr>
        <dsp:cNvPr id="0" name=""/>
        <dsp:cNvSpPr/>
      </dsp:nvSpPr>
      <dsp:spPr>
        <a:xfrm>
          <a:off x="1862542" y="1071524"/>
          <a:ext cx="3199577" cy="976972"/>
        </a:xfrm>
        <a:custGeom>
          <a:avLst/>
          <a:gdLst/>
          <a:ahLst/>
          <a:cxnLst/>
          <a:rect l="0" t="0" r="0" b="0"/>
          <a:pathLst>
            <a:path>
              <a:moveTo>
                <a:pt x="3199577" y="0"/>
              </a:moveTo>
              <a:lnTo>
                <a:pt x="3199577" y="864833"/>
              </a:lnTo>
              <a:lnTo>
                <a:pt x="0" y="864833"/>
              </a:lnTo>
              <a:lnTo>
                <a:pt x="0" y="97697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A73672-742F-4127-9684-69FB0F76154C}">
      <dsp:nvSpPr>
        <dsp:cNvPr id="0" name=""/>
        <dsp:cNvSpPr/>
      </dsp:nvSpPr>
      <dsp:spPr>
        <a:xfrm>
          <a:off x="4703275" y="353835"/>
          <a:ext cx="717689" cy="717689"/>
        </a:xfrm>
        <a:prstGeom prst="ellipse">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95E38F12-ED7A-418A-8351-2C408AB51BE4}">
      <dsp:nvSpPr>
        <dsp:cNvPr id="0" name=""/>
        <dsp:cNvSpPr/>
      </dsp:nvSpPr>
      <dsp:spPr>
        <a:xfrm>
          <a:off x="5714106" y="355615"/>
          <a:ext cx="6373218" cy="71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pt-BR" sz="1400" b="0" i="0" kern="1200" dirty="0"/>
            <a:t>Grupos são contêineres que o ajudam a gerenciar o acesso, a política e a conformidade para várias assinaturas. Todas as assinaturas em um grupo de gerenciamento herdam automaticamente as condições aplicadas ao grupo de gerenciamento.</a:t>
          </a:r>
          <a:endParaRPr lang="pt-BR" sz="1400" kern="1200" dirty="0"/>
        </a:p>
      </dsp:txBody>
      <dsp:txXfrm>
        <a:off x="5714106" y="355615"/>
        <a:ext cx="6373218" cy="717689"/>
      </dsp:txXfrm>
    </dsp:sp>
    <dsp:sp modelId="{9942B092-3441-4516-BB2E-256D393B1DDF}">
      <dsp:nvSpPr>
        <dsp:cNvPr id="0" name=""/>
        <dsp:cNvSpPr/>
      </dsp:nvSpPr>
      <dsp:spPr>
        <a:xfrm>
          <a:off x="1503697" y="2048496"/>
          <a:ext cx="717689" cy="717689"/>
        </a:xfrm>
        <a:prstGeom prst="ellipse">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E1768491-73A9-4480-91C7-E9C8FACC927C}">
      <dsp:nvSpPr>
        <dsp:cNvPr id="0" name=""/>
        <dsp:cNvSpPr/>
      </dsp:nvSpPr>
      <dsp:spPr>
        <a:xfrm>
          <a:off x="3227807" y="1915462"/>
          <a:ext cx="6055360" cy="10345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pt-BR" sz="1400" b="0" i="0" kern="1200" dirty="0"/>
            <a:t>Assinatura agrupa contas de usuários e os recursos que foram criados pelas contas de usuário. Cada assinatura tem limites ou cotas na quantidade de recursos que você pode criar e usar. As organizações podem usar assinaturas para gerenciar os custos e os recursos criados por usuários, equipes ou projetos.</a:t>
          </a:r>
          <a:endParaRPr lang="pt-BR" sz="1400" kern="1200" dirty="0"/>
        </a:p>
      </dsp:txBody>
      <dsp:txXfrm>
        <a:off x="3227807" y="1915462"/>
        <a:ext cx="6055360" cy="1034555"/>
      </dsp:txXfrm>
    </dsp:sp>
    <dsp:sp modelId="{9936F4A5-69E5-4493-8254-79C24320933E}">
      <dsp:nvSpPr>
        <dsp:cNvPr id="0" name=""/>
        <dsp:cNvSpPr/>
      </dsp:nvSpPr>
      <dsp:spPr>
        <a:xfrm>
          <a:off x="620025" y="3650346"/>
          <a:ext cx="717689" cy="717689"/>
        </a:xfrm>
        <a:prstGeom prst="ellipse">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0B15A799-4047-4F2A-8681-21781AF45679}">
      <dsp:nvSpPr>
        <dsp:cNvPr id="0" name=""/>
        <dsp:cNvSpPr/>
      </dsp:nvSpPr>
      <dsp:spPr>
        <a:xfrm>
          <a:off x="1474598" y="3307649"/>
          <a:ext cx="1694345" cy="71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endParaRPr lang="pt-BR" sz="1400" kern="1200" dirty="0"/>
        </a:p>
      </dsp:txBody>
      <dsp:txXfrm>
        <a:off x="1474598" y="3307649"/>
        <a:ext cx="1694345" cy="717689"/>
      </dsp:txXfrm>
    </dsp:sp>
    <dsp:sp modelId="{42D34D30-3021-4319-BE57-136E389F9804}">
      <dsp:nvSpPr>
        <dsp:cNvPr id="0" name=""/>
        <dsp:cNvSpPr/>
      </dsp:nvSpPr>
      <dsp:spPr>
        <a:xfrm>
          <a:off x="185748" y="5121996"/>
          <a:ext cx="717689" cy="717689"/>
        </a:xfrm>
        <a:prstGeom prst="ellipse">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22C78BD0-EB22-4255-A9E2-52219B1C6B34}">
      <dsp:nvSpPr>
        <dsp:cNvPr id="0" name=""/>
        <dsp:cNvSpPr/>
      </dsp:nvSpPr>
      <dsp:spPr>
        <a:xfrm>
          <a:off x="749766" y="4276436"/>
          <a:ext cx="881444" cy="71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endParaRPr lang="pt-BR" sz="1400" b="0" i="0" kern="1200" dirty="0"/>
        </a:p>
      </dsp:txBody>
      <dsp:txXfrm>
        <a:off x="749766" y="4276436"/>
        <a:ext cx="881444" cy="717689"/>
      </dsp:txXfrm>
    </dsp:sp>
    <dsp:sp modelId="{58B3AD4A-4832-4DFE-BD42-9754D4D5B8B5}">
      <dsp:nvSpPr>
        <dsp:cNvPr id="0" name=""/>
        <dsp:cNvSpPr/>
      </dsp:nvSpPr>
      <dsp:spPr>
        <a:xfrm>
          <a:off x="1256393" y="5121996"/>
          <a:ext cx="717689" cy="717689"/>
        </a:xfrm>
        <a:prstGeom prst="ellipse">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BDC0A6B8-511B-45C1-903B-5790010597CD}">
      <dsp:nvSpPr>
        <dsp:cNvPr id="0" name=""/>
        <dsp:cNvSpPr/>
      </dsp:nvSpPr>
      <dsp:spPr>
        <a:xfrm>
          <a:off x="2661709" y="4267874"/>
          <a:ext cx="709338" cy="71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endParaRPr lang="pt-BR" sz="1400" b="0" i="0" kern="1200" dirty="0"/>
        </a:p>
      </dsp:txBody>
      <dsp:txXfrm>
        <a:off x="2661709" y="4267874"/>
        <a:ext cx="709338" cy="717689"/>
      </dsp:txXfrm>
    </dsp:sp>
    <dsp:sp modelId="{A95855E0-1BC3-454E-AB84-0FBE55169C2C}">
      <dsp:nvSpPr>
        <dsp:cNvPr id="0" name=""/>
        <dsp:cNvSpPr/>
      </dsp:nvSpPr>
      <dsp:spPr>
        <a:xfrm>
          <a:off x="3109005" y="3650346"/>
          <a:ext cx="717689" cy="717689"/>
        </a:xfrm>
        <a:prstGeom prst="ellipse">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DF22925F-15B3-4B30-990B-D62F5E47B5EE}">
      <dsp:nvSpPr>
        <dsp:cNvPr id="0" name=""/>
        <dsp:cNvSpPr/>
      </dsp:nvSpPr>
      <dsp:spPr>
        <a:xfrm>
          <a:off x="4032183" y="3593993"/>
          <a:ext cx="5078266" cy="71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pt-BR" sz="1400" b="0" i="0" kern="1200" dirty="0"/>
            <a:t>Grupo de recursos é um contêiner lógico no qual os recursos do Azure, como aplicativos Web, bancos de dados e contas de armazenamento, são implantados, agrupados e gerenciados.</a:t>
          </a:r>
          <a:endParaRPr lang="pt-BR" sz="1400" kern="1200" dirty="0"/>
        </a:p>
      </dsp:txBody>
      <dsp:txXfrm>
        <a:off x="4032183" y="3593993"/>
        <a:ext cx="5078266" cy="717689"/>
      </dsp:txXfrm>
    </dsp:sp>
    <dsp:sp modelId="{92D22110-F93B-4DF5-8B48-B6FC0CACC95D}">
      <dsp:nvSpPr>
        <dsp:cNvPr id="0" name=""/>
        <dsp:cNvSpPr/>
      </dsp:nvSpPr>
      <dsp:spPr>
        <a:xfrm>
          <a:off x="2458782" y="5125419"/>
          <a:ext cx="717689" cy="717689"/>
        </a:xfrm>
        <a:prstGeom prst="ellipse">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C3623EBC-F580-4AAC-9FAB-A7E5A21D438E}">
      <dsp:nvSpPr>
        <dsp:cNvPr id="0" name=""/>
        <dsp:cNvSpPr/>
      </dsp:nvSpPr>
      <dsp:spPr>
        <a:xfrm>
          <a:off x="4425742" y="4284431"/>
          <a:ext cx="650484" cy="71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endParaRPr lang="pt-BR" sz="1400" kern="1200" dirty="0"/>
        </a:p>
      </dsp:txBody>
      <dsp:txXfrm>
        <a:off x="4425742" y="4284431"/>
        <a:ext cx="650484" cy="717689"/>
      </dsp:txXfrm>
    </dsp:sp>
    <dsp:sp modelId="{236EF18E-A9B1-4F09-83C1-4CC736FCDFAE}">
      <dsp:nvSpPr>
        <dsp:cNvPr id="0" name=""/>
        <dsp:cNvSpPr/>
      </dsp:nvSpPr>
      <dsp:spPr>
        <a:xfrm>
          <a:off x="3619361" y="5122003"/>
          <a:ext cx="717689" cy="717689"/>
        </a:xfrm>
        <a:prstGeom prst="ellipse">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E881C3AB-046B-43B5-BA00-810C29FF3631}">
      <dsp:nvSpPr>
        <dsp:cNvPr id="0" name=""/>
        <dsp:cNvSpPr/>
      </dsp:nvSpPr>
      <dsp:spPr>
        <a:xfrm>
          <a:off x="5250277" y="4928220"/>
          <a:ext cx="4997419" cy="71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pt-BR" sz="1400" b="0" i="0" kern="1200" dirty="0"/>
            <a:t>Recursos são instâncias dos serviços que você cria, como máquinas virtuais, armazenamento ou bancos de dados SQL.</a:t>
          </a:r>
          <a:endParaRPr lang="pt-BR" sz="1400" kern="1200" dirty="0"/>
        </a:p>
      </dsp:txBody>
      <dsp:txXfrm>
        <a:off x="5250277" y="4928220"/>
        <a:ext cx="4997419" cy="717689"/>
      </dsp:txXfrm>
    </dsp:sp>
    <dsp:sp modelId="{4B2432C5-E9E7-4A75-B0E5-F178F2B3910A}">
      <dsp:nvSpPr>
        <dsp:cNvPr id="0" name=""/>
        <dsp:cNvSpPr/>
      </dsp:nvSpPr>
      <dsp:spPr>
        <a:xfrm>
          <a:off x="10609288" y="2042493"/>
          <a:ext cx="717689" cy="717689"/>
        </a:xfrm>
        <a:prstGeom prst="ellipse">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66A19B65-2F46-4EBA-8115-845248B7B92F}">
      <dsp:nvSpPr>
        <dsp:cNvPr id="0" name=""/>
        <dsp:cNvSpPr/>
      </dsp:nvSpPr>
      <dsp:spPr>
        <a:xfrm>
          <a:off x="11223322" y="2065280"/>
          <a:ext cx="1076533" cy="71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endParaRPr lang="pt-BR" sz="1400" kern="1200" dirty="0"/>
        </a:p>
      </dsp:txBody>
      <dsp:txXfrm>
        <a:off x="11223322" y="2065280"/>
        <a:ext cx="1076533" cy="717689"/>
      </dsp:txXfrm>
    </dsp:sp>
    <dsp:sp modelId="{E47B71A0-71E0-470A-BD62-A747BC795F0D}">
      <dsp:nvSpPr>
        <dsp:cNvPr id="0" name=""/>
        <dsp:cNvSpPr/>
      </dsp:nvSpPr>
      <dsp:spPr>
        <a:xfrm>
          <a:off x="10606635" y="3683360"/>
          <a:ext cx="717689" cy="717689"/>
        </a:xfrm>
        <a:prstGeom prst="ellipse">
          <a:avLst/>
        </a:prstGeom>
        <a:blipFill>
          <a:blip xmlns:r="http://schemas.openxmlformats.org/officeDocument/2006/relationships"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634CB68F-C0D9-442E-B8D8-D296629DE08B}">
      <dsp:nvSpPr>
        <dsp:cNvPr id="0" name=""/>
        <dsp:cNvSpPr/>
      </dsp:nvSpPr>
      <dsp:spPr>
        <a:xfrm>
          <a:off x="11080467" y="2994149"/>
          <a:ext cx="1271020" cy="71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endParaRPr lang="pt-BR" sz="1400" kern="1200" dirty="0"/>
        </a:p>
      </dsp:txBody>
      <dsp:txXfrm>
        <a:off x="11080467" y="2994149"/>
        <a:ext cx="1271020" cy="717689"/>
      </dsp:txXfrm>
    </dsp:sp>
    <dsp:sp modelId="{2801FD4B-560A-4431-9043-220B913BAC6E}">
      <dsp:nvSpPr>
        <dsp:cNvPr id="0" name=""/>
        <dsp:cNvSpPr/>
      </dsp:nvSpPr>
      <dsp:spPr>
        <a:xfrm>
          <a:off x="10605069" y="5071837"/>
          <a:ext cx="717689" cy="717689"/>
        </a:xfrm>
        <a:prstGeom prst="ellipse">
          <a:avLst/>
        </a:prstGeom>
        <a:blipFill>
          <a:blip xmlns:r="http://schemas.openxmlformats.org/officeDocument/2006/relationships"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A81644C4-CF24-47C8-A1C5-7AAF5C6CFFCF}">
      <dsp:nvSpPr>
        <dsp:cNvPr id="0" name=""/>
        <dsp:cNvSpPr/>
      </dsp:nvSpPr>
      <dsp:spPr>
        <a:xfrm>
          <a:off x="11147375" y="3959684"/>
          <a:ext cx="672585" cy="71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endParaRPr lang="pt-BR" sz="1400" kern="1200" dirty="0"/>
        </a:p>
      </dsp:txBody>
      <dsp:txXfrm>
        <a:off x="11147375" y="3959684"/>
        <a:ext cx="672585" cy="7176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0F7B07-5EED-44B1-B3FF-6F24FE5F654E}">
      <dsp:nvSpPr>
        <dsp:cNvPr id="0" name=""/>
        <dsp:cNvSpPr/>
      </dsp:nvSpPr>
      <dsp:spPr>
        <a:xfrm>
          <a:off x="0" y="2448082"/>
          <a:ext cx="10515600" cy="248358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pt-BR" sz="1600" kern="1200" dirty="0"/>
            <a:t>Regras do Azure </a:t>
          </a:r>
          <a:r>
            <a:rPr lang="pt-BR" sz="1600" kern="1200" dirty="0" err="1"/>
            <a:t>Policy</a:t>
          </a:r>
          <a:r>
            <a:rPr lang="pt-BR" sz="1600" kern="1200" dirty="0"/>
            <a:t>:</a:t>
          </a:r>
          <a:endParaRPr lang="en-US" sz="1600" kern="1200" dirty="0"/>
        </a:p>
      </dsp:txBody>
      <dsp:txXfrm>
        <a:off x="0" y="2448082"/>
        <a:ext cx="10515600" cy="1341134"/>
      </dsp:txXfrm>
    </dsp:sp>
    <dsp:sp modelId="{8A7095E3-143E-4779-8566-8ED29DD62B68}">
      <dsp:nvSpPr>
        <dsp:cNvPr id="0" name=""/>
        <dsp:cNvSpPr/>
      </dsp:nvSpPr>
      <dsp:spPr>
        <a:xfrm>
          <a:off x="0" y="2971392"/>
          <a:ext cx="1500395" cy="1956785"/>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pt-BR" sz="1100" b="1" kern="1200" dirty="0" err="1"/>
            <a:t>SKUs</a:t>
          </a:r>
          <a:r>
            <a:rPr lang="pt-BR" sz="1100" b="1" kern="1200" dirty="0"/>
            <a:t> de conta de armazenamento permitidos</a:t>
          </a:r>
          <a:r>
            <a:rPr lang="pt-BR" sz="1100" kern="1200" dirty="0"/>
            <a:t>: Determina se uma conta de armazenamento que está sendo implantada está dentro de um conjunto de tamanhos de SKU. </a:t>
          </a:r>
          <a:endParaRPr lang="en-US" sz="1100" kern="1200" dirty="0"/>
        </a:p>
      </dsp:txBody>
      <dsp:txXfrm>
        <a:off x="0" y="2971392"/>
        <a:ext cx="1500395" cy="1956785"/>
      </dsp:txXfrm>
    </dsp:sp>
    <dsp:sp modelId="{E72134C6-B462-45DE-91FB-F9F5EAB2357B}">
      <dsp:nvSpPr>
        <dsp:cNvPr id="0" name=""/>
        <dsp:cNvSpPr/>
      </dsp:nvSpPr>
      <dsp:spPr>
        <a:xfrm>
          <a:off x="1500390" y="2971392"/>
          <a:ext cx="1500395" cy="1956785"/>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pt-BR" sz="1100" b="1" kern="1200" dirty="0"/>
            <a:t>Tipo de recurso permitido</a:t>
          </a:r>
          <a:r>
            <a:rPr lang="pt-BR" sz="1100" kern="1200" dirty="0"/>
            <a:t>: Define os tipos de recursos que você pode implantar. </a:t>
          </a:r>
          <a:endParaRPr lang="en-US" sz="1100" kern="1200" dirty="0"/>
        </a:p>
      </dsp:txBody>
      <dsp:txXfrm>
        <a:off x="1500390" y="2971392"/>
        <a:ext cx="1500395" cy="1956785"/>
      </dsp:txXfrm>
    </dsp:sp>
    <dsp:sp modelId="{AFF7C469-3684-4A8D-A63B-96F90571B58D}">
      <dsp:nvSpPr>
        <dsp:cNvPr id="0" name=""/>
        <dsp:cNvSpPr/>
      </dsp:nvSpPr>
      <dsp:spPr>
        <a:xfrm>
          <a:off x="3000785" y="2971392"/>
          <a:ext cx="1500395" cy="1956785"/>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pt-BR" sz="1100" b="1" kern="1200"/>
            <a:t>Locais permitidos</a:t>
          </a:r>
          <a:r>
            <a:rPr lang="pt-BR" sz="1100" kern="1200"/>
            <a:t>: Restringe os locais disponíveis para novos recursos. </a:t>
          </a:r>
          <a:endParaRPr lang="en-US" sz="1100" kern="1200"/>
        </a:p>
      </dsp:txBody>
      <dsp:txXfrm>
        <a:off x="3000785" y="2971392"/>
        <a:ext cx="1500395" cy="1956785"/>
      </dsp:txXfrm>
    </dsp:sp>
    <dsp:sp modelId="{579C2FED-6F0D-4065-8E49-12DA410658E3}">
      <dsp:nvSpPr>
        <dsp:cNvPr id="0" name=""/>
        <dsp:cNvSpPr/>
      </dsp:nvSpPr>
      <dsp:spPr>
        <a:xfrm>
          <a:off x="4501180" y="2971392"/>
          <a:ext cx="1500395" cy="1956785"/>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pt-BR" sz="1100" b="1" kern="1200"/>
            <a:t>SKUs de máquinas virtuais permitidas</a:t>
          </a:r>
          <a:r>
            <a:rPr lang="pt-BR" sz="1100" kern="1200"/>
            <a:t>: Especifica um conjunto de SKUs de máquina virtual que você pode implantar.</a:t>
          </a:r>
          <a:endParaRPr lang="en-US" sz="1100" kern="1200"/>
        </a:p>
      </dsp:txBody>
      <dsp:txXfrm>
        <a:off x="4501180" y="2971392"/>
        <a:ext cx="1500395" cy="1956785"/>
      </dsp:txXfrm>
    </dsp:sp>
    <dsp:sp modelId="{322D0206-E01E-4C46-A5CA-8732B6E76018}">
      <dsp:nvSpPr>
        <dsp:cNvPr id="0" name=""/>
        <dsp:cNvSpPr/>
      </dsp:nvSpPr>
      <dsp:spPr>
        <a:xfrm>
          <a:off x="6001575" y="2971392"/>
          <a:ext cx="1500395" cy="1956785"/>
        </a:xfrm>
        <a:prstGeom prst="rect">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pt-BR" sz="1100" b="1" kern="1200"/>
            <a:t>Aplicar tag e seu valor padrão</a:t>
          </a:r>
          <a:r>
            <a:rPr lang="pt-BR" sz="1100" kern="1200"/>
            <a:t>: Aplica uma tag necessária e seu valor padrão se ele não é especificado pela solicitação de implantação.</a:t>
          </a:r>
          <a:endParaRPr lang="en-US" sz="1100" kern="1200"/>
        </a:p>
      </dsp:txBody>
      <dsp:txXfrm>
        <a:off x="6001575" y="2971392"/>
        <a:ext cx="1500395" cy="1956785"/>
      </dsp:txXfrm>
    </dsp:sp>
    <dsp:sp modelId="{230A5780-2D9C-467B-B4A4-0710B52F62B2}">
      <dsp:nvSpPr>
        <dsp:cNvPr id="0" name=""/>
        <dsp:cNvSpPr/>
      </dsp:nvSpPr>
      <dsp:spPr>
        <a:xfrm>
          <a:off x="7518550" y="2970355"/>
          <a:ext cx="1500395" cy="1956785"/>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pt-BR" sz="1100" b="1" kern="1200"/>
            <a:t>Impor tag e seu valor</a:t>
          </a:r>
          <a:r>
            <a:rPr lang="pt-BR" sz="1100" kern="1200"/>
            <a:t>: Impõe uma tag necessária e seu valor a um recurso.</a:t>
          </a:r>
          <a:endParaRPr lang="en-US" sz="1100" kern="1200"/>
        </a:p>
      </dsp:txBody>
      <dsp:txXfrm>
        <a:off x="7518550" y="2970355"/>
        <a:ext cx="1500395" cy="1956785"/>
      </dsp:txXfrm>
    </dsp:sp>
    <dsp:sp modelId="{891AB69E-AAE9-4428-8D54-0767C719363C}">
      <dsp:nvSpPr>
        <dsp:cNvPr id="0" name=""/>
        <dsp:cNvSpPr/>
      </dsp:nvSpPr>
      <dsp:spPr>
        <a:xfrm>
          <a:off x="9008787" y="2970355"/>
          <a:ext cx="1500395" cy="1956785"/>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pt-BR" sz="1100" b="1" kern="1200" dirty="0"/>
            <a:t>Tipos de recurso não permitidos</a:t>
          </a:r>
          <a:r>
            <a:rPr lang="pt-BR" sz="1100" kern="1200" dirty="0"/>
            <a:t>: Impede que uma lista de tipos de recurso seja implantada.</a:t>
          </a:r>
          <a:endParaRPr lang="en-US" sz="1100" kern="1200" dirty="0"/>
        </a:p>
      </dsp:txBody>
      <dsp:txXfrm>
        <a:off x="9008787" y="2970355"/>
        <a:ext cx="1500395" cy="1956785"/>
      </dsp:txXfrm>
    </dsp:sp>
    <dsp:sp modelId="{5949B5B3-638E-4BEC-8C36-401ECEBF01BF}">
      <dsp:nvSpPr>
        <dsp:cNvPr id="0" name=""/>
        <dsp:cNvSpPr/>
      </dsp:nvSpPr>
      <dsp:spPr>
        <a:xfrm rot="10800000">
          <a:off x="0" y="1162790"/>
          <a:ext cx="10515600" cy="1294395"/>
        </a:xfrm>
        <a:prstGeom prst="upArrowCallou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pt-BR" sz="1600" kern="1200" dirty="0"/>
            <a:t>Azure </a:t>
          </a:r>
          <a:r>
            <a:rPr lang="pt-BR" sz="1600" kern="1200" dirty="0" err="1"/>
            <a:t>Policy</a:t>
          </a:r>
          <a:r>
            <a:rPr lang="pt-BR" sz="1600" kern="1200" dirty="0"/>
            <a:t>.</a:t>
          </a:r>
          <a:endParaRPr lang="en-US" sz="1600" kern="1200" dirty="0"/>
        </a:p>
      </dsp:txBody>
      <dsp:txXfrm rot="-10800000">
        <a:off x="0" y="1162790"/>
        <a:ext cx="10515600" cy="454332"/>
      </dsp:txXfrm>
    </dsp:sp>
    <dsp:sp modelId="{C6639D7F-A855-4A9C-A943-D9DB449C7EE8}">
      <dsp:nvSpPr>
        <dsp:cNvPr id="0" name=""/>
        <dsp:cNvSpPr/>
      </dsp:nvSpPr>
      <dsp:spPr>
        <a:xfrm>
          <a:off x="0" y="1617123"/>
          <a:ext cx="5257799" cy="387024"/>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pt-BR" sz="1200" kern="1200"/>
            <a:t>Azure Policy concentra-se nas propriedades de recurso durante a implantação e para recursos já existentes, controlando propriedades (tipos ou locais) </a:t>
          </a:r>
          <a:endParaRPr lang="en-US" sz="1200" kern="1200"/>
        </a:p>
      </dsp:txBody>
      <dsp:txXfrm>
        <a:off x="0" y="1617123"/>
        <a:ext cx="5257799" cy="387024"/>
      </dsp:txXfrm>
    </dsp:sp>
    <dsp:sp modelId="{58994994-CEBB-4165-97E5-998DC373117A}">
      <dsp:nvSpPr>
        <dsp:cNvPr id="0" name=""/>
        <dsp:cNvSpPr/>
      </dsp:nvSpPr>
      <dsp:spPr>
        <a:xfrm>
          <a:off x="5257800" y="1617123"/>
          <a:ext cx="5257799" cy="387024"/>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pt-BR" sz="1200" kern="1200"/>
            <a:t>Azure Policy é um sistema de permissão padrão e negação explícita.</a:t>
          </a:r>
          <a:endParaRPr lang="en-US" sz="1200" kern="1200"/>
        </a:p>
      </dsp:txBody>
      <dsp:txXfrm>
        <a:off x="5257800" y="1617123"/>
        <a:ext cx="5257799" cy="387024"/>
      </dsp:txXfrm>
    </dsp:sp>
    <dsp:sp modelId="{5DB61DA0-1091-4BAE-A0B6-846C762621D3}">
      <dsp:nvSpPr>
        <dsp:cNvPr id="0" name=""/>
        <dsp:cNvSpPr/>
      </dsp:nvSpPr>
      <dsp:spPr>
        <a:xfrm rot="10800000">
          <a:off x="0" y="3520"/>
          <a:ext cx="10515600" cy="1171894"/>
        </a:xfrm>
        <a:prstGeom prst="upArrowCallou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pt-BR" sz="1600" kern="1200" dirty="0"/>
            <a:t>Serviço no Azure para criar, atribuir e gerenciar políticas. Impõem diferentes regras e efeitos sobre os recursos para que permaneçam em conformidade com padrões corporativos e contratos de nível de serviço.</a:t>
          </a:r>
          <a:endParaRPr lang="en-US" sz="1600" kern="1200" dirty="0"/>
        </a:p>
      </dsp:txBody>
      <dsp:txXfrm rot="10800000">
        <a:off x="0" y="3520"/>
        <a:ext cx="10515600" cy="7614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7117B-E134-4D47-B9F5-5DC9F382A7F0}">
      <dsp:nvSpPr>
        <dsp:cNvPr id="0" name=""/>
        <dsp:cNvSpPr/>
      </dsp:nvSpPr>
      <dsp:spPr>
        <a:xfrm>
          <a:off x="306" y="99286"/>
          <a:ext cx="5953451" cy="4320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pt-BR" sz="1500" b="1" kern="1200"/>
            <a:t>Resource Manager:</a:t>
          </a:r>
          <a:endParaRPr lang="en-US" sz="1500" kern="1200"/>
        </a:p>
      </dsp:txBody>
      <dsp:txXfrm>
        <a:off x="306" y="99286"/>
        <a:ext cx="5953451" cy="432000"/>
      </dsp:txXfrm>
    </dsp:sp>
    <dsp:sp modelId="{5AD49010-AB3C-4959-95C9-F762299149E8}">
      <dsp:nvSpPr>
        <dsp:cNvPr id="0" name=""/>
        <dsp:cNvSpPr/>
      </dsp:nvSpPr>
      <dsp:spPr>
        <a:xfrm>
          <a:off x="2801" y="531286"/>
          <a:ext cx="5948462" cy="4337666"/>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pt-BR" sz="1600" kern="1200" dirty="0"/>
            <a:t>Gerenciar infraestrutura por modelos declarativos em vez de scripts.</a:t>
          </a:r>
          <a:endParaRPr lang="en-US" sz="1600" kern="1200" dirty="0"/>
        </a:p>
        <a:p>
          <a:pPr marL="171450" lvl="1" indent="-171450" algn="l" defTabSz="711200">
            <a:lnSpc>
              <a:spcPct val="90000"/>
            </a:lnSpc>
            <a:spcBef>
              <a:spcPct val="0"/>
            </a:spcBef>
            <a:spcAft>
              <a:spcPct val="15000"/>
            </a:spcAft>
            <a:buChar char="•"/>
          </a:pPr>
          <a:r>
            <a:rPr lang="pt-BR" sz="1600" kern="1200" dirty="0"/>
            <a:t>Implantar, gerenciar e monitorar todos os recursos  (grupo em vez de individualmente).</a:t>
          </a:r>
          <a:endParaRPr lang="en-US" sz="1600" kern="1200" dirty="0"/>
        </a:p>
        <a:p>
          <a:pPr marL="171450" lvl="1" indent="-171450" algn="l" defTabSz="711200">
            <a:lnSpc>
              <a:spcPct val="90000"/>
            </a:lnSpc>
            <a:spcBef>
              <a:spcPct val="0"/>
            </a:spcBef>
            <a:spcAft>
              <a:spcPct val="15000"/>
            </a:spcAft>
            <a:buChar char="•"/>
          </a:pPr>
          <a:r>
            <a:rPr lang="pt-BR" sz="1600" kern="1200" dirty="0" err="1"/>
            <a:t>Re-Implantar</a:t>
          </a:r>
          <a:r>
            <a:rPr lang="pt-BR" sz="1600" kern="1200" dirty="0"/>
            <a:t> solução.</a:t>
          </a:r>
          <a:endParaRPr lang="en-US" sz="1600" kern="1200" dirty="0"/>
        </a:p>
        <a:p>
          <a:pPr marL="171450" lvl="1" indent="-171450" algn="l" defTabSz="711200">
            <a:lnSpc>
              <a:spcPct val="90000"/>
            </a:lnSpc>
            <a:spcBef>
              <a:spcPct val="0"/>
            </a:spcBef>
            <a:spcAft>
              <a:spcPct val="15000"/>
            </a:spcAft>
            <a:buChar char="•"/>
          </a:pPr>
          <a:r>
            <a:rPr lang="pt-BR" sz="1600" kern="1200" dirty="0"/>
            <a:t>Definir as dependências entre recursos (recursos implantados na ordem correta).</a:t>
          </a:r>
          <a:endParaRPr lang="en-US" sz="1600" kern="1200" dirty="0"/>
        </a:p>
        <a:p>
          <a:pPr marL="171450" lvl="1" indent="-171450" algn="l" defTabSz="711200">
            <a:lnSpc>
              <a:spcPct val="90000"/>
            </a:lnSpc>
            <a:spcBef>
              <a:spcPct val="0"/>
            </a:spcBef>
            <a:spcAft>
              <a:spcPct val="15000"/>
            </a:spcAft>
            <a:buChar char="•"/>
          </a:pPr>
          <a:r>
            <a:rPr lang="pt-BR" sz="1600" kern="1200" dirty="0"/>
            <a:t>Aplicar o controle de acesso aos serviços no grupo de recursos (RBAC (Controle de Acesso Baseado em Função) é integrado nativamente).</a:t>
          </a:r>
          <a:endParaRPr lang="en-US" sz="1600" kern="1200" dirty="0"/>
        </a:p>
        <a:p>
          <a:pPr marL="171450" lvl="1" indent="-171450" algn="l" defTabSz="711200">
            <a:lnSpc>
              <a:spcPct val="90000"/>
            </a:lnSpc>
            <a:spcBef>
              <a:spcPct val="0"/>
            </a:spcBef>
            <a:spcAft>
              <a:spcPct val="15000"/>
            </a:spcAft>
            <a:buChar char="•"/>
          </a:pPr>
          <a:r>
            <a:rPr lang="pt-BR" sz="1600" kern="1200" dirty="0"/>
            <a:t>Aplicar marcas aos recursos para organizar de modo lógico.</a:t>
          </a:r>
          <a:endParaRPr lang="en-US" sz="1600" kern="1200" dirty="0"/>
        </a:p>
        <a:p>
          <a:pPr marL="171450" lvl="1" indent="-171450" algn="l" defTabSz="711200">
            <a:lnSpc>
              <a:spcPct val="90000"/>
            </a:lnSpc>
            <a:spcBef>
              <a:spcPct val="0"/>
            </a:spcBef>
            <a:spcAft>
              <a:spcPct val="15000"/>
            </a:spcAft>
            <a:buChar char="•"/>
          </a:pPr>
          <a:r>
            <a:rPr lang="pt-BR" sz="1600" kern="1200" dirty="0"/>
            <a:t>Esclarecer a cobrança, exibindo os custos para um grupo.</a:t>
          </a:r>
          <a:endParaRPr lang="en-US" sz="1600" kern="1200" dirty="0"/>
        </a:p>
      </dsp:txBody>
      <dsp:txXfrm>
        <a:off x="2801" y="531286"/>
        <a:ext cx="5948462" cy="4337666"/>
      </dsp:txXfrm>
    </dsp:sp>
    <dsp:sp modelId="{DFCF54A9-73FF-4D35-8A45-26E5551901B1}">
      <dsp:nvSpPr>
        <dsp:cNvPr id="0" name=""/>
        <dsp:cNvSpPr/>
      </dsp:nvSpPr>
      <dsp:spPr>
        <a:xfrm>
          <a:off x="6538204" y="99286"/>
          <a:ext cx="5315714" cy="43200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pt-BR" sz="1500" b="1" kern="1200" dirty="0"/>
            <a:t>Terminologia</a:t>
          </a:r>
          <a:endParaRPr lang="en-US" sz="1500" kern="1200" dirty="0"/>
        </a:p>
      </dsp:txBody>
      <dsp:txXfrm>
        <a:off x="6538204" y="99286"/>
        <a:ext cx="5315714" cy="432000"/>
      </dsp:txXfrm>
    </dsp:sp>
    <dsp:sp modelId="{8519A2B9-9A05-4A70-A6D8-39EA233A5DE8}">
      <dsp:nvSpPr>
        <dsp:cNvPr id="0" name=""/>
        <dsp:cNvSpPr/>
      </dsp:nvSpPr>
      <dsp:spPr>
        <a:xfrm>
          <a:off x="6535709" y="531286"/>
          <a:ext cx="5320703" cy="4337666"/>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pt-BR" sz="1500" b="1" kern="1200"/>
            <a:t>Resource (recurso): </a:t>
          </a:r>
          <a:r>
            <a:rPr lang="pt-BR" sz="1500" kern="1200"/>
            <a:t>um item gerenciável que está disponível por meio do Azure. </a:t>
          </a:r>
          <a:endParaRPr lang="en-US" sz="1500" kern="1200"/>
        </a:p>
        <a:p>
          <a:pPr marL="114300" lvl="1" indent="-114300" algn="l" defTabSz="666750">
            <a:lnSpc>
              <a:spcPct val="90000"/>
            </a:lnSpc>
            <a:spcBef>
              <a:spcPct val="0"/>
            </a:spcBef>
            <a:spcAft>
              <a:spcPct val="15000"/>
            </a:spcAft>
            <a:buChar char="•"/>
          </a:pPr>
          <a:r>
            <a:rPr lang="pt-BR" sz="1500" b="1" kern="1200"/>
            <a:t>Resource Group (grupo de recursos):</a:t>
          </a:r>
          <a:r>
            <a:rPr lang="pt-BR" sz="1500" kern="1200"/>
            <a:t> Um contêiner que mantém os recursos relacionados a uma solução do Azure.</a:t>
          </a:r>
          <a:endParaRPr lang="en-US" sz="1500" kern="1200"/>
        </a:p>
        <a:p>
          <a:pPr marL="114300" lvl="1" indent="-114300" algn="l" defTabSz="666750">
            <a:lnSpc>
              <a:spcPct val="90000"/>
            </a:lnSpc>
            <a:spcBef>
              <a:spcPct val="0"/>
            </a:spcBef>
            <a:spcAft>
              <a:spcPct val="15000"/>
            </a:spcAft>
            <a:buChar char="•"/>
          </a:pPr>
          <a:r>
            <a:rPr lang="pt-BR" sz="1500" b="1" kern="1200"/>
            <a:t>Resource provide (provedor de recursos):</a:t>
          </a:r>
          <a:r>
            <a:rPr lang="pt-BR" sz="1500" kern="1200"/>
            <a:t> um serviço que fornece recursos do Azure (Microsoft.Compute, que fornece o recurso de máquina virtual ou Microsoft.Storage).</a:t>
          </a:r>
          <a:endParaRPr lang="en-US" sz="1500" kern="1200"/>
        </a:p>
        <a:p>
          <a:pPr marL="114300" lvl="1" indent="-114300" algn="l" defTabSz="666750">
            <a:lnSpc>
              <a:spcPct val="90000"/>
            </a:lnSpc>
            <a:spcBef>
              <a:spcPct val="0"/>
            </a:spcBef>
            <a:spcAft>
              <a:spcPct val="15000"/>
            </a:spcAft>
            <a:buChar char="•"/>
          </a:pPr>
          <a:r>
            <a:rPr lang="pt-BR" sz="1500" b="1" kern="1200"/>
            <a:t>Resource Manager Template (Modelo do Resource Manager):</a:t>
          </a:r>
          <a:r>
            <a:rPr lang="pt-BR" sz="1500" kern="1200"/>
            <a:t> Um arquivo JSON (JavaScript Object Notation) que define um ou mais recursos para implantação em um grupo de recursos ou assinatura.</a:t>
          </a:r>
          <a:endParaRPr lang="en-US" sz="1500" kern="1200"/>
        </a:p>
        <a:p>
          <a:pPr marL="114300" lvl="1" indent="-114300" algn="l" defTabSz="666750">
            <a:lnSpc>
              <a:spcPct val="90000"/>
            </a:lnSpc>
            <a:spcBef>
              <a:spcPct val="0"/>
            </a:spcBef>
            <a:spcAft>
              <a:spcPct val="15000"/>
            </a:spcAft>
            <a:buChar char="•"/>
          </a:pPr>
          <a:r>
            <a:rPr lang="pt-BR" sz="1500" b="1" kern="1200" dirty="0" err="1"/>
            <a:t>Declarative</a:t>
          </a:r>
          <a:r>
            <a:rPr lang="pt-BR" sz="1500" b="1" kern="1200" dirty="0"/>
            <a:t> </a:t>
          </a:r>
          <a:r>
            <a:rPr lang="pt-BR" sz="1500" b="1" kern="1200" dirty="0" err="1"/>
            <a:t>syntax</a:t>
          </a:r>
          <a:r>
            <a:rPr lang="pt-BR" sz="1500" b="1" kern="1200" dirty="0"/>
            <a:t> (sintaxe declarativa):</a:t>
          </a:r>
          <a:r>
            <a:rPr lang="pt-BR" sz="1500" kern="1200" dirty="0"/>
            <a:t> Sintaxe que permite a declaração "Isso é o que pretendo criar" sem precisar escrever a sequência de comandos de programação para criá-la.</a:t>
          </a:r>
          <a:endParaRPr lang="en-US" sz="1500" kern="1200" dirty="0"/>
        </a:p>
      </dsp:txBody>
      <dsp:txXfrm>
        <a:off x="6535709" y="531286"/>
        <a:ext cx="5320703" cy="433766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94117D-A297-49AD-9A77-7E361E88E06C}">
      <dsp:nvSpPr>
        <dsp:cNvPr id="0" name=""/>
        <dsp:cNvSpPr/>
      </dsp:nvSpPr>
      <dsp:spPr>
        <a:xfrm>
          <a:off x="4583" y="1225665"/>
          <a:ext cx="2756296" cy="547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pt-BR" sz="1900" b="1" i="0" kern="1200" dirty="0"/>
            <a:t>Ultra Disk</a:t>
          </a:r>
          <a:endParaRPr lang="pt-BR" sz="1900" kern="1200" dirty="0"/>
        </a:p>
      </dsp:txBody>
      <dsp:txXfrm>
        <a:off x="4583" y="1225665"/>
        <a:ext cx="2756296" cy="547200"/>
      </dsp:txXfrm>
    </dsp:sp>
    <dsp:sp modelId="{F3E80BBF-BF55-42C1-B763-9173CDB129C7}">
      <dsp:nvSpPr>
        <dsp:cNvPr id="0" name=""/>
        <dsp:cNvSpPr/>
      </dsp:nvSpPr>
      <dsp:spPr>
        <a:xfrm>
          <a:off x="4583" y="1772865"/>
          <a:ext cx="2756296" cy="385946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pt-BR" sz="1900" b="0" i="0" kern="1200" dirty="0"/>
            <a:t>Cargas de trabalho de E/S intensiva, como SAP HANA, bancos de dados de camada superior (por exemplo, SQL, Oracle) e outras cargas de trabalho de transações pesadas.</a:t>
          </a:r>
          <a:endParaRPr lang="pt-BR" sz="1900" kern="1200" dirty="0"/>
        </a:p>
        <a:p>
          <a:pPr marL="171450" lvl="1" indent="-171450" algn="l" defTabSz="844550">
            <a:lnSpc>
              <a:spcPct val="90000"/>
            </a:lnSpc>
            <a:spcBef>
              <a:spcPct val="0"/>
            </a:spcBef>
            <a:spcAft>
              <a:spcPct val="15000"/>
            </a:spcAft>
            <a:buChar char="•"/>
          </a:pPr>
          <a:r>
            <a:rPr lang="pt-BR" sz="1900" b="0" i="0" kern="1200" dirty="0"/>
            <a:t>Tamanho 65.536 </a:t>
          </a:r>
          <a:r>
            <a:rPr lang="pt-BR" sz="1900" b="0" i="0" kern="1200" dirty="0" err="1"/>
            <a:t>Gibibyte</a:t>
          </a:r>
          <a:r>
            <a:rPr lang="pt-BR" sz="1900" b="0" i="0" kern="1200" dirty="0"/>
            <a:t> (</a:t>
          </a:r>
          <a:r>
            <a:rPr lang="pt-BR" sz="1900" b="0" i="0" kern="1200" dirty="0" err="1"/>
            <a:t>GiB</a:t>
          </a:r>
          <a:r>
            <a:rPr lang="pt-BR" sz="1900" b="0" i="0" kern="1200" dirty="0"/>
            <a:t>)</a:t>
          </a:r>
          <a:endParaRPr lang="pt-BR" sz="1900" kern="1200" dirty="0"/>
        </a:p>
        <a:p>
          <a:pPr marL="171450" lvl="1" indent="-171450" algn="l" defTabSz="844550">
            <a:lnSpc>
              <a:spcPct val="90000"/>
            </a:lnSpc>
            <a:spcBef>
              <a:spcPct val="0"/>
            </a:spcBef>
            <a:spcAft>
              <a:spcPct val="15000"/>
            </a:spcAft>
            <a:buChar char="•"/>
          </a:pPr>
          <a:r>
            <a:rPr lang="pt-BR" sz="1900" b="0" i="0" kern="1200" dirty="0"/>
            <a:t>Transferência 2.000 </a:t>
          </a:r>
          <a:r>
            <a:rPr lang="pt-BR" sz="1900" b="0" i="0" kern="1200" dirty="0" err="1"/>
            <a:t>MiB</a:t>
          </a:r>
          <a:r>
            <a:rPr lang="pt-BR" sz="1900" b="0" i="0" kern="1200" dirty="0"/>
            <a:t>/s</a:t>
          </a:r>
          <a:endParaRPr lang="pt-BR" sz="1900" kern="1200" dirty="0"/>
        </a:p>
        <a:p>
          <a:pPr marL="171450" lvl="1" indent="-171450" algn="l" defTabSz="844550">
            <a:lnSpc>
              <a:spcPct val="90000"/>
            </a:lnSpc>
            <a:spcBef>
              <a:spcPct val="0"/>
            </a:spcBef>
            <a:spcAft>
              <a:spcPct val="15000"/>
            </a:spcAft>
            <a:buChar char="•"/>
          </a:pPr>
          <a:r>
            <a:rPr lang="pt-BR" sz="1900" b="0" i="0" kern="1200" dirty="0"/>
            <a:t>160.000 IOPS</a:t>
          </a:r>
          <a:endParaRPr lang="pt-BR" sz="1900" kern="1200" dirty="0"/>
        </a:p>
      </dsp:txBody>
      <dsp:txXfrm>
        <a:off x="4583" y="1772865"/>
        <a:ext cx="2756296" cy="3859469"/>
      </dsp:txXfrm>
    </dsp:sp>
    <dsp:sp modelId="{384C5016-9F62-4A07-B22E-5D735BBF00CC}">
      <dsp:nvSpPr>
        <dsp:cNvPr id="0" name=""/>
        <dsp:cNvSpPr/>
      </dsp:nvSpPr>
      <dsp:spPr>
        <a:xfrm>
          <a:off x="3146762" y="1225665"/>
          <a:ext cx="2756296" cy="547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pt-BR" sz="1900" b="1" i="0" kern="1200" dirty="0"/>
            <a:t>SSD Premium</a:t>
          </a:r>
          <a:endParaRPr lang="pt-BR" sz="1900" kern="1200" dirty="0"/>
        </a:p>
      </dsp:txBody>
      <dsp:txXfrm>
        <a:off x="3146762" y="1225665"/>
        <a:ext cx="2756296" cy="547200"/>
      </dsp:txXfrm>
    </dsp:sp>
    <dsp:sp modelId="{42F65E4A-4046-423F-816F-F604C63C24CE}">
      <dsp:nvSpPr>
        <dsp:cNvPr id="0" name=""/>
        <dsp:cNvSpPr/>
      </dsp:nvSpPr>
      <dsp:spPr>
        <a:xfrm>
          <a:off x="3146762" y="1772865"/>
          <a:ext cx="2756296" cy="385946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pt-BR" sz="1900" b="0" i="0" kern="1200" dirty="0"/>
            <a:t>Cargas de trabalho confidenciais produção e desempenho</a:t>
          </a:r>
          <a:endParaRPr lang="pt-BR" sz="1900" kern="1200" dirty="0"/>
        </a:p>
        <a:p>
          <a:pPr marL="171450" lvl="1" indent="-171450" algn="l" defTabSz="844550">
            <a:lnSpc>
              <a:spcPct val="90000"/>
            </a:lnSpc>
            <a:spcBef>
              <a:spcPct val="0"/>
            </a:spcBef>
            <a:spcAft>
              <a:spcPct val="15000"/>
            </a:spcAft>
            <a:buChar char="•"/>
          </a:pPr>
          <a:r>
            <a:rPr lang="pt-BR" sz="1900" b="0" i="0" kern="1200" dirty="0"/>
            <a:t>Tamanho 32,767 </a:t>
          </a:r>
          <a:r>
            <a:rPr lang="pt-BR" sz="1900" b="0" i="0" kern="1200" dirty="0" err="1"/>
            <a:t>GiB</a:t>
          </a:r>
          <a:endParaRPr lang="pt-BR" sz="1900" kern="1200" dirty="0"/>
        </a:p>
        <a:p>
          <a:pPr marL="171450" lvl="1" indent="-171450" algn="l" defTabSz="844550">
            <a:lnSpc>
              <a:spcPct val="90000"/>
            </a:lnSpc>
            <a:spcBef>
              <a:spcPct val="0"/>
            </a:spcBef>
            <a:spcAft>
              <a:spcPct val="15000"/>
            </a:spcAft>
            <a:buChar char="•"/>
          </a:pPr>
          <a:r>
            <a:rPr lang="pt-BR" sz="1900" b="0" i="0" kern="1200" dirty="0"/>
            <a:t>Transferência 900 </a:t>
          </a:r>
          <a:r>
            <a:rPr lang="pt-BR" sz="1900" b="0" i="0" kern="1200" dirty="0" err="1"/>
            <a:t>MiB</a:t>
          </a:r>
          <a:r>
            <a:rPr lang="pt-BR" sz="1900" b="0" i="0" kern="1200" dirty="0"/>
            <a:t>/s</a:t>
          </a:r>
          <a:endParaRPr lang="pt-BR" sz="1900" kern="1200" dirty="0"/>
        </a:p>
        <a:p>
          <a:pPr marL="171450" lvl="1" indent="-171450" algn="l" defTabSz="844550">
            <a:lnSpc>
              <a:spcPct val="90000"/>
            </a:lnSpc>
            <a:spcBef>
              <a:spcPct val="0"/>
            </a:spcBef>
            <a:spcAft>
              <a:spcPct val="15000"/>
            </a:spcAft>
            <a:buChar char="•"/>
          </a:pPr>
          <a:r>
            <a:rPr lang="pt-BR" sz="1900" b="0" i="0" kern="1200" dirty="0"/>
            <a:t>20.000 IOPS</a:t>
          </a:r>
          <a:endParaRPr lang="pt-BR" sz="1900" kern="1200" dirty="0"/>
        </a:p>
      </dsp:txBody>
      <dsp:txXfrm>
        <a:off x="3146762" y="1772865"/>
        <a:ext cx="2756296" cy="3859469"/>
      </dsp:txXfrm>
    </dsp:sp>
    <dsp:sp modelId="{58914A5B-37AE-409B-839B-E694BB55D56F}">
      <dsp:nvSpPr>
        <dsp:cNvPr id="0" name=""/>
        <dsp:cNvSpPr/>
      </dsp:nvSpPr>
      <dsp:spPr>
        <a:xfrm>
          <a:off x="6288940" y="1225665"/>
          <a:ext cx="2756296" cy="547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pt-BR" sz="1900" b="1" i="0" kern="1200" dirty="0"/>
            <a:t>SSD Standard</a:t>
          </a:r>
          <a:endParaRPr lang="pt-BR" sz="1900" kern="1200" dirty="0"/>
        </a:p>
      </dsp:txBody>
      <dsp:txXfrm>
        <a:off x="6288940" y="1225665"/>
        <a:ext cx="2756296" cy="547200"/>
      </dsp:txXfrm>
    </dsp:sp>
    <dsp:sp modelId="{6BE20856-638A-4495-891E-0DE4A4107915}">
      <dsp:nvSpPr>
        <dsp:cNvPr id="0" name=""/>
        <dsp:cNvSpPr/>
      </dsp:nvSpPr>
      <dsp:spPr>
        <a:xfrm>
          <a:off x="6288940" y="1772865"/>
          <a:ext cx="2756296" cy="385946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pt-BR" sz="1900" b="0" i="0" kern="1200" dirty="0"/>
            <a:t>Servidores Web, aplicativos empresariais pouco usados e desenvolvimento/teste</a:t>
          </a:r>
          <a:endParaRPr lang="pt-BR" sz="1900" kern="1200" dirty="0"/>
        </a:p>
        <a:p>
          <a:pPr marL="171450" lvl="1" indent="-171450" algn="l" defTabSz="844550">
            <a:lnSpc>
              <a:spcPct val="90000"/>
            </a:lnSpc>
            <a:spcBef>
              <a:spcPct val="0"/>
            </a:spcBef>
            <a:spcAft>
              <a:spcPct val="15000"/>
            </a:spcAft>
            <a:buChar char="•"/>
          </a:pPr>
          <a:r>
            <a:rPr lang="pt-BR" sz="1900" b="0" i="0" kern="1200" dirty="0"/>
            <a:t>Tamanho 32,767 </a:t>
          </a:r>
          <a:r>
            <a:rPr lang="pt-BR" sz="1900" b="0" i="0" kern="1200" dirty="0" err="1"/>
            <a:t>GiB</a:t>
          </a:r>
          <a:endParaRPr lang="pt-BR" sz="1900" kern="1200" dirty="0"/>
        </a:p>
        <a:p>
          <a:pPr marL="171450" lvl="1" indent="-171450" algn="l" defTabSz="844550">
            <a:lnSpc>
              <a:spcPct val="90000"/>
            </a:lnSpc>
            <a:spcBef>
              <a:spcPct val="0"/>
            </a:spcBef>
            <a:spcAft>
              <a:spcPct val="15000"/>
            </a:spcAft>
            <a:buChar char="•"/>
          </a:pPr>
          <a:r>
            <a:rPr lang="pt-BR" sz="1900" b="0" i="0" kern="1200" dirty="0"/>
            <a:t>Transferência 750 </a:t>
          </a:r>
          <a:r>
            <a:rPr lang="pt-BR" sz="1900" b="0" i="0" kern="1200" dirty="0" err="1"/>
            <a:t>MiB</a:t>
          </a:r>
          <a:r>
            <a:rPr lang="pt-BR" sz="1900" b="0" i="0" kern="1200" dirty="0"/>
            <a:t>/s</a:t>
          </a:r>
          <a:endParaRPr lang="pt-BR" sz="1900" kern="1200" dirty="0"/>
        </a:p>
        <a:p>
          <a:pPr marL="171450" lvl="1" indent="-171450" algn="l" defTabSz="844550">
            <a:lnSpc>
              <a:spcPct val="90000"/>
            </a:lnSpc>
            <a:spcBef>
              <a:spcPct val="0"/>
            </a:spcBef>
            <a:spcAft>
              <a:spcPct val="15000"/>
            </a:spcAft>
            <a:buChar char="•"/>
          </a:pPr>
          <a:r>
            <a:rPr lang="pt-BR" sz="1900" b="0" i="0" kern="1200" dirty="0"/>
            <a:t>6.000 IOPS</a:t>
          </a:r>
          <a:endParaRPr lang="pt-BR" sz="1900" kern="1200" dirty="0"/>
        </a:p>
      </dsp:txBody>
      <dsp:txXfrm>
        <a:off x="6288940" y="1772865"/>
        <a:ext cx="2756296" cy="3859469"/>
      </dsp:txXfrm>
    </dsp:sp>
    <dsp:sp modelId="{E8CF4082-94F3-4A40-B19A-EFC7A3261758}">
      <dsp:nvSpPr>
        <dsp:cNvPr id="0" name=""/>
        <dsp:cNvSpPr/>
      </dsp:nvSpPr>
      <dsp:spPr>
        <a:xfrm>
          <a:off x="9431119" y="1225665"/>
          <a:ext cx="2756296" cy="547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pt-BR" sz="1900" b="1" i="0" kern="1200" dirty="0"/>
            <a:t>HDD Standard</a:t>
          </a:r>
          <a:endParaRPr lang="pt-BR" sz="1900" kern="1200" dirty="0"/>
        </a:p>
      </dsp:txBody>
      <dsp:txXfrm>
        <a:off x="9431119" y="1225665"/>
        <a:ext cx="2756296" cy="547200"/>
      </dsp:txXfrm>
    </dsp:sp>
    <dsp:sp modelId="{E46D2A28-3955-4C02-B1FD-361BAB6A81C6}">
      <dsp:nvSpPr>
        <dsp:cNvPr id="0" name=""/>
        <dsp:cNvSpPr/>
      </dsp:nvSpPr>
      <dsp:spPr>
        <a:xfrm>
          <a:off x="9431119" y="1772865"/>
          <a:ext cx="2756296" cy="385946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pt-BR" sz="1900" b="0" i="0" kern="1200" dirty="0"/>
            <a:t>Backup, não crítico, acesso não frequente</a:t>
          </a:r>
          <a:endParaRPr lang="pt-BR" sz="1900" kern="1200" dirty="0"/>
        </a:p>
        <a:p>
          <a:pPr marL="171450" lvl="1" indent="-171450" algn="l" defTabSz="844550">
            <a:lnSpc>
              <a:spcPct val="90000"/>
            </a:lnSpc>
            <a:spcBef>
              <a:spcPct val="0"/>
            </a:spcBef>
            <a:spcAft>
              <a:spcPct val="15000"/>
            </a:spcAft>
            <a:buChar char="•"/>
          </a:pPr>
          <a:r>
            <a:rPr lang="pt-BR" sz="1900" b="0" i="0" kern="1200" dirty="0"/>
            <a:t>Tamanho 32,767 </a:t>
          </a:r>
          <a:r>
            <a:rPr lang="pt-BR" sz="1900" b="0" i="0" kern="1200" dirty="0" err="1"/>
            <a:t>GiB</a:t>
          </a:r>
          <a:endParaRPr lang="pt-BR" sz="1900" kern="1200" dirty="0"/>
        </a:p>
        <a:p>
          <a:pPr marL="171450" lvl="1" indent="-171450" algn="l" defTabSz="844550">
            <a:lnSpc>
              <a:spcPct val="90000"/>
            </a:lnSpc>
            <a:spcBef>
              <a:spcPct val="0"/>
            </a:spcBef>
            <a:spcAft>
              <a:spcPct val="15000"/>
            </a:spcAft>
            <a:buChar char="•"/>
          </a:pPr>
          <a:r>
            <a:rPr lang="pt-BR" sz="1900" b="0" i="0" kern="1200" dirty="0"/>
            <a:t>Transferência 500 </a:t>
          </a:r>
          <a:r>
            <a:rPr lang="pt-BR" sz="1900" b="0" i="0" kern="1200" dirty="0" err="1"/>
            <a:t>MiB</a:t>
          </a:r>
          <a:r>
            <a:rPr lang="pt-BR" sz="1900" b="0" i="0" kern="1200" dirty="0"/>
            <a:t>/s</a:t>
          </a:r>
          <a:endParaRPr lang="pt-BR" sz="1900" kern="1200" dirty="0"/>
        </a:p>
        <a:p>
          <a:pPr marL="171450" lvl="1" indent="-171450" algn="l" defTabSz="844550">
            <a:lnSpc>
              <a:spcPct val="90000"/>
            </a:lnSpc>
            <a:spcBef>
              <a:spcPct val="0"/>
            </a:spcBef>
            <a:spcAft>
              <a:spcPct val="15000"/>
            </a:spcAft>
            <a:buChar char="•"/>
          </a:pPr>
          <a:r>
            <a:rPr lang="pt-BR" sz="1900" b="0" i="0" kern="1200" dirty="0"/>
            <a:t>2.000 IOPS</a:t>
          </a:r>
          <a:endParaRPr lang="pt-BR" sz="1900" kern="1200" dirty="0"/>
        </a:p>
      </dsp:txBody>
      <dsp:txXfrm>
        <a:off x="9431119" y="1772865"/>
        <a:ext cx="2756296" cy="385946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18DF67-1D23-4AF1-BD1F-E6CC2A58F5D1}">
      <dsp:nvSpPr>
        <dsp:cNvPr id="0" name=""/>
        <dsp:cNvSpPr/>
      </dsp:nvSpPr>
      <dsp:spPr>
        <a:xfrm>
          <a:off x="-26879" y="12874"/>
          <a:ext cx="8382000" cy="143836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B974E2-1D06-40C4-9CC7-7ECD2C9194C2}">
      <dsp:nvSpPr>
        <dsp:cNvPr id="0" name=""/>
        <dsp:cNvSpPr/>
      </dsp:nvSpPr>
      <dsp:spPr>
        <a:xfrm>
          <a:off x="408227" y="336507"/>
          <a:ext cx="791102" cy="7911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C2123B-51B1-4DBC-958A-70DF696BE4D6}">
      <dsp:nvSpPr>
        <dsp:cNvPr id="0" name=""/>
        <dsp:cNvSpPr/>
      </dsp:nvSpPr>
      <dsp:spPr>
        <a:xfrm>
          <a:off x="1067158" y="12874"/>
          <a:ext cx="2171717" cy="1438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227" tIns="152227" rIns="152227" bIns="152227" numCol="1" spcCol="1270" anchor="ctr" anchorCtr="0">
          <a:noAutofit/>
        </a:bodyPr>
        <a:lstStyle/>
        <a:p>
          <a:pPr marL="0" lvl="0" indent="0" algn="l" defTabSz="977900">
            <a:lnSpc>
              <a:spcPct val="100000"/>
            </a:lnSpc>
            <a:spcBef>
              <a:spcPct val="0"/>
            </a:spcBef>
            <a:spcAft>
              <a:spcPct val="35000"/>
            </a:spcAft>
            <a:buNone/>
          </a:pPr>
          <a:r>
            <a:rPr lang="pt-BR" sz="2200" kern="1200" dirty="0" err="1"/>
            <a:t>Secure</a:t>
          </a:r>
          <a:r>
            <a:rPr lang="pt-BR" sz="2200" kern="1200" dirty="0"/>
            <a:t> </a:t>
          </a:r>
          <a:r>
            <a:rPr lang="pt-BR" sz="2200" kern="1200" dirty="0" err="1"/>
            <a:t>Transfer</a:t>
          </a:r>
          <a:r>
            <a:rPr lang="pt-BR" sz="2200" kern="1200" dirty="0"/>
            <a:t> </a:t>
          </a:r>
          <a:r>
            <a:rPr lang="pt-BR" sz="2200" kern="1200" dirty="0" err="1"/>
            <a:t>Required</a:t>
          </a:r>
          <a:endParaRPr lang="pt-BR" sz="2200" kern="1200" dirty="0"/>
        </a:p>
      </dsp:txBody>
      <dsp:txXfrm>
        <a:off x="1067158" y="12874"/>
        <a:ext cx="2171717" cy="1438368"/>
      </dsp:txXfrm>
    </dsp:sp>
    <dsp:sp modelId="{3A86E44E-1530-451B-8CFF-735B601BDEFD}">
      <dsp:nvSpPr>
        <dsp:cNvPr id="0" name=""/>
        <dsp:cNvSpPr/>
      </dsp:nvSpPr>
      <dsp:spPr>
        <a:xfrm>
          <a:off x="3529689" y="12874"/>
          <a:ext cx="4879189" cy="1438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227" tIns="152227" rIns="152227" bIns="152227" numCol="1" spcCol="1270" anchor="ctr" anchorCtr="0">
          <a:noAutofit/>
        </a:bodyPr>
        <a:lstStyle/>
        <a:p>
          <a:pPr marL="0" lvl="0" indent="0" algn="l" defTabSz="622300">
            <a:lnSpc>
              <a:spcPct val="100000"/>
            </a:lnSpc>
            <a:spcBef>
              <a:spcPct val="0"/>
            </a:spcBef>
            <a:spcAft>
              <a:spcPct val="35000"/>
            </a:spcAft>
            <a:buNone/>
          </a:pPr>
          <a:r>
            <a:rPr lang="pt-BR" sz="1400" b="0" i="0" kern="1200" dirty="0"/>
            <a:t>Melhora a segurança da conta de armazenamento, permitindo apenas solicitações seguras, qualquer conexão sem criptografia falhará. Por exemplo aceita conexão HTTPS e rejeita HTTP, SMB 2.1, SMB 3.0 e cliente Linux SMB sem criptografia.</a:t>
          </a:r>
          <a:endParaRPr lang="pt-BR" sz="1400" kern="1200" dirty="0"/>
        </a:p>
      </dsp:txBody>
      <dsp:txXfrm>
        <a:off x="3529689" y="12874"/>
        <a:ext cx="4879189" cy="1438368"/>
      </dsp:txXfrm>
    </dsp:sp>
    <dsp:sp modelId="{B0622A69-C6EB-48D4-BAAA-98AEDAA03953}">
      <dsp:nvSpPr>
        <dsp:cNvPr id="0" name=""/>
        <dsp:cNvSpPr/>
      </dsp:nvSpPr>
      <dsp:spPr>
        <a:xfrm>
          <a:off x="-26879" y="1810835"/>
          <a:ext cx="8382000" cy="143836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1FD759-D5F0-4E3C-B78E-7830B6E153DD}">
      <dsp:nvSpPr>
        <dsp:cNvPr id="0" name=""/>
        <dsp:cNvSpPr/>
      </dsp:nvSpPr>
      <dsp:spPr>
        <a:xfrm>
          <a:off x="408227" y="2134468"/>
          <a:ext cx="791102" cy="7911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592BE8-5527-4E9E-80C4-23F27FD3995C}">
      <dsp:nvSpPr>
        <dsp:cNvPr id="0" name=""/>
        <dsp:cNvSpPr/>
      </dsp:nvSpPr>
      <dsp:spPr>
        <a:xfrm>
          <a:off x="1067158" y="1810835"/>
          <a:ext cx="2171717" cy="1438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227" tIns="152227" rIns="152227" bIns="152227" numCol="1" spcCol="1270" anchor="ctr" anchorCtr="0">
          <a:noAutofit/>
        </a:bodyPr>
        <a:lstStyle/>
        <a:p>
          <a:pPr marL="0" lvl="0" indent="0" algn="l" defTabSz="977900">
            <a:lnSpc>
              <a:spcPct val="100000"/>
            </a:lnSpc>
            <a:spcBef>
              <a:spcPct val="0"/>
            </a:spcBef>
            <a:spcAft>
              <a:spcPct val="35000"/>
            </a:spcAft>
            <a:buNone/>
          </a:pPr>
          <a:r>
            <a:rPr lang="pt-BR" sz="2200" kern="1200" dirty="0">
              <a:latin typeface="Calibri" panose="020F0502020204030204"/>
              <a:ea typeface="+mn-ea"/>
              <a:cs typeface="+mn-cs"/>
            </a:rPr>
            <a:t>Virtual</a:t>
          </a:r>
          <a:r>
            <a:rPr lang="pt-BR" sz="2200" kern="1200" dirty="0"/>
            <a:t> </a:t>
          </a:r>
          <a:r>
            <a:rPr lang="pt-BR" sz="2200" kern="1200" dirty="0">
              <a:latin typeface="Calibri" panose="020F0502020204030204"/>
              <a:ea typeface="+mn-ea"/>
              <a:cs typeface="+mn-cs"/>
            </a:rPr>
            <a:t>Networks</a:t>
          </a:r>
        </a:p>
      </dsp:txBody>
      <dsp:txXfrm>
        <a:off x="1067158" y="1810835"/>
        <a:ext cx="2171717" cy="1438368"/>
      </dsp:txXfrm>
    </dsp:sp>
    <dsp:sp modelId="{0C74E160-2B01-412F-BC98-7D3B85F2A305}">
      <dsp:nvSpPr>
        <dsp:cNvPr id="0" name=""/>
        <dsp:cNvSpPr/>
      </dsp:nvSpPr>
      <dsp:spPr>
        <a:xfrm>
          <a:off x="3529689" y="1810835"/>
          <a:ext cx="4879189" cy="1438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227" tIns="152227" rIns="152227" bIns="152227" numCol="1" spcCol="1270" anchor="ctr" anchorCtr="0">
          <a:noAutofit/>
        </a:bodyPr>
        <a:lstStyle/>
        <a:p>
          <a:pPr marL="0" lvl="0" indent="0" algn="l" defTabSz="622300">
            <a:lnSpc>
              <a:spcPct val="100000"/>
            </a:lnSpc>
            <a:spcBef>
              <a:spcPct val="0"/>
            </a:spcBef>
            <a:spcAft>
              <a:spcPct val="35000"/>
            </a:spcAft>
            <a:buNone/>
          </a:pPr>
          <a:r>
            <a:rPr lang="pt-BR" sz="1400" b="0" i="0" kern="1200" dirty="0">
              <a:solidFill>
                <a:prstClr val="white">
                  <a:hueOff val="0"/>
                  <a:satOff val="0"/>
                  <a:lumOff val="0"/>
                  <a:alphaOff val="0"/>
                </a:prstClr>
              </a:solidFill>
              <a:latin typeface="Calibri" panose="020F0502020204030204"/>
              <a:ea typeface="+mn-ea"/>
              <a:cs typeface="+mn-cs"/>
            </a:rPr>
            <a:t>Define as permissões para redes acessarem as </a:t>
          </a:r>
          <a:r>
            <a:rPr lang="pt-BR" sz="1400" b="0" i="0" kern="1200" dirty="0" err="1">
              <a:solidFill>
                <a:prstClr val="white">
                  <a:hueOff val="0"/>
                  <a:satOff val="0"/>
                  <a:lumOff val="0"/>
                  <a:alphaOff val="0"/>
                </a:prstClr>
              </a:solidFill>
              <a:latin typeface="Calibri" panose="020F0502020204030204"/>
              <a:ea typeface="+mn-ea"/>
              <a:cs typeface="+mn-cs"/>
            </a:rPr>
            <a:t>storages</a:t>
          </a:r>
          <a:endParaRPr lang="pt-BR" sz="1400" b="0" i="0" kern="1200" dirty="0">
            <a:solidFill>
              <a:prstClr val="white">
                <a:hueOff val="0"/>
                <a:satOff val="0"/>
                <a:lumOff val="0"/>
                <a:alphaOff val="0"/>
              </a:prstClr>
            </a:solidFill>
            <a:latin typeface="Calibri" panose="020F0502020204030204"/>
            <a:ea typeface="+mn-ea"/>
            <a:cs typeface="+mn-cs"/>
          </a:endParaRPr>
        </a:p>
      </dsp:txBody>
      <dsp:txXfrm>
        <a:off x="3529689" y="1810835"/>
        <a:ext cx="4879189" cy="1438368"/>
      </dsp:txXfrm>
    </dsp:sp>
    <dsp:sp modelId="{127B532F-E12E-40B4-9883-CEA140382F9E}">
      <dsp:nvSpPr>
        <dsp:cNvPr id="0" name=""/>
        <dsp:cNvSpPr/>
      </dsp:nvSpPr>
      <dsp:spPr>
        <a:xfrm>
          <a:off x="-26879" y="3608796"/>
          <a:ext cx="8382000" cy="143836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63F48A-9A58-4D96-9095-AB4782EF2EF3}">
      <dsp:nvSpPr>
        <dsp:cNvPr id="0" name=""/>
        <dsp:cNvSpPr/>
      </dsp:nvSpPr>
      <dsp:spPr>
        <a:xfrm>
          <a:off x="408227" y="3932429"/>
          <a:ext cx="791102" cy="7911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5E4023-862A-44D5-96D2-DF9958CB6CB2}">
      <dsp:nvSpPr>
        <dsp:cNvPr id="0" name=""/>
        <dsp:cNvSpPr/>
      </dsp:nvSpPr>
      <dsp:spPr>
        <a:xfrm>
          <a:off x="1067158" y="3608796"/>
          <a:ext cx="2171717" cy="1438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227" tIns="152227" rIns="152227" bIns="152227" numCol="1" spcCol="1270" anchor="ctr" anchorCtr="0">
          <a:noAutofit/>
        </a:bodyPr>
        <a:lstStyle/>
        <a:p>
          <a:pPr marL="0" lvl="0" indent="0" algn="l" defTabSz="977900">
            <a:lnSpc>
              <a:spcPct val="100000"/>
            </a:lnSpc>
            <a:spcBef>
              <a:spcPct val="0"/>
            </a:spcBef>
            <a:spcAft>
              <a:spcPct val="35000"/>
            </a:spcAft>
            <a:buNone/>
          </a:pPr>
          <a:r>
            <a:rPr lang="pt-BR" sz="2200" kern="1200">
              <a:latin typeface="Calibri" panose="020F0502020204030204"/>
              <a:ea typeface="+mn-ea"/>
              <a:cs typeface="+mn-cs"/>
            </a:rPr>
            <a:t>Data</a:t>
          </a:r>
          <a:r>
            <a:rPr lang="pt-BR" sz="2200" kern="1200"/>
            <a:t> </a:t>
          </a:r>
          <a:r>
            <a:rPr lang="pt-BR" sz="2200" kern="1200">
              <a:latin typeface="Calibri" panose="020F0502020204030204"/>
              <a:ea typeface="+mn-ea"/>
              <a:cs typeface="+mn-cs"/>
            </a:rPr>
            <a:t>Protection</a:t>
          </a:r>
        </a:p>
      </dsp:txBody>
      <dsp:txXfrm>
        <a:off x="1067158" y="3608796"/>
        <a:ext cx="2171717" cy="1438368"/>
      </dsp:txXfrm>
    </dsp:sp>
    <dsp:sp modelId="{2820AFAF-71D9-47D9-BDC3-1E13732FFE77}">
      <dsp:nvSpPr>
        <dsp:cNvPr id="0" name=""/>
        <dsp:cNvSpPr/>
      </dsp:nvSpPr>
      <dsp:spPr>
        <a:xfrm>
          <a:off x="3529689" y="3608796"/>
          <a:ext cx="4879189" cy="1438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227" tIns="152227" rIns="152227" bIns="152227" numCol="1" spcCol="1270" anchor="ctr" anchorCtr="0">
          <a:noAutofit/>
        </a:bodyPr>
        <a:lstStyle/>
        <a:p>
          <a:pPr marL="0" lvl="0" indent="0" algn="l" defTabSz="622300">
            <a:lnSpc>
              <a:spcPct val="100000"/>
            </a:lnSpc>
            <a:spcBef>
              <a:spcPct val="0"/>
            </a:spcBef>
            <a:spcAft>
              <a:spcPct val="35000"/>
            </a:spcAft>
            <a:buNone/>
          </a:pPr>
          <a:r>
            <a:rPr lang="pt-BR" sz="1400" b="0" i="0" kern="1200" dirty="0">
              <a:solidFill>
                <a:prstClr val="white">
                  <a:hueOff val="0"/>
                  <a:satOff val="0"/>
                  <a:lumOff val="0"/>
                  <a:alphaOff val="0"/>
                </a:prstClr>
              </a:solidFill>
              <a:latin typeface="Calibri" panose="020F0502020204030204"/>
              <a:ea typeface="+mn-ea"/>
              <a:cs typeface="+mn-cs"/>
            </a:rPr>
            <a:t>Quando os dados são excluídos, eles passam para um estado excluído suave em vez de serem permanentemente apagados.</a:t>
          </a:r>
        </a:p>
      </dsp:txBody>
      <dsp:txXfrm>
        <a:off x="3529689" y="3608796"/>
        <a:ext cx="4879189" cy="1438368"/>
      </dsp:txXfrm>
    </dsp:sp>
    <dsp:sp modelId="{9B689EF3-DD76-469D-ACC2-BC7BDF98577E}">
      <dsp:nvSpPr>
        <dsp:cNvPr id="0" name=""/>
        <dsp:cNvSpPr/>
      </dsp:nvSpPr>
      <dsp:spPr>
        <a:xfrm>
          <a:off x="-26879" y="5406757"/>
          <a:ext cx="8382000" cy="143836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6FFB07-9B2F-4285-9602-28EB1D3D9606}">
      <dsp:nvSpPr>
        <dsp:cNvPr id="0" name=""/>
        <dsp:cNvSpPr/>
      </dsp:nvSpPr>
      <dsp:spPr>
        <a:xfrm>
          <a:off x="408227" y="5730390"/>
          <a:ext cx="791102" cy="7911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36BADC-13E5-4E94-AD20-B90C4BA6E7B9}">
      <dsp:nvSpPr>
        <dsp:cNvPr id="0" name=""/>
        <dsp:cNvSpPr/>
      </dsp:nvSpPr>
      <dsp:spPr>
        <a:xfrm>
          <a:off x="1067158" y="5406757"/>
          <a:ext cx="2171717" cy="1438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227" tIns="152227" rIns="152227" bIns="152227" numCol="1" spcCol="1270" anchor="ctr" anchorCtr="0">
          <a:noAutofit/>
        </a:bodyPr>
        <a:lstStyle/>
        <a:p>
          <a:pPr marL="0" lvl="0" indent="0" algn="l" defTabSz="977900">
            <a:lnSpc>
              <a:spcPct val="100000"/>
            </a:lnSpc>
            <a:spcBef>
              <a:spcPct val="0"/>
            </a:spcBef>
            <a:spcAft>
              <a:spcPct val="35000"/>
            </a:spcAft>
            <a:buNone/>
          </a:pPr>
          <a:r>
            <a:rPr lang="pt-BR" sz="2200" kern="1200">
              <a:latin typeface="Calibri" panose="020F0502020204030204"/>
              <a:ea typeface="+mn-ea"/>
              <a:cs typeface="+mn-cs"/>
            </a:rPr>
            <a:t>Data</a:t>
          </a:r>
          <a:r>
            <a:rPr lang="pt-BR" sz="2200" kern="1200"/>
            <a:t> </a:t>
          </a:r>
          <a:r>
            <a:rPr lang="pt-BR" sz="2200" kern="1200">
              <a:latin typeface="Calibri" panose="020F0502020204030204"/>
              <a:ea typeface="+mn-ea"/>
              <a:cs typeface="+mn-cs"/>
            </a:rPr>
            <a:t>Lake</a:t>
          </a:r>
          <a:r>
            <a:rPr lang="pt-BR" sz="2200" kern="1200"/>
            <a:t> </a:t>
          </a:r>
          <a:r>
            <a:rPr lang="pt-BR" sz="2200" kern="1200">
              <a:latin typeface="Calibri" panose="020F0502020204030204"/>
              <a:ea typeface="+mn-ea"/>
              <a:cs typeface="+mn-cs"/>
            </a:rPr>
            <a:t>Storage</a:t>
          </a:r>
          <a:r>
            <a:rPr lang="pt-BR" sz="2200" kern="1200"/>
            <a:t> </a:t>
          </a:r>
          <a:r>
            <a:rPr lang="pt-BR" sz="2200" kern="1200">
              <a:latin typeface="Calibri" panose="020F0502020204030204"/>
              <a:ea typeface="+mn-ea"/>
              <a:cs typeface="+mn-cs"/>
            </a:rPr>
            <a:t>Gen</a:t>
          </a:r>
          <a:r>
            <a:rPr lang="pt-BR" sz="2200" kern="1200"/>
            <a:t> </a:t>
          </a:r>
          <a:r>
            <a:rPr lang="pt-BR" sz="2200" kern="1200">
              <a:latin typeface="Calibri" panose="020F0502020204030204"/>
              <a:ea typeface="+mn-ea"/>
              <a:cs typeface="+mn-cs"/>
            </a:rPr>
            <a:t>2</a:t>
          </a:r>
        </a:p>
      </dsp:txBody>
      <dsp:txXfrm>
        <a:off x="1067158" y="5406757"/>
        <a:ext cx="2171717" cy="1438368"/>
      </dsp:txXfrm>
    </dsp:sp>
    <dsp:sp modelId="{69726DAD-724F-4195-B60D-6DEF5189BC2C}">
      <dsp:nvSpPr>
        <dsp:cNvPr id="0" name=""/>
        <dsp:cNvSpPr/>
      </dsp:nvSpPr>
      <dsp:spPr>
        <a:xfrm>
          <a:off x="3529689" y="5406757"/>
          <a:ext cx="4879189" cy="1438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227" tIns="152227" rIns="152227" bIns="152227" numCol="1" spcCol="1270" anchor="ctr" anchorCtr="0">
          <a:noAutofit/>
        </a:bodyPr>
        <a:lstStyle/>
        <a:p>
          <a:pPr marL="0" lvl="0" indent="0" algn="l" defTabSz="622300">
            <a:lnSpc>
              <a:spcPct val="100000"/>
            </a:lnSpc>
            <a:spcBef>
              <a:spcPct val="0"/>
            </a:spcBef>
            <a:spcAft>
              <a:spcPct val="35000"/>
            </a:spcAft>
            <a:buNone/>
          </a:pPr>
          <a:r>
            <a:rPr lang="pt-BR" sz="1400" b="0" i="0" kern="1200" dirty="0">
              <a:solidFill>
                <a:prstClr val="white">
                  <a:hueOff val="0"/>
                  <a:satOff val="0"/>
                  <a:lumOff val="0"/>
                  <a:alphaOff val="0"/>
                </a:prstClr>
              </a:solidFill>
              <a:latin typeface="Calibri" panose="020F0502020204030204"/>
              <a:ea typeface="+mn-ea"/>
              <a:cs typeface="+mn-cs"/>
            </a:rPr>
            <a:t>Torna o armazenamento do Azure a fundação para a criação de data </a:t>
          </a:r>
          <a:r>
            <a:rPr lang="pt-BR" sz="1400" b="0" i="0" kern="1200" dirty="0" err="1">
              <a:solidFill>
                <a:prstClr val="white">
                  <a:hueOff val="0"/>
                  <a:satOff val="0"/>
                  <a:lumOff val="0"/>
                  <a:alphaOff val="0"/>
                </a:prstClr>
              </a:solidFill>
              <a:latin typeface="Calibri" panose="020F0502020204030204"/>
              <a:ea typeface="+mn-ea"/>
              <a:cs typeface="+mn-cs"/>
            </a:rPr>
            <a:t>lakes</a:t>
          </a:r>
          <a:r>
            <a:rPr lang="pt-BR" sz="1400" b="0" i="0" kern="1200" dirty="0">
              <a:solidFill>
                <a:prstClr val="white">
                  <a:hueOff val="0"/>
                  <a:satOff val="0"/>
                  <a:lumOff val="0"/>
                  <a:alphaOff val="0"/>
                </a:prstClr>
              </a:solidFill>
              <a:latin typeface="Calibri" panose="020F0502020204030204"/>
              <a:ea typeface="+mn-ea"/>
              <a:cs typeface="+mn-cs"/>
            </a:rPr>
            <a:t> empresariais. Projetado atender a vários </a:t>
          </a:r>
          <a:r>
            <a:rPr lang="pt-BR" sz="1400" b="0" i="0" kern="1200" dirty="0" err="1">
              <a:solidFill>
                <a:prstClr val="white">
                  <a:hueOff val="0"/>
                  <a:satOff val="0"/>
                  <a:lumOff val="0"/>
                  <a:alphaOff val="0"/>
                </a:prstClr>
              </a:solidFill>
              <a:latin typeface="Calibri" panose="020F0502020204030204"/>
              <a:ea typeface="+mn-ea"/>
              <a:cs typeface="+mn-cs"/>
            </a:rPr>
            <a:t>petabytes</a:t>
          </a:r>
          <a:r>
            <a:rPr lang="pt-BR" sz="1400" b="0" i="0" kern="1200" dirty="0">
              <a:solidFill>
                <a:prstClr val="white">
                  <a:hueOff val="0"/>
                  <a:satOff val="0"/>
                  <a:lumOff val="0"/>
                  <a:alphaOff val="0"/>
                </a:prstClr>
              </a:solidFill>
              <a:latin typeface="Calibri" panose="020F0502020204030204"/>
              <a:ea typeface="+mn-ea"/>
              <a:cs typeface="+mn-cs"/>
            </a:rPr>
            <a:t> de informações, mantém centenas de gigabits de taxa de transferência permitindo que você gerencie de uma maneira fácil grandes quantidades de dados.</a:t>
          </a:r>
        </a:p>
      </dsp:txBody>
      <dsp:txXfrm>
        <a:off x="3529689" y="5406757"/>
        <a:ext cx="4879189" cy="143836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A00D28-1A2A-4C46-B228-028510A62965}">
      <dsp:nvSpPr>
        <dsp:cNvPr id="0" name=""/>
        <dsp:cNvSpPr/>
      </dsp:nvSpPr>
      <dsp:spPr>
        <a:xfrm>
          <a:off x="0" y="956381"/>
          <a:ext cx="6513603" cy="176562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0D3E21-D81E-4D6A-BD89-199A5333B551}">
      <dsp:nvSpPr>
        <dsp:cNvPr id="0" name=""/>
        <dsp:cNvSpPr/>
      </dsp:nvSpPr>
      <dsp:spPr>
        <a:xfrm>
          <a:off x="534102" y="1353647"/>
          <a:ext cx="971095" cy="9710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7EB010-7B40-4FDE-B821-AE5EE429CC39}">
      <dsp:nvSpPr>
        <dsp:cNvPr id="0" name=""/>
        <dsp:cNvSpPr/>
      </dsp:nvSpPr>
      <dsp:spPr>
        <a:xfrm>
          <a:off x="2039300" y="956381"/>
          <a:ext cx="4474303" cy="1765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862" tIns="186862" rIns="186862" bIns="186862" numCol="1" spcCol="1270" anchor="ctr" anchorCtr="0">
          <a:noAutofit/>
        </a:bodyPr>
        <a:lstStyle/>
        <a:p>
          <a:pPr marL="0" lvl="0" indent="0" algn="l" defTabSz="844550">
            <a:lnSpc>
              <a:spcPct val="90000"/>
            </a:lnSpc>
            <a:spcBef>
              <a:spcPct val="0"/>
            </a:spcBef>
            <a:spcAft>
              <a:spcPct val="35000"/>
            </a:spcAft>
            <a:buNone/>
          </a:pPr>
          <a:r>
            <a:rPr lang="pt-BR" sz="1900" kern="1200"/>
            <a:t>O conceito da ACU (Unidade de Computação do Azure) fornece uma maneira de comparar o desempenho de computação (CPU) em diferentes máquinas virtuais do Azure.</a:t>
          </a:r>
          <a:endParaRPr lang="en-US" sz="1900" kern="1200"/>
        </a:p>
      </dsp:txBody>
      <dsp:txXfrm>
        <a:off x="2039300" y="956381"/>
        <a:ext cx="4474303" cy="1765627"/>
      </dsp:txXfrm>
    </dsp:sp>
    <dsp:sp modelId="{36A51196-3CAD-4192-86EF-0C8F033ED092}">
      <dsp:nvSpPr>
        <dsp:cNvPr id="0" name=""/>
        <dsp:cNvSpPr/>
      </dsp:nvSpPr>
      <dsp:spPr>
        <a:xfrm>
          <a:off x="0" y="3163416"/>
          <a:ext cx="6513603" cy="176562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DFEC2B-9C66-4291-BCEB-39C6AD3A52C3}">
      <dsp:nvSpPr>
        <dsp:cNvPr id="0" name=""/>
        <dsp:cNvSpPr/>
      </dsp:nvSpPr>
      <dsp:spPr>
        <a:xfrm>
          <a:off x="534102" y="3560682"/>
          <a:ext cx="971095" cy="9710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5CEA0A-08B6-484F-A040-CECA2F67105B}">
      <dsp:nvSpPr>
        <dsp:cNvPr id="0" name=""/>
        <dsp:cNvSpPr/>
      </dsp:nvSpPr>
      <dsp:spPr>
        <a:xfrm>
          <a:off x="2039300" y="3163416"/>
          <a:ext cx="4474303" cy="1765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862" tIns="186862" rIns="186862" bIns="186862" numCol="1" spcCol="1270" anchor="ctr" anchorCtr="0">
          <a:noAutofit/>
        </a:bodyPr>
        <a:lstStyle/>
        <a:p>
          <a:pPr marL="0" lvl="0" indent="0" algn="l" defTabSz="844550">
            <a:lnSpc>
              <a:spcPct val="90000"/>
            </a:lnSpc>
            <a:spcBef>
              <a:spcPct val="0"/>
            </a:spcBef>
            <a:spcAft>
              <a:spcPct val="35000"/>
            </a:spcAft>
            <a:buNone/>
          </a:pPr>
          <a:r>
            <a:rPr lang="pt-BR" sz="1900" kern="1200"/>
            <a:t>A ACU é apenas uma diretriz. Os resultados para sua carga de trabalho podem variar</a:t>
          </a:r>
          <a:endParaRPr lang="en-US" sz="1900" kern="1200"/>
        </a:p>
      </dsp:txBody>
      <dsp:txXfrm>
        <a:off x="2039300" y="3163416"/>
        <a:ext cx="4474303" cy="176562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9/layout/CirclePictureHierarchy">
  <dgm:title val=""/>
  <dgm:desc val=""/>
  <dgm:catLst>
    <dgm:cat type="hierarchy" pri="1750"/>
    <dgm:cat type="picture" pri="23000"/>
    <dgm:cat type="pictureconvert" pri="2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5"/>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h" for="ch" forName="image" refType="h" fact="0.8"/>
              <dgm:constr type="w" for="ch" forName="image" refType="h" refFor="ch" refForName="image"/>
              <dgm:constr type="t" for="ch" forName="image" refType="h" fact="0.1"/>
              <dgm:constr type="l" for="ch" forName="image"/>
              <dgm:constr type="w" for="ch" forName="text" refType="w" fact="0.6"/>
              <dgm:constr type="h" for="ch" forName="text" refType="h" fact="0.8"/>
              <dgm:constr type="t" for="ch" forName="text" refType="w" fact="0.04"/>
              <dgm:constr type="l" for="ch" forName="text" refType="w" fact="0.4"/>
            </dgm:constrLst>
            <dgm:ruleLst/>
            <dgm:layoutNode name="image" styleLbl="node0">
              <dgm:alg type="sp"/>
              <dgm:shape xmlns:r="http://schemas.openxmlformats.org/officeDocument/2006/relationships" type="ellipse" r:blip="" blipPhldr="1">
                <dgm:adjLst/>
              </dgm:shape>
              <dgm:presOf/>
              <dgm:constrLst/>
              <dgm:ruleLst/>
            </dgm:layoutNode>
            <dgm:layoutNode name="text"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image"/>
                    <dgm:param type="dstNode" val="image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h" for="ch" forName="image2" refType="h" fact="0.8"/>
                      <dgm:constr type="w" for="ch" forName="image2" refType="h" refFor="ch" refForName="image2"/>
                      <dgm:constr type="t" for="ch" forName="image2" refType="h" fact="0.1"/>
                      <dgm:constr type="l" for="ch" forName="image2"/>
                      <dgm:constr type="w" for="ch" forName="text2" refType="w" fact="0.6"/>
                      <dgm:constr type="h" for="ch" forName="text2" refType="h" fact="0.8"/>
                      <dgm:constr type="t" for="ch" forName="text2" refType="w" fact="0.04"/>
                      <dgm:constr type="l" for="ch" forName="text2" refType="w" fact="0.4"/>
                    </dgm:constrLst>
                    <dgm:ruleLst/>
                    <dgm:layoutNode name="image2">
                      <dgm:alg type="sp"/>
                      <dgm:shape xmlns:r="http://schemas.openxmlformats.org/officeDocument/2006/relationships" type="ellipse" r:blip="" blipPhldr="1">
                        <dgm:adjLst/>
                      </dgm:shape>
                      <dgm:presOf/>
                      <dgm:constrLst/>
                      <dgm:ruleLst/>
                    </dgm:layoutNode>
                    <dgm:layoutNode name="text2"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image2"/>
                            <dgm:param type="dstNode" val="image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h" for="ch" forName="image3" refType="h" fact="0.8"/>
                              <dgm:constr type="w" for="ch" forName="image3" refType="h" refFor="ch" refForName="image3"/>
                              <dgm:constr type="t" for="ch" forName="image3" refType="h" fact="0.1"/>
                              <dgm:constr type="l" for="ch" forName="image3"/>
                              <dgm:constr type="w" for="ch" forName="text3" refType="w" fact="0.6"/>
                              <dgm:constr type="h" for="ch" forName="text3" refType="h" fact="0.8"/>
                              <dgm:constr type="t" for="ch" forName="text3" refType="w" fact="0.04"/>
                              <dgm:constr type="l" for="ch" forName="text3" refType="w" fact="0.4"/>
                            </dgm:constrLst>
                            <dgm:ruleLst/>
                            <dgm:layoutNode name="image3">
                              <dgm:alg type="sp"/>
                              <dgm:shape xmlns:r="http://schemas.openxmlformats.org/officeDocument/2006/relationships" type="ellipse" r:blip="" blipPhldr="1">
                                <dgm:adjLst/>
                              </dgm:shape>
                              <dgm:presOf/>
                              <dgm:constrLst/>
                              <dgm:ruleLst/>
                            </dgm:layoutNode>
                            <dgm:layoutNode name="text3"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image3"/>
                                        <dgm:param type="dstNode" val="image4"/>
                                      </dgm:alg>
                                    </dgm:if>
                                    <dgm:else name="Name26">
                                      <dgm:alg type="conn">
                                        <dgm:param type="dim" val="1D"/>
                                        <dgm:param type="endSty" val="noArr"/>
                                        <dgm:param type="connRout" val="bend"/>
                                        <dgm:param type="bendPt" val="end"/>
                                        <dgm:param type="begPts" val="bCtr"/>
                                        <dgm:param type="endPts" val="tCtr"/>
                                        <dgm:param type="srcNode" val="image4"/>
                                        <dgm:param type="dstNode" val="image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h" for="ch" forName="image4" refType="h" fact="0.8"/>
                                      <dgm:constr type="w" for="ch" forName="image4" refType="h" refFor="ch" refForName="image4"/>
                                      <dgm:constr type="t" for="ch" forName="image4" refType="h" fact="0.1"/>
                                      <dgm:constr type="l" for="ch" forName="image4"/>
                                      <dgm:constr type="w" for="ch" forName="text4" refType="w" fact="0.6"/>
                                      <dgm:constr type="h" for="ch" forName="text4" refType="h" fact="0.8"/>
                                      <dgm:constr type="t" for="ch" forName="text4" refType="w" fact="0.04"/>
                                      <dgm:constr type="l" for="ch" forName="text4" refType="w" fact="0.4"/>
                                    </dgm:constrLst>
                                    <dgm:ruleLst/>
                                    <dgm:layoutNode name="image4">
                                      <dgm:alg type="sp"/>
                                      <dgm:shape xmlns:r="http://schemas.openxmlformats.org/officeDocument/2006/relationships" type="ellipse" r:blip="" blipPhldr="1">
                                        <dgm:adjLst/>
                                      </dgm:shape>
                                      <dgm:presOf/>
                                      <dgm:constrLst/>
                                      <dgm:ruleLst/>
                                    </dgm:layoutNode>
                                    <dgm:layoutNode name="text4"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75D76E-AC94-4464-BAEC-8BF9F434F6AB}" type="datetimeFigureOut">
              <a:rPr lang="pt-BR" smtClean="0"/>
              <a:t>06/10/2026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36DC42-D1A9-431F-8E87-BBFCB9F91497}" type="slidenum">
              <a:rPr lang="pt-BR" smtClean="0"/>
              <a:t>‹nº›</a:t>
            </a:fld>
            <a:endParaRPr lang="pt-BR"/>
          </a:p>
        </p:txBody>
      </p:sp>
    </p:spTree>
    <p:extLst>
      <p:ext uri="{BB962C8B-B14F-4D97-AF65-F5344CB8AC3E}">
        <p14:creationId xmlns:p14="http://schemas.microsoft.com/office/powerpoint/2010/main" val="3740613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3DD39D1C-2AC7-4DF3-8496-25A29988A7E0}"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2ABADA9-1FE0-45D6-B921-B01F58A53E74}" type="slidenum">
              <a:rPr lang="pt-BR" smtClean="0"/>
              <a:t>‹nº›</a:t>
            </a:fld>
            <a:endParaRPr lang="pt-BR"/>
          </a:p>
        </p:txBody>
      </p:sp>
    </p:spTree>
    <p:extLst>
      <p:ext uri="{BB962C8B-B14F-4D97-AF65-F5344CB8AC3E}">
        <p14:creationId xmlns:p14="http://schemas.microsoft.com/office/powerpoint/2010/main" val="2721939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3DD39D1C-2AC7-4DF3-8496-25A29988A7E0}"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2ABADA9-1FE0-45D6-B921-B01F58A53E74}" type="slidenum">
              <a:rPr lang="pt-BR" smtClean="0"/>
              <a:t>‹nº›</a:t>
            </a:fld>
            <a:endParaRPr lang="pt-BR"/>
          </a:p>
        </p:txBody>
      </p:sp>
    </p:spTree>
    <p:extLst>
      <p:ext uri="{BB962C8B-B14F-4D97-AF65-F5344CB8AC3E}">
        <p14:creationId xmlns:p14="http://schemas.microsoft.com/office/powerpoint/2010/main" val="906549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3DD39D1C-2AC7-4DF3-8496-25A29988A7E0}"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2ABADA9-1FE0-45D6-B921-B01F58A53E74}" type="slidenum">
              <a:rPr lang="pt-BR" smtClean="0"/>
              <a:t>‹nº›</a:t>
            </a:fld>
            <a:endParaRPr lang="pt-BR"/>
          </a:p>
        </p:txBody>
      </p:sp>
    </p:spTree>
    <p:extLst>
      <p:ext uri="{BB962C8B-B14F-4D97-AF65-F5344CB8AC3E}">
        <p14:creationId xmlns:p14="http://schemas.microsoft.com/office/powerpoint/2010/main" val="2420335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3DD39D1C-2AC7-4DF3-8496-25A29988A7E0}" type="datetimeFigureOut">
              <a:rPr lang="pt-BR" smtClean="0"/>
              <a:t>06/10/2026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2ABADA9-1FE0-45D6-B921-B01F58A53E74}" type="slidenum">
              <a:rPr lang="pt-BR" smtClean="0"/>
              <a:t>‹nº›</a:t>
            </a:fld>
            <a:endParaRPr lang="pt-BR"/>
          </a:p>
        </p:txBody>
      </p:sp>
    </p:spTree>
    <p:extLst>
      <p:ext uri="{BB962C8B-B14F-4D97-AF65-F5344CB8AC3E}">
        <p14:creationId xmlns:p14="http://schemas.microsoft.com/office/powerpoint/2010/main" val="34521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3DD39D1C-2AC7-4DF3-8496-25A29988A7E0}" type="datetimeFigureOut">
              <a:rPr lang="pt-BR" smtClean="0"/>
              <a:t>06/10/2026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72ABADA9-1FE0-45D6-B921-B01F58A53E74}" type="slidenum">
              <a:rPr lang="pt-BR" smtClean="0"/>
              <a:t>‹nº›</a:t>
            </a:fld>
            <a:endParaRPr lang="pt-BR"/>
          </a:p>
        </p:txBody>
      </p:sp>
    </p:spTree>
    <p:extLst>
      <p:ext uri="{BB962C8B-B14F-4D97-AF65-F5344CB8AC3E}">
        <p14:creationId xmlns:p14="http://schemas.microsoft.com/office/powerpoint/2010/main" val="3519522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3DD39D1C-2AC7-4DF3-8496-25A29988A7E0}" type="datetimeFigureOut">
              <a:rPr lang="pt-BR" smtClean="0"/>
              <a:t>06/10/2026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72ABADA9-1FE0-45D6-B921-B01F58A53E74}" type="slidenum">
              <a:rPr lang="pt-BR" smtClean="0"/>
              <a:t>‹nº›</a:t>
            </a:fld>
            <a:endParaRPr lang="pt-BR"/>
          </a:p>
        </p:txBody>
      </p:sp>
    </p:spTree>
    <p:extLst>
      <p:ext uri="{BB962C8B-B14F-4D97-AF65-F5344CB8AC3E}">
        <p14:creationId xmlns:p14="http://schemas.microsoft.com/office/powerpoint/2010/main" val="2059591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D39D1C-2AC7-4DF3-8496-25A29988A7E0}" type="datetimeFigureOut">
              <a:rPr lang="pt-BR" smtClean="0"/>
              <a:t>06/10/2026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72ABADA9-1FE0-45D6-B921-B01F58A53E74}" type="slidenum">
              <a:rPr lang="pt-BR" smtClean="0"/>
              <a:t>‹nº›</a:t>
            </a:fld>
            <a:endParaRPr lang="pt-BR"/>
          </a:p>
        </p:txBody>
      </p:sp>
    </p:spTree>
    <p:extLst>
      <p:ext uri="{BB962C8B-B14F-4D97-AF65-F5344CB8AC3E}">
        <p14:creationId xmlns:p14="http://schemas.microsoft.com/office/powerpoint/2010/main" val="1400668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3DD39D1C-2AC7-4DF3-8496-25A29988A7E0}" type="datetimeFigureOut">
              <a:rPr lang="pt-BR" smtClean="0"/>
              <a:t>06/10/2026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2ABADA9-1FE0-45D6-B921-B01F58A53E74}" type="slidenum">
              <a:rPr lang="pt-BR" smtClean="0"/>
              <a:t>‹nº›</a:t>
            </a:fld>
            <a:endParaRPr lang="pt-BR"/>
          </a:p>
        </p:txBody>
      </p:sp>
    </p:spTree>
    <p:extLst>
      <p:ext uri="{BB962C8B-B14F-4D97-AF65-F5344CB8AC3E}">
        <p14:creationId xmlns:p14="http://schemas.microsoft.com/office/powerpoint/2010/main" val="4090454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3DD39D1C-2AC7-4DF3-8496-25A29988A7E0}" type="datetimeFigureOut">
              <a:rPr lang="pt-BR" smtClean="0"/>
              <a:t>06/10/2026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2ABADA9-1FE0-45D6-B921-B01F58A53E74}" type="slidenum">
              <a:rPr lang="pt-BR" smtClean="0"/>
              <a:t>‹nº›</a:t>
            </a:fld>
            <a:endParaRPr lang="pt-BR"/>
          </a:p>
        </p:txBody>
      </p:sp>
    </p:spTree>
    <p:extLst>
      <p:ext uri="{BB962C8B-B14F-4D97-AF65-F5344CB8AC3E}">
        <p14:creationId xmlns:p14="http://schemas.microsoft.com/office/powerpoint/2010/main" val="1004203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3DD39D1C-2AC7-4DF3-8496-25A29988A7E0}"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2ABADA9-1FE0-45D6-B921-B01F58A53E74}" type="slidenum">
              <a:rPr lang="pt-BR" smtClean="0"/>
              <a:t>‹nº›</a:t>
            </a:fld>
            <a:endParaRPr lang="pt-BR"/>
          </a:p>
        </p:txBody>
      </p:sp>
    </p:spTree>
    <p:extLst>
      <p:ext uri="{BB962C8B-B14F-4D97-AF65-F5344CB8AC3E}">
        <p14:creationId xmlns:p14="http://schemas.microsoft.com/office/powerpoint/2010/main" val="311906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3DD39D1C-2AC7-4DF3-8496-25A29988A7E0}"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2ABADA9-1FE0-45D6-B921-B01F58A53E74}" type="slidenum">
              <a:rPr lang="pt-BR" smtClean="0"/>
              <a:t>‹nº›</a:t>
            </a:fld>
            <a:endParaRPr lang="pt-BR"/>
          </a:p>
        </p:txBody>
      </p:sp>
    </p:spTree>
    <p:extLst>
      <p:ext uri="{BB962C8B-B14F-4D97-AF65-F5344CB8AC3E}">
        <p14:creationId xmlns:p14="http://schemas.microsoft.com/office/powerpoint/2010/main" val="2755443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D39D1C-2AC7-4DF3-8496-25A29988A7E0}" type="datetimeFigureOut">
              <a:rPr lang="pt-BR" smtClean="0"/>
              <a:t>06/10/2026</a:t>
            </a:fld>
            <a:endParaRPr lang="pt-B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ABADA9-1FE0-45D6-B921-B01F58A53E74}" type="slidenum">
              <a:rPr lang="pt-BR" smtClean="0"/>
              <a:t>‹nº›</a:t>
            </a:fld>
            <a:endParaRPr lang="pt-BR"/>
          </a:p>
        </p:txBody>
      </p:sp>
      <p:sp>
        <p:nvSpPr>
          <p:cNvPr id="8" name="CaixaDeTexto 7">
            <a:extLst>
              <a:ext uri="{FF2B5EF4-FFF2-40B4-BE49-F238E27FC236}">
                <a16:creationId xmlns:a16="http://schemas.microsoft.com/office/drawing/2014/main" id="{8EAE055C-6FA7-01B8-BC95-7D3CE78EF87A}"/>
              </a:ext>
            </a:extLst>
          </p:cNvPr>
          <p:cNvSpPr txBox="1"/>
          <p:nvPr userDrawn="1">
            <p:extLst>
              <p:ext uri="{1162E1C5-73C7-4A58-AE30-91384D911F3F}">
                <p184:classification xmlns:p184="http://schemas.microsoft.com/office/powerpoint/2018/4/main" val="ftr"/>
              </p:ext>
            </p:extLst>
          </p:nvPr>
        </p:nvSpPr>
        <p:spPr>
          <a:xfrm>
            <a:off x="63500" y="6611620"/>
            <a:ext cx="3919538" cy="182880"/>
          </a:xfrm>
          <a:prstGeom prst="rect">
            <a:avLst/>
          </a:prstGeom>
        </p:spPr>
        <p:txBody>
          <a:bodyPr horzOverflow="overflow" lIns="0" tIns="0" rIns="0" bIns="0">
            <a:spAutoFit/>
          </a:bodyPr>
          <a:lstStyle/>
          <a:p>
            <a:pPr algn="l"/>
            <a:r>
              <a:rPr lang="pt-BR" sz="600">
                <a:solidFill>
                  <a:srgbClr val="000000">
                    <a:alpha val="50000"/>
                  </a:srgbClr>
                </a:solidFill>
                <a:latin typeface="Aptos" panose="020B0004020202020204" pitchFamily="34" charset="0"/>
              </a:rPr>
              <a:t>*** Clasificado CORPORATIVO por TELEFÓNICA. *** Classified CORPORATE by TELEFÓNICA.
*** Classificado como CORPORATIVO pela TELEFÓNICA. *** Von TELEFÓNICA als UNTERNEHMENSINTERN eingestuft.</a:t>
            </a:r>
          </a:p>
        </p:txBody>
      </p:sp>
    </p:spTree>
    <p:extLst>
      <p:ext uri="{BB962C8B-B14F-4D97-AF65-F5344CB8AC3E}">
        <p14:creationId xmlns:p14="http://schemas.microsoft.com/office/powerpoint/2010/main" val="20320241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microsoft.com/devicelogin"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svg"/></Relationships>
</file>

<file path=ppt/slides/_rels/slide2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7.svg"/><Relationship Id="rId7" Type="http://schemas.openxmlformats.org/officeDocument/2006/relationships/image" Target="../media/image61.svg"/><Relationship Id="rId2" Type="http://schemas.openxmlformats.org/officeDocument/2006/relationships/image" Target="../media/image56.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svg"/><Relationship Id="rId4" Type="http://schemas.openxmlformats.org/officeDocument/2006/relationships/image" Target="../media/image58.png"/></Relationships>
</file>

<file path=ppt/slides/_rels/slide34.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3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42.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58.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6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6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 Id="rId5" Type="http://schemas.openxmlformats.org/officeDocument/2006/relationships/image" Target="../media/image111.png"/><Relationship Id="rId4" Type="http://schemas.openxmlformats.org/officeDocument/2006/relationships/image" Target="../media/image110.png"/></Relationships>
</file>

<file path=ppt/slides/_rels/slide6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7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 Id="rId4" Type="http://schemas.openxmlformats.org/officeDocument/2006/relationships/image" Target="../media/image119.png"/></Relationships>
</file>

<file path=ppt/slides/_rels/slide72.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image" Target="../media/image120.jpeg"/><Relationship Id="rId1" Type="http://schemas.openxmlformats.org/officeDocument/2006/relationships/slideLayout" Target="../slideLayouts/slideLayout2.xml"/><Relationship Id="rId5" Type="http://schemas.openxmlformats.org/officeDocument/2006/relationships/image" Target="../media/image123.png"/><Relationship Id="rId4" Type="http://schemas.openxmlformats.org/officeDocument/2006/relationships/image" Target="../media/image12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133.svg"/><Relationship Id="rId5" Type="http://schemas.openxmlformats.org/officeDocument/2006/relationships/image" Target="../media/image132.png"/><Relationship Id="rId4" Type="http://schemas.openxmlformats.org/officeDocument/2006/relationships/image" Target="../media/image131.png"/></Relationships>
</file>

<file path=ppt/slides/_rels/slide8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 Id="rId4" Type="http://schemas.openxmlformats.org/officeDocument/2006/relationships/image" Target="../media/image136.png"/></Relationships>
</file>

<file path=ppt/slides/_rels/slide85.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8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xml"/><Relationship Id="rId4" Type="http://schemas.openxmlformats.org/officeDocument/2006/relationships/image" Target="../media/image145.png"/></Relationships>
</file>

<file path=ppt/slides/_rels/slide90.xml.rels><?xml version="1.0" encoding="UTF-8" standalone="yes"?>
<Relationships xmlns="http://schemas.openxmlformats.org/package/2006/relationships"><Relationship Id="rId8" Type="http://schemas.openxmlformats.org/officeDocument/2006/relationships/image" Target="../media/image151.png"/><Relationship Id="rId13" Type="http://schemas.openxmlformats.org/officeDocument/2006/relationships/image" Target="../media/image156.svg"/><Relationship Id="rId3" Type="http://schemas.openxmlformats.org/officeDocument/2006/relationships/image" Target="../media/image147.svg"/><Relationship Id="rId7" Type="http://schemas.openxmlformats.org/officeDocument/2006/relationships/hyperlink" Target="https://www.needpix.com/photo/26567/firewall-internet-network-protection-attack-security-data-computer-database" TargetMode="External"/><Relationship Id="rId12" Type="http://schemas.openxmlformats.org/officeDocument/2006/relationships/image" Target="../media/image155.png"/><Relationship Id="rId2" Type="http://schemas.openxmlformats.org/officeDocument/2006/relationships/image" Target="../media/image146.png"/><Relationship Id="rId1" Type="http://schemas.openxmlformats.org/officeDocument/2006/relationships/slideLayout" Target="../slideLayouts/slideLayout2.xml"/><Relationship Id="rId6" Type="http://schemas.openxmlformats.org/officeDocument/2006/relationships/image" Target="../media/image150.png"/><Relationship Id="rId11" Type="http://schemas.openxmlformats.org/officeDocument/2006/relationships/image" Target="../media/image154.svg"/><Relationship Id="rId5" Type="http://schemas.openxmlformats.org/officeDocument/2006/relationships/image" Target="../media/image149.svg"/><Relationship Id="rId10" Type="http://schemas.openxmlformats.org/officeDocument/2006/relationships/image" Target="../media/image153.png"/><Relationship Id="rId4" Type="http://schemas.openxmlformats.org/officeDocument/2006/relationships/image" Target="../media/image148.png"/><Relationship Id="rId9" Type="http://schemas.openxmlformats.org/officeDocument/2006/relationships/image" Target="../media/image152.svg"/></Relationships>
</file>

<file path=ppt/slides/_rels/slide91.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93.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8" Type="http://schemas.openxmlformats.org/officeDocument/2006/relationships/image" Target="../media/image167.png"/><Relationship Id="rId3" Type="http://schemas.openxmlformats.org/officeDocument/2006/relationships/image" Target="../media/image28.svg"/><Relationship Id="rId7" Type="http://schemas.openxmlformats.org/officeDocument/2006/relationships/image" Target="../media/image166.sv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165.png"/><Relationship Id="rId11" Type="http://schemas.openxmlformats.org/officeDocument/2006/relationships/image" Target="../media/image170.svg"/><Relationship Id="rId5" Type="http://schemas.openxmlformats.org/officeDocument/2006/relationships/image" Target="../media/image164.svg"/><Relationship Id="rId10" Type="http://schemas.openxmlformats.org/officeDocument/2006/relationships/image" Target="../media/image169.png"/><Relationship Id="rId4" Type="http://schemas.openxmlformats.org/officeDocument/2006/relationships/image" Target="../media/image163.png"/><Relationship Id="rId9" Type="http://schemas.openxmlformats.org/officeDocument/2006/relationships/image" Target="../media/image168.svg"/></Relationships>
</file>

<file path=ppt/slides/_rels/slide104.xml.rels><?xml version="1.0" encoding="UTF-8" standalone="yes"?>
<Relationships xmlns="http://schemas.openxmlformats.org/package/2006/relationships"><Relationship Id="rId3" Type="http://schemas.openxmlformats.org/officeDocument/2006/relationships/image" Target="../media/image28.svg"/><Relationship Id="rId7" Type="http://schemas.openxmlformats.org/officeDocument/2006/relationships/image" Target="../media/image172.sv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171.png"/><Relationship Id="rId5" Type="http://schemas.openxmlformats.org/officeDocument/2006/relationships/image" Target="../media/image166.svg"/><Relationship Id="rId4" Type="http://schemas.openxmlformats.org/officeDocument/2006/relationships/image" Target="../media/image165.png"/></Relationships>
</file>

<file path=ppt/slides/_rels/slide105.xml.rels><?xml version="1.0" encoding="UTF-8" standalone="yes"?>
<Relationships xmlns="http://schemas.openxmlformats.org/package/2006/relationships"><Relationship Id="rId3" Type="http://schemas.openxmlformats.org/officeDocument/2006/relationships/image" Target="../media/image28.svg"/><Relationship Id="rId7" Type="http://schemas.openxmlformats.org/officeDocument/2006/relationships/image" Target="../media/image172.sv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171.png"/><Relationship Id="rId5" Type="http://schemas.openxmlformats.org/officeDocument/2006/relationships/image" Target="../media/image166.svg"/><Relationship Id="rId4" Type="http://schemas.openxmlformats.org/officeDocument/2006/relationships/image" Target="../media/image165.png"/></Relationships>
</file>

<file path=ppt/slides/_rels/slide106.xml.rels><?xml version="1.0" encoding="UTF-8" standalone="yes"?>
<Relationships xmlns="http://schemas.openxmlformats.org/package/2006/relationships"><Relationship Id="rId3" Type="http://schemas.openxmlformats.org/officeDocument/2006/relationships/image" Target="../media/image166.svg"/><Relationship Id="rId2" Type="http://schemas.openxmlformats.org/officeDocument/2006/relationships/image" Target="../media/image165.png"/><Relationship Id="rId1" Type="http://schemas.openxmlformats.org/officeDocument/2006/relationships/slideLayout" Target="../slideLayouts/slideLayout2.xml"/><Relationship Id="rId5" Type="http://schemas.openxmlformats.org/officeDocument/2006/relationships/image" Target="../media/image172.svg"/><Relationship Id="rId4" Type="http://schemas.openxmlformats.org/officeDocument/2006/relationships/image" Target="../media/image17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66.svg"/><Relationship Id="rId2" Type="http://schemas.openxmlformats.org/officeDocument/2006/relationships/image" Target="../media/image165.png"/><Relationship Id="rId1" Type="http://schemas.openxmlformats.org/officeDocument/2006/relationships/slideLayout" Target="../slideLayouts/slideLayout2.xml"/><Relationship Id="rId6" Type="http://schemas.openxmlformats.org/officeDocument/2006/relationships/image" Target="../media/image131.png"/><Relationship Id="rId5" Type="http://schemas.openxmlformats.org/officeDocument/2006/relationships/image" Target="../media/image98.png"/><Relationship Id="rId4" Type="http://schemas.openxmlformats.org/officeDocument/2006/relationships/image" Target="../media/image130.png"/></Relationships>
</file>

<file path=ppt/slides/_rels/slide10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33.sv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8" Type="http://schemas.openxmlformats.org/officeDocument/2006/relationships/image" Target="../media/image133.svg"/><Relationship Id="rId3" Type="http://schemas.openxmlformats.org/officeDocument/2006/relationships/image" Target="../media/image173.svg"/><Relationship Id="rId7" Type="http://schemas.openxmlformats.org/officeDocument/2006/relationships/image" Target="../media/image132.png"/><Relationship Id="rId12" Type="http://schemas.openxmlformats.org/officeDocument/2006/relationships/image" Target="../media/image28.sv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34.svg"/><Relationship Id="rId11" Type="http://schemas.openxmlformats.org/officeDocument/2006/relationships/image" Target="../media/image27.png"/><Relationship Id="rId5" Type="http://schemas.openxmlformats.org/officeDocument/2006/relationships/image" Target="../media/image33.png"/><Relationship Id="rId10" Type="http://schemas.openxmlformats.org/officeDocument/2006/relationships/image" Target="../media/image40.svg"/><Relationship Id="rId4" Type="http://schemas.openxmlformats.org/officeDocument/2006/relationships/hyperlink" Target="https://it4us.com.br/mfa-microsoft/" TargetMode="External"/><Relationship Id="rId9" Type="http://schemas.openxmlformats.org/officeDocument/2006/relationships/image" Target="../media/image39.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8" Type="http://schemas.openxmlformats.org/officeDocument/2006/relationships/image" Target="../media/image176.svg"/><Relationship Id="rId13" Type="http://schemas.openxmlformats.org/officeDocument/2006/relationships/image" Target="../media/image179.png"/><Relationship Id="rId18" Type="http://schemas.openxmlformats.org/officeDocument/2006/relationships/image" Target="../media/image40.svg"/><Relationship Id="rId26" Type="http://schemas.openxmlformats.org/officeDocument/2006/relationships/image" Target="../media/image188.svg"/><Relationship Id="rId3" Type="http://schemas.openxmlformats.org/officeDocument/2006/relationships/image" Target="../media/image173.svg"/><Relationship Id="rId21" Type="http://schemas.openxmlformats.org/officeDocument/2006/relationships/image" Target="../media/image132.png"/><Relationship Id="rId7" Type="http://schemas.openxmlformats.org/officeDocument/2006/relationships/image" Target="../media/image175.png"/><Relationship Id="rId12" Type="http://schemas.openxmlformats.org/officeDocument/2006/relationships/image" Target="../media/image178.svg"/><Relationship Id="rId17" Type="http://schemas.openxmlformats.org/officeDocument/2006/relationships/image" Target="../media/image39.png"/><Relationship Id="rId25" Type="http://schemas.openxmlformats.org/officeDocument/2006/relationships/image" Target="../media/image187.png"/><Relationship Id="rId2" Type="http://schemas.openxmlformats.org/officeDocument/2006/relationships/image" Target="../media/image65.png"/><Relationship Id="rId16" Type="http://schemas.openxmlformats.org/officeDocument/2006/relationships/image" Target="../media/image182.svg"/><Relationship Id="rId20" Type="http://schemas.openxmlformats.org/officeDocument/2006/relationships/image" Target="../media/image184.svg"/><Relationship Id="rId1" Type="http://schemas.openxmlformats.org/officeDocument/2006/relationships/slideLayout" Target="../slideLayouts/slideLayout2.xml"/><Relationship Id="rId6" Type="http://schemas.openxmlformats.org/officeDocument/2006/relationships/image" Target="../media/image174.png"/><Relationship Id="rId11" Type="http://schemas.openxmlformats.org/officeDocument/2006/relationships/image" Target="../media/image177.png"/><Relationship Id="rId24" Type="http://schemas.openxmlformats.org/officeDocument/2006/relationships/image" Target="../media/image186.svg"/><Relationship Id="rId5" Type="http://schemas.openxmlformats.org/officeDocument/2006/relationships/image" Target="../media/image166.svg"/><Relationship Id="rId15" Type="http://schemas.openxmlformats.org/officeDocument/2006/relationships/image" Target="../media/image181.png"/><Relationship Id="rId23" Type="http://schemas.openxmlformats.org/officeDocument/2006/relationships/image" Target="../media/image185.png"/><Relationship Id="rId10" Type="http://schemas.openxmlformats.org/officeDocument/2006/relationships/image" Target="../media/image172.svg"/><Relationship Id="rId19" Type="http://schemas.openxmlformats.org/officeDocument/2006/relationships/image" Target="../media/image183.png"/><Relationship Id="rId4" Type="http://schemas.openxmlformats.org/officeDocument/2006/relationships/image" Target="../media/image165.png"/><Relationship Id="rId9" Type="http://schemas.openxmlformats.org/officeDocument/2006/relationships/image" Target="../media/image171.png"/><Relationship Id="rId14" Type="http://schemas.openxmlformats.org/officeDocument/2006/relationships/image" Target="../media/image180.svg"/><Relationship Id="rId22" Type="http://schemas.openxmlformats.org/officeDocument/2006/relationships/image" Target="../media/image133.svg"/></Relationships>
</file>

<file path=ppt/slides/_rels/slide116.xml.rels><?xml version="1.0" encoding="UTF-8" standalone="yes"?>
<Relationships xmlns="http://schemas.openxmlformats.org/package/2006/relationships"><Relationship Id="rId3" Type="http://schemas.openxmlformats.org/officeDocument/2006/relationships/image" Target="../media/image190.svg"/><Relationship Id="rId2" Type="http://schemas.openxmlformats.org/officeDocument/2006/relationships/image" Target="../media/image189.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92.svg"/><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93.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195.svg"/><Relationship Id="rId7" Type="http://schemas.openxmlformats.org/officeDocument/2006/relationships/image" Target="../media/image197.svg"/><Relationship Id="rId2" Type="http://schemas.openxmlformats.org/officeDocument/2006/relationships/image" Target="../media/image194.png"/><Relationship Id="rId1" Type="http://schemas.openxmlformats.org/officeDocument/2006/relationships/slideLayout" Target="../slideLayouts/slideLayout2.xml"/><Relationship Id="rId6" Type="http://schemas.openxmlformats.org/officeDocument/2006/relationships/image" Target="../media/image196.png"/><Relationship Id="rId5" Type="http://schemas.openxmlformats.org/officeDocument/2006/relationships/image" Target="../media/image133.svg"/><Relationship Id="rId4" Type="http://schemas.openxmlformats.org/officeDocument/2006/relationships/image" Target="../media/image13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99.svg"/><Relationship Id="rId2" Type="http://schemas.openxmlformats.org/officeDocument/2006/relationships/image" Target="../media/image198.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201.svg"/><Relationship Id="rId2" Type="http://schemas.openxmlformats.org/officeDocument/2006/relationships/image" Target="../media/image200.png"/><Relationship Id="rId1" Type="http://schemas.openxmlformats.org/officeDocument/2006/relationships/slideLayout" Target="../slideLayouts/slideLayout2.xml"/><Relationship Id="rId6" Type="http://schemas.openxmlformats.org/officeDocument/2006/relationships/image" Target="../media/image204.png"/><Relationship Id="rId5" Type="http://schemas.openxmlformats.org/officeDocument/2006/relationships/image" Target="../media/image203.svg"/><Relationship Id="rId4" Type="http://schemas.openxmlformats.org/officeDocument/2006/relationships/image" Target="../media/image20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204.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206.svg"/><Relationship Id="rId18" Type="http://schemas.openxmlformats.org/officeDocument/2006/relationships/image" Target="../media/image211.png"/><Relationship Id="rId3" Type="http://schemas.openxmlformats.org/officeDocument/2006/relationships/image" Target="../media/image176.svg"/><Relationship Id="rId21" Type="http://schemas.openxmlformats.org/officeDocument/2006/relationships/image" Target="../media/image214.svg"/><Relationship Id="rId7" Type="http://schemas.openxmlformats.org/officeDocument/2006/relationships/image" Target="../media/image180.svg"/><Relationship Id="rId12" Type="http://schemas.openxmlformats.org/officeDocument/2006/relationships/image" Target="../media/image205.png"/><Relationship Id="rId17" Type="http://schemas.openxmlformats.org/officeDocument/2006/relationships/image" Target="../media/image210.svg"/><Relationship Id="rId2" Type="http://schemas.openxmlformats.org/officeDocument/2006/relationships/image" Target="../media/image175.png"/><Relationship Id="rId16" Type="http://schemas.openxmlformats.org/officeDocument/2006/relationships/image" Target="../media/image209.png"/><Relationship Id="rId20" Type="http://schemas.openxmlformats.org/officeDocument/2006/relationships/image" Target="../media/image213.png"/><Relationship Id="rId1" Type="http://schemas.openxmlformats.org/officeDocument/2006/relationships/slideLayout" Target="../slideLayouts/slideLayout2.xml"/><Relationship Id="rId6" Type="http://schemas.openxmlformats.org/officeDocument/2006/relationships/image" Target="../media/image179.png"/><Relationship Id="rId11" Type="http://schemas.openxmlformats.org/officeDocument/2006/relationships/image" Target="../media/image133.svg"/><Relationship Id="rId5" Type="http://schemas.openxmlformats.org/officeDocument/2006/relationships/image" Target="../media/image172.svg"/><Relationship Id="rId15" Type="http://schemas.openxmlformats.org/officeDocument/2006/relationships/image" Target="../media/image208.svg"/><Relationship Id="rId10" Type="http://schemas.openxmlformats.org/officeDocument/2006/relationships/image" Target="../media/image132.png"/><Relationship Id="rId19" Type="http://schemas.openxmlformats.org/officeDocument/2006/relationships/image" Target="../media/image212.svg"/><Relationship Id="rId4" Type="http://schemas.openxmlformats.org/officeDocument/2006/relationships/image" Target="../media/image171.png"/><Relationship Id="rId9" Type="http://schemas.openxmlformats.org/officeDocument/2006/relationships/image" Target="../media/image182.svg"/><Relationship Id="rId14" Type="http://schemas.openxmlformats.org/officeDocument/2006/relationships/image" Target="../media/image207.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218.svg"/><Relationship Id="rId5" Type="http://schemas.openxmlformats.org/officeDocument/2006/relationships/image" Target="../media/image217.png"/><Relationship Id="rId4" Type="http://schemas.openxmlformats.org/officeDocument/2006/relationships/image" Target="../media/image21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https://www.intensivacursos.com.br/wp-content/uploads/Curso-de-Simulado-Microsoft-Azure-Architect-Technologies-AZ-300.jpg">
            <a:extLst>
              <a:ext uri="{FF2B5EF4-FFF2-40B4-BE49-F238E27FC236}">
                <a16:creationId xmlns:a16="http://schemas.microsoft.com/office/drawing/2014/main" id="{045D5A63-DF30-41FF-B3D5-4E7C9CE36A5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5072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420EF3-ED28-42E2-B8D1-FF16AC96C279}"/>
              </a:ext>
            </a:extLst>
          </p:cNvPr>
          <p:cNvSpPr>
            <a:spLocks noGrp="1"/>
          </p:cNvSpPr>
          <p:nvPr>
            <p:ph type="title"/>
          </p:nvPr>
        </p:nvSpPr>
        <p:spPr/>
        <p:txBody>
          <a:bodyPr>
            <a:normAutofit/>
          </a:bodyPr>
          <a:lstStyle/>
          <a:p>
            <a:r>
              <a:rPr lang="pt-BR" sz="4400"/>
              <a:t>Certificação Azure – 6 Grupos.</a:t>
            </a:r>
          </a:p>
        </p:txBody>
      </p:sp>
      <p:graphicFrame>
        <p:nvGraphicFramePr>
          <p:cNvPr id="5" name="Espaço Reservado para Conteúdo 2">
            <a:extLst>
              <a:ext uri="{FF2B5EF4-FFF2-40B4-BE49-F238E27FC236}">
                <a16:creationId xmlns:a16="http://schemas.microsoft.com/office/drawing/2014/main" id="{15021A45-579B-4B0A-88BA-E1871C8AA96E}"/>
              </a:ext>
            </a:extLst>
          </p:cNvPr>
          <p:cNvGraphicFramePr>
            <a:graphicFrameLocks noGrp="1"/>
          </p:cNvGraphicFramePr>
          <p:nvPr>
            <p:ph idx="1"/>
            <p:extLst>
              <p:ext uri="{D42A27DB-BD31-4B8C-83A1-F6EECF244321}">
                <p14:modId xmlns:p14="http://schemas.microsoft.com/office/powerpoint/2010/main" val="97001607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3082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83545E-7840-435A-ADDF-B0B0369C36E9}"/>
              </a:ext>
            </a:extLst>
          </p:cNvPr>
          <p:cNvSpPr>
            <a:spLocks noGrp="1"/>
          </p:cNvSpPr>
          <p:nvPr>
            <p:ph type="title"/>
          </p:nvPr>
        </p:nvSpPr>
        <p:spPr>
          <a:xfrm>
            <a:off x="2370667" y="2187743"/>
            <a:ext cx="6641253" cy="2482515"/>
          </a:xfrm>
        </p:spPr>
        <p:txBody>
          <a:bodyPr vert="horz" lIns="91440" tIns="45720" rIns="91440" bIns="45720" rtlCol="0" anchor="ctr">
            <a:normAutofit/>
          </a:bodyPr>
          <a:lstStyle/>
          <a:p>
            <a:r>
              <a:rPr lang="en-US" sz="6000" kern="1200" dirty="0">
                <a:solidFill>
                  <a:schemeClr val="tx1"/>
                </a:solidFill>
                <a:latin typeface="+mj-lt"/>
                <a:ea typeface="+mj-ea"/>
                <a:cs typeface="+mj-cs"/>
              </a:rPr>
              <a:t>Cloud Computing</a:t>
            </a:r>
          </a:p>
        </p:txBody>
      </p:sp>
      <p:pic>
        <p:nvPicPr>
          <p:cNvPr id="6" name="Graphic 5">
            <a:extLst>
              <a:ext uri="{FF2B5EF4-FFF2-40B4-BE49-F238E27FC236}">
                <a16:creationId xmlns:a16="http://schemas.microsoft.com/office/drawing/2014/main" id="{052314E5-8253-48A5-859B-129F94E805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1" y="2743201"/>
            <a:ext cx="1371600" cy="1371600"/>
          </a:xfrm>
          <a:prstGeom prst="rect">
            <a:avLst/>
          </a:prstGeom>
        </p:spPr>
      </p:pic>
      <p:pic>
        <p:nvPicPr>
          <p:cNvPr id="8" name="Graphic 7">
            <a:extLst>
              <a:ext uri="{FF2B5EF4-FFF2-40B4-BE49-F238E27FC236}">
                <a16:creationId xmlns:a16="http://schemas.microsoft.com/office/drawing/2014/main" id="{FA4577BE-6A11-4DB2-AE1F-216AFFD312F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1351546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20DF6D-1750-43B5-B48B-FDC28021851F}"/>
              </a:ext>
            </a:extLst>
          </p:cNvPr>
          <p:cNvSpPr>
            <a:spLocks noGrp="1"/>
          </p:cNvSpPr>
          <p:nvPr>
            <p:ph type="title"/>
          </p:nvPr>
        </p:nvSpPr>
        <p:spPr>
          <a:xfrm>
            <a:off x="1913468" y="365125"/>
            <a:ext cx="9440332" cy="1325563"/>
          </a:xfrm>
        </p:spPr>
        <p:txBody>
          <a:bodyPr>
            <a:normAutofit/>
          </a:bodyPr>
          <a:lstStyle/>
          <a:p>
            <a:r>
              <a:rPr lang="pt-BR" sz="5400">
                <a:solidFill>
                  <a:schemeClr val="accent1"/>
                </a:solidFill>
              </a:rPr>
              <a:t>Economia</a:t>
            </a:r>
          </a:p>
        </p:txBody>
      </p:sp>
      <p:pic>
        <p:nvPicPr>
          <p:cNvPr id="7" name="Graphic 6">
            <a:extLst>
              <a:ext uri="{FF2B5EF4-FFF2-40B4-BE49-F238E27FC236}">
                <a16:creationId xmlns:a16="http://schemas.microsoft.com/office/drawing/2014/main" id="{874C9B74-921A-4921-95D9-DDA0C6AFA79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570706"/>
            <a:ext cx="914400" cy="914400"/>
          </a:xfrm>
          <a:prstGeom prst="rect">
            <a:avLst/>
          </a:prstGeom>
        </p:spPr>
      </p:pic>
      <p:sp>
        <p:nvSpPr>
          <p:cNvPr id="3" name="Espaço Reservado para Conteúdo 2">
            <a:extLst>
              <a:ext uri="{FF2B5EF4-FFF2-40B4-BE49-F238E27FC236}">
                <a16:creationId xmlns:a16="http://schemas.microsoft.com/office/drawing/2014/main" id="{CC221A49-1249-4C88-A9F4-2C5E5FE71B90}"/>
              </a:ext>
            </a:extLst>
          </p:cNvPr>
          <p:cNvSpPr>
            <a:spLocks noGrp="1"/>
          </p:cNvSpPr>
          <p:nvPr>
            <p:ph idx="1"/>
          </p:nvPr>
        </p:nvSpPr>
        <p:spPr>
          <a:xfrm>
            <a:off x="838200" y="1825625"/>
            <a:ext cx="10515600" cy="4351338"/>
          </a:xfrm>
        </p:spPr>
        <p:txBody>
          <a:bodyPr>
            <a:normAutofit/>
          </a:bodyPr>
          <a:lstStyle/>
          <a:p>
            <a:r>
              <a:rPr lang="pt-BR" b="1"/>
              <a:t>Pago conforme o uso</a:t>
            </a:r>
            <a:r>
              <a:rPr lang="pt-BR"/>
              <a:t> ou </a:t>
            </a:r>
            <a:r>
              <a:rPr lang="pt-BR" b="1"/>
              <a:t>baseado em consumo</a:t>
            </a:r>
            <a:r>
              <a:rPr lang="pt-BR"/>
              <a:t>.</a:t>
            </a:r>
          </a:p>
          <a:p>
            <a:pPr lvl="1"/>
            <a:r>
              <a:rPr lang="pt-BR"/>
              <a:t>Não há custos iniciais com a infraestrutura</a:t>
            </a:r>
          </a:p>
          <a:p>
            <a:pPr lvl="1"/>
            <a:r>
              <a:rPr lang="pt-BR"/>
              <a:t>Não há necessidade de comprar e gerenciar infraestrutura cara que você pode não usar ao máximo</a:t>
            </a:r>
          </a:p>
          <a:p>
            <a:pPr lvl="1"/>
            <a:r>
              <a:rPr lang="pt-BR"/>
              <a:t>A capacidade de pagar para obter recursos adicionais se e quando necessário</a:t>
            </a:r>
          </a:p>
          <a:p>
            <a:pPr lvl="1"/>
            <a:r>
              <a:rPr lang="pt-BR"/>
              <a:t>A capacidade de parar de pagar por recursos que não são mais necessários</a:t>
            </a:r>
          </a:p>
          <a:p>
            <a:endParaRPr lang="pt-BR" dirty="0"/>
          </a:p>
        </p:txBody>
      </p:sp>
    </p:spTree>
    <p:extLst>
      <p:ext uri="{BB962C8B-B14F-4D97-AF65-F5344CB8AC3E}">
        <p14:creationId xmlns:p14="http://schemas.microsoft.com/office/powerpoint/2010/main" val="3263450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F20DF6D-1750-43B5-B48B-FDC28021851F}"/>
              </a:ext>
            </a:extLst>
          </p:cNvPr>
          <p:cNvSpPr>
            <a:spLocks noGrp="1"/>
          </p:cNvSpPr>
          <p:nvPr>
            <p:ph type="title"/>
          </p:nvPr>
        </p:nvSpPr>
        <p:spPr>
          <a:xfrm>
            <a:off x="838200" y="253397"/>
            <a:ext cx="10515600" cy="1273233"/>
          </a:xfrm>
        </p:spPr>
        <p:txBody>
          <a:bodyPr>
            <a:normAutofit/>
          </a:bodyPr>
          <a:lstStyle/>
          <a:p>
            <a:r>
              <a:rPr lang="pt-BR" sz="4000"/>
              <a:t>Escalonável</a:t>
            </a:r>
          </a:p>
        </p:txBody>
      </p:sp>
      <p:sp>
        <p:nvSpPr>
          <p:cNvPr id="14"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ço Reservado para Conteúdo 2">
            <a:extLst>
              <a:ext uri="{FF2B5EF4-FFF2-40B4-BE49-F238E27FC236}">
                <a16:creationId xmlns:a16="http://schemas.microsoft.com/office/drawing/2014/main" id="{CC221A49-1249-4C88-A9F4-2C5E5FE71B90}"/>
              </a:ext>
            </a:extLst>
          </p:cNvPr>
          <p:cNvSpPr>
            <a:spLocks noGrp="1"/>
          </p:cNvSpPr>
          <p:nvPr>
            <p:ph idx="1"/>
          </p:nvPr>
        </p:nvSpPr>
        <p:spPr>
          <a:xfrm>
            <a:off x="838200" y="2478024"/>
            <a:ext cx="10515600" cy="3694176"/>
          </a:xfrm>
        </p:spPr>
        <p:txBody>
          <a:bodyPr>
            <a:normAutofit/>
          </a:bodyPr>
          <a:lstStyle/>
          <a:p>
            <a:r>
              <a:rPr lang="pt-BR" sz="2200"/>
              <a:t>Aumentar ou diminuir os recursos e os serviços usados com base na demanda ou na carga de trabalho.</a:t>
            </a:r>
          </a:p>
          <a:p>
            <a:pPr lvl="1"/>
            <a:r>
              <a:rPr lang="pt-BR" sz="2200" b="1"/>
              <a:t>Dimensionamento vertical</a:t>
            </a:r>
            <a:r>
              <a:rPr lang="pt-BR" sz="2200"/>
              <a:t> (escalonamento vertical): adição de recursos para aumentar a potência de um servidor (CPU, memória).</a:t>
            </a:r>
          </a:p>
          <a:p>
            <a:pPr lvl="1"/>
            <a:r>
              <a:rPr lang="pt-BR" sz="2200" b="1"/>
              <a:t>Dimensionamento horizontal </a:t>
            </a:r>
            <a:r>
              <a:rPr lang="pt-BR" sz="2200"/>
              <a:t>(escalonamento horizontal): adição de servidores.</a:t>
            </a:r>
          </a:p>
          <a:p>
            <a:r>
              <a:rPr lang="pt-BR" sz="2200"/>
              <a:t>Escalonável manual ou automática com base em gatilhos específicos.</a:t>
            </a:r>
          </a:p>
          <a:p>
            <a:endParaRPr lang="pt-BR" sz="2200"/>
          </a:p>
        </p:txBody>
      </p:sp>
    </p:spTree>
    <p:extLst>
      <p:ext uri="{BB962C8B-B14F-4D97-AF65-F5344CB8AC3E}">
        <p14:creationId xmlns:p14="http://schemas.microsoft.com/office/powerpoint/2010/main" val="1458160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F20DF6D-1750-43B5-B48B-FDC28021851F}"/>
              </a:ext>
            </a:extLst>
          </p:cNvPr>
          <p:cNvSpPr>
            <a:spLocks noGrp="1"/>
          </p:cNvSpPr>
          <p:nvPr>
            <p:ph type="title"/>
          </p:nvPr>
        </p:nvSpPr>
        <p:spPr>
          <a:xfrm>
            <a:off x="838200" y="253397"/>
            <a:ext cx="10515600" cy="1273233"/>
          </a:xfrm>
        </p:spPr>
        <p:txBody>
          <a:bodyPr>
            <a:normAutofit/>
          </a:bodyPr>
          <a:lstStyle/>
          <a:p>
            <a:r>
              <a:rPr lang="pt-BR" sz="4000"/>
              <a:t>Elástica, Atual e Global. </a:t>
            </a:r>
          </a:p>
        </p:txBody>
      </p:sp>
      <p:sp>
        <p:nvSpPr>
          <p:cNvPr id="14"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ço Reservado para Conteúdo 2">
            <a:extLst>
              <a:ext uri="{FF2B5EF4-FFF2-40B4-BE49-F238E27FC236}">
                <a16:creationId xmlns:a16="http://schemas.microsoft.com/office/drawing/2014/main" id="{CC221A49-1249-4C88-A9F4-2C5E5FE71B90}"/>
              </a:ext>
            </a:extLst>
          </p:cNvPr>
          <p:cNvSpPr>
            <a:spLocks noGrp="1"/>
          </p:cNvSpPr>
          <p:nvPr>
            <p:ph idx="1"/>
          </p:nvPr>
        </p:nvSpPr>
        <p:spPr>
          <a:xfrm>
            <a:off x="838200" y="2478024"/>
            <a:ext cx="10515600" cy="3694176"/>
          </a:xfrm>
        </p:spPr>
        <p:txBody>
          <a:bodyPr>
            <a:normAutofit/>
          </a:bodyPr>
          <a:lstStyle/>
          <a:p>
            <a:r>
              <a:rPr lang="pt-BR" sz="2200"/>
              <a:t>Elástica: pode aumentar e remover recursos conforme a carga de trabalho é alterada.</a:t>
            </a:r>
          </a:p>
          <a:p>
            <a:r>
              <a:rPr lang="pt-BR" sz="2200"/>
              <a:t>Atual: o hardware do computador é mantido e atualizado pelo provedor de nuvem, elimina o trabalho de manutenção de patches de software, instalação de hardware, atualizações entre outras tarefas. O provedor garante as ferramentas mais recentes e melhores para administrar seus negócios.</a:t>
            </a:r>
          </a:p>
          <a:p>
            <a:r>
              <a:rPr lang="pt-BR" sz="2200"/>
              <a:t>Global: datacenters redundantes, localizados em várias regiões no mundo todo que permitem replicar seus serviços.</a:t>
            </a:r>
          </a:p>
        </p:txBody>
      </p:sp>
    </p:spTree>
    <p:extLst>
      <p:ext uri="{BB962C8B-B14F-4D97-AF65-F5344CB8AC3E}">
        <p14:creationId xmlns:p14="http://schemas.microsoft.com/office/powerpoint/2010/main" val="350548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F20DF6D-1750-43B5-B48B-FDC28021851F}"/>
              </a:ext>
            </a:extLst>
          </p:cNvPr>
          <p:cNvSpPr>
            <a:spLocks noGrp="1"/>
          </p:cNvSpPr>
          <p:nvPr>
            <p:ph type="title"/>
          </p:nvPr>
        </p:nvSpPr>
        <p:spPr>
          <a:xfrm>
            <a:off x="838200" y="253397"/>
            <a:ext cx="10515600" cy="1273233"/>
          </a:xfrm>
        </p:spPr>
        <p:txBody>
          <a:bodyPr>
            <a:normAutofit/>
          </a:bodyPr>
          <a:lstStyle/>
          <a:p>
            <a:r>
              <a:rPr lang="pt-BR" sz="4000" b="1"/>
              <a:t>Economias de escala</a:t>
            </a:r>
          </a:p>
        </p:txBody>
      </p:sp>
      <p:sp>
        <p:nvSpPr>
          <p:cNvPr id="14"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ço Reservado para Conteúdo 2">
            <a:extLst>
              <a:ext uri="{FF2B5EF4-FFF2-40B4-BE49-F238E27FC236}">
                <a16:creationId xmlns:a16="http://schemas.microsoft.com/office/drawing/2014/main" id="{CC221A49-1249-4C88-A9F4-2C5E5FE71B90}"/>
              </a:ext>
            </a:extLst>
          </p:cNvPr>
          <p:cNvSpPr>
            <a:spLocks noGrp="1"/>
          </p:cNvSpPr>
          <p:nvPr>
            <p:ph idx="1"/>
          </p:nvPr>
        </p:nvSpPr>
        <p:spPr>
          <a:xfrm>
            <a:off x="838200" y="2478024"/>
            <a:ext cx="10515600" cy="3694176"/>
          </a:xfrm>
        </p:spPr>
        <p:txBody>
          <a:bodyPr>
            <a:normAutofit/>
          </a:bodyPr>
          <a:lstStyle/>
          <a:p>
            <a:r>
              <a:rPr lang="pt-BR" sz="2200"/>
              <a:t>É a capacidade de operar com mais eficiência ou com menor custo por unidade em uma escala maior.</a:t>
            </a:r>
          </a:p>
          <a:p>
            <a:pPr lvl="1"/>
            <a:r>
              <a:rPr lang="pt-BR" sz="2200"/>
              <a:t>Hardware a um custo menor.</a:t>
            </a:r>
          </a:p>
          <a:p>
            <a:pPr lvl="1"/>
            <a:r>
              <a:rPr lang="pt-BR" sz="2200"/>
              <a:t>Acordos com governos locais.</a:t>
            </a:r>
          </a:p>
          <a:p>
            <a:pPr lvl="1"/>
            <a:r>
              <a:rPr lang="pt-BR" sz="2200"/>
              <a:t>Empresas prestadoras de serviços públicos (subsídios fiscais).</a:t>
            </a:r>
          </a:p>
          <a:p>
            <a:pPr lvl="1"/>
            <a:r>
              <a:rPr lang="pt-BR" sz="2200"/>
              <a:t>Redução de preços de energia, resfriamento e conectividade de rede.</a:t>
            </a:r>
          </a:p>
          <a:p>
            <a:pPr lvl="1"/>
            <a:endParaRPr lang="pt-BR" sz="2200"/>
          </a:p>
        </p:txBody>
      </p:sp>
    </p:spTree>
    <p:extLst>
      <p:ext uri="{BB962C8B-B14F-4D97-AF65-F5344CB8AC3E}">
        <p14:creationId xmlns:p14="http://schemas.microsoft.com/office/powerpoint/2010/main" val="1821057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D4E5A6BE-B53B-43EA-84F0-397E5619273A}"/>
              </a:ext>
            </a:extLst>
          </p:cNvPr>
          <p:cNvSpPr>
            <a:spLocks noGrp="1"/>
          </p:cNvSpPr>
          <p:nvPr>
            <p:ph type="title"/>
          </p:nvPr>
        </p:nvSpPr>
        <p:spPr>
          <a:xfrm>
            <a:off x="1115568" y="548640"/>
            <a:ext cx="10168128" cy="1179576"/>
          </a:xfrm>
        </p:spPr>
        <p:txBody>
          <a:bodyPr>
            <a:normAutofit/>
          </a:bodyPr>
          <a:lstStyle/>
          <a:p>
            <a:r>
              <a:rPr lang="pt-BR" sz="4000" b="1"/>
              <a:t>CapEx X OpEx</a:t>
            </a:r>
            <a:endParaRPr lang="pt-BR" sz="4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ço Reservado para Conteúdo 2">
            <a:extLst>
              <a:ext uri="{FF2B5EF4-FFF2-40B4-BE49-F238E27FC236}">
                <a16:creationId xmlns:a16="http://schemas.microsoft.com/office/drawing/2014/main" id="{A9F7ECD9-06E6-4541-B74E-95904E24040C}"/>
              </a:ext>
            </a:extLst>
          </p:cNvPr>
          <p:cNvSpPr>
            <a:spLocks noGrp="1"/>
          </p:cNvSpPr>
          <p:nvPr>
            <p:ph idx="1"/>
          </p:nvPr>
        </p:nvSpPr>
        <p:spPr>
          <a:xfrm>
            <a:off x="1115568" y="2481943"/>
            <a:ext cx="10168128" cy="3695020"/>
          </a:xfrm>
        </p:spPr>
        <p:txBody>
          <a:bodyPr>
            <a:normAutofit/>
          </a:bodyPr>
          <a:lstStyle/>
          <a:p>
            <a:r>
              <a:rPr lang="pt-BR" sz="2000" b="1"/>
              <a:t>CapEx (despesas de capital)</a:t>
            </a:r>
            <a:r>
              <a:rPr lang="pt-BR" sz="2000"/>
              <a:t>: CapEx é o gasto de dinheiro antecipado na infraestrutura física e, em seguida, a dedução dessa despesa na fatura de imposto ao longo do tempo. CapEx é um custo antecipado, com um valor que é reduzido ao longo do tempo.</a:t>
            </a:r>
          </a:p>
          <a:p>
            <a:pPr lvl="1"/>
            <a:r>
              <a:rPr lang="pt-BR" sz="2000"/>
              <a:t>Você planeja despesas no início de um projeto ou um período de orçamento. Custos são fixos (saber exatamente o gasto).</a:t>
            </a:r>
          </a:p>
          <a:p>
            <a:r>
              <a:rPr lang="pt-BR" sz="2000" b="1"/>
              <a:t>OpEx (despesas operacionais)</a:t>
            </a:r>
            <a:r>
              <a:rPr lang="pt-BR" sz="2000"/>
              <a:t>: serviços ou produtos cobrados no ato da compra. Você pode deduzir essas despesas da fatura fiscal no mesmo ano. Não há nenhum custo inicial. Você paga por um serviço ou um produto conforme o usa.</a:t>
            </a:r>
          </a:p>
          <a:p>
            <a:pPr lvl="1"/>
            <a:r>
              <a:rPr lang="pt-BR" sz="2000"/>
              <a:t>Você gerencia despesas de maneira flutuante e pode dimensioná-lo de acordo com a demanda, otimizando os gastos de acordo com as mudanças dos requisitos. Permite experimentar novos produtos ou serviços sem investimento em equipamentos.</a:t>
            </a:r>
          </a:p>
          <a:p>
            <a:endParaRPr lang="pt-BR" sz="2000"/>
          </a:p>
        </p:txBody>
      </p:sp>
    </p:spTree>
    <p:extLst>
      <p:ext uri="{BB962C8B-B14F-4D97-AF65-F5344CB8AC3E}">
        <p14:creationId xmlns:p14="http://schemas.microsoft.com/office/powerpoint/2010/main" val="592099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D0DC8F14-3B85-4812-ABC3-6910611844BE}"/>
              </a:ext>
            </a:extLst>
          </p:cNvPr>
          <p:cNvSpPr>
            <a:spLocks noGrp="1"/>
          </p:cNvSpPr>
          <p:nvPr>
            <p:ph type="title"/>
          </p:nvPr>
        </p:nvSpPr>
        <p:spPr>
          <a:xfrm>
            <a:off x="838200" y="253397"/>
            <a:ext cx="10515600" cy="1273233"/>
          </a:xfrm>
        </p:spPr>
        <p:txBody>
          <a:bodyPr>
            <a:normAutofit/>
          </a:bodyPr>
          <a:lstStyle/>
          <a:p>
            <a:r>
              <a:rPr lang="pt-BR" sz="4000"/>
              <a:t>Tipos de Implantação</a:t>
            </a:r>
          </a:p>
        </p:txBody>
      </p:sp>
      <p:sp>
        <p:nvSpPr>
          <p:cNvPr id="14"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ço Reservado para Conteúdo 2">
            <a:extLst>
              <a:ext uri="{FF2B5EF4-FFF2-40B4-BE49-F238E27FC236}">
                <a16:creationId xmlns:a16="http://schemas.microsoft.com/office/drawing/2014/main" id="{5DC3CECA-2B0C-4A45-9C25-B77CEDEA2C03}"/>
              </a:ext>
            </a:extLst>
          </p:cNvPr>
          <p:cNvSpPr>
            <a:spLocks noGrp="1"/>
          </p:cNvSpPr>
          <p:nvPr>
            <p:ph idx="1"/>
          </p:nvPr>
        </p:nvSpPr>
        <p:spPr>
          <a:xfrm>
            <a:off x="838200" y="2478024"/>
            <a:ext cx="10515600" cy="3694176"/>
          </a:xfrm>
        </p:spPr>
        <p:txBody>
          <a:bodyPr>
            <a:normAutofit/>
          </a:bodyPr>
          <a:lstStyle/>
          <a:p>
            <a:r>
              <a:rPr lang="pt-BR" sz="2000" b="1"/>
              <a:t>Nuvem pública: </a:t>
            </a:r>
            <a:r>
              <a:rPr lang="pt-BR" sz="2000"/>
              <a:t>A empresa não tem nenhum hardware local que precisa ser gerenciado ou atualizado, tudo é executado no hardware do provedor de nuvem. Os negócios podem usar vários provedores de nuvem pública de escala variável</a:t>
            </a:r>
          </a:p>
          <a:p>
            <a:endParaRPr lang="pt-BR" sz="2000"/>
          </a:p>
          <a:p>
            <a:r>
              <a:rPr lang="pt-BR" sz="2000" b="1"/>
              <a:t>Nuvem privada: </a:t>
            </a:r>
            <a:r>
              <a:rPr lang="pt-BR" sz="2000"/>
              <a:t>A empresa tem um ambiente de nuvem em seu próprio datacenter e fornece acesso de autoatendimento a recursos de computação para os usuários da organização.</a:t>
            </a:r>
          </a:p>
          <a:p>
            <a:pPr marL="0" indent="0">
              <a:buNone/>
            </a:pPr>
            <a:endParaRPr lang="pt-BR" sz="2000"/>
          </a:p>
          <a:p>
            <a:r>
              <a:rPr lang="pt-BR" sz="2000" b="1"/>
              <a:t>Nuvem híbrida: </a:t>
            </a:r>
            <a:r>
              <a:rPr lang="pt-BR" sz="2000"/>
              <a:t>Combina nuvens públicas e privadas, permitindo que você execute seus aplicativos na localização mais apropriada. É útil quando há algumas coisas que não podem ser colocadas na nuvem, talvez por motivos legais.</a:t>
            </a:r>
          </a:p>
          <a:p>
            <a:endParaRPr lang="pt-BR" sz="2000"/>
          </a:p>
          <a:p>
            <a:endParaRPr lang="pt-BR" sz="2000"/>
          </a:p>
          <a:p>
            <a:endParaRPr lang="pt-BR" sz="2000"/>
          </a:p>
        </p:txBody>
      </p:sp>
    </p:spTree>
    <p:extLst>
      <p:ext uri="{BB962C8B-B14F-4D97-AF65-F5344CB8AC3E}">
        <p14:creationId xmlns:p14="http://schemas.microsoft.com/office/powerpoint/2010/main" val="4042340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8EEAC6-84F4-4490-82C5-D4F0659FD9F3}"/>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400" kern="1200">
                <a:solidFill>
                  <a:schemeClr val="tx1"/>
                </a:solidFill>
                <a:latin typeface="+mj-lt"/>
                <a:ea typeface="+mj-ea"/>
                <a:cs typeface="+mj-cs"/>
              </a:rPr>
              <a:t>PAAS, IAAS e SAAS</a:t>
            </a:r>
          </a:p>
        </p:txBody>
      </p:sp>
      <p:sp>
        <p:nvSpPr>
          <p:cNvPr id="9" name="Rectangle 8">
            <a:extLst>
              <a:ext uri="{FF2B5EF4-FFF2-40B4-BE49-F238E27FC236}">
                <a16:creationId xmlns:a16="http://schemas.microsoft.com/office/drawing/2014/main" id="{F170E346-B98B-43A6-A4DA-D36FF6328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32938" y="-6032938"/>
            <a:ext cx="126124" cy="12192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4" name="Tabela 3">
            <a:extLst>
              <a:ext uri="{FF2B5EF4-FFF2-40B4-BE49-F238E27FC236}">
                <a16:creationId xmlns:a16="http://schemas.microsoft.com/office/drawing/2014/main" id="{6C561C87-9594-45F3-8F02-684A2E97D706}"/>
              </a:ext>
            </a:extLst>
          </p:cNvPr>
          <p:cNvGraphicFramePr>
            <a:graphicFrameLocks noGrp="1"/>
          </p:cNvGraphicFramePr>
          <p:nvPr>
            <p:extLst>
              <p:ext uri="{D42A27DB-BD31-4B8C-83A1-F6EECF244321}">
                <p14:modId xmlns:p14="http://schemas.microsoft.com/office/powerpoint/2010/main" val="852123433"/>
              </p:ext>
            </p:extLst>
          </p:nvPr>
        </p:nvGraphicFramePr>
        <p:xfrm>
          <a:off x="1631822" y="1863801"/>
          <a:ext cx="8928355" cy="4440750"/>
        </p:xfrm>
        <a:graphic>
          <a:graphicData uri="http://schemas.openxmlformats.org/drawingml/2006/table">
            <a:tbl>
              <a:tblPr firstRow="1" bandRow="1">
                <a:tableStyleId>{3B4B98B0-60AC-42C2-AFA5-B58CD77FA1E5}</a:tableStyleId>
              </a:tblPr>
              <a:tblGrid>
                <a:gridCol w="3809161">
                  <a:extLst>
                    <a:ext uri="{9D8B030D-6E8A-4147-A177-3AD203B41FA5}">
                      <a16:colId xmlns:a16="http://schemas.microsoft.com/office/drawing/2014/main" val="1412350488"/>
                    </a:ext>
                  </a:extLst>
                </a:gridCol>
                <a:gridCol w="1804052">
                  <a:extLst>
                    <a:ext uri="{9D8B030D-6E8A-4147-A177-3AD203B41FA5}">
                      <a16:colId xmlns:a16="http://schemas.microsoft.com/office/drawing/2014/main" val="1088348508"/>
                    </a:ext>
                  </a:extLst>
                </a:gridCol>
                <a:gridCol w="1788634">
                  <a:extLst>
                    <a:ext uri="{9D8B030D-6E8A-4147-A177-3AD203B41FA5}">
                      <a16:colId xmlns:a16="http://schemas.microsoft.com/office/drawing/2014/main" val="4164966826"/>
                    </a:ext>
                  </a:extLst>
                </a:gridCol>
                <a:gridCol w="1526508">
                  <a:extLst>
                    <a:ext uri="{9D8B030D-6E8A-4147-A177-3AD203B41FA5}">
                      <a16:colId xmlns:a16="http://schemas.microsoft.com/office/drawing/2014/main" val="4104181530"/>
                    </a:ext>
                  </a:extLst>
                </a:gridCol>
              </a:tblGrid>
              <a:tr h="444075">
                <a:tc>
                  <a:txBody>
                    <a:bodyPr/>
                    <a:lstStyle/>
                    <a:p>
                      <a:endParaRPr lang="pt-BR" sz="2000"/>
                    </a:p>
                  </a:txBody>
                  <a:tcPr marL="100926" marR="100926" marT="50463" marB="50463"/>
                </a:tc>
                <a:tc>
                  <a:txBody>
                    <a:bodyPr/>
                    <a:lstStyle/>
                    <a:p>
                      <a:r>
                        <a:rPr lang="pt-BR" sz="2000"/>
                        <a:t>PAAS</a:t>
                      </a:r>
                    </a:p>
                  </a:txBody>
                  <a:tcPr marL="100926" marR="100926" marT="50463" marB="50463"/>
                </a:tc>
                <a:tc>
                  <a:txBody>
                    <a:bodyPr/>
                    <a:lstStyle/>
                    <a:p>
                      <a:r>
                        <a:rPr lang="pt-BR" sz="2000"/>
                        <a:t>IAAS</a:t>
                      </a:r>
                    </a:p>
                  </a:txBody>
                  <a:tcPr marL="100926" marR="100926" marT="50463" marB="50463"/>
                </a:tc>
                <a:tc>
                  <a:txBody>
                    <a:bodyPr/>
                    <a:lstStyle/>
                    <a:p>
                      <a:r>
                        <a:rPr lang="pt-BR" sz="2000"/>
                        <a:t>SAAS</a:t>
                      </a:r>
                    </a:p>
                  </a:txBody>
                  <a:tcPr marL="100926" marR="100926" marT="50463" marB="50463"/>
                </a:tc>
                <a:extLst>
                  <a:ext uri="{0D108BD9-81ED-4DB2-BD59-A6C34878D82A}">
                    <a16:rowId xmlns:a16="http://schemas.microsoft.com/office/drawing/2014/main" val="910640821"/>
                  </a:ext>
                </a:extLst>
              </a:tr>
              <a:tr h="444075">
                <a:tc>
                  <a:txBody>
                    <a:bodyPr/>
                    <a:lstStyle/>
                    <a:p>
                      <a:r>
                        <a:rPr lang="pt-BR" sz="2000"/>
                        <a:t>Aplicativos</a:t>
                      </a:r>
                    </a:p>
                  </a:txBody>
                  <a:tcPr marL="100926" marR="100926" marT="50463" marB="50463"/>
                </a:tc>
                <a:tc>
                  <a:txBody>
                    <a:bodyPr/>
                    <a:lstStyle/>
                    <a:p>
                      <a:endParaRPr lang="pt-BR" sz="2000"/>
                    </a:p>
                  </a:txBody>
                  <a:tcPr marL="100926" marR="100926" marT="50463" marB="50463"/>
                </a:tc>
                <a:tc>
                  <a:txBody>
                    <a:bodyPr/>
                    <a:lstStyle/>
                    <a:p>
                      <a:endParaRPr lang="pt-BR" sz="2000"/>
                    </a:p>
                  </a:txBody>
                  <a:tcPr marL="100926" marR="100926" marT="50463" marB="50463"/>
                </a:tc>
                <a:tc>
                  <a:txBody>
                    <a:bodyPr/>
                    <a:lstStyle/>
                    <a:p>
                      <a:r>
                        <a:rPr lang="pt-BR" sz="2000"/>
                        <a:t>Provedor</a:t>
                      </a:r>
                    </a:p>
                  </a:txBody>
                  <a:tcPr marL="100926" marR="100926" marT="50463" marB="50463"/>
                </a:tc>
                <a:extLst>
                  <a:ext uri="{0D108BD9-81ED-4DB2-BD59-A6C34878D82A}">
                    <a16:rowId xmlns:a16="http://schemas.microsoft.com/office/drawing/2014/main" val="3100089590"/>
                  </a:ext>
                </a:extLst>
              </a:tr>
              <a:tr h="444075">
                <a:tc>
                  <a:txBody>
                    <a:bodyPr/>
                    <a:lstStyle/>
                    <a:p>
                      <a:r>
                        <a:rPr lang="pt-BR" sz="2000"/>
                        <a:t>Dados</a:t>
                      </a:r>
                    </a:p>
                  </a:txBody>
                  <a:tcPr marL="100926" marR="100926" marT="50463" marB="50463"/>
                </a:tc>
                <a:tc>
                  <a:txBody>
                    <a:bodyPr/>
                    <a:lstStyle/>
                    <a:p>
                      <a:endParaRPr lang="pt-BR" sz="2000"/>
                    </a:p>
                  </a:txBody>
                  <a:tcPr marL="100926" marR="100926" marT="50463" marB="50463"/>
                </a:tc>
                <a:tc>
                  <a:txBody>
                    <a:bodyPr/>
                    <a:lstStyle/>
                    <a:p>
                      <a:endParaRPr lang="pt-BR" sz="2000"/>
                    </a:p>
                  </a:txBody>
                  <a:tcPr marL="100926" marR="100926" marT="50463" marB="50463"/>
                </a:tc>
                <a:tc>
                  <a:txBody>
                    <a:bodyPr/>
                    <a:lstStyle/>
                    <a:p>
                      <a:r>
                        <a:rPr lang="pt-BR" sz="2000"/>
                        <a:t>Provedor</a:t>
                      </a:r>
                    </a:p>
                  </a:txBody>
                  <a:tcPr marL="100926" marR="100926" marT="50463" marB="50463"/>
                </a:tc>
                <a:extLst>
                  <a:ext uri="{0D108BD9-81ED-4DB2-BD59-A6C34878D82A}">
                    <a16:rowId xmlns:a16="http://schemas.microsoft.com/office/drawing/2014/main" val="339892796"/>
                  </a:ext>
                </a:extLst>
              </a:tr>
              <a:tr h="444075">
                <a:tc>
                  <a:txBody>
                    <a:bodyPr/>
                    <a:lstStyle/>
                    <a:p>
                      <a:r>
                        <a:rPr lang="pt-BR" sz="2000"/>
                        <a:t>Tempo de Execução</a:t>
                      </a:r>
                    </a:p>
                  </a:txBody>
                  <a:tcPr marL="100926" marR="100926" marT="50463" marB="50463"/>
                </a:tc>
                <a:tc>
                  <a:txBody>
                    <a:bodyPr/>
                    <a:lstStyle/>
                    <a:p>
                      <a:endParaRPr lang="pt-BR" sz="2000"/>
                    </a:p>
                  </a:txBody>
                  <a:tcPr marL="100926" marR="100926" marT="50463" marB="50463"/>
                </a:tc>
                <a:tc>
                  <a:txBody>
                    <a:bodyPr/>
                    <a:lstStyle/>
                    <a:p>
                      <a:r>
                        <a:rPr lang="pt-BR" sz="2000"/>
                        <a:t>Provedor</a:t>
                      </a:r>
                    </a:p>
                  </a:txBody>
                  <a:tcPr marL="100926" marR="100926" marT="50463" marB="50463"/>
                </a:tc>
                <a:tc>
                  <a:txBody>
                    <a:bodyPr/>
                    <a:lstStyle/>
                    <a:p>
                      <a:r>
                        <a:rPr lang="pt-BR" sz="2000"/>
                        <a:t>Provedor</a:t>
                      </a:r>
                    </a:p>
                  </a:txBody>
                  <a:tcPr marL="100926" marR="100926" marT="50463" marB="50463"/>
                </a:tc>
                <a:extLst>
                  <a:ext uri="{0D108BD9-81ED-4DB2-BD59-A6C34878D82A}">
                    <a16:rowId xmlns:a16="http://schemas.microsoft.com/office/drawing/2014/main" val="2224686008"/>
                  </a:ext>
                </a:extLst>
              </a:tr>
              <a:tr h="444075">
                <a:tc>
                  <a:txBody>
                    <a:bodyPr/>
                    <a:lstStyle/>
                    <a:p>
                      <a:r>
                        <a:rPr lang="pt-BR" sz="2000"/>
                        <a:t>Middleware</a:t>
                      </a:r>
                    </a:p>
                  </a:txBody>
                  <a:tcPr marL="100926" marR="100926" marT="50463" marB="50463"/>
                </a:tc>
                <a:tc>
                  <a:txBody>
                    <a:bodyPr/>
                    <a:lstStyle/>
                    <a:p>
                      <a:endParaRPr lang="pt-BR" sz="2000"/>
                    </a:p>
                  </a:txBody>
                  <a:tcPr marL="100926" marR="100926" marT="50463" marB="50463"/>
                </a:tc>
                <a:tc>
                  <a:txBody>
                    <a:bodyPr/>
                    <a:lstStyle/>
                    <a:p>
                      <a:r>
                        <a:rPr lang="pt-BR" sz="2000"/>
                        <a:t>Provedor</a:t>
                      </a:r>
                    </a:p>
                  </a:txBody>
                  <a:tcPr marL="100926" marR="100926" marT="50463" marB="50463"/>
                </a:tc>
                <a:tc>
                  <a:txBody>
                    <a:bodyPr/>
                    <a:lstStyle/>
                    <a:p>
                      <a:r>
                        <a:rPr lang="pt-BR" sz="2000"/>
                        <a:t>Provedor</a:t>
                      </a:r>
                    </a:p>
                  </a:txBody>
                  <a:tcPr marL="100926" marR="100926" marT="50463" marB="50463"/>
                </a:tc>
                <a:extLst>
                  <a:ext uri="{0D108BD9-81ED-4DB2-BD59-A6C34878D82A}">
                    <a16:rowId xmlns:a16="http://schemas.microsoft.com/office/drawing/2014/main" val="1483964178"/>
                  </a:ext>
                </a:extLst>
              </a:tr>
              <a:tr h="444075">
                <a:tc>
                  <a:txBody>
                    <a:bodyPr/>
                    <a:lstStyle/>
                    <a:p>
                      <a:r>
                        <a:rPr lang="pt-BR" sz="2000"/>
                        <a:t>SO</a:t>
                      </a:r>
                    </a:p>
                  </a:txBody>
                  <a:tcPr marL="100926" marR="100926" marT="50463" marB="50463"/>
                </a:tc>
                <a:tc>
                  <a:txBody>
                    <a:bodyPr/>
                    <a:lstStyle/>
                    <a:p>
                      <a:endParaRPr lang="pt-BR" sz="2000"/>
                    </a:p>
                  </a:txBody>
                  <a:tcPr marL="100926" marR="100926" marT="50463" marB="50463"/>
                </a:tc>
                <a:tc>
                  <a:txBody>
                    <a:bodyPr/>
                    <a:lstStyle/>
                    <a:p>
                      <a:r>
                        <a:rPr lang="pt-BR" sz="2000"/>
                        <a:t>Provedor</a:t>
                      </a:r>
                    </a:p>
                  </a:txBody>
                  <a:tcPr marL="100926" marR="100926" marT="50463" marB="50463"/>
                </a:tc>
                <a:tc>
                  <a:txBody>
                    <a:bodyPr/>
                    <a:lstStyle/>
                    <a:p>
                      <a:r>
                        <a:rPr lang="pt-BR" sz="2000"/>
                        <a:t>Provedor</a:t>
                      </a:r>
                    </a:p>
                  </a:txBody>
                  <a:tcPr marL="100926" marR="100926" marT="50463" marB="50463"/>
                </a:tc>
                <a:extLst>
                  <a:ext uri="{0D108BD9-81ED-4DB2-BD59-A6C34878D82A}">
                    <a16:rowId xmlns:a16="http://schemas.microsoft.com/office/drawing/2014/main" val="2818559389"/>
                  </a:ext>
                </a:extLst>
              </a:tr>
              <a:tr h="444075">
                <a:tc>
                  <a:txBody>
                    <a:bodyPr/>
                    <a:lstStyle/>
                    <a:p>
                      <a:r>
                        <a:rPr lang="pt-BR" sz="2000"/>
                        <a:t>Virtualização</a:t>
                      </a:r>
                    </a:p>
                  </a:txBody>
                  <a:tcPr marL="100926" marR="100926" marT="50463" marB="50463"/>
                </a:tc>
                <a:tc>
                  <a:txBody>
                    <a:bodyPr/>
                    <a:lstStyle/>
                    <a:p>
                      <a:r>
                        <a:rPr lang="pt-BR" sz="2000"/>
                        <a:t>Provedor</a:t>
                      </a:r>
                    </a:p>
                  </a:txBody>
                  <a:tcPr marL="100926" marR="100926" marT="50463" marB="50463"/>
                </a:tc>
                <a:tc>
                  <a:txBody>
                    <a:bodyPr/>
                    <a:lstStyle/>
                    <a:p>
                      <a:r>
                        <a:rPr lang="pt-BR" sz="2000"/>
                        <a:t>Provedor</a:t>
                      </a:r>
                    </a:p>
                  </a:txBody>
                  <a:tcPr marL="100926" marR="100926" marT="50463" marB="50463"/>
                </a:tc>
                <a:tc>
                  <a:txBody>
                    <a:bodyPr/>
                    <a:lstStyle/>
                    <a:p>
                      <a:r>
                        <a:rPr lang="pt-BR" sz="2000"/>
                        <a:t>Provedor</a:t>
                      </a:r>
                    </a:p>
                  </a:txBody>
                  <a:tcPr marL="100926" marR="100926" marT="50463" marB="50463"/>
                </a:tc>
                <a:extLst>
                  <a:ext uri="{0D108BD9-81ED-4DB2-BD59-A6C34878D82A}">
                    <a16:rowId xmlns:a16="http://schemas.microsoft.com/office/drawing/2014/main" val="424605017"/>
                  </a:ext>
                </a:extLst>
              </a:tr>
              <a:tr h="444075">
                <a:tc>
                  <a:txBody>
                    <a:bodyPr/>
                    <a:lstStyle/>
                    <a:p>
                      <a:r>
                        <a:rPr lang="pt-BR" sz="2000"/>
                        <a:t>Servidores</a:t>
                      </a:r>
                    </a:p>
                  </a:txBody>
                  <a:tcPr marL="100926" marR="100926" marT="50463" marB="50463"/>
                </a:tc>
                <a:tc>
                  <a:txBody>
                    <a:bodyPr/>
                    <a:lstStyle/>
                    <a:p>
                      <a:r>
                        <a:rPr lang="pt-BR" sz="2000"/>
                        <a:t>Provedor</a:t>
                      </a:r>
                    </a:p>
                  </a:txBody>
                  <a:tcPr marL="100926" marR="100926" marT="50463" marB="50463"/>
                </a:tc>
                <a:tc>
                  <a:txBody>
                    <a:bodyPr/>
                    <a:lstStyle/>
                    <a:p>
                      <a:r>
                        <a:rPr lang="pt-BR" sz="2000"/>
                        <a:t>Provedor</a:t>
                      </a:r>
                    </a:p>
                  </a:txBody>
                  <a:tcPr marL="100926" marR="100926" marT="50463" marB="50463"/>
                </a:tc>
                <a:tc>
                  <a:txBody>
                    <a:bodyPr/>
                    <a:lstStyle/>
                    <a:p>
                      <a:r>
                        <a:rPr lang="pt-BR" sz="2000"/>
                        <a:t>Provedor</a:t>
                      </a:r>
                    </a:p>
                  </a:txBody>
                  <a:tcPr marL="100926" marR="100926" marT="50463" marB="50463"/>
                </a:tc>
                <a:extLst>
                  <a:ext uri="{0D108BD9-81ED-4DB2-BD59-A6C34878D82A}">
                    <a16:rowId xmlns:a16="http://schemas.microsoft.com/office/drawing/2014/main" val="1017615455"/>
                  </a:ext>
                </a:extLst>
              </a:tr>
              <a:tr h="444075">
                <a:tc>
                  <a:txBody>
                    <a:bodyPr/>
                    <a:lstStyle/>
                    <a:p>
                      <a:r>
                        <a:rPr lang="pt-BR" sz="2000"/>
                        <a:t>Armazenamento</a:t>
                      </a:r>
                    </a:p>
                  </a:txBody>
                  <a:tcPr marL="100926" marR="100926" marT="50463" marB="50463"/>
                </a:tc>
                <a:tc>
                  <a:txBody>
                    <a:bodyPr/>
                    <a:lstStyle/>
                    <a:p>
                      <a:r>
                        <a:rPr lang="pt-BR" sz="2000"/>
                        <a:t>Provedor</a:t>
                      </a:r>
                    </a:p>
                  </a:txBody>
                  <a:tcPr marL="100926" marR="100926" marT="50463" marB="50463"/>
                </a:tc>
                <a:tc>
                  <a:txBody>
                    <a:bodyPr/>
                    <a:lstStyle/>
                    <a:p>
                      <a:r>
                        <a:rPr lang="pt-BR" sz="2000"/>
                        <a:t>Provedor</a:t>
                      </a:r>
                    </a:p>
                  </a:txBody>
                  <a:tcPr marL="100926" marR="100926" marT="50463" marB="50463"/>
                </a:tc>
                <a:tc>
                  <a:txBody>
                    <a:bodyPr/>
                    <a:lstStyle/>
                    <a:p>
                      <a:r>
                        <a:rPr lang="pt-BR" sz="2000"/>
                        <a:t>Provedor</a:t>
                      </a:r>
                    </a:p>
                  </a:txBody>
                  <a:tcPr marL="100926" marR="100926" marT="50463" marB="50463"/>
                </a:tc>
                <a:extLst>
                  <a:ext uri="{0D108BD9-81ED-4DB2-BD59-A6C34878D82A}">
                    <a16:rowId xmlns:a16="http://schemas.microsoft.com/office/drawing/2014/main" val="1949621648"/>
                  </a:ext>
                </a:extLst>
              </a:tr>
              <a:tr h="444075">
                <a:tc>
                  <a:txBody>
                    <a:bodyPr/>
                    <a:lstStyle/>
                    <a:p>
                      <a:r>
                        <a:rPr lang="pt-BR" sz="2000"/>
                        <a:t>Rede</a:t>
                      </a:r>
                    </a:p>
                  </a:txBody>
                  <a:tcPr marL="100926" marR="100926" marT="50463" marB="50463"/>
                </a:tc>
                <a:tc>
                  <a:txBody>
                    <a:bodyPr/>
                    <a:lstStyle/>
                    <a:p>
                      <a:r>
                        <a:rPr lang="pt-BR" sz="2000"/>
                        <a:t>Provedor</a:t>
                      </a:r>
                    </a:p>
                  </a:txBody>
                  <a:tcPr marL="100926" marR="100926" marT="50463" marB="50463"/>
                </a:tc>
                <a:tc>
                  <a:txBody>
                    <a:bodyPr/>
                    <a:lstStyle/>
                    <a:p>
                      <a:r>
                        <a:rPr lang="pt-BR" sz="2000"/>
                        <a:t>Provedor</a:t>
                      </a:r>
                    </a:p>
                  </a:txBody>
                  <a:tcPr marL="100926" marR="100926" marT="50463" marB="50463"/>
                </a:tc>
                <a:tc>
                  <a:txBody>
                    <a:bodyPr/>
                    <a:lstStyle/>
                    <a:p>
                      <a:r>
                        <a:rPr lang="pt-BR" sz="2000"/>
                        <a:t>Provedor</a:t>
                      </a:r>
                    </a:p>
                  </a:txBody>
                  <a:tcPr marL="100926" marR="100926" marT="50463" marB="50463"/>
                </a:tc>
                <a:extLst>
                  <a:ext uri="{0D108BD9-81ED-4DB2-BD59-A6C34878D82A}">
                    <a16:rowId xmlns:a16="http://schemas.microsoft.com/office/drawing/2014/main" val="978129118"/>
                  </a:ext>
                </a:extLst>
              </a:tr>
            </a:tbl>
          </a:graphicData>
        </a:graphic>
      </p:graphicFrame>
    </p:spTree>
    <p:extLst>
      <p:ext uri="{BB962C8B-B14F-4D97-AF65-F5344CB8AC3E}">
        <p14:creationId xmlns:p14="http://schemas.microsoft.com/office/powerpoint/2010/main" val="2658112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83545E-7840-435A-ADDF-B0B0369C36E9}"/>
              </a:ext>
            </a:extLst>
          </p:cNvPr>
          <p:cNvSpPr>
            <a:spLocks noGrp="1"/>
          </p:cNvSpPr>
          <p:nvPr>
            <p:ph type="title"/>
          </p:nvPr>
        </p:nvSpPr>
        <p:spPr>
          <a:xfrm>
            <a:off x="2370667" y="2187743"/>
            <a:ext cx="7789333" cy="2482515"/>
          </a:xfrm>
        </p:spPr>
        <p:txBody>
          <a:bodyPr vert="horz" lIns="91440" tIns="45720" rIns="91440" bIns="45720" rtlCol="0" anchor="ctr">
            <a:normAutofit/>
          </a:bodyPr>
          <a:lstStyle/>
          <a:p>
            <a:r>
              <a:rPr lang="pt-BR" sz="6000" dirty="0"/>
              <a:t>Estrutura Geral do Azure</a:t>
            </a:r>
            <a:endParaRPr lang="en-US" sz="6000" kern="1200" dirty="0">
              <a:solidFill>
                <a:schemeClr val="tx1"/>
              </a:solidFill>
              <a:latin typeface="+mj-lt"/>
              <a:ea typeface="+mj-ea"/>
              <a:cs typeface="+mj-cs"/>
            </a:endParaRPr>
          </a:p>
        </p:txBody>
      </p:sp>
      <p:pic>
        <p:nvPicPr>
          <p:cNvPr id="6" name="Graphic 5">
            <a:extLst>
              <a:ext uri="{FF2B5EF4-FFF2-40B4-BE49-F238E27FC236}">
                <a16:creationId xmlns:a16="http://schemas.microsoft.com/office/drawing/2014/main" id="{052314E5-8253-48A5-859B-129F94E805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1" y="2743201"/>
            <a:ext cx="1371600" cy="1371600"/>
          </a:xfrm>
          <a:prstGeom prst="rect">
            <a:avLst/>
          </a:prstGeom>
        </p:spPr>
      </p:pic>
    </p:spTree>
    <p:extLst>
      <p:ext uri="{BB962C8B-B14F-4D97-AF65-F5344CB8AC3E}">
        <p14:creationId xmlns:p14="http://schemas.microsoft.com/office/powerpoint/2010/main" val="4109869674"/>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 name="Espaço Reservado para Conteúdo 2">
            <a:extLst>
              <a:ext uri="{FF2B5EF4-FFF2-40B4-BE49-F238E27FC236}">
                <a16:creationId xmlns:a16="http://schemas.microsoft.com/office/drawing/2014/main" id="{ACDADA90-650B-4150-8863-D5F413E6D33D}"/>
              </a:ext>
            </a:extLst>
          </p:cNvPr>
          <p:cNvGraphicFramePr>
            <a:graphicFrameLocks noGrp="1"/>
          </p:cNvGraphicFramePr>
          <p:nvPr>
            <p:ph idx="1"/>
            <p:extLst>
              <p:ext uri="{D42A27DB-BD31-4B8C-83A1-F6EECF244321}">
                <p14:modId xmlns:p14="http://schemas.microsoft.com/office/powerpoint/2010/main" val="86861350"/>
              </p:ext>
            </p:extLst>
          </p:nvPr>
        </p:nvGraphicFramePr>
        <p:xfrm>
          <a:off x="409448" y="508632"/>
          <a:ext cx="11365992" cy="6115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1333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23095B-FF66-4395-8C77-9C1BFB34DF80}"/>
              </a:ext>
            </a:extLst>
          </p:cNvPr>
          <p:cNvSpPr>
            <a:spLocks noGrp="1"/>
          </p:cNvSpPr>
          <p:nvPr>
            <p:ph type="title"/>
          </p:nvPr>
        </p:nvSpPr>
        <p:spPr>
          <a:xfrm>
            <a:off x="838199" y="291090"/>
            <a:ext cx="10515599" cy="932688"/>
          </a:xfrm>
          <a:prstGeom prst="ellipse">
            <a:avLst/>
          </a:prstGeom>
        </p:spPr>
        <p:txBody>
          <a:bodyPr vert="horz" lIns="91440" tIns="45720" rIns="91440" bIns="45720" rtlCol="0" anchor="b">
            <a:normAutofit/>
          </a:bodyPr>
          <a:lstStyle/>
          <a:p>
            <a:pPr algn="ctr"/>
            <a:r>
              <a:rPr lang="en-US" sz="3800" kern="1200">
                <a:solidFill>
                  <a:schemeClr val="tx1"/>
                </a:solidFill>
                <a:latin typeface="+mj-lt"/>
                <a:ea typeface="+mj-ea"/>
                <a:cs typeface="+mj-cs"/>
              </a:rPr>
              <a:t>Infraestrutura Global do Azure</a:t>
            </a:r>
          </a:p>
        </p:txBody>
      </p:sp>
      <p:sp>
        <p:nvSpPr>
          <p:cNvPr id="8" name="Rectangle 7">
            <a:extLst>
              <a:ext uri="{FF2B5EF4-FFF2-40B4-BE49-F238E27FC236}">
                <a16:creationId xmlns:a16="http://schemas.microsoft.com/office/drawing/2014/main" id="{C2C620FB-01DE-47CA-866C-10D60C94B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6124" cy="6858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3" name="Imagem 2">
            <a:extLst>
              <a:ext uri="{FF2B5EF4-FFF2-40B4-BE49-F238E27FC236}">
                <a16:creationId xmlns:a16="http://schemas.microsoft.com/office/drawing/2014/main" id="{A113CC70-408B-4702-A27F-89A454FAEF2A}"/>
              </a:ext>
            </a:extLst>
          </p:cNvPr>
          <p:cNvPicPr>
            <a:picLocks noChangeAspect="1"/>
          </p:cNvPicPr>
          <p:nvPr/>
        </p:nvPicPr>
        <p:blipFill>
          <a:blip r:embed="rId2"/>
          <a:stretch>
            <a:fillRect/>
          </a:stretch>
        </p:blipFill>
        <p:spPr>
          <a:xfrm>
            <a:off x="172720" y="1070158"/>
            <a:ext cx="11846560" cy="5271721"/>
          </a:xfrm>
          <a:prstGeom prst="rect">
            <a:avLst/>
          </a:prstGeom>
        </p:spPr>
      </p:pic>
    </p:spTree>
    <p:extLst>
      <p:ext uri="{BB962C8B-B14F-4D97-AF65-F5344CB8AC3E}">
        <p14:creationId xmlns:p14="http://schemas.microsoft.com/office/powerpoint/2010/main" val="3416490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33F89ECA-2856-4AB2-A421-175D5062F6CF}"/>
              </a:ext>
            </a:extLst>
          </p:cNvPr>
          <p:cNvSpPr>
            <a:spLocks noGrp="1"/>
          </p:cNvSpPr>
          <p:nvPr>
            <p:ph type="title"/>
          </p:nvPr>
        </p:nvSpPr>
        <p:spPr>
          <a:xfrm>
            <a:off x="648929" y="629266"/>
            <a:ext cx="5127031" cy="1676603"/>
          </a:xfrm>
        </p:spPr>
        <p:txBody>
          <a:bodyPr>
            <a:normAutofit/>
          </a:bodyPr>
          <a:lstStyle/>
          <a:p>
            <a:r>
              <a:rPr lang="pt-BR" dirty="0" err="1"/>
              <a:t>PowerShell</a:t>
            </a:r>
            <a:endParaRPr lang="pt-BR" dirty="0"/>
          </a:p>
        </p:txBody>
      </p:sp>
      <p:sp>
        <p:nvSpPr>
          <p:cNvPr id="3" name="Espaço Reservado para Conteúdo 2">
            <a:extLst>
              <a:ext uri="{FF2B5EF4-FFF2-40B4-BE49-F238E27FC236}">
                <a16:creationId xmlns:a16="http://schemas.microsoft.com/office/drawing/2014/main" id="{C2E896AB-CB9F-4020-A790-06B0E7346B7D}"/>
              </a:ext>
            </a:extLst>
          </p:cNvPr>
          <p:cNvSpPr>
            <a:spLocks noGrp="1"/>
          </p:cNvSpPr>
          <p:nvPr>
            <p:ph idx="1"/>
          </p:nvPr>
        </p:nvSpPr>
        <p:spPr>
          <a:xfrm>
            <a:off x="648930" y="2438400"/>
            <a:ext cx="5127029" cy="3785419"/>
          </a:xfrm>
        </p:spPr>
        <p:txBody>
          <a:bodyPr>
            <a:normAutofit/>
          </a:bodyPr>
          <a:lstStyle/>
          <a:p>
            <a:r>
              <a:rPr lang="pt-BR" sz="1700"/>
              <a:t>Ferramenta de linha de comando que oferece uma ótima experiência para gerenciar recursos do Azure.</a:t>
            </a:r>
          </a:p>
          <a:p>
            <a:r>
              <a:rPr lang="pt-BR" sz="1700"/>
              <a:t>Projetada para facilitar o script, dados de consulta, dar suporte a operações de longa execução e muito mais.</a:t>
            </a:r>
          </a:p>
          <a:p>
            <a:r>
              <a:rPr lang="pt-BR" sz="1700"/>
              <a:t>Versão do PowerShell - $PSVersionTable</a:t>
            </a:r>
          </a:p>
          <a:p>
            <a:r>
              <a:rPr lang="pt-BR" sz="1700"/>
              <a:t>Instalar Módulos Azure – “Install-Module -name az –AllowClobber”</a:t>
            </a:r>
          </a:p>
          <a:p>
            <a:r>
              <a:rPr lang="pt-BR" sz="1700"/>
              <a:t>Login Azure - Connect-AzAccount</a:t>
            </a:r>
          </a:p>
          <a:p>
            <a:r>
              <a:rPr lang="pt-BR" sz="1700"/>
              <a:t>Falha no Login - </a:t>
            </a:r>
            <a:r>
              <a:rPr lang="pt-BR" sz="1700">
                <a:hlinkClick r:id="rId2"/>
              </a:rPr>
              <a:t>https://www.microsoft.com/devicelogin</a:t>
            </a:r>
            <a:endParaRPr lang="pt-BR" sz="1700"/>
          </a:p>
        </p:txBody>
      </p:sp>
      <p:pic>
        <p:nvPicPr>
          <p:cNvPr id="6" name="Imagem 5" descr="Uma imagem contendo captura de tela&#10;&#10;Descrição gerada automaticamente">
            <a:extLst>
              <a:ext uri="{FF2B5EF4-FFF2-40B4-BE49-F238E27FC236}">
                <a16:creationId xmlns:a16="http://schemas.microsoft.com/office/drawing/2014/main" id="{29EA08F0-8D10-4DEE-9E24-2177520E7BAC}"/>
              </a:ext>
            </a:extLst>
          </p:cNvPr>
          <p:cNvPicPr>
            <a:picLocks noChangeAspect="1"/>
          </p:cNvPicPr>
          <p:nvPr/>
        </p:nvPicPr>
        <p:blipFill rotWithShape="1">
          <a:blip r:embed="rId3"/>
          <a:srcRect r="3033"/>
          <a:stretch/>
        </p:blipFill>
        <p:spPr>
          <a:xfrm>
            <a:off x="6090612" y="10"/>
            <a:ext cx="6101387" cy="6857990"/>
          </a:xfrm>
          <a:prstGeom prst="rect">
            <a:avLst/>
          </a:prstGeom>
          <a:effectLst/>
        </p:spPr>
      </p:pic>
    </p:spTree>
    <p:extLst>
      <p:ext uri="{BB962C8B-B14F-4D97-AF65-F5344CB8AC3E}">
        <p14:creationId xmlns:p14="http://schemas.microsoft.com/office/powerpoint/2010/main" val="124484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02A6C6-7CFB-47DE-9FF9-46F3D4861C45}"/>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400" dirty="0"/>
              <a:t>Portal Azure</a:t>
            </a:r>
            <a:endParaRPr lang="en-US" sz="5400" kern="1200" dirty="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0465601C-04B5-4AE0-8300-C95A72ECD2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6124" cy="6858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8" name="Imagem 7">
            <a:extLst>
              <a:ext uri="{FF2B5EF4-FFF2-40B4-BE49-F238E27FC236}">
                <a16:creationId xmlns:a16="http://schemas.microsoft.com/office/drawing/2014/main" id="{8F3F2BAE-EF2C-434D-B748-74377FAD5937}"/>
              </a:ext>
            </a:extLst>
          </p:cNvPr>
          <p:cNvPicPr>
            <a:picLocks noChangeAspect="1"/>
          </p:cNvPicPr>
          <p:nvPr/>
        </p:nvPicPr>
        <p:blipFill>
          <a:blip r:embed="rId2"/>
          <a:stretch>
            <a:fillRect/>
          </a:stretch>
        </p:blipFill>
        <p:spPr>
          <a:xfrm>
            <a:off x="538431" y="1064115"/>
            <a:ext cx="11358880" cy="5707837"/>
          </a:xfrm>
          <a:prstGeom prst="rect">
            <a:avLst/>
          </a:prstGeom>
        </p:spPr>
      </p:pic>
      <p:cxnSp>
        <p:nvCxnSpPr>
          <p:cNvPr id="12" name="Conector de Seta Reta 11">
            <a:extLst>
              <a:ext uri="{FF2B5EF4-FFF2-40B4-BE49-F238E27FC236}">
                <a16:creationId xmlns:a16="http://schemas.microsoft.com/office/drawing/2014/main" id="{9305B0EB-48A7-42E8-90B3-C777DB7CCC86}"/>
              </a:ext>
            </a:extLst>
          </p:cNvPr>
          <p:cNvCxnSpPr>
            <a:cxnSpLocks/>
            <a:stCxn id="19" idx="1"/>
            <a:endCxn id="28" idx="6"/>
          </p:cNvCxnSpPr>
          <p:nvPr/>
        </p:nvCxnSpPr>
        <p:spPr>
          <a:xfrm flipH="1">
            <a:off x="2499360" y="3996388"/>
            <a:ext cx="2316480" cy="174929"/>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9" name="Retângulo 18">
            <a:extLst>
              <a:ext uri="{FF2B5EF4-FFF2-40B4-BE49-F238E27FC236}">
                <a16:creationId xmlns:a16="http://schemas.microsoft.com/office/drawing/2014/main" id="{D2EB136B-745F-4917-B1F2-FB573A3160C1}"/>
              </a:ext>
            </a:extLst>
          </p:cNvPr>
          <p:cNvSpPr/>
          <p:nvPr/>
        </p:nvSpPr>
        <p:spPr>
          <a:xfrm>
            <a:off x="4815840" y="3737308"/>
            <a:ext cx="2153920" cy="51816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3865B6"/>
                </a:solidFill>
              </a:rPr>
              <a:t>Gerais e Favoritos</a:t>
            </a:r>
          </a:p>
          <a:p>
            <a:pPr algn="ctr"/>
            <a:r>
              <a:rPr lang="pt-BR" b="1" dirty="0">
                <a:solidFill>
                  <a:srgbClr val="3865B6"/>
                </a:solidFill>
              </a:rPr>
              <a:t>Recursos ou Serviços</a:t>
            </a:r>
          </a:p>
        </p:txBody>
      </p:sp>
      <p:sp>
        <p:nvSpPr>
          <p:cNvPr id="28" name="Elipse 27">
            <a:extLst>
              <a:ext uri="{FF2B5EF4-FFF2-40B4-BE49-F238E27FC236}">
                <a16:creationId xmlns:a16="http://schemas.microsoft.com/office/drawing/2014/main" id="{AAE185B1-4C81-4BCF-9B5A-00CE73D1D2E9}"/>
              </a:ext>
            </a:extLst>
          </p:cNvPr>
          <p:cNvSpPr/>
          <p:nvPr/>
        </p:nvSpPr>
        <p:spPr>
          <a:xfrm>
            <a:off x="345440" y="1667513"/>
            <a:ext cx="2153920" cy="5007607"/>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Elipse 31">
            <a:extLst>
              <a:ext uri="{FF2B5EF4-FFF2-40B4-BE49-F238E27FC236}">
                <a16:creationId xmlns:a16="http://schemas.microsoft.com/office/drawing/2014/main" id="{15C399A4-6DB2-495F-9772-8E40C3678BB0}"/>
              </a:ext>
            </a:extLst>
          </p:cNvPr>
          <p:cNvSpPr/>
          <p:nvPr/>
        </p:nvSpPr>
        <p:spPr>
          <a:xfrm>
            <a:off x="8591107" y="1559303"/>
            <a:ext cx="3397693" cy="5007607"/>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Retângulo 32">
            <a:extLst>
              <a:ext uri="{FF2B5EF4-FFF2-40B4-BE49-F238E27FC236}">
                <a16:creationId xmlns:a16="http://schemas.microsoft.com/office/drawing/2014/main" id="{C7861A05-4BFF-4F0B-A2CE-ECC3753DCB0C}"/>
              </a:ext>
            </a:extLst>
          </p:cNvPr>
          <p:cNvSpPr/>
          <p:nvPr/>
        </p:nvSpPr>
        <p:spPr>
          <a:xfrm>
            <a:off x="9449910" y="239273"/>
            <a:ext cx="2153920" cy="73892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3865B6"/>
                </a:solidFill>
              </a:rPr>
              <a:t>Configurações</a:t>
            </a:r>
          </a:p>
          <a:p>
            <a:pPr algn="ctr"/>
            <a:r>
              <a:rPr lang="pt-BR" b="1" dirty="0">
                <a:solidFill>
                  <a:srgbClr val="3865B6"/>
                </a:solidFill>
              </a:rPr>
              <a:t>Portal de Navegação</a:t>
            </a:r>
          </a:p>
        </p:txBody>
      </p:sp>
      <p:cxnSp>
        <p:nvCxnSpPr>
          <p:cNvPr id="34" name="Conector de Seta Reta 33">
            <a:extLst>
              <a:ext uri="{FF2B5EF4-FFF2-40B4-BE49-F238E27FC236}">
                <a16:creationId xmlns:a16="http://schemas.microsoft.com/office/drawing/2014/main" id="{8FDD57F1-FD25-43D4-8A04-26868E96EB61}"/>
              </a:ext>
            </a:extLst>
          </p:cNvPr>
          <p:cNvCxnSpPr>
            <a:cxnSpLocks/>
            <a:stCxn id="33" idx="2"/>
            <a:endCxn id="32" idx="0"/>
          </p:cNvCxnSpPr>
          <p:nvPr/>
        </p:nvCxnSpPr>
        <p:spPr>
          <a:xfrm flipH="1">
            <a:off x="10289954" y="978194"/>
            <a:ext cx="236916" cy="581109"/>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38" name="Elipse 37">
            <a:extLst>
              <a:ext uri="{FF2B5EF4-FFF2-40B4-BE49-F238E27FC236}">
                <a16:creationId xmlns:a16="http://schemas.microsoft.com/office/drawing/2014/main" id="{742F2FE3-4C6C-410A-9014-10F65252A639}"/>
              </a:ext>
            </a:extLst>
          </p:cNvPr>
          <p:cNvSpPr/>
          <p:nvPr/>
        </p:nvSpPr>
        <p:spPr>
          <a:xfrm>
            <a:off x="2799128" y="1091115"/>
            <a:ext cx="4728723" cy="905688"/>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Retângulo 38">
            <a:extLst>
              <a:ext uri="{FF2B5EF4-FFF2-40B4-BE49-F238E27FC236}">
                <a16:creationId xmlns:a16="http://schemas.microsoft.com/office/drawing/2014/main" id="{AB4FE1A5-4520-47F5-A7C3-9CA36B44AF2F}"/>
              </a:ext>
            </a:extLst>
          </p:cNvPr>
          <p:cNvSpPr/>
          <p:nvPr/>
        </p:nvSpPr>
        <p:spPr>
          <a:xfrm>
            <a:off x="5326913" y="128134"/>
            <a:ext cx="2153920" cy="73892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3865B6"/>
                </a:solidFill>
              </a:rPr>
              <a:t>Busca por recursos ou serviços</a:t>
            </a:r>
          </a:p>
        </p:txBody>
      </p:sp>
      <p:cxnSp>
        <p:nvCxnSpPr>
          <p:cNvPr id="40" name="Conector de Seta Reta 39">
            <a:extLst>
              <a:ext uri="{FF2B5EF4-FFF2-40B4-BE49-F238E27FC236}">
                <a16:creationId xmlns:a16="http://schemas.microsoft.com/office/drawing/2014/main" id="{9914430C-841A-4C83-9724-3ABCE001BB89}"/>
              </a:ext>
            </a:extLst>
          </p:cNvPr>
          <p:cNvCxnSpPr>
            <a:cxnSpLocks/>
            <a:stCxn id="39" idx="2"/>
            <a:endCxn id="8" idx="0"/>
          </p:cNvCxnSpPr>
          <p:nvPr/>
        </p:nvCxnSpPr>
        <p:spPr>
          <a:xfrm flipH="1">
            <a:off x="6217871" y="867055"/>
            <a:ext cx="186002" cy="197060"/>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3413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83545E-7840-435A-ADDF-B0B0369C36E9}"/>
              </a:ext>
            </a:extLst>
          </p:cNvPr>
          <p:cNvSpPr>
            <a:spLocks noGrp="1"/>
          </p:cNvSpPr>
          <p:nvPr>
            <p:ph type="title"/>
          </p:nvPr>
        </p:nvSpPr>
        <p:spPr>
          <a:xfrm>
            <a:off x="2370667" y="2187743"/>
            <a:ext cx="7789333" cy="2482515"/>
          </a:xfrm>
        </p:spPr>
        <p:txBody>
          <a:bodyPr vert="horz" lIns="91440" tIns="45720" rIns="91440" bIns="45720" rtlCol="0" anchor="ctr">
            <a:normAutofit/>
          </a:bodyPr>
          <a:lstStyle/>
          <a:p>
            <a:r>
              <a:rPr lang="pt-BR" sz="6000" dirty="0"/>
              <a:t>Organizar recursos</a:t>
            </a:r>
            <a:endParaRPr lang="en-US" sz="6000" dirty="0"/>
          </a:p>
        </p:txBody>
      </p:sp>
      <p:pic>
        <p:nvPicPr>
          <p:cNvPr id="6" name="Graphic 5">
            <a:extLst>
              <a:ext uri="{FF2B5EF4-FFF2-40B4-BE49-F238E27FC236}">
                <a16:creationId xmlns:a16="http://schemas.microsoft.com/office/drawing/2014/main" id="{052314E5-8253-48A5-859B-129F94E805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1" y="2743201"/>
            <a:ext cx="1371600" cy="1371600"/>
          </a:xfrm>
          <a:prstGeom prst="rect">
            <a:avLst/>
          </a:prstGeom>
        </p:spPr>
      </p:pic>
      <p:pic>
        <p:nvPicPr>
          <p:cNvPr id="8" name="Graphic 7">
            <a:extLst>
              <a:ext uri="{FF2B5EF4-FFF2-40B4-BE49-F238E27FC236}">
                <a16:creationId xmlns:a16="http://schemas.microsoft.com/office/drawing/2014/main" id="{FA4577BE-6A11-4DB2-AE1F-216AFFD312F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803459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6573FE3A-D31F-4C4F-88AA-AC456870F96A}"/>
              </a:ext>
            </a:extLst>
          </p:cNvPr>
          <p:cNvSpPr/>
          <p:nvPr/>
        </p:nvSpPr>
        <p:spPr>
          <a:xfrm>
            <a:off x="0" y="3745142"/>
            <a:ext cx="12192000" cy="1493520"/>
          </a:xfrm>
          <a:prstGeom prst="rect">
            <a:avLst/>
          </a:prstGeom>
          <a:gradFill>
            <a:gsLst>
              <a:gs pos="100000">
                <a:schemeClr val="accent1">
                  <a:lumMod val="20000"/>
                  <a:lumOff val="80000"/>
                </a:schemeClr>
              </a:gs>
              <a:gs pos="13000">
                <a:schemeClr val="accent1">
                  <a:lumMod val="60000"/>
                  <a:lumOff val="40000"/>
                </a:schemeClr>
              </a:gs>
            </a:gsLst>
            <a:path path="circle">
              <a:fillToRect l="50000" t="130000" r="50000" b="-30000"/>
            </a:path>
          </a:gradFill>
          <a:ln w="19050" cap="rnd">
            <a:roun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r>
              <a:rPr lang="pt-BR" dirty="0">
                <a:ln>
                  <a:solidFill>
                    <a:schemeClr val="accent1">
                      <a:shade val="50000"/>
                    </a:schemeClr>
                  </a:solidFill>
                </a:ln>
                <a:solidFill>
                  <a:schemeClr val="accent2">
                    <a:lumMod val="75000"/>
                  </a:schemeClr>
                </a:solidFill>
              </a:rPr>
              <a:t>Grupo de Recursos - </a:t>
            </a:r>
            <a:r>
              <a:rPr lang="pt-BR" dirty="0" err="1">
                <a:ln>
                  <a:solidFill>
                    <a:schemeClr val="accent1">
                      <a:shade val="50000"/>
                    </a:schemeClr>
                  </a:solidFill>
                </a:ln>
                <a:solidFill>
                  <a:schemeClr val="accent2">
                    <a:lumMod val="75000"/>
                  </a:schemeClr>
                </a:solidFill>
              </a:rPr>
              <a:t>Resource</a:t>
            </a:r>
            <a:r>
              <a:rPr lang="pt-BR" dirty="0">
                <a:ln>
                  <a:solidFill>
                    <a:schemeClr val="accent1">
                      <a:shade val="50000"/>
                    </a:schemeClr>
                  </a:solidFill>
                </a:ln>
                <a:solidFill>
                  <a:schemeClr val="accent2">
                    <a:lumMod val="75000"/>
                  </a:schemeClr>
                </a:solidFill>
              </a:rPr>
              <a:t> </a:t>
            </a:r>
            <a:r>
              <a:rPr lang="pt-BR" dirty="0" err="1">
                <a:ln>
                  <a:solidFill>
                    <a:schemeClr val="accent1">
                      <a:shade val="50000"/>
                    </a:schemeClr>
                  </a:solidFill>
                </a:ln>
                <a:solidFill>
                  <a:schemeClr val="accent2">
                    <a:lumMod val="75000"/>
                  </a:schemeClr>
                </a:solidFill>
              </a:rPr>
              <a:t>Group</a:t>
            </a:r>
            <a:endParaRPr lang="pt-BR" dirty="0">
              <a:ln>
                <a:solidFill>
                  <a:schemeClr val="accent1">
                    <a:shade val="50000"/>
                  </a:schemeClr>
                </a:solidFill>
              </a:ln>
              <a:solidFill>
                <a:schemeClr val="accent2">
                  <a:lumMod val="75000"/>
                </a:schemeClr>
              </a:solidFill>
            </a:endParaRPr>
          </a:p>
        </p:txBody>
      </p:sp>
      <p:sp>
        <p:nvSpPr>
          <p:cNvPr id="6" name="Retângulo 5">
            <a:extLst>
              <a:ext uri="{FF2B5EF4-FFF2-40B4-BE49-F238E27FC236}">
                <a16:creationId xmlns:a16="http://schemas.microsoft.com/office/drawing/2014/main" id="{9F1612A9-7702-43A0-9C97-89AB523E36DF}"/>
              </a:ext>
            </a:extLst>
          </p:cNvPr>
          <p:cNvSpPr/>
          <p:nvPr/>
        </p:nvSpPr>
        <p:spPr>
          <a:xfrm>
            <a:off x="0" y="2204721"/>
            <a:ext cx="12192000" cy="1493520"/>
          </a:xfrm>
          <a:prstGeom prst="rect">
            <a:avLst/>
          </a:prstGeom>
          <a:gradFill>
            <a:gsLst>
              <a:gs pos="100000">
                <a:schemeClr val="accent1">
                  <a:lumMod val="20000"/>
                  <a:lumOff val="80000"/>
                </a:schemeClr>
              </a:gs>
              <a:gs pos="13000">
                <a:schemeClr val="accent1">
                  <a:lumMod val="60000"/>
                  <a:lumOff val="40000"/>
                </a:schemeClr>
              </a:gs>
            </a:gsLst>
            <a:path path="circle">
              <a:fillToRect l="50000" t="130000" r="50000" b="-30000"/>
            </a:path>
          </a:gradFill>
          <a:ln w="19050" cap="rnd">
            <a:roun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r>
              <a:rPr lang="pt-BR" dirty="0">
                <a:ln>
                  <a:solidFill>
                    <a:schemeClr val="accent1">
                      <a:shade val="50000"/>
                    </a:schemeClr>
                  </a:solidFill>
                </a:ln>
                <a:solidFill>
                  <a:schemeClr val="accent2">
                    <a:lumMod val="75000"/>
                  </a:schemeClr>
                </a:solidFill>
              </a:rPr>
              <a:t>Assinatura - </a:t>
            </a:r>
            <a:r>
              <a:rPr lang="pt-BR" dirty="0" err="1">
                <a:ln>
                  <a:solidFill>
                    <a:schemeClr val="accent1">
                      <a:shade val="50000"/>
                    </a:schemeClr>
                  </a:solidFill>
                </a:ln>
                <a:solidFill>
                  <a:schemeClr val="accent2">
                    <a:lumMod val="75000"/>
                  </a:schemeClr>
                </a:solidFill>
              </a:rPr>
              <a:t>Subscriptions</a:t>
            </a:r>
            <a:endParaRPr lang="pt-BR" dirty="0">
              <a:ln>
                <a:solidFill>
                  <a:schemeClr val="accent1">
                    <a:shade val="50000"/>
                  </a:schemeClr>
                </a:solidFill>
              </a:ln>
              <a:solidFill>
                <a:schemeClr val="accent2">
                  <a:lumMod val="75000"/>
                </a:schemeClr>
              </a:solidFill>
            </a:endParaRPr>
          </a:p>
          <a:p>
            <a:pPr algn="ctr"/>
            <a:endParaRPr lang="pt-BR" dirty="0">
              <a:ln>
                <a:solidFill>
                  <a:schemeClr val="accent1">
                    <a:shade val="50000"/>
                  </a:schemeClr>
                </a:solidFill>
              </a:ln>
              <a:solidFill>
                <a:schemeClr val="accent2">
                  <a:lumMod val="75000"/>
                </a:schemeClr>
              </a:solidFill>
            </a:endParaRPr>
          </a:p>
        </p:txBody>
      </p:sp>
      <p:sp>
        <p:nvSpPr>
          <p:cNvPr id="8" name="Retângulo 7">
            <a:extLst>
              <a:ext uri="{FF2B5EF4-FFF2-40B4-BE49-F238E27FC236}">
                <a16:creationId xmlns:a16="http://schemas.microsoft.com/office/drawing/2014/main" id="{0D4162FB-37FA-4697-8C9C-92CF571B147E}"/>
              </a:ext>
            </a:extLst>
          </p:cNvPr>
          <p:cNvSpPr/>
          <p:nvPr/>
        </p:nvSpPr>
        <p:spPr>
          <a:xfrm>
            <a:off x="0" y="5285563"/>
            <a:ext cx="12192000" cy="1493520"/>
          </a:xfrm>
          <a:prstGeom prst="rect">
            <a:avLst/>
          </a:prstGeom>
          <a:gradFill>
            <a:gsLst>
              <a:gs pos="100000">
                <a:schemeClr val="accent1">
                  <a:lumMod val="20000"/>
                  <a:lumOff val="80000"/>
                </a:schemeClr>
              </a:gs>
              <a:gs pos="13000">
                <a:schemeClr val="accent1">
                  <a:lumMod val="60000"/>
                  <a:lumOff val="40000"/>
                </a:schemeClr>
              </a:gs>
            </a:gsLst>
            <a:path path="circle">
              <a:fillToRect l="50000" t="130000" r="50000" b="-30000"/>
            </a:path>
          </a:gradFill>
          <a:ln w="19050" cap="rnd">
            <a:roun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r>
              <a:rPr lang="pt-BR" dirty="0">
                <a:ln>
                  <a:solidFill>
                    <a:schemeClr val="accent1">
                      <a:shade val="50000"/>
                    </a:schemeClr>
                  </a:solidFill>
                </a:ln>
                <a:solidFill>
                  <a:schemeClr val="accent2">
                    <a:lumMod val="75000"/>
                  </a:schemeClr>
                </a:solidFill>
              </a:rPr>
              <a:t>Recursos - </a:t>
            </a:r>
            <a:r>
              <a:rPr lang="pt-BR" dirty="0" err="1">
                <a:ln>
                  <a:solidFill>
                    <a:schemeClr val="accent1">
                      <a:shade val="50000"/>
                    </a:schemeClr>
                  </a:solidFill>
                </a:ln>
                <a:solidFill>
                  <a:schemeClr val="accent2">
                    <a:lumMod val="75000"/>
                  </a:schemeClr>
                </a:solidFill>
              </a:rPr>
              <a:t>Resource</a:t>
            </a:r>
            <a:endParaRPr lang="pt-BR" dirty="0">
              <a:ln>
                <a:solidFill>
                  <a:schemeClr val="accent1">
                    <a:shade val="50000"/>
                  </a:schemeClr>
                </a:solidFill>
              </a:ln>
              <a:solidFill>
                <a:schemeClr val="accent2">
                  <a:lumMod val="75000"/>
                </a:schemeClr>
              </a:solidFill>
            </a:endParaRPr>
          </a:p>
        </p:txBody>
      </p:sp>
      <p:sp>
        <p:nvSpPr>
          <p:cNvPr id="5" name="Retângulo 4">
            <a:extLst>
              <a:ext uri="{FF2B5EF4-FFF2-40B4-BE49-F238E27FC236}">
                <a16:creationId xmlns:a16="http://schemas.microsoft.com/office/drawing/2014/main" id="{01342610-B4C6-414A-8AC4-9194D3504661}"/>
              </a:ext>
            </a:extLst>
          </p:cNvPr>
          <p:cNvSpPr/>
          <p:nvPr/>
        </p:nvSpPr>
        <p:spPr>
          <a:xfrm>
            <a:off x="0" y="664300"/>
            <a:ext cx="12192000" cy="1493520"/>
          </a:xfrm>
          <a:prstGeom prst="rect">
            <a:avLst/>
          </a:prstGeom>
          <a:gradFill>
            <a:gsLst>
              <a:gs pos="100000">
                <a:schemeClr val="accent1">
                  <a:lumMod val="20000"/>
                  <a:lumOff val="80000"/>
                </a:schemeClr>
              </a:gs>
              <a:gs pos="13000">
                <a:schemeClr val="accent1">
                  <a:lumMod val="60000"/>
                  <a:lumOff val="40000"/>
                </a:schemeClr>
              </a:gs>
            </a:gsLst>
            <a:path path="circle">
              <a:fillToRect l="50000" t="130000" r="50000" b="-30000"/>
            </a:path>
          </a:gradFill>
          <a:ln w="19050" cap="rnd">
            <a:roun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r>
              <a:rPr lang="pt-BR" dirty="0">
                <a:ln>
                  <a:solidFill>
                    <a:schemeClr val="accent1">
                      <a:shade val="50000"/>
                    </a:schemeClr>
                  </a:solidFill>
                </a:ln>
                <a:solidFill>
                  <a:schemeClr val="accent2">
                    <a:lumMod val="75000"/>
                  </a:schemeClr>
                </a:solidFill>
              </a:rPr>
              <a:t>Grupo de Gerenciamento - Management </a:t>
            </a:r>
            <a:r>
              <a:rPr lang="pt-BR" dirty="0" err="1">
                <a:ln>
                  <a:solidFill>
                    <a:schemeClr val="accent1">
                      <a:shade val="50000"/>
                    </a:schemeClr>
                  </a:solidFill>
                </a:ln>
                <a:solidFill>
                  <a:schemeClr val="accent2">
                    <a:lumMod val="75000"/>
                  </a:schemeClr>
                </a:solidFill>
              </a:rPr>
              <a:t>Group</a:t>
            </a:r>
            <a:endParaRPr lang="pt-BR" dirty="0">
              <a:ln>
                <a:solidFill>
                  <a:schemeClr val="accent1">
                    <a:shade val="50000"/>
                  </a:schemeClr>
                </a:solidFill>
              </a:ln>
              <a:solidFill>
                <a:schemeClr val="accent2">
                  <a:lumMod val="75000"/>
                </a:schemeClr>
              </a:solidFill>
            </a:endParaRPr>
          </a:p>
          <a:p>
            <a:pPr algn="ctr"/>
            <a:endParaRPr lang="pt-BR" dirty="0">
              <a:ln>
                <a:solidFill>
                  <a:schemeClr val="accent1">
                    <a:shade val="50000"/>
                  </a:schemeClr>
                </a:solidFill>
              </a:ln>
              <a:solidFill>
                <a:schemeClr val="accent2">
                  <a:lumMod val="75000"/>
                </a:schemeClr>
              </a:solidFill>
            </a:endParaRPr>
          </a:p>
        </p:txBody>
      </p:sp>
      <p:sp>
        <p:nvSpPr>
          <p:cNvPr id="2" name="Título 1">
            <a:extLst>
              <a:ext uri="{FF2B5EF4-FFF2-40B4-BE49-F238E27FC236}">
                <a16:creationId xmlns:a16="http://schemas.microsoft.com/office/drawing/2014/main" id="{424AE471-E47C-47B4-80D0-97914299B1AD}"/>
              </a:ext>
            </a:extLst>
          </p:cNvPr>
          <p:cNvSpPr>
            <a:spLocks noGrp="1"/>
          </p:cNvSpPr>
          <p:nvPr>
            <p:ph type="title"/>
          </p:nvPr>
        </p:nvSpPr>
        <p:spPr>
          <a:xfrm>
            <a:off x="157717" y="0"/>
            <a:ext cx="10515600" cy="752475"/>
          </a:xfrm>
        </p:spPr>
        <p:txBody>
          <a:bodyPr/>
          <a:lstStyle/>
          <a:p>
            <a:r>
              <a:rPr lang="pt-BR" b="1" dirty="0"/>
              <a:t>Organizar recursos</a:t>
            </a:r>
            <a:endParaRPr lang="pt-BR" dirty="0"/>
          </a:p>
        </p:txBody>
      </p:sp>
      <p:graphicFrame>
        <p:nvGraphicFramePr>
          <p:cNvPr id="4" name="Espaço Reservado para Conteúdo 3">
            <a:extLst>
              <a:ext uri="{FF2B5EF4-FFF2-40B4-BE49-F238E27FC236}">
                <a16:creationId xmlns:a16="http://schemas.microsoft.com/office/drawing/2014/main" id="{6F32ED8D-8201-46C1-A5A6-8D40C202D797}"/>
              </a:ext>
            </a:extLst>
          </p:cNvPr>
          <p:cNvGraphicFramePr>
            <a:graphicFrameLocks noGrp="1"/>
          </p:cNvGraphicFramePr>
          <p:nvPr>
            <p:ph idx="1"/>
            <p:extLst>
              <p:ext uri="{D42A27DB-BD31-4B8C-83A1-F6EECF244321}">
                <p14:modId xmlns:p14="http://schemas.microsoft.com/office/powerpoint/2010/main" val="3228492725"/>
              </p:ext>
            </p:extLst>
          </p:nvPr>
        </p:nvGraphicFramePr>
        <p:xfrm>
          <a:off x="-159488" y="749122"/>
          <a:ext cx="12351488" cy="61088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8306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E819DA6-1CEF-4E5E-8564-D931C837F1CC}"/>
              </a:ext>
            </a:extLst>
          </p:cNvPr>
          <p:cNvSpPr>
            <a:spLocks noGrp="1"/>
          </p:cNvSpPr>
          <p:nvPr>
            <p:ph type="title"/>
          </p:nvPr>
        </p:nvSpPr>
        <p:spPr>
          <a:xfrm>
            <a:off x="838200" y="963877"/>
            <a:ext cx="3494362" cy="4930246"/>
          </a:xfrm>
        </p:spPr>
        <p:txBody>
          <a:bodyPr>
            <a:normAutofit/>
          </a:bodyPr>
          <a:lstStyle/>
          <a:p>
            <a:pPr algn="r"/>
            <a:r>
              <a:rPr lang="pt-BR" b="1">
                <a:solidFill>
                  <a:schemeClr val="accent1"/>
                </a:solidFill>
              </a:rPr>
              <a:t>Padrões de design de assinatura (Subscription)</a:t>
            </a:r>
            <a:endParaRPr lang="pt-BR">
              <a:solidFill>
                <a:schemeClr val="accent1"/>
              </a:solidFill>
            </a:endParaRPr>
          </a:p>
        </p:txBody>
      </p:sp>
      <p:cxnSp>
        <p:nvCxnSpPr>
          <p:cNvPr id="21"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Espaço Reservado para Conteúdo 2">
            <a:extLst>
              <a:ext uri="{FF2B5EF4-FFF2-40B4-BE49-F238E27FC236}">
                <a16:creationId xmlns:a16="http://schemas.microsoft.com/office/drawing/2014/main" id="{24D8AB49-E98C-40E4-A669-C04DE6FD534B}"/>
              </a:ext>
            </a:extLst>
          </p:cNvPr>
          <p:cNvSpPr>
            <a:spLocks noGrp="1"/>
          </p:cNvSpPr>
          <p:nvPr>
            <p:ph idx="1"/>
          </p:nvPr>
        </p:nvSpPr>
        <p:spPr>
          <a:xfrm>
            <a:off x="4976031" y="963877"/>
            <a:ext cx="6377769" cy="4930246"/>
          </a:xfrm>
        </p:spPr>
        <p:txBody>
          <a:bodyPr anchor="ctr">
            <a:normAutofit/>
          </a:bodyPr>
          <a:lstStyle/>
          <a:p>
            <a:r>
              <a:rPr lang="pt-BR" sz="2400" b="1"/>
              <a:t>Assinatura única</a:t>
            </a:r>
          </a:p>
          <a:p>
            <a:r>
              <a:rPr lang="pt-BR" sz="2400" b="1"/>
              <a:t>Padrão de produção e não produção</a:t>
            </a:r>
          </a:p>
          <a:p>
            <a:r>
              <a:rPr lang="pt-BR" sz="2400" b="1"/>
              <a:t>Padrão de categoria do aplicativo</a:t>
            </a:r>
          </a:p>
          <a:p>
            <a:r>
              <a:rPr lang="pt-BR" sz="2400" b="1"/>
              <a:t>Padrão funcional</a:t>
            </a:r>
          </a:p>
          <a:p>
            <a:r>
              <a:rPr lang="pt-BR" sz="2400" b="1"/>
              <a:t>Padrão da unidade de negócios</a:t>
            </a:r>
          </a:p>
          <a:p>
            <a:r>
              <a:rPr lang="pt-BR" sz="2400" b="1"/>
              <a:t>Padrão geográfico</a:t>
            </a:r>
          </a:p>
          <a:p>
            <a:r>
              <a:rPr lang="pt-BR" sz="2400" b="1"/>
              <a:t>Padrões mistos</a:t>
            </a:r>
            <a:br>
              <a:rPr lang="pt-BR" sz="2400"/>
            </a:br>
            <a:br>
              <a:rPr lang="pt-BR" sz="2400"/>
            </a:br>
            <a:endParaRPr lang="pt-BR" sz="2400"/>
          </a:p>
        </p:txBody>
      </p:sp>
    </p:spTree>
    <p:extLst>
      <p:ext uri="{BB962C8B-B14F-4D97-AF65-F5344CB8AC3E}">
        <p14:creationId xmlns:p14="http://schemas.microsoft.com/office/powerpoint/2010/main" val="338720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4347F8B0-65CA-4546-B65E-FA5F85638A72}"/>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a:solidFill>
                  <a:srgbClr val="FFFFFF"/>
                </a:solidFill>
                <a:latin typeface="+mj-lt"/>
                <a:ea typeface="+mj-ea"/>
                <a:cs typeface="+mj-cs"/>
              </a:rPr>
              <a:t>Subscription</a:t>
            </a:r>
            <a:endParaRPr lang="en-US" sz="5400" kern="1200" dirty="0">
              <a:solidFill>
                <a:srgbClr val="FFFFFF"/>
              </a:solidFill>
              <a:latin typeface="+mj-lt"/>
              <a:ea typeface="+mj-ea"/>
              <a:cs typeface="+mj-cs"/>
            </a:endParaRPr>
          </a:p>
        </p:txBody>
      </p:sp>
      <p:cxnSp>
        <p:nvCxnSpPr>
          <p:cNvPr id="17" name="Straight Connector 16">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5" name="Imagem 4">
            <a:extLst>
              <a:ext uri="{FF2B5EF4-FFF2-40B4-BE49-F238E27FC236}">
                <a16:creationId xmlns:a16="http://schemas.microsoft.com/office/drawing/2014/main" id="{818A5F36-95C4-492A-938E-41FF41B32FFB}"/>
              </a:ext>
            </a:extLst>
          </p:cNvPr>
          <p:cNvPicPr>
            <a:picLocks noChangeAspect="1"/>
          </p:cNvPicPr>
          <p:nvPr/>
        </p:nvPicPr>
        <p:blipFill>
          <a:blip r:embed="rId2"/>
          <a:stretch>
            <a:fillRect/>
          </a:stretch>
        </p:blipFill>
        <p:spPr>
          <a:xfrm>
            <a:off x="808401" y="2509911"/>
            <a:ext cx="10520098" cy="3997637"/>
          </a:xfrm>
          <a:prstGeom prst="rect">
            <a:avLst/>
          </a:prstGeom>
        </p:spPr>
      </p:pic>
    </p:spTree>
    <p:extLst>
      <p:ext uri="{BB962C8B-B14F-4D97-AF65-F5344CB8AC3E}">
        <p14:creationId xmlns:p14="http://schemas.microsoft.com/office/powerpoint/2010/main" val="476598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C063AA-2FAE-4240-9B14-C393E34B3FD4}"/>
              </a:ext>
            </a:extLst>
          </p:cNvPr>
          <p:cNvSpPr>
            <a:spLocks noGrp="1"/>
          </p:cNvSpPr>
          <p:nvPr>
            <p:ph type="title"/>
          </p:nvPr>
        </p:nvSpPr>
        <p:spPr>
          <a:xfrm>
            <a:off x="838200" y="365125"/>
            <a:ext cx="10515600" cy="884555"/>
          </a:xfrm>
        </p:spPr>
        <p:txBody>
          <a:bodyPr>
            <a:normAutofit/>
          </a:bodyPr>
          <a:lstStyle/>
          <a:p>
            <a:pPr algn="ctr"/>
            <a:r>
              <a:rPr lang="pt-BR"/>
              <a:t>Azure Policy</a:t>
            </a:r>
          </a:p>
        </p:txBody>
      </p:sp>
      <p:graphicFrame>
        <p:nvGraphicFramePr>
          <p:cNvPr id="5" name="Espaço Reservado para Conteúdo 2">
            <a:extLst>
              <a:ext uri="{FF2B5EF4-FFF2-40B4-BE49-F238E27FC236}">
                <a16:creationId xmlns:a16="http://schemas.microsoft.com/office/drawing/2014/main" id="{923013C5-F37E-410A-ACBD-9219A3D72BAC}"/>
              </a:ext>
            </a:extLst>
          </p:cNvPr>
          <p:cNvGraphicFramePr>
            <a:graphicFrameLocks noGrp="1"/>
          </p:cNvGraphicFramePr>
          <p:nvPr>
            <p:ph idx="1"/>
            <p:extLst>
              <p:ext uri="{D42A27DB-BD31-4B8C-83A1-F6EECF244321}">
                <p14:modId xmlns:p14="http://schemas.microsoft.com/office/powerpoint/2010/main" val="2899088121"/>
              </p:ext>
            </p:extLst>
          </p:nvPr>
        </p:nvGraphicFramePr>
        <p:xfrm>
          <a:off x="838200" y="1249680"/>
          <a:ext cx="10515600" cy="4931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0989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F4789FB6-C25C-4BF8-93B4-8007432AF6BF}"/>
              </a:ext>
            </a:extLst>
          </p:cNvPr>
          <p:cNvPicPr>
            <a:picLocks noChangeAspect="1"/>
          </p:cNvPicPr>
          <p:nvPr/>
        </p:nvPicPr>
        <p:blipFill>
          <a:blip r:embed="rId2"/>
          <a:stretch>
            <a:fillRect/>
          </a:stretch>
        </p:blipFill>
        <p:spPr>
          <a:xfrm>
            <a:off x="243841" y="1224268"/>
            <a:ext cx="11948159" cy="4988354"/>
          </a:xfrm>
          <a:prstGeom prst="rect">
            <a:avLst/>
          </a:prstGeom>
          <a:effectLst>
            <a:outerShdw blurRad="50800" dist="38100" dir="2700000" algn="tl" rotWithShape="0">
              <a:prstClr val="black">
                <a:alpha val="40000"/>
              </a:prstClr>
            </a:outerShdw>
          </a:effectLst>
        </p:spPr>
      </p:pic>
      <p:sp>
        <p:nvSpPr>
          <p:cNvPr id="2" name="Título 1">
            <a:extLst>
              <a:ext uri="{FF2B5EF4-FFF2-40B4-BE49-F238E27FC236}">
                <a16:creationId xmlns:a16="http://schemas.microsoft.com/office/drawing/2014/main" id="{4347F8B0-65CA-4546-B65E-FA5F85638A72}"/>
              </a:ext>
            </a:extLst>
          </p:cNvPr>
          <p:cNvSpPr>
            <a:spLocks noGrp="1"/>
          </p:cNvSpPr>
          <p:nvPr>
            <p:ph type="title"/>
          </p:nvPr>
        </p:nvSpPr>
        <p:spPr>
          <a:xfrm>
            <a:off x="847344" y="300505"/>
            <a:ext cx="10506456" cy="756135"/>
          </a:xfrm>
        </p:spPr>
        <p:txBody>
          <a:bodyPr vert="horz" lIns="91440" tIns="45720" rIns="91440" bIns="45720" rtlCol="0" anchor="b">
            <a:normAutofit fontScale="90000"/>
          </a:bodyPr>
          <a:lstStyle/>
          <a:p>
            <a:pPr algn="ctr"/>
            <a:r>
              <a:rPr lang="en-US" sz="5400" dirty="0"/>
              <a:t>Subscription Policy</a:t>
            </a:r>
          </a:p>
        </p:txBody>
      </p:sp>
      <p:pic>
        <p:nvPicPr>
          <p:cNvPr id="4" name="Imagem 3">
            <a:extLst>
              <a:ext uri="{FF2B5EF4-FFF2-40B4-BE49-F238E27FC236}">
                <a16:creationId xmlns:a16="http://schemas.microsoft.com/office/drawing/2014/main" id="{E1B751F8-CB89-4421-AC7B-BCB9EFCC2DB5}"/>
              </a:ext>
            </a:extLst>
          </p:cNvPr>
          <p:cNvPicPr>
            <a:picLocks noChangeAspect="1"/>
          </p:cNvPicPr>
          <p:nvPr/>
        </p:nvPicPr>
        <p:blipFill>
          <a:blip r:embed="rId3"/>
          <a:stretch>
            <a:fillRect/>
          </a:stretch>
        </p:blipFill>
        <p:spPr>
          <a:xfrm>
            <a:off x="6095999" y="3866275"/>
            <a:ext cx="5681220" cy="2897421"/>
          </a:xfrm>
          <a:prstGeom prst="rect">
            <a:avLst/>
          </a:prstGeom>
          <a:effectLst>
            <a:innerShdw blurRad="63500" dist="50800" dir="13500000">
              <a:srgbClr val="FF0000">
                <a:alpha val="50000"/>
              </a:srgbClr>
            </a:innerShdw>
          </a:effectLst>
        </p:spPr>
      </p:pic>
      <p:sp>
        <p:nvSpPr>
          <p:cNvPr id="10" name="Retângulo 9">
            <a:extLst>
              <a:ext uri="{FF2B5EF4-FFF2-40B4-BE49-F238E27FC236}">
                <a16:creationId xmlns:a16="http://schemas.microsoft.com/office/drawing/2014/main" id="{54A47447-6096-4411-847E-075381B16020}"/>
              </a:ext>
            </a:extLst>
          </p:cNvPr>
          <p:cNvSpPr/>
          <p:nvPr/>
        </p:nvSpPr>
        <p:spPr>
          <a:xfrm>
            <a:off x="2959633" y="5274212"/>
            <a:ext cx="2153920" cy="73892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3865B6"/>
                </a:solidFill>
              </a:rPr>
              <a:t>Detalhes </a:t>
            </a:r>
            <a:r>
              <a:rPr lang="pt-BR" b="1" dirty="0" err="1">
                <a:solidFill>
                  <a:srgbClr val="3865B6"/>
                </a:solidFill>
              </a:rPr>
              <a:t>Policy</a:t>
            </a:r>
            <a:endParaRPr lang="pt-BR" b="1" dirty="0">
              <a:solidFill>
                <a:srgbClr val="3865B6"/>
              </a:solidFill>
            </a:endParaRPr>
          </a:p>
        </p:txBody>
      </p:sp>
      <p:cxnSp>
        <p:nvCxnSpPr>
          <p:cNvPr id="11" name="Conector de Seta Reta 10">
            <a:extLst>
              <a:ext uri="{FF2B5EF4-FFF2-40B4-BE49-F238E27FC236}">
                <a16:creationId xmlns:a16="http://schemas.microsoft.com/office/drawing/2014/main" id="{085E3462-8685-4C80-ACA4-B8BD75B63FCE}"/>
              </a:ext>
            </a:extLst>
          </p:cNvPr>
          <p:cNvCxnSpPr>
            <a:cxnSpLocks/>
            <a:endCxn id="4" idx="1"/>
          </p:cNvCxnSpPr>
          <p:nvPr/>
        </p:nvCxnSpPr>
        <p:spPr>
          <a:xfrm flipV="1">
            <a:off x="5090160" y="5314986"/>
            <a:ext cx="1005839" cy="318746"/>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88292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576152AB-DB4E-43E1-BE8B-9E2B5DE4CA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743290"/>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Rectangle 26">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729038"/>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BA0B668E-5486-42B7-A6F4-1542E7FC14B7}"/>
              </a:ext>
            </a:extLst>
          </p:cNvPr>
          <p:cNvSpPr>
            <a:spLocks noGrp="1"/>
          </p:cNvSpPr>
          <p:nvPr>
            <p:ph type="title"/>
          </p:nvPr>
        </p:nvSpPr>
        <p:spPr>
          <a:xfrm>
            <a:off x="1115568" y="347730"/>
            <a:ext cx="10168128" cy="2052034"/>
          </a:xfrm>
        </p:spPr>
        <p:txBody>
          <a:bodyPr>
            <a:normAutofit/>
          </a:bodyPr>
          <a:lstStyle/>
          <a:p>
            <a:r>
              <a:rPr lang="pt-BR" sz="4800"/>
              <a:t>Resource Group</a:t>
            </a:r>
          </a:p>
        </p:txBody>
      </p:sp>
      <p:sp>
        <p:nvSpPr>
          <p:cNvPr id="29" name="Rectangle 28">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101050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8" name="Espaço Reservado para Conteúdo 2">
            <a:extLst>
              <a:ext uri="{FF2B5EF4-FFF2-40B4-BE49-F238E27FC236}">
                <a16:creationId xmlns:a16="http://schemas.microsoft.com/office/drawing/2014/main" id="{E252D5FB-E538-4FA0-9694-8F5531F88EDB}"/>
              </a:ext>
            </a:extLst>
          </p:cNvPr>
          <p:cNvGraphicFramePr>
            <a:graphicFrameLocks noGrp="1"/>
          </p:cNvGraphicFramePr>
          <p:nvPr>
            <p:ph idx="1"/>
            <p:extLst>
              <p:ext uri="{D42A27DB-BD31-4B8C-83A1-F6EECF244321}">
                <p14:modId xmlns:p14="http://schemas.microsoft.com/office/powerpoint/2010/main" val="193315131"/>
              </p:ext>
            </p:extLst>
          </p:nvPr>
        </p:nvGraphicFramePr>
        <p:xfrm>
          <a:off x="142240" y="1818640"/>
          <a:ext cx="11856720" cy="4968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6519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5A74C0-CBDF-4A62-AD5C-EA27ACB4F600}"/>
              </a:ext>
            </a:extLst>
          </p:cNvPr>
          <p:cNvSpPr>
            <a:spLocks noGrp="1"/>
          </p:cNvSpPr>
          <p:nvPr>
            <p:ph type="title"/>
          </p:nvPr>
        </p:nvSpPr>
        <p:spPr>
          <a:xfrm>
            <a:off x="838199" y="291090"/>
            <a:ext cx="10515599" cy="592830"/>
          </a:xfrm>
        </p:spPr>
        <p:txBody>
          <a:bodyPr vert="horz" lIns="91440" tIns="45720" rIns="91440" bIns="45720" rtlCol="0" anchor="b">
            <a:normAutofit fontScale="90000"/>
          </a:bodyPr>
          <a:lstStyle/>
          <a:p>
            <a:pPr algn="ctr"/>
            <a:r>
              <a:rPr lang="en-US" sz="4800" kern="1200" dirty="0">
                <a:solidFill>
                  <a:schemeClr val="tx1"/>
                </a:solidFill>
                <a:latin typeface="+mj-lt"/>
                <a:ea typeface="+mj-ea"/>
                <a:cs typeface="+mj-cs"/>
              </a:rPr>
              <a:t>Resource Group</a:t>
            </a:r>
          </a:p>
        </p:txBody>
      </p:sp>
      <p:pic>
        <p:nvPicPr>
          <p:cNvPr id="5" name="Imagem 4">
            <a:extLst>
              <a:ext uri="{FF2B5EF4-FFF2-40B4-BE49-F238E27FC236}">
                <a16:creationId xmlns:a16="http://schemas.microsoft.com/office/drawing/2014/main" id="{02AA2B71-D7E4-46BA-B2BD-D0173BA90AA0}"/>
              </a:ext>
            </a:extLst>
          </p:cNvPr>
          <p:cNvPicPr>
            <a:picLocks noChangeAspect="1"/>
          </p:cNvPicPr>
          <p:nvPr/>
        </p:nvPicPr>
        <p:blipFill>
          <a:blip r:embed="rId2"/>
          <a:stretch>
            <a:fillRect/>
          </a:stretch>
        </p:blipFill>
        <p:spPr>
          <a:xfrm>
            <a:off x="85452" y="941701"/>
            <a:ext cx="8144147" cy="5916299"/>
          </a:xfrm>
          <a:prstGeom prst="rect">
            <a:avLst/>
          </a:prstGeom>
        </p:spPr>
      </p:pic>
      <p:pic>
        <p:nvPicPr>
          <p:cNvPr id="6" name="Imagem 5">
            <a:extLst>
              <a:ext uri="{FF2B5EF4-FFF2-40B4-BE49-F238E27FC236}">
                <a16:creationId xmlns:a16="http://schemas.microsoft.com/office/drawing/2014/main" id="{9ED3F5FA-F87E-4449-BF48-4C3EC4794B5E}"/>
              </a:ext>
            </a:extLst>
          </p:cNvPr>
          <p:cNvPicPr>
            <a:picLocks noChangeAspect="1"/>
          </p:cNvPicPr>
          <p:nvPr/>
        </p:nvPicPr>
        <p:blipFill>
          <a:blip r:embed="rId3"/>
          <a:stretch>
            <a:fillRect/>
          </a:stretch>
        </p:blipFill>
        <p:spPr>
          <a:xfrm>
            <a:off x="4801183" y="3590314"/>
            <a:ext cx="7305365" cy="2976596"/>
          </a:xfrm>
          <a:prstGeom prst="rect">
            <a:avLst/>
          </a:prstGeom>
          <a:effectLst>
            <a:innerShdw blurRad="63500" dist="50800" dir="13500000">
              <a:srgbClr val="FF0000">
                <a:alpha val="50000"/>
              </a:srgbClr>
            </a:innerShdw>
          </a:effectLst>
        </p:spPr>
      </p:pic>
      <p:sp>
        <p:nvSpPr>
          <p:cNvPr id="8" name="Retângulo 7">
            <a:extLst>
              <a:ext uri="{FF2B5EF4-FFF2-40B4-BE49-F238E27FC236}">
                <a16:creationId xmlns:a16="http://schemas.microsoft.com/office/drawing/2014/main" id="{0239D208-23B0-404D-A398-717DAB900616}"/>
              </a:ext>
            </a:extLst>
          </p:cNvPr>
          <p:cNvSpPr/>
          <p:nvPr/>
        </p:nvSpPr>
        <p:spPr>
          <a:xfrm>
            <a:off x="9604982" y="2402959"/>
            <a:ext cx="2153920" cy="102604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3865B6"/>
                </a:solidFill>
              </a:rPr>
              <a:t>Armazenamento de Metadados, não limita os recursos.</a:t>
            </a:r>
          </a:p>
        </p:txBody>
      </p:sp>
      <p:cxnSp>
        <p:nvCxnSpPr>
          <p:cNvPr id="10" name="Conector de Seta Reta 9">
            <a:extLst>
              <a:ext uri="{FF2B5EF4-FFF2-40B4-BE49-F238E27FC236}">
                <a16:creationId xmlns:a16="http://schemas.microsoft.com/office/drawing/2014/main" id="{DC3AE5B3-63F4-4061-A98C-635F602395CB}"/>
              </a:ext>
            </a:extLst>
          </p:cNvPr>
          <p:cNvCxnSpPr>
            <a:cxnSpLocks/>
            <a:stCxn id="8" idx="2"/>
            <a:endCxn id="11" idx="0"/>
          </p:cNvCxnSpPr>
          <p:nvPr/>
        </p:nvCxnSpPr>
        <p:spPr>
          <a:xfrm flipH="1">
            <a:off x="7437120" y="3429001"/>
            <a:ext cx="3244822" cy="2352039"/>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1" name="Elipse 10">
            <a:extLst>
              <a:ext uri="{FF2B5EF4-FFF2-40B4-BE49-F238E27FC236}">
                <a16:creationId xmlns:a16="http://schemas.microsoft.com/office/drawing/2014/main" id="{A998D4E3-1A2A-4734-AD0F-733EDBD61980}"/>
              </a:ext>
            </a:extLst>
          </p:cNvPr>
          <p:cNvSpPr/>
          <p:nvPr/>
        </p:nvSpPr>
        <p:spPr>
          <a:xfrm>
            <a:off x="6746240" y="5781040"/>
            <a:ext cx="1381760" cy="49784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EE920FFC-C072-4ABF-B96D-7D40B6AD6817}"/>
              </a:ext>
            </a:extLst>
          </p:cNvPr>
          <p:cNvSpPr/>
          <p:nvPr/>
        </p:nvSpPr>
        <p:spPr>
          <a:xfrm>
            <a:off x="5967693" y="2274690"/>
            <a:ext cx="3244822" cy="1125419"/>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3865B6"/>
                </a:solidFill>
              </a:rPr>
              <a:t>Segmentação dos Recursos, Monitoramento, Relatórios, Configuração e Criação.</a:t>
            </a:r>
          </a:p>
        </p:txBody>
      </p:sp>
      <p:cxnSp>
        <p:nvCxnSpPr>
          <p:cNvPr id="14" name="Conector de Seta Reta 13">
            <a:extLst>
              <a:ext uri="{FF2B5EF4-FFF2-40B4-BE49-F238E27FC236}">
                <a16:creationId xmlns:a16="http://schemas.microsoft.com/office/drawing/2014/main" id="{5676343C-0121-4F05-9355-D638BF157E6D}"/>
              </a:ext>
            </a:extLst>
          </p:cNvPr>
          <p:cNvCxnSpPr>
            <a:cxnSpLocks/>
            <a:stCxn id="13" idx="1"/>
          </p:cNvCxnSpPr>
          <p:nvPr/>
        </p:nvCxnSpPr>
        <p:spPr>
          <a:xfrm flipH="1">
            <a:off x="4045569" y="2837400"/>
            <a:ext cx="1922124" cy="837647"/>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23760247-1EBC-4582-A743-AA1993080229}"/>
              </a:ext>
            </a:extLst>
          </p:cNvPr>
          <p:cNvSpPr/>
          <p:nvPr/>
        </p:nvSpPr>
        <p:spPr>
          <a:xfrm>
            <a:off x="1068368" y="514981"/>
            <a:ext cx="2932782" cy="6343019"/>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3811697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F8F0CE-713B-4B25-BF5C-275E8BC788B5}"/>
              </a:ext>
            </a:extLst>
          </p:cNvPr>
          <p:cNvSpPr>
            <a:spLocks noGrp="1"/>
          </p:cNvSpPr>
          <p:nvPr>
            <p:ph type="title"/>
          </p:nvPr>
        </p:nvSpPr>
        <p:spPr>
          <a:xfrm>
            <a:off x="268430" y="274954"/>
            <a:ext cx="10515600" cy="793115"/>
          </a:xfrm>
        </p:spPr>
        <p:txBody>
          <a:bodyPr/>
          <a:lstStyle/>
          <a:p>
            <a:r>
              <a:rPr lang="pt-BR" dirty="0" err="1"/>
              <a:t>Billing</a:t>
            </a:r>
            <a:r>
              <a:rPr lang="pt-BR" dirty="0"/>
              <a:t> </a:t>
            </a:r>
            <a:r>
              <a:rPr lang="pt-BR" dirty="0" err="1"/>
              <a:t>Alert</a:t>
            </a:r>
            <a:endParaRPr lang="pt-BR" dirty="0"/>
          </a:p>
        </p:txBody>
      </p:sp>
      <p:pic>
        <p:nvPicPr>
          <p:cNvPr id="4" name="Imagem 3">
            <a:extLst>
              <a:ext uri="{FF2B5EF4-FFF2-40B4-BE49-F238E27FC236}">
                <a16:creationId xmlns:a16="http://schemas.microsoft.com/office/drawing/2014/main" id="{D44935DF-5A11-4E31-B7DB-F5F6E7343694}"/>
              </a:ext>
            </a:extLst>
          </p:cNvPr>
          <p:cNvPicPr>
            <a:picLocks noChangeAspect="1"/>
          </p:cNvPicPr>
          <p:nvPr/>
        </p:nvPicPr>
        <p:blipFill>
          <a:blip r:embed="rId2"/>
          <a:stretch>
            <a:fillRect/>
          </a:stretch>
        </p:blipFill>
        <p:spPr>
          <a:xfrm>
            <a:off x="172403" y="1547177"/>
            <a:ext cx="4436712" cy="2313623"/>
          </a:xfrm>
          <a:prstGeom prst="rect">
            <a:avLst/>
          </a:prstGeom>
        </p:spPr>
      </p:pic>
      <p:pic>
        <p:nvPicPr>
          <p:cNvPr id="6" name="Imagem 5">
            <a:extLst>
              <a:ext uri="{FF2B5EF4-FFF2-40B4-BE49-F238E27FC236}">
                <a16:creationId xmlns:a16="http://schemas.microsoft.com/office/drawing/2014/main" id="{6EF98D94-2DB7-455F-9F91-A3BD931C7FB8}"/>
              </a:ext>
            </a:extLst>
          </p:cNvPr>
          <p:cNvPicPr>
            <a:picLocks noChangeAspect="1"/>
          </p:cNvPicPr>
          <p:nvPr/>
        </p:nvPicPr>
        <p:blipFill>
          <a:blip r:embed="rId3"/>
          <a:stretch>
            <a:fillRect/>
          </a:stretch>
        </p:blipFill>
        <p:spPr>
          <a:xfrm>
            <a:off x="6443345" y="200025"/>
            <a:ext cx="5377881" cy="3660775"/>
          </a:xfrm>
          <a:prstGeom prst="rect">
            <a:avLst/>
          </a:prstGeom>
        </p:spPr>
      </p:pic>
      <p:pic>
        <p:nvPicPr>
          <p:cNvPr id="8" name="Imagem 7">
            <a:extLst>
              <a:ext uri="{FF2B5EF4-FFF2-40B4-BE49-F238E27FC236}">
                <a16:creationId xmlns:a16="http://schemas.microsoft.com/office/drawing/2014/main" id="{2E365EC1-EF83-49B9-BAB9-4871F83E0012}"/>
              </a:ext>
            </a:extLst>
          </p:cNvPr>
          <p:cNvPicPr>
            <a:picLocks noChangeAspect="1"/>
          </p:cNvPicPr>
          <p:nvPr/>
        </p:nvPicPr>
        <p:blipFill>
          <a:blip r:embed="rId4"/>
          <a:stretch>
            <a:fillRect/>
          </a:stretch>
        </p:blipFill>
        <p:spPr>
          <a:xfrm>
            <a:off x="5766060" y="4025900"/>
            <a:ext cx="6055166" cy="2722880"/>
          </a:xfrm>
          <a:prstGeom prst="rect">
            <a:avLst/>
          </a:prstGeom>
        </p:spPr>
      </p:pic>
      <p:pic>
        <p:nvPicPr>
          <p:cNvPr id="9" name="Imagem 8">
            <a:extLst>
              <a:ext uri="{FF2B5EF4-FFF2-40B4-BE49-F238E27FC236}">
                <a16:creationId xmlns:a16="http://schemas.microsoft.com/office/drawing/2014/main" id="{AABA5DA9-D001-4EEC-9E0D-EEEBA3719742}"/>
              </a:ext>
            </a:extLst>
          </p:cNvPr>
          <p:cNvPicPr>
            <a:picLocks noChangeAspect="1"/>
          </p:cNvPicPr>
          <p:nvPr/>
        </p:nvPicPr>
        <p:blipFill>
          <a:blip r:embed="rId5"/>
          <a:stretch>
            <a:fillRect/>
          </a:stretch>
        </p:blipFill>
        <p:spPr>
          <a:xfrm>
            <a:off x="370774" y="4025901"/>
            <a:ext cx="5395286" cy="2540474"/>
          </a:xfrm>
          <a:prstGeom prst="rect">
            <a:avLst/>
          </a:prstGeom>
        </p:spPr>
      </p:pic>
      <p:sp>
        <p:nvSpPr>
          <p:cNvPr id="11" name="Retângulo 10">
            <a:extLst>
              <a:ext uri="{FF2B5EF4-FFF2-40B4-BE49-F238E27FC236}">
                <a16:creationId xmlns:a16="http://schemas.microsoft.com/office/drawing/2014/main" id="{00FED992-66A9-43CF-8C14-89EA7816CB87}"/>
              </a:ext>
            </a:extLst>
          </p:cNvPr>
          <p:cNvSpPr/>
          <p:nvPr/>
        </p:nvSpPr>
        <p:spPr>
          <a:xfrm>
            <a:off x="3252229" y="291625"/>
            <a:ext cx="2153920" cy="70739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3865B6"/>
                </a:solidFill>
              </a:rPr>
              <a:t>Abre uma nova Janela</a:t>
            </a:r>
          </a:p>
        </p:txBody>
      </p:sp>
      <p:cxnSp>
        <p:nvCxnSpPr>
          <p:cNvPr id="12" name="Conector de Seta Reta 11">
            <a:extLst>
              <a:ext uri="{FF2B5EF4-FFF2-40B4-BE49-F238E27FC236}">
                <a16:creationId xmlns:a16="http://schemas.microsoft.com/office/drawing/2014/main" id="{A55CDBC6-806D-4241-ADCB-A14A9DE54F71}"/>
              </a:ext>
            </a:extLst>
          </p:cNvPr>
          <p:cNvCxnSpPr>
            <a:cxnSpLocks/>
            <a:stCxn id="11" idx="2"/>
            <a:endCxn id="13" idx="0"/>
          </p:cNvCxnSpPr>
          <p:nvPr/>
        </p:nvCxnSpPr>
        <p:spPr>
          <a:xfrm flipH="1">
            <a:off x="2987040" y="999015"/>
            <a:ext cx="1342149" cy="1031397"/>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3" name="Elipse 12">
            <a:extLst>
              <a:ext uri="{FF2B5EF4-FFF2-40B4-BE49-F238E27FC236}">
                <a16:creationId xmlns:a16="http://schemas.microsoft.com/office/drawing/2014/main" id="{EE0C6791-168E-4F2C-AD3C-C0B32346A5B4}"/>
              </a:ext>
            </a:extLst>
          </p:cNvPr>
          <p:cNvSpPr/>
          <p:nvPr/>
        </p:nvSpPr>
        <p:spPr>
          <a:xfrm>
            <a:off x="2296160" y="2030412"/>
            <a:ext cx="1381760" cy="49784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a:extLst>
              <a:ext uri="{FF2B5EF4-FFF2-40B4-BE49-F238E27FC236}">
                <a16:creationId xmlns:a16="http://schemas.microsoft.com/office/drawing/2014/main" id="{016F4C6E-41B5-4D0D-8BB1-FC85D54A63B8}"/>
              </a:ext>
            </a:extLst>
          </p:cNvPr>
          <p:cNvSpPr/>
          <p:nvPr/>
        </p:nvSpPr>
        <p:spPr>
          <a:xfrm>
            <a:off x="5540310" y="2631996"/>
            <a:ext cx="1584643" cy="58896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3865B6"/>
                </a:solidFill>
              </a:rPr>
              <a:t>Cria Alerta</a:t>
            </a:r>
          </a:p>
        </p:txBody>
      </p:sp>
      <p:sp>
        <p:nvSpPr>
          <p:cNvPr id="19" name="Elipse 18">
            <a:extLst>
              <a:ext uri="{FF2B5EF4-FFF2-40B4-BE49-F238E27FC236}">
                <a16:creationId xmlns:a16="http://schemas.microsoft.com/office/drawing/2014/main" id="{79913F90-67BD-439D-AF17-F86B1DE1A7CF}"/>
              </a:ext>
            </a:extLst>
          </p:cNvPr>
          <p:cNvSpPr/>
          <p:nvPr/>
        </p:nvSpPr>
        <p:spPr>
          <a:xfrm>
            <a:off x="9813224" y="599440"/>
            <a:ext cx="1767840" cy="567291"/>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Elipse 19">
            <a:extLst>
              <a:ext uri="{FF2B5EF4-FFF2-40B4-BE49-F238E27FC236}">
                <a16:creationId xmlns:a16="http://schemas.microsoft.com/office/drawing/2014/main" id="{053FECBE-9DA1-4D26-82F1-D373168F3E55}"/>
              </a:ext>
            </a:extLst>
          </p:cNvPr>
          <p:cNvSpPr/>
          <p:nvPr/>
        </p:nvSpPr>
        <p:spPr>
          <a:xfrm>
            <a:off x="6549499" y="645320"/>
            <a:ext cx="1381760" cy="49784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2" name="Conector de Seta Reta 21">
            <a:extLst>
              <a:ext uri="{FF2B5EF4-FFF2-40B4-BE49-F238E27FC236}">
                <a16:creationId xmlns:a16="http://schemas.microsoft.com/office/drawing/2014/main" id="{4CCF861D-B8F4-4E07-8DA6-F36B7BC75FD7}"/>
              </a:ext>
            </a:extLst>
          </p:cNvPr>
          <p:cNvCxnSpPr>
            <a:cxnSpLocks/>
            <a:stCxn id="18" idx="0"/>
            <a:endCxn id="20" idx="4"/>
          </p:cNvCxnSpPr>
          <p:nvPr/>
        </p:nvCxnSpPr>
        <p:spPr>
          <a:xfrm flipV="1">
            <a:off x="6332632" y="1143160"/>
            <a:ext cx="907747" cy="1488836"/>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25" name="Conector de Seta Reta 24">
            <a:extLst>
              <a:ext uri="{FF2B5EF4-FFF2-40B4-BE49-F238E27FC236}">
                <a16:creationId xmlns:a16="http://schemas.microsoft.com/office/drawing/2014/main" id="{E4AD174E-C07A-41AD-A1A5-62CBB40C7262}"/>
              </a:ext>
            </a:extLst>
          </p:cNvPr>
          <p:cNvCxnSpPr>
            <a:cxnSpLocks/>
            <a:stCxn id="18" idx="0"/>
            <a:endCxn id="19" idx="3"/>
          </p:cNvCxnSpPr>
          <p:nvPr/>
        </p:nvCxnSpPr>
        <p:spPr>
          <a:xfrm flipV="1">
            <a:off x="6332632" y="1083653"/>
            <a:ext cx="3739486" cy="1548343"/>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28" name="Conector de Seta Reta 27">
            <a:extLst>
              <a:ext uri="{FF2B5EF4-FFF2-40B4-BE49-F238E27FC236}">
                <a16:creationId xmlns:a16="http://schemas.microsoft.com/office/drawing/2014/main" id="{DF18985E-B4AE-40D7-9894-83CF2F624D92}"/>
              </a:ext>
            </a:extLst>
          </p:cNvPr>
          <p:cNvCxnSpPr>
            <a:cxnSpLocks/>
            <a:stCxn id="18" idx="2"/>
            <a:endCxn id="33" idx="0"/>
          </p:cNvCxnSpPr>
          <p:nvPr/>
        </p:nvCxnSpPr>
        <p:spPr>
          <a:xfrm flipH="1">
            <a:off x="5172301" y="3220959"/>
            <a:ext cx="1160331" cy="1696321"/>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33" name="Elipse 32">
            <a:extLst>
              <a:ext uri="{FF2B5EF4-FFF2-40B4-BE49-F238E27FC236}">
                <a16:creationId xmlns:a16="http://schemas.microsoft.com/office/drawing/2014/main" id="{E7C65DB2-97D9-4469-8AE2-5B8E6077CA7B}"/>
              </a:ext>
            </a:extLst>
          </p:cNvPr>
          <p:cNvSpPr/>
          <p:nvPr/>
        </p:nvSpPr>
        <p:spPr>
          <a:xfrm>
            <a:off x="4329882" y="4917280"/>
            <a:ext cx="1684837" cy="797559"/>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022599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01299F-A2EE-0EAD-F7BC-8FB7D98D952C}"/>
              </a:ext>
            </a:extLst>
          </p:cNvPr>
          <p:cNvSpPr>
            <a:spLocks noGrp="1"/>
          </p:cNvSpPr>
          <p:nvPr>
            <p:ph type="title"/>
          </p:nvPr>
        </p:nvSpPr>
        <p:spPr/>
        <p:txBody>
          <a:bodyPr/>
          <a:lstStyle/>
          <a:p>
            <a:r>
              <a:rPr lang="pt-BR" dirty="0"/>
              <a:t>Exemplo Pratico</a:t>
            </a:r>
          </a:p>
        </p:txBody>
      </p:sp>
      <p:sp>
        <p:nvSpPr>
          <p:cNvPr id="4" name="Retângulo 3">
            <a:extLst>
              <a:ext uri="{FF2B5EF4-FFF2-40B4-BE49-F238E27FC236}">
                <a16:creationId xmlns:a16="http://schemas.microsoft.com/office/drawing/2014/main" id="{27245EA2-4079-FA43-6F98-D198FB90E834}"/>
              </a:ext>
            </a:extLst>
          </p:cNvPr>
          <p:cNvSpPr/>
          <p:nvPr/>
        </p:nvSpPr>
        <p:spPr>
          <a:xfrm>
            <a:off x="4471283" y="1953660"/>
            <a:ext cx="2968487"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Management </a:t>
            </a:r>
            <a:r>
              <a:rPr lang="pt-BR" dirty="0" err="1"/>
              <a:t>Group</a:t>
            </a:r>
            <a:endParaRPr lang="pt-BR" dirty="0"/>
          </a:p>
        </p:txBody>
      </p:sp>
      <p:sp>
        <p:nvSpPr>
          <p:cNvPr id="6" name="Espaço Reservado para Conteúdo 5">
            <a:extLst>
              <a:ext uri="{FF2B5EF4-FFF2-40B4-BE49-F238E27FC236}">
                <a16:creationId xmlns:a16="http://schemas.microsoft.com/office/drawing/2014/main" id="{AEC187AE-C00A-41C4-0EB6-14C8743AA68C}"/>
              </a:ext>
            </a:extLst>
          </p:cNvPr>
          <p:cNvSpPr>
            <a:spLocks noGrp="1"/>
          </p:cNvSpPr>
          <p:nvPr>
            <p:ph idx="1"/>
          </p:nvPr>
        </p:nvSpPr>
        <p:spPr>
          <a:xfrm>
            <a:off x="7712765" y="365125"/>
            <a:ext cx="4028661" cy="1588535"/>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marL="0" indent="0">
              <a:buNone/>
            </a:pPr>
            <a:r>
              <a:rPr lang="pt-BR" dirty="0">
                <a:solidFill>
                  <a:schemeClr val="tx1"/>
                </a:solidFill>
              </a:rPr>
              <a:t>Conta Principal, Matriz da Empresa</a:t>
            </a:r>
          </a:p>
        </p:txBody>
      </p:sp>
      <p:cxnSp>
        <p:nvCxnSpPr>
          <p:cNvPr id="7" name="Conector de Seta Reta 6">
            <a:extLst>
              <a:ext uri="{FF2B5EF4-FFF2-40B4-BE49-F238E27FC236}">
                <a16:creationId xmlns:a16="http://schemas.microsoft.com/office/drawing/2014/main" id="{CAC2FFEC-2E26-74D7-EF51-CD34AFAB993E}"/>
              </a:ext>
            </a:extLst>
          </p:cNvPr>
          <p:cNvCxnSpPr>
            <a:cxnSpLocks/>
            <a:stCxn id="6" idx="2"/>
            <a:endCxn id="4" idx="0"/>
          </p:cNvCxnSpPr>
          <p:nvPr/>
        </p:nvCxnSpPr>
        <p:spPr>
          <a:xfrm flipH="1">
            <a:off x="5955527" y="1159393"/>
            <a:ext cx="1757238" cy="794267"/>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10" name="Conector de Seta Reta 9">
            <a:extLst>
              <a:ext uri="{FF2B5EF4-FFF2-40B4-BE49-F238E27FC236}">
                <a16:creationId xmlns:a16="http://schemas.microsoft.com/office/drawing/2014/main" id="{F08F8E4A-E1A2-8BBD-98C6-3D8A9BEECBBD}"/>
              </a:ext>
            </a:extLst>
          </p:cNvPr>
          <p:cNvCxnSpPr>
            <a:cxnSpLocks/>
            <a:stCxn id="4" idx="3"/>
            <a:endCxn id="13" idx="0"/>
          </p:cNvCxnSpPr>
          <p:nvPr/>
        </p:nvCxnSpPr>
        <p:spPr>
          <a:xfrm>
            <a:off x="7439770" y="2410860"/>
            <a:ext cx="397566" cy="1121881"/>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11" name="Conector de Seta Reta 10">
            <a:extLst>
              <a:ext uri="{FF2B5EF4-FFF2-40B4-BE49-F238E27FC236}">
                <a16:creationId xmlns:a16="http://schemas.microsoft.com/office/drawing/2014/main" id="{C21C2C22-B833-74F1-5F51-3679183F27D0}"/>
              </a:ext>
            </a:extLst>
          </p:cNvPr>
          <p:cNvCxnSpPr>
            <a:cxnSpLocks/>
            <a:stCxn id="4" idx="1"/>
            <a:endCxn id="12" idx="0"/>
          </p:cNvCxnSpPr>
          <p:nvPr/>
        </p:nvCxnSpPr>
        <p:spPr>
          <a:xfrm flipH="1">
            <a:off x="3927944" y="2410860"/>
            <a:ext cx="543339" cy="1121881"/>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2" name="Retângulo 11">
            <a:extLst>
              <a:ext uri="{FF2B5EF4-FFF2-40B4-BE49-F238E27FC236}">
                <a16:creationId xmlns:a16="http://schemas.microsoft.com/office/drawing/2014/main" id="{B6266F17-524A-11DE-CF5B-9D9BBDC4EE08}"/>
              </a:ext>
            </a:extLst>
          </p:cNvPr>
          <p:cNvSpPr/>
          <p:nvPr/>
        </p:nvSpPr>
        <p:spPr>
          <a:xfrm>
            <a:off x="2443700" y="3532741"/>
            <a:ext cx="2968487"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err="1"/>
              <a:t>Subscripition</a:t>
            </a:r>
            <a:endParaRPr lang="pt-BR" dirty="0"/>
          </a:p>
        </p:txBody>
      </p:sp>
      <p:sp>
        <p:nvSpPr>
          <p:cNvPr id="13" name="Retângulo 12">
            <a:extLst>
              <a:ext uri="{FF2B5EF4-FFF2-40B4-BE49-F238E27FC236}">
                <a16:creationId xmlns:a16="http://schemas.microsoft.com/office/drawing/2014/main" id="{3BA4F77D-2AF1-E13F-7225-4EEB7E2BC95B}"/>
              </a:ext>
            </a:extLst>
          </p:cNvPr>
          <p:cNvSpPr/>
          <p:nvPr/>
        </p:nvSpPr>
        <p:spPr>
          <a:xfrm>
            <a:off x="6353092" y="3532741"/>
            <a:ext cx="2968487"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err="1"/>
              <a:t>Subscription</a:t>
            </a:r>
            <a:endParaRPr lang="pt-BR" dirty="0"/>
          </a:p>
        </p:txBody>
      </p:sp>
      <p:sp>
        <p:nvSpPr>
          <p:cNvPr id="20" name="Espaço Reservado para Conteúdo 5">
            <a:extLst>
              <a:ext uri="{FF2B5EF4-FFF2-40B4-BE49-F238E27FC236}">
                <a16:creationId xmlns:a16="http://schemas.microsoft.com/office/drawing/2014/main" id="{93146008-E1DB-D9A9-8893-98D03980DE16}"/>
              </a:ext>
            </a:extLst>
          </p:cNvPr>
          <p:cNvSpPr txBox="1">
            <a:spLocks/>
          </p:cNvSpPr>
          <p:nvPr/>
        </p:nvSpPr>
        <p:spPr>
          <a:xfrm>
            <a:off x="315401" y="1762425"/>
            <a:ext cx="2968487" cy="1505796"/>
          </a:xfrm>
          <a:prstGeom prst="ellipse">
            <a:avLst/>
          </a:prstGeom>
          <a:noFill/>
          <a:ln w="38100" cap="flat" cmpd="sng" algn="ctr">
            <a:gradFill flip="none" rotWithShape="1">
              <a:gsLst>
                <a:gs pos="0">
                  <a:srgbClr val="0079D6"/>
                </a:gs>
                <a:gs pos="82000">
                  <a:srgbClr val="FF0000"/>
                </a:gs>
                <a:gs pos="100000">
                  <a:schemeClr val="accent5">
                    <a:lumMod val="100000"/>
                  </a:schemeClr>
                </a:gs>
              </a:gsLst>
              <a:path path="circle">
                <a:fillToRect l="50000" t="-80000" r="50000" b="180000"/>
              </a:path>
              <a:tileRect/>
            </a:gra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pt-BR" dirty="0">
                <a:solidFill>
                  <a:schemeClr val="tx1"/>
                </a:solidFill>
              </a:rPr>
              <a:t>Sub Contas, Filiais</a:t>
            </a:r>
          </a:p>
        </p:txBody>
      </p:sp>
      <p:cxnSp>
        <p:nvCxnSpPr>
          <p:cNvPr id="26" name="Conector de Seta Reta 25">
            <a:extLst>
              <a:ext uri="{FF2B5EF4-FFF2-40B4-BE49-F238E27FC236}">
                <a16:creationId xmlns:a16="http://schemas.microsoft.com/office/drawing/2014/main" id="{D099A27C-F346-91C8-7E1C-0ADDC0AFA846}"/>
              </a:ext>
            </a:extLst>
          </p:cNvPr>
          <p:cNvCxnSpPr>
            <a:cxnSpLocks/>
            <a:stCxn id="20" idx="6"/>
            <a:endCxn id="12" idx="0"/>
          </p:cNvCxnSpPr>
          <p:nvPr/>
        </p:nvCxnSpPr>
        <p:spPr>
          <a:xfrm>
            <a:off x="3283888" y="2515323"/>
            <a:ext cx="644056" cy="1017418"/>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29" name="Conector de Seta Reta 28">
            <a:extLst>
              <a:ext uri="{FF2B5EF4-FFF2-40B4-BE49-F238E27FC236}">
                <a16:creationId xmlns:a16="http://schemas.microsoft.com/office/drawing/2014/main" id="{48A7BF31-F6B2-9EE7-31A8-F0D95150A3F8}"/>
              </a:ext>
            </a:extLst>
          </p:cNvPr>
          <p:cNvCxnSpPr>
            <a:cxnSpLocks/>
            <a:stCxn id="20" idx="6"/>
            <a:endCxn id="13" idx="1"/>
          </p:cNvCxnSpPr>
          <p:nvPr/>
        </p:nvCxnSpPr>
        <p:spPr>
          <a:xfrm>
            <a:off x="3283888" y="2515323"/>
            <a:ext cx="3069204" cy="1474618"/>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32" name="Retângulo 31">
            <a:extLst>
              <a:ext uri="{FF2B5EF4-FFF2-40B4-BE49-F238E27FC236}">
                <a16:creationId xmlns:a16="http://schemas.microsoft.com/office/drawing/2014/main" id="{CB663351-1892-1B33-43BB-425B75EBD422}"/>
              </a:ext>
            </a:extLst>
          </p:cNvPr>
          <p:cNvSpPr/>
          <p:nvPr/>
        </p:nvSpPr>
        <p:spPr>
          <a:xfrm>
            <a:off x="1606822" y="4711661"/>
            <a:ext cx="2445688"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err="1"/>
              <a:t>Resource</a:t>
            </a:r>
            <a:r>
              <a:rPr lang="pt-BR" dirty="0"/>
              <a:t> </a:t>
            </a:r>
            <a:r>
              <a:rPr lang="pt-BR" dirty="0" err="1"/>
              <a:t>Group</a:t>
            </a:r>
            <a:endParaRPr lang="pt-BR" dirty="0"/>
          </a:p>
        </p:txBody>
      </p:sp>
      <p:sp>
        <p:nvSpPr>
          <p:cNvPr id="33" name="Retângulo 32">
            <a:extLst>
              <a:ext uri="{FF2B5EF4-FFF2-40B4-BE49-F238E27FC236}">
                <a16:creationId xmlns:a16="http://schemas.microsoft.com/office/drawing/2014/main" id="{4091CB9D-125C-1238-4121-EF4305E9D04C}"/>
              </a:ext>
            </a:extLst>
          </p:cNvPr>
          <p:cNvSpPr/>
          <p:nvPr/>
        </p:nvSpPr>
        <p:spPr>
          <a:xfrm>
            <a:off x="4471282" y="4695414"/>
            <a:ext cx="2445689"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err="1"/>
              <a:t>Resource</a:t>
            </a:r>
            <a:r>
              <a:rPr lang="pt-BR" dirty="0"/>
              <a:t> </a:t>
            </a:r>
            <a:r>
              <a:rPr lang="pt-BR" dirty="0" err="1"/>
              <a:t>Group</a:t>
            </a:r>
            <a:endParaRPr lang="pt-BR" dirty="0"/>
          </a:p>
        </p:txBody>
      </p:sp>
      <p:sp>
        <p:nvSpPr>
          <p:cNvPr id="34" name="Retângulo 33">
            <a:extLst>
              <a:ext uri="{FF2B5EF4-FFF2-40B4-BE49-F238E27FC236}">
                <a16:creationId xmlns:a16="http://schemas.microsoft.com/office/drawing/2014/main" id="{A8156745-1E89-DAD7-D1EE-EBE86AA6707B}"/>
              </a:ext>
            </a:extLst>
          </p:cNvPr>
          <p:cNvSpPr/>
          <p:nvPr/>
        </p:nvSpPr>
        <p:spPr>
          <a:xfrm>
            <a:off x="9515061" y="4695414"/>
            <a:ext cx="230455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err="1"/>
              <a:t>Resource</a:t>
            </a:r>
            <a:r>
              <a:rPr lang="pt-BR" dirty="0"/>
              <a:t> </a:t>
            </a:r>
            <a:r>
              <a:rPr lang="pt-BR" dirty="0" err="1"/>
              <a:t>Group</a:t>
            </a:r>
            <a:endParaRPr lang="pt-BR" dirty="0"/>
          </a:p>
        </p:txBody>
      </p:sp>
      <p:cxnSp>
        <p:nvCxnSpPr>
          <p:cNvPr id="35" name="Conector de Seta Reta 34">
            <a:extLst>
              <a:ext uri="{FF2B5EF4-FFF2-40B4-BE49-F238E27FC236}">
                <a16:creationId xmlns:a16="http://schemas.microsoft.com/office/drawing/2014/main" id="{17FAA8CC-97A7-35CF-D57A-6155AB544B87}"/>
              </a:ext>
            </a:extLst>
          </p:cNvPr>
          <p:cNvCxnSpPr>
            <a:cxnSpLocks/>
            <a:stCxn id="12" idx="2"/>
            <a:endCxn id="32" idx="0"/>
          </p:cNvCxnSpPr>
          <p:nvPr/>
        </p:nvCxnSpPr>
        <p:spPr>
          <a:xfrm flipH="1">
            <a:off x="2829666" y="4447141"/>
            <a:ext cx="1098278" cy="264520"/>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38" name="Conector de Seta Reta 37">
            <a:extLst>
              <a:ext uri="{FF2B5EF4-FFF2-40B4-BE49-F238E27FC236}">
                <a16:creationId xmlns:a16="http://schemas.microsoft.com/office/drawing/2014/main" id="{55F26DC2-C7D8-4EEF-9B84-9FDCD24CF4BD}"/>
              </a:ext>
            </a:extLst>
          </p:cNvPr>
          <p:cNvCxnSpPr>
            <a:cxnSpLocks/>
            <a:stCxn id="12" idx="3"/>
            <a:endCxn id="33" idx="0"/>
          </p:cNvCxnSpPr>
          <p:nvPr/>
        </p:nvCxnSpPr>
        <p:spPr>
          <a:xfrm>
            <a:off x="5412187" y="3989941"/>
            <a:ext cx="281940" cy="705473"/>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43" name="Conector de Seta Reta 42">
            <a:extLst>
              <a:ext uri="{FF2B5EF4-FFF2-40B4-BE49-F238E27FC236}">
                <a16:creationId xmlns:a16="http://schemas.microsoft.com/office/drawing/2014/main" id="{5A4F4BC4-1278-723C-4F8F-1BD9FEF850A5}"/>
              </a:ext>
            </a:extLst>
          </p:cNvPr>
          <p:cNvCxnSpPr>
            <a:cxnSpLocks/>
            <a:stCxn id="13" idx="3"/>
            <a:endCxn id="34" idx="0"/>
          </p:cNvCxnSpPr>
          <p:nvPr/>
        </p:nvCxnSpPr>
        <p:spPr>
          <a:xfrm>
            <a:off x="9321579" y="3989941"/>
            <a:ext cx="1345759" cy="705473"/>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48" name="Espaço Reservado para Conteúdo 5">
            <a:extLst>
              <a:ext uri="{FF2B5EF4-FFF2-40B4-BE49-F238E27FC236}">
                <a16:creationId xmlns:a16="http://schemas.microsoft.com/office/drawing/2014/main" id="{796B1DF3-B086-B6F5-E92C-650E6472D126}"/>
              </a:ext>
            </a:extLst>
          </p:cNvPr>
          <p:cNvSpPr txBox="1">
            <a:spLocks/>
          </p:cNvSpPr>
          <p:nvPr/>
        </p:nvSpPr>
        <p:spPr>
          <a:xfrm>
            <a:off x="7996361" y="2201933"/>
            <a:ext cx="4028661" cy="1266167"/>
          </a:xfrm>
          <a:prstGeom prst="ellipse">
            <a:avLst/>
          </a:prstGeom>
          <a:noFill/>
          <a:ln w="38100" cap="flat" cmpd="sng" algn="ctr">
            <a:gradFill flip="none" rotWithShape="1">
              <a:gsLst>
                <a:gs pos="0">
                  <a:srgbClr val="0079D6"/>
                </a:gs>
                <a:gs pos="82000">
                  <a:srgbClr val="FF0000"/>
                </a:gs>
                <a:gs pos="100000">
                  <a:schemeClr val="accent5">
                    <a:lumMod val="100000"/>
                  </a:schemeClr>
                </a:gs>
              </a:gsLst>
              <a:path path="circle">
                <a:fillToRect l="50000" t="-80000" r="50000" b="180000"/>
              </a:path>
              <a:tileRect/>
            </a:gra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pt-BR" dirty="0">
                <a:solidFill>
                  <a:schemeClr val="tx1"/>
                </a:solidFill>
              </a:rPr>
              <a:t>Recursos Agrupados, Departamentos, áreas.</a:t>
            </a:r>
          </a:p>
        </p:txBody>
      </p:sp>
      <p:cxnSp>
        <p:nvCxnSpPr>
          <p:cNvPr id="49" name="Conector de Seta Reta 48">
            <a:extLst>
              <a:ext uri="{FF2B5EF4-FFF2-40B4-BE49-F238E27FC236}">
                <a16:creationId xmlns:a16="http://schemas.microsoft.com/office/drawing/2014/main" id="{16B56BEE-0086-43C2-BC7F-96B623673C4F}"/>
              </a:ext>
            </a:extLst>
          </p:cNvPr>
          <p:cNvCxnSpPr>
            <a:cxnSpLocks/>
            <a:stCxn id="48" idx="6"/>
            <a:endCxn id="34" idx="3"/>
          </p:cNvCxnSpPr>
          <p:nvPr/>
        </p:nvCxnSpPr>
        <p:spPr>
          <a:xfrm flipH="1">
            <a:off x="11819614" y="2835017"/>
            <a:ext cx="205408" cy="2317597"/>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61" name="Retângulo 60">
            <a:extLst>
              <a:ext uri="{FF2B5EF4-FFF2-40B4-BE49-F238E27FC236}">
                <a16:creationId xmlns:a16="http://schemas.microsoft.com/office/drawing/2014/main" id="{97E54A53-6064-1CFD-5C63-A62F3DC3C8E7}"/>
              </a:ext>
            </a:extLst>
          </p:cNvPr>
          <p:cNvSpPr/>
          <p:nvPr/>
        </p:nvSpPr>
        <p:spPr>
          <a:xfrm>
            <a:off x="1440893" y="6019684"/>
            <a:ext cx="1217214" cy="5125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Rede</a:t>
            </a:r>
          </a:p>
        </p:txBody>
      </p:sp>
      <p:sp>
        <p:nvSpPr>
          <p:cNvPr id="62" name="Retângulo 61">
            <a:extLst>
              <a:ext uri="{FF2B5EF4-FFF2-40B4-BE49-F238E27FC236}">
                <a16:creationId xmlns:a16="http://schemas.microsoft.com/office/drawing/2014/main" id="{F7170B6D-B2B3-ECAF-ED82-A91EA0C68E0A}"/>
              </a:ext>
            </a:extLst>
          </p:cNvPr>
          <p:cNvSpPr/>
          <p:nvPr/>
        </p:nvSpPr>
        <p:spPr>
          <a:xfrm>
            <a:off x="2802500" y="6019684"/>
            <a:ext cx="1217214" cy="5125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VM</a:t>
            </a:r>
          </a:p>
        </p:txBody>
      </p:sp>
      <p:sp>
        <p:nvSpPr>
          <p:cNvPr id="63" name="Retângulo 62">
            <a:extLst>
              <a:ext uri="{FF2B5EF4-FFF2-40B4-BE49-F238E27FC236}">
                <a16:creationId xmlns:a16="http://schemas.microsoft.com/office/drawing/2014/main" id="{AC193F9F-043B-35DA-8FC2-F18A17ED3D55}"/>
              </a:ext>
            </a:extLst>
          </p:cNvPr>
          <p:cNvSpPr/>
          <p:nvPr/>
        </p:nvSpPr>
        <p:spPr>
          <a:xfrm>
            <a:off x="4289727" y="6019684"/>
            <a:ext cx="1217214" cy="5125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Serviços Gerais</a:t>
            </a:r>
          </a:p>
        </p:txBody>
      </p:sp>
      <p:sp>
        <p:nvSpPr>
          <p:cNvPr id="64" name="Retângulo 63">
            <a:extLst>
              <a:ext uri="{FF2B5EF4-FFF2-40B4-BE49-F238E27FC236}">
                <a16:creationId xmlns:a16="http://schemas.microsoft.com/office/drawing/2014/main" id="{DD844D00-1C68-8576-0BF9-2820FF4A9517}"/>
              </a:ext>
            </a:extLst>
          </p:cNvPr>
          <p:cNvSpPr/>
          <p:nvPr/>
        </p:nvSpPr>
        <p:spPr>
          <a:xfrm>
            <a:off x="9828475" y="6011262"/>
            <a:ext cx="2177335" cy="5125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Recursos Gerais</a:t>
            </a:r>
          </a:p>
        </p:txBody>
      </p:sp>
      <p:sp>
        <p:nvSpPr>
          <p:cNvPr id="65" name="Retângulo 64">
            <a:extLst>
              <a:ext uri="{FF2B5EF4-FFF2-40B4-BE49-F238E27FC236}">
                <a16:creationId xmlns:a16="http://schemas.microsoft.com/office/drawing/2014/main" id="{A9489768-87D0-61B7-DF10-02A1B5809E2A}"/>
              </a:ext>
            </a:extLst>
          </p:cNvPr>
          <p:cNvSpPr/>
          <p:nvPr/>
        </p:nvSpPr>
        <p:spPr>
          <a:xfrm>
            <a:off x="5686503" y="6011624"/>
            <a:ext cx="1147643" cy="5125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Recursos Gerais</a:t>
            </a:r>
          </a:p>
        </p:txBody>
      </p:sp>
      <p:sp>
        <p:nvSpPr>
          <p:cNvPr id="66" name="Retângulo 65">
            <a:extLst>
              <a:ext uri="{FF2B5EF4-FFF2-40B4-BE49-F238E27FC236}">
                <a16:creationId xmlns:a16="http://schemas.microsoft.com/office/drawing/2014/main" id="{A0B0CDC2-CCD8-290A-984D-33A5A5B8CA89}"/>
              </a:ext>
            </a:extLst>
          </p:cNvPr>
          <p:cNvSpPr/>
          <p:nvPr/>
        </p:nvSpPr>
        <p:spPr>
          <a:xfrm>
            <a:off x="7013708" y="6011263"/>
            <a:ext cx="1217214" cy="5125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VM</a:t>
            </a:r>
          </a:p>
        </p:txBody>
      </p:sp>
      <p:sp>
        <p:nvSpPr>
          <p:cNvPr id="67" name="Retângulo 66">
            <a:extLst>
              <a:ext uri="{FF2B5EF4-FFF2-40B4-BE49-F238E27FC236}">
                <a16:creationId xmlns:a16="http://schemas.microsoft.com/office/drawing/2014/main" id="{000EC688-6069-0A01-821B-DBEAAEDE71FC}"/>
              </a:ext>
            </a:extLst>
          </p:cNvPr>
          <p:cNvSpPr/>
          <p:nvPr/>
        </p:nvSpPr>
        <p:spPr>
          <a:xfrm>
            <a:off x="8509881" y="6032213"/>
            <a:ext cx="1217214" cy="5125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VM</a:t>
            </a:r>
          </a:p>
        </p:txBody>
      </p:sp>
      <p:cxnSp>
        <p:nvCxnSpPr>
          <p:cNvPr id="68" name="Conector de Seta Reta 67">
            <a:extLst>
              <a:ext uri="{FF2B5EF4-FFF2-40B4-BE49-F238E27FC236}">
                <a16:creationId xmlns:a16="http://schemas.microsoft.com/office/drawing/2014/main" id="{74E6626C-52E1-CCF7-CBCA-14FC01CFF8A6}"/>
              </a:ext>
            </a:extLst>
          </p:cNvPr>
          <p:cNvCxnSpPr>
            <a:cxnSpLocks/>
            <a:stCxn id="32" idx="2"/>
            <a:endCxn id="61" idx="0"/>
          </p:cNvCxnSpPr>
          <p:nvPr/>
        </p:nvCxnSpPr>
        <p:spPr>
          <a:xfrm flipH="1">
            <a:off x="2049500" y="5626061"/>
            <a:ext cx="780166" cy="393623"/>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71" name="Conector de Seta Reta 70">
            <a:extLst>
              <a:ext uri="{FF2B5EF4-FFF2-40B4-BE49-F238E27FC236}">
                <a16:creationId xmlns:a16="http://schemas.microsoft.com/office/drawing/2014/main" id="{77083577-D1E6-9285-8EB7-03C26B20E8F6}"/>
              </a:ext>
            </a:extLst>
          </p:cNvPr>
          <p:cNvCxnSpPr>
            <a:cxnSpLocks/>
            <a:stCxn id="32" idx="2"/>
            <a:endCxn id="62" idx="0"/>
          </p:cNvCxnSpPr>
          <p:nvPr/>
        </p:nvCxnSpPr>
        <p:spPr>
          <a:xfrm>
            <a:off x="2829666" y="5626061"/>
            <a:ext cx="581441" cy="393623"/>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74" name="Conector de Seta Reta 73">
            <a:extLst>
              <a:ext uri="{FF2B5EF4-FFF2-40B4-BE49-F238E27FC236}">
                <a16:creationId xmlns:a16="http://schemas.microsoft.com/office/drawing/2014/main" id="{7A3D69DF-1DF1-F3DB-8208-9BA76F3FCDC6}"/>
              </a:ext>
            </a:extLst>
          </p:cNvPr>
          <p:cNvCxnSpPr>
            <a:cxnSpLocks/>
            <a:stCxn id="33" idx="2"/>
            <a:endCxn id="63" idx="0"/>
          </p:cNvCxnSpPr>
          <p:nvPr/>
        </p:nvCxnSpPr>
        <p:spPr>
          <a:xfrm flipH="1">
            <a:off x="4898334" y="5609814"/>
            <a:ext cx="795793" cy="409870"/>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77" name="Conector de Seta Reta 76">
            <a:extLst>
              <a:ext uri="{FF2B5EF4-FFF2-40B4-BE49-F238E27FC236}">
                <a16:creationId xmlns:a16="http://schemas.microsoft.com/office/drawing/2014/main" id="{FD605ABC-9B43-43EC-706F-1D23A78C8BD1}"/>
              </a:ext>
            </a:extLst>
          </p:cNvPr>
          <p:cNvCxnSpPr>
            <a:cxnSpLocks/>
            <a:stCxn id="33" idx="2"/>
            <a:endCxn id="66" idx="0"/>
          </p:cNvCxnSpPr>
          <p:nvPr/>
        </p:nvCxnSpPr>
        <p:spPr>
          <a:xfrm>
            <a:off x="5694127" y="5609814"/>
            <a:ext cx="1928188" cy="401449"/>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80" name="Conector de Seta Reta 79">
            <a:extLst>
              <a:ext uri="{FF2B5EF4-FFF2-40B4-BE49-F238E27FC236}">
                <a16:creationId xmlns:a16="http://schemas.microsoft.com/office/drawing/2014/main" id="{0B5C38A0-A32B-26A4-8A5D-579C078CF99A}"/>
              </a:ext>
            </a:extLst>
          </p:cNvPr>
          <p:cNvCxnSpPr>
            <a:cxnSpLocks/>
            <a:stCxn id="33" idx="2"/>
            <a:endCxn id="65" idx="0"/>
          </p:cNvCxnSpPr>
          <p:nvPr/>
        </p:nvCxnSpPr>
        <p:spPr>
          <a:xfrm>
            <a:off x="5694127" y="5609814"/>
            <a:ext cx="566198" cy="401810"/>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83" name="Conector de Seta Reta 82">
            <a:extLst>
              <a:ext uri="{FF2B5EF4-FFF2-40B4-BE49-F238E27FC236}">
                <a16:creationId xmlns:a16="http://schemas.microsoft.com/office/drawing/2014/main" id="{FB86AFB8-69B5-02B5-4368-7FEC4A29CC1D}"/>
              </a:ext>
            </a:extLst>
          </p:cNvPr>
          <p:cNvCxnSpPr>
            <a:cxnSpLocks/>
            <a:stCxn id="34" idx="2"/>
            <a:endCxn id="67" idx="0"/>
          </p:cNvCxnSpPr>
          <p:nvPr/>
        </p:nvCxnSpPr>
        <p:spPr>
          <a:xfrm flipH="1">
            <a:off x="9118488" y="5609814"/>
            <a:ext cx="1548850" cy="422399"/>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86" name="Conector de Seta Reta 85">
            <a:extLst>
              <a:ext uri="{FF2B5EF4-FFF2-40B4-BE49-F238E27FC236}">
                <a16:creationId xmlns:a16="http://schemas.microsoft.com/office/drawing/2014/main" id="{6855467E-3FF0-C954-C1A6-E466BEC400E6}"/>
              </a:ext>
            </a:extLst>
          </p:cNvPr>
          <p:cNvCxnSpPr>
            <a:cxnSpLocks/>
            <a:stCxn id="34" idx="2"/>
            <a:endCxn id="64" idx="0"/>
          </p:cNvCxnSpPr>
          <p:nvPr/>
        </p:nvCxnSpPr>
        <p:spPr>
          <a:xfrm>
            <a:off x="10667338" y="5609814"/>
            <a:ext cx="249805" cy="401448"/>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89" name="Espaço Reservado para Conteúdo 5">
            <a:extLst>
              <a:ext uri="{FF2B5EF4-FFF2-40B4-BE49-F238E27FC236}">
                <a16:creationId xmlns:a16="http://schemas.microsoft.com/office/drawing/2014/main" id="{D18471DC-55C9-D34D-5273-26C610DB7DCF}"/>
              </a:ext>
            </a:extLst>
          </p:cNvPr>
          <p:cNvSpPr txBox="1">
            <a:spLocks/>
          </p:cNvSpPr>
          <p:nvPr/>
        </p:nvSpPr>
        <p:spPr>
          <a:xfrm>
            <a:off x="186191" y="5782201"/>
            <a:ext cx="12005810" cy="949494"/>
          </a:xfrm>
          <a:prstGeom prst="ellipse">
            <a:avLst/>
          </a:prstGeom>
          <a:noFill/>
          <a:ln w="38100" cap="flat" cmpd="sng" algn="ctr">
            <a:gradFill flip="none" rotWithShape="1">
              <a:gsLst>
                <a:gs pos="0">
                  <a:srgbClr val="0079D6"/>
                </a:gs>
                <a:gs pos="82000">
                  <a:srgbClr val="FF0000"/>
                </a:gs>
                <a:gs pos="100000">
                  <a:schemeClr val="accent5">
                    <a:lumMod val="100000"/>
                  </a:schemeClr>
                </a:gs>
              </a:gsLst>
              <a:path path="circle">
                <a:fillToRect l="50000" t="-80000" r="50000" b="180000"/>
              </a:path>
              <a:tileRect/>
            </a:gra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endParaRPr lang="pt-BR" dirty="0">
              <a:solidFill>
                <a:schemeClr val="tx1"/>
              </a:solidFill>
            </a:endParaRPr>
          </a:p>
        </p:txBody>
      </p:sp>
      <p:sp>
        <p:nvSpPr>
          <p:cNvPr id="92" name="Espaço Reservado para Conteúdo 5">
            <a:extLst>
              <a:ext uri="{FF2B5EF4-FFF2-40B4-BE49-F238E27FC236}">
                <a16:creationId xmlns:a16="http://schemas.microsoft.com/office/drawing/2014/main" id="{3E644AE4-487A-CDA7-8259-C2ACE8909160}"/>
              </a:ext>
            </a:extLst>
          </p:cNvPr>
          <p:cNvSpPr txBox="1">
            <a:spLocks/>
          </p:cNvSpPr>
          <p:nvPr/>
        </p:nvSpPr>
        <p:spPr>
          <a:xfrm>
            <a:off x="122418" y="3470678"/>
            <a:ext cx="2128299" cy="1122242"/>
          </a:xfrm>
          <a:prstGeom prst="ellipse">
            <a:avLst/>
          </a:prstGeom>
          <a:noFill/>
          <a:ln w="38100" cap="flat" cmpd="sng" algn="ctr">
            <a:gradFill flip="none" rotWithShape="1">
              <a:gsLst>
                <a:gs pos="0">
                  <a:srgbClr val="0079D6"/>
                </a:gs>
                <a:gs pos="82000">
                  <a:srgbClr val="FF0000"/>
                </a:gs>
                <a:gs pos="100000">
                  <a:schemeClr val="accent5">
                    <a:lumMod val="100000"/>
                  </a:schemeClr>
                </a:gs>
              </a:gsLst>
              <a:path path="circle">
                <a:fillToRect l="50000" t="-80000" r="50000" b="180000"/>
              </a:path>
              <a:tileRect/>
            </a:gra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pt-BR" dirty="0">
                <a:solidFill>
                  <a:schemeClr val="tx1"/>
                </a:solidFill>
              </a:rPr>
              <a:t>Recursos</a:t>
            </a:r>
          </a:p>
        </p:txBody>
      </p:sp>
      <p:cxnSp>
        <p:nvCxnSpPr>
          <p:cNvPr id="104" name="Conector de Seta Reta 103">
            <a:extLst>
              <a:ext uri="{FF2B5EF4-FFF2-40B4-BE49-F238E27FC236}">
                <a16:creationId xmlns:a16="http://schemas.microsoft.com/office/drawing/2014/main" id="{249FABF8-0AE3-0589-25C8-C646983A8BCB}"/>
              </a:ext>
            </a:extLst>
          </p:cNvPr>
          <p:cNvCxnSpPr>
            <a:cxnSpLocks/>
            <a:stCxn id="92" idx="4"/>
            <a:endCxn id="89" idx="1"/>
          </p:cNvCxnSpPr>
          <p:nvPr/>
        </p:nvCxnSpPr>
        <p:spPr>
          <a:xfrm>
            <a:off x="1186568" y="4592920"/>
            <a:ext cx="757833" cy="1328331"/>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2092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83545E-7840-435A-ADDF-B0B0369C36E9}"/>
              </a:ext>
            </a:extLst>
          </p:cNvPr>
          <p:cNvSpPr>
            <a:spLocks noGrp="1"/>
          </p:cNvSpPr>
          <p:nvPr>
            <p:ph type="title"/>
          </p:nvPr>
        </p:nvSpPr>
        <p:spPr>
          <a:xfrm>
            <a:off x="2370667" y="2187743"/>
            <a:ext cx="7789333" cy="2482515"/>
          </a:xfrm>
        </p:spPr>
        <p:txBody>
          <a:bodyPr vert="horz" lIns="91440" tIns="45720" rIns="91440" bIns="45720" rtlCol="0" anchor="ctr">
            <a:normAutofit/>
          </a:bodyPr>
          <a:lstStyle/>
          <a:p>
            <a:r>
              <a:rPr lang="pt-BR" sz="6000" kern="1200" dirty="0">
                <a:solidFill>
                  <a:schemeClr val="tx1"/>
                </a:solidFill>
                <a:latin typeface="+mj-lt"/>
                <a:ea typeface="+mj-ea"/>
                <a:cs typeface="+mj-cs"/>
              </a:rPr>
              <a:t>Armazenamento </a:t>
            </a:r>
            <a:r>
              <a:rPr lang="pt-BR" sz="6000" dirty="0"/>
              <a:t>Azure</a:t>
            </a:r>
            <a:endParaRPr lang="en-US" sz="6000" kern="1200" dirty="0">
              <a:solidFill>
                <a:schemeClr val="tx1"/>
              </a:solidFill>
              <a:latin typeface="+mj-lt"/>
              <a:ea typeface="+mj-ea"/>
              <a:cs typeface="+mj-cs"/>
            </a:endParaRPr>
          </a:p>
        </p:txBody>
      </p:sp>
      <p:pic>
        <p:nvPicPr>
          <p:cNvPr id="6" name="Graphic 5">
            <a:extLst>
              <a:ext uri="{FF2B5EF4-FFF2-40B4-BE49-F238E27FC236}">
                <a16:creationId xmlns:a16="http://schemas.microsoft.com/office/drawing/2014/main" id="{052314E5-8253-48A5-859B-129F94E805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1" y="2743201"/>
            <a:ext cx="1371600" cy="1371600"/>
          </a:xfrm>
          <a:prstGeom prst="rect">
            <a:avLst/>
          </a:prstGeom>
        </p:spPr>
      </p:pic>
      <p:pic>
        <p:nvPicPr>
          <p:cNvPr id="8" name="Graphic 7">
            <a:extLst>
              <a:ext uri="{FF2B5EF4-FFF2-40B4-BE49-F238E27FC236}">
                <a16:creationId xmlns:a16="http://schemas.microsoft.com/office/drawing/2014/main" id="{FA4577BE-6A11-4DB2-AE1F-216AFFD312F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28738399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a:extLst>
              <a:ext uri="{FF2B5EF4-FFF2-40B4-BE49-F238E27FC236}">
                <a16:creationId xmlns:a16="http://schemas.microsoft.com/office/drawing/2014/main" id="{781D4835-6248-48E4-B34C-2A64EA50CF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254" y="1629089"/>
            <a:ext cx="3620021" cy="3620021"/>
          </a:xfrm>
          <a:prstGeom prst="rect">
            <a:avLst/>
          </a:prstGeom>
        </p:spPr>
      </p:pic>
      <p:sp>
        <p:nvSpPr>
          <p:cNvPr id="3" name="Espaço Reservado para Conteúdo 2">
            <a:extLst>
              <a:ext uri="{FF2B5EF4-FFF2-40B4-BE49-F238E27FC236}">
                <a16:creationId xmlns:a16="http://schemas.microsoft.com/office/drawing/2014/main" id="{F6D3033D-2FD4-4FEC-A29D-2B9606B8569C}"/>
              </a:ext>
            </a:extLst>
          </p:cNvPr>
          <p:cNvSpPr>
            <a:spLocks noGrp="1"/>
          </p:cNvSpPr>
          <p:nvPr>
            <p:ph idx="1"/>
          </p:nvPr>
        </p:nvSpPr>
        <p:spPr>
          <a:xfrm>
            <a:off x="5080000" y="172720"/>
            <a:ext cx="7112000" cy="6329680"/>
          </a:xfrm>
        </p:spPr>
        <p:txBody>
          <a:bodyPr anchor="ctr">
            <a:normAutofit/>
          </a:bodyPr>
          <a:lstStyle/>
          <a:p>
            <a:endParaRPr lang="pt-BR" sz="1900" dirty="0">
              <a:solidFill>
                <a:srgbClr val="000000"/>
              </a:solidFill>
            </a:endParaRPr>
          </a:p>
          <a:p>
            <a:r>
              <a:rPr lang="pt-BR" dirty="0" err="1"/>
              <a:t>Blobs</a:t>
            </a:r>
            <a:r>
              <a:rPr lang="pt-BR" dirty="0"/>
              <a:t> do Azure: um repositório de objetos altamente </a:t>
            </a:r>
            <a:r>
              <a:rPr lang="pt-BR" dirty="0" err="1"/>
              <a:t>escalonável</a:t>
            </a:r>
            <a:r>
              <a:rPr lang="pt-BR" dirty="0"/>
              <a:t> para texto e dados binários.</a:t>
            </a:r>
          </a:p>
          <a:p>
            <a:r>
              <a:rPr lang="pt-BR" dirty="0"/>
              <a:t>Arquivos do Azure: compartilhamentos de arquivos gerenciados para implantações locais e em nuvem.</a:t>
            </a:r>
          </a:p>
          <a:p>
            <a:r>
              <a:rPr lang="pt-BR" dirty="0"/>
              <a:t>Filas do Azure: um armazenamento de mensagens para um sistema de mensagens confiável entre componentes do aplicativo.</a:t>
            </a:r>
          </a:p>
          <a:p>
            <a:r>
              <a:rPr lang="pt-BR" dirty="0"/>
              <a:t>Tabelas do Azure: Um armazenamento </a:t>
            </a:r>
            <a:r>
              <a:rPr lang="pt-BR" dirty="0" err="1"/>
              <a:t>NoSQL</a:t>
            </a:r>
            <a:r>
              <a:rPr lang="pt-BR" dirty="0"/>
              <a:t> para um armazenamento sem esquemas de dados estruturados.</a:t>
            </a:r>
          </a:p>
          <a:p>
            <a:endParaRPr lang="pt-BR" sz="1900" dirty="0">
              <a:solidFill>
                <a:srgbClr val="000000"/>
              </a:solidFill>
            </a:endParaRPr>
          </a:p>
        </p:txBody>
      </p:sp>
      <p:sp>
        <p:nvSpPr>
          <p:cNvPr id="2" name="Título 1">
            <a:extLst>
              <a:ext uri="{FF2B5EF4-FFF2-40B4-BE49-F238E27FC236}">
                <a16:creationId xmlns:a16="http://schemas.microsoft.com/office/drawing/2014/main" id="{3272DEFB-0FDC-43D2-9A1C-6B74156EB084}"/>
              </a:ext>
            </a:extLst>
          </p:cNvPr>
          <p:cNvSpPr>
            <a:spLocks noGrp="1"/>
          </p:cNvSpPr>
          <p:nvPr>
            <p:ph type="title"/>
          </p:nvPr>
        </p:nvSpPr>
        <p:spPr>
          <a:xfrm>
            <a:off x="276038" y="1263093"/>
            <a:ext cx="5689600" cy="1141645"/>
          </a:xfrm>
        </p:spPr>
        <p:txBody>
          <a:bodyPr>
            <a:normAutofit/>
          </a:bodyPr>
          <a:lstStyle/>
          <a:p>
            <a:r>
              <a:rPr lang="pt-BR" sz="4400" dirty="0" err="1">
                <a:solidFill>
                  <a:srgbClr val="000000"/>
                </a:solidFill>
              </a:rPr>
              <a:t>Storage</a:t>
            </a:r>
            <a:r>
              <a:rPr lang="pt-BR" sz="4400" dirty="0">
                <a:solidFill>
                  <a:srgbClr val="000000"/>
                </a:solidFill>
              </a:rPr>
              <a:t> </a:t>
            </a:r>
            <a:r>
              <a:rPr lang="pt-BR" sz="4400" dirty="0" err="1">
                <a:solidFill>
                  <a:srgbClr val="000000"/>
                </a:solidFill>
              </a:rPr>
              <a:t>Accounts</a:t>
            </a:r>
            <a:endParaRPr lang="pt-BR" sz="4400" dirty="0">
              <a:solidFill>
                <a:srgbClr val="000000"/>
              </a:solidFill>
            </a:endParaRPr>
          </a:p>
        </p:txBody>
      </p:sp>
    </p:spTree>
    <p:extLst>
      <p:ext uri="{BB962C8B-B14F-4D97-AF65-F5344CB8AC3E}">
        <p14:creationId xmlns:p14="http://schemas.microsoft.com/office/powerpoint/2010/main" val="5668147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030CB385-3BFF-46A8-B86A-57D0D5082CB9}"/>
              </a:ext>
            </a:extLst>
          </p:cNvPr>
          <p:cNvSpPr>
            <a:spLocks noGrp="1"/>
          </p:cNvSpPr>
          <p:nvPr>
            <p:ph type="title"/>
          </p:nvPr>
        </p:nvSpPr>
        <p:spPr>
          <a:xfrm>
            <a:off x="1179226" y="826680"/>
            <a:ext cx="9833548" cy="1325563"/>
          </a:xfrm>
        </p:spPr>
        <p:txBody>
          <a:bodyPr>
            <a:normAutofit/>
          </a:bodyPr>
          <a:lstStyle/>
          <a:p>
            <a:pPr algn="ctr"/>
            <a:r>
              <a:rPr lang="pt-BR" sz="4000" dirty="0" err="1">
                <a:solidFill>
                  <a:srgbClr val="FFFFFF"/>
                </a:solidFill>
              </a:rPr>
              <a:t>Blob</a:t>
            </a:r>
            <a:r>
              <a:rPr lang="pt-BR" sz="4000" dirty="0">
                <a:solidFill>
                  <a:srgbClr val="FFFFFF"/>
                </a:solidFill>
              </a:rPr>
              <a:t> </a:t>
            </a:r>
            <a:r>
              <a:rPr lang="pt-BR" sz="4000" dirty="0" err="1">
                <a:solidFill>
                  <a:srgbClr val="FFFFFF"/>
                </a:solidFill>
              </a:rPr>
              <a:t>Storage</a:t>
            </a:r>
            <a:br>
              <a:rPr lang="pt-BR" sz="4000" dirty="0">
                <a:solidFill>
                  <a:srgbClr val="FFFFFF"/>
                </a:solidFill>
              </a:rPr>
            </a:br>
            <a:r>
              <a:rPr lang="pt-BR" dirty="0"/>
              <a:t> </a:t>
            </a:r>
            <a:r>
              <a:rPr lang="pt-BR" sz="2800" dirty="0">
                <a:solidFill>
                  <a:schemeClr val="bg1"/>
                </a:solidFill>
              </a:rPr>
              <a:t>Dados não estruturados</a:t>
            </a:r>
          </a:p>
        </p:txBody>
      </p:sp>
      <p:sp>
        <p:nvSpPr>
          <p:cNvPr id="3" name="Espaço Reservado para Conteúdo 2">
            <a:extLst>
              <a:ext uri="{FF2B5EF4-FFF2-40B4-BE49-F238E27FC236}">
                <a16:creationId xmlns:a16="http://schemas.microsoft.com/office/drawing/2014/main" id="{C13736E8-35CE-40E5-AFED-0B4B8547A035}"/>
              </a:ext>
            </a:extLst>
          </p:cNvPr>
          <p:cNvSpPr>
            <a:spLocks noGrp="1"/>
          </p:cNvSpPr>
          <p:nvPr>
            <p:ph idx="1"/>
          </p:nvPr>
        </p:nvSpPr>
        <p:spPr>
          <a:xfrm>
            <a:off x="162560" y="2692400"/>
            <a:ext cx="12029440" cy="4023360"/>
          </a:xfrm>
        </p:spPr>
        <p:txBody>
          <a:bodyPr>
            <a:normAutofit fontScale="85000" lnSpcReduction="20000"/>
          </a:bodyPr>
          <a:lstStyle/>
          <a:p>
            <a:r>
              <a:rPr lang="pt-BR" sz="2000" dirty="0" err="1">
                <a:solidFill>
                  <a:srgbClr val="000000"/>
                </a:solidFill>
              </a:rPr>
              <a:t>Blobs</a:t>
            </a:r>
            <a:r>
              <a:rPr lang="pt-BR" sz="2000" dirty="0">
                <a:solidFill>
                  <a:srgbClr val="000000"/>
                </a:solidFill>
              </a:rPr>
              <a:t> do Azure (</a:t>
            </a:r>
            <a:r>
              <a:rPr lang="pt-BR" sz="2000" dirty="0" err="1">
                <a:solidFill>
                  <a:srgbClr val="000000"/>
                </a:solidFill>
              </a:rPr>
              <a:t>blob</a:t>
            </a:r>
            <a:r>
              <a:rPr lang="pt-BR" sz="2000" dirty="0">
                <a:solidFill>
                  <a:srgbClr val="000000"/>
                </a:solidFill>
              </a:rPr>
              <a:t>): um repositório de objetos altamente </a:t>
            </a:r>
            <a:r>
              <a:rPr lang="pt-BR" sz="2000" dirty="0" err="1">
                <a:solidFill>
                  <a:srgbClr val="000000"/>
                </a:solidFill>
              </a:rPr>
              <a:t>escalonável</a:t>
            </a:r>
            <a:r>
              <a:rPr lang="pt-BR" sz="2000" dirty="0">
                <a:solidFill>
                  <a:srgbClr val="000000"/>
                </a:solidFill>
              </a:rPr>
              <a:t> (Tamanho teoricamente infinito) para texto e dados binários.</a:t>
            </a:r>
          </a:p>
          <a:p>
            <a:r>
              <a:rPr lang="pt-BR" dirty="0"/>
              <a:t> </a:t>
            </a:r>
            <a:r>
              <a:rPr lang="pt-BR" sz="2000" dirty="0">
                <a:solidFill>
                  <a:srgbClr val="000000"/>
                </a:solidFill>
              </a:rPr>
              <a:t>Armazenamento de </a:t>
            </a:r>
            <a:r>
              <a:rPr lang="pt-BR" sz="2000" dirty="0" err="1">
                <a:solidFill>
                  <a:srgbClr val="000000"/>
                </a:solidFill>
              </a:rPr>
              <a:t>Blobs</a:t>
            </a:r>
            <a:r>
              <a:rPr lang="pt-BR" sz="2000" dirty="0">
                <a:solidFill>
                  <a:srgbClr val="000000"/>
                </a:solidFill>
              </a:rPr>
              <a:t> é otimizado para armazenar grandes quantidades de dados não estruturados. </a:t>
            </a:r>
          </a:p>
          <a:p>
            <a:pPr lvl="1"/>
            <a:r>
              <a:rPr lang="pt-BR" sz="1600" dirty="0">
                <a:solidFill>
                  <a:srgbClr val="000000"/>
                </a:solidFill>
              </a:rPr>
              <a:t>Dados não estruturados são dados que não estão de acordo com uma definição ou um modelo de dados específico, como texto ou dados binários.</a:t>
            </a:r>
          </a:p>
          <a:p>
            <a:r>
              <a:rPr lang="pt-BR" dirty="0"/>
              <a:t>O Armazenamento de </a:t>
            </a:r>
            <a:r>
              <a:rPr lang="pt-BR" dirty="0" err="1"/>
              <a:t>Blobs</a:t>
            </a:r>
            <a:r>
              <a:rPr lang="pt-BR" dirty="0"/>
              <a:t> foi projetado para:</a:t>
            </a:r>
          </a:p>
          <a:p>
            <a:pPr lvl="1"/>
            <a:r>
              <a:rPr lang="pt-BR" dirty="0"/>
              <a:t>Fornecimento de imagens ou de documentos diretamente a um navegador.</a:t>
            </a:r>
          </a:p>
          <a:p>
            <a:pPr lvl="1"/>
            <a:r>
              <a:rPr lang="pt-BR" dirty="0"/>
              <a:t>Armazenamento de arquivos para acesso distribuído.</a:t>
            </a:r>
          </a:p>
          <a:p>
            <a:pPr lvl="1"/>
            <a:r>
              <a:rPr lang="pt-BR" dirty="0"/>
              <a:t>Transmissão por streaming de áudio e vídeo.</a:t>
            </a:r>
          </a:p>
          <a:p>
            <a:pPr lvl="1"/>
            <a:r>
              <a:rPr lang="pt-BR" dirty="0"/>
              <a:t>Gravando nos arquivo de log.</a:t>
            </a:r>
          </a:p>
          <a:p>
            <a:pPr lvl="1"/>
            <a:r>
              <a:rPr lang="pt-BR" dirty="0"/>
              <a:t>Armazenamento de dados de backup e restauração, recuperação de desastres e arquivamento.</a:t>
            </a:r>
          </a:p>
          <a:p>
            <a:pPr lvl="1"/>
            <a:r>
              <a:rPr lang="pt-BR" dirty="0"/>
              <a:t>Armazenamento de dados para análise por um serviço local ou hospedado no Azure.</a:t>
            </a:r>
          </a:p>
          <a:p>
            <a:r>
              <a:rPr lang="pt-BR" dirty="0"/>
              <a:t>Acesso HTTP ou HTTPS (API REST do Armazenamento do Azure e biblioteca de cliente de Armazenamento do Azure)</a:t>
            </a:r>
          </a:p>
          <a:p>
            <a:pPr lvl="1"/>
            <a:endParaRPr lang="pt-BR" sz="1600" dirty="0">
              <a:solidFill>
                <a:srgbClr val="000000"/>
              </a:solidFill>
            </a:endParaRPr>
          </a:p>
        </p:txBody>
      </p:sp>
    </p:spTree>
    <p:extLst>
      <p:ext uri="{BB962C8B-B14F-4D97-AF65-F5344CB8AC3E}">
        <p14:creationId xmlns:p14="http://schemas.microsoft.com/office/powerpoint/2010/main" val="31868201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030CB385-3BFF-46A8-B86A-57D0D5082CB9}"/>
              </a:ext>
            </a:extLst>
          </p:cNvPr>
          <p:cNvSpPr>
            <a:spLocks noGrp="1"/>
          </p:cNvSpPr>
          <p:nvPr>
            <p:ph type="title"/>
          </p:nvPr>
        </p:nvSpPr>
        <p:spPr>
          <a:xfrm>
            <a:off x="1179226" y="826680"/>
            <a:ext cx="9833548" cy="1325563"/>
          </a:xfrm>
          <a:ln>
            <a:solidFill>
              <a:schemeClr val="accent1"/>
            </a:solidFill>
          </a:ln>
        </p:spPr>
        <p:txBody>
          <a:bodyPr>
            <a:normAutofit/>
          </a:bodyPr>
          <a:lstStyle/>
          <a:p>
            <a:pPr algn="ctr"/>
            <a:r>
              <a:rPr lang="pt-BR" sz="4000" dirty="0">
                <a:solidFill>
                  <a:srgbClr val="FFFFFF"/>
                </a:solidFill>
              </a:rPr>
              <a:t>File </a:t>
            </a:r>
            <a:r>
              <a:rPr lang="pt-BR" sz="4000" dirty="0" err="1">
                <a:solidFill>
                  <a:srgbClr val="FFFFFF"/>
                </a:solidFill>
              </a:rPr>
              <a:t>Storage</a:t>
            </a:r>
            <a:br>
              <a:rPr lang="pt-BR" sz="4000" dirty="0">
                <a:solidFill>
                  <a:srgbClr val="FFFFFF"/>
                </a:solidFill>
              </a:rPr>
            </a:br>
            <a:r>
              <a:rPr lang="pt-BR" dirty="0"/>
              <a:t> </a:t>
            </a:r>
            <a:r>
              <a:rPr lang="pt-BR" sz="2800" dirty="0">
                <a:solidFill>
                  <a:schemeClr val="bg1"/>
                </a:solidFill>
              </a:rPr>
              <a:t>Protocolo SMB, Tokens SAS</a:t>
            </a:r>
          </a:p>
        </p:txBody>
      </p:sp>
      <p:sp>
        <p:nvSpPr>
          <p:cNvPr id="3" name="Espaço Reservado para Conteúdo 2">
            <a:extLst>
              <a:ext uri="{FF2B5EF4-FFF2-40B4-BE49-F238E27FC236}">
                <a16:creationId xmlns:a16="http://schemas.microsoft.com/office/drawing/2014/main" id="{C13736E8-35CE-40E5-AFED-0B4B8547A035}"/>
              </a:ext>
            </a:extLst>
          </p:cNvPr>
          <p:cNvSpPr>
            <a:spLocks noGrp="1"/>
          </p:cNvSpPr>
          <p:nvPr>
            <p:ph idx="1"/>
          </p:nvPr>
        </p:nvSpPr>
        <p:spPr>
          <a:xfrm>
            <a:off x="162560" y="2418080"/>
            <a:ext cx="12029440" cy="4297680"/>
          </a:xfrm>
        </p:spPr>
        <p:txBody>
          <a:bodyPr>
            <a:normAutofit/>
          </a:bodyPr>
          <a:lstStyle/>
          <a:p>
            <a:r>
              <a:rPr lang="pt-BR" dirty="0"/>
              <a:t>Compartilhamentos de arquivo altamente disponíveis que podem ser acessados usando o protocolo SMB (Server </a:t>
            </a:r>
            <a:r>
              <a:rPr lang="pt-BR" dirty="0" err="1"/>
              <a:t>Message</a:t>
            </a:r>
            <a:r>
              <a:rPr lang="pt-BR" dirty="0"/>
              <a:t> </a:t>
            </a:r>
            <a:r>
              <a:rPr lang="pt-BR" dirty="0" err="1"/>
              <a:t>Block</a:t>
            </a:r>
            <a:r>
              <a:rPr lang="pt-BR" dirty="0"/>
              <a:t>).</a:t>
            </a:r>
          </a:p>
          <a:p>
            <a:r>
              <a:rPr lang="pt-BR" dirty="0"/>
              <a:t>File </a:t>
            </a:r>
            <a:r>
              <a:rPr lang="pt-BR" dirty="0" err="1"/>
              <a:t>Sync</a:t>
            </a:r>
            <a:r>
              <a:rPr lang="pt-BR" dirty="0"/>
              <a:t>, compartilhamento como Drive.</a:t>
            </a:r>
          </a:p>
          <a:p>
            <a:r>
              <a:rPr lang="pt-BR" dirty="0"/>
              <a:t>Compartilhar os mesmos arquivos com acesso de leitura e gravação.</a:t>
            </a:r>
          </a:p>
          <a:p>
            <a:r>
              <a:rPr lang="pt-BR" dirty="0"/>
              <a:t>Acesso HTTP ou HTTPS (API REST do Armazenamento do Azure e biblioteca de cliente de Armazenamento do Azure)</a:t>
            </a:r>
          </a:p>
          <a:p>
            <a:r>
              <a:rPr lang="pt-BR" dirty="0"/>
              <a:t>Permite acesso com token SAS (Assinatura de Acesso Compartilhado inclusive  acesso específico a um ativo privado durante período especificado).</a:t>
            </a:r>
          </a:p>
          <a:p>
            <a:r>
              <a:rPr lang="pt-BR" dirty="0"/>
              <a:t>Obs.: Não suporta autenticação baseada no Active </a:t>
            </a:r>
            <a:r>
              <a:rPr lang="pt-BR" dirty="0" err="1"/>
              <a:t>Directory</a:t>
            </a:r>
            <a:r>
              <a:rPr lang="pt-BR" dirty="0"/>
              <a:t>. </a:t>
            </a:r>
          </a:p>
          <a:p>
            <a:endParaRPr lang="pt-BR" sz="2000" dirty="0">
              <a:solidFill>
                <a:srgbClr val="000000"/>
              </a:solidFill>
            </a:endParaRPr>
          </a:p>
        </p:txBody>
      </p:sp>
    </p:spTree>
    <p:extLst>
      <p:ext uri="{BB962C8B-B14F-4D97-AF65-F5344CB8AC3E}">
        <p14:creationId xmlns:p14="http://schemas.microsoft.com/office/powerpoint/2010/main" val="402393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030CB385-3BFF-46A8-B86A-57D0D5082CB9}"/>
              </a:ext>
            </a:extLst>
          </p:cNvPr>
          <p:cNvSpPr>
            <a:spLocks noGrp="1"/>
          </p:cNvSpPr>
          <p:nvPr>
            <p:ph type="title"/>
          </p:nvPr>
        </p:nvSpPr>
        <p:spPr>
          <a:xfrm>
            <a:off x="1179226" y="826680"/>
            <a:ext cx="9833548" cy="1325563"/>
          </a:xfrm>
          <a:ln>
            <a:solidFill>
              <a:schemeClr val="accent1"/>
            </a:solidFill>
          </a:ln>
        </p:spPr>
        <p:txBody>
          <a:bodyPr>
            <a:normAutofit/>
          </a:bodyPr>
          <a:lstStyle/>
          <a:p>
            <a:pPr algn="ctr"/>
            <a:r>
              <a:rPr lang="pt-BR" sz="4000" dirty="0" err="1">
                <a:solidFill>
                  <a:srgbClr val="FFFFFF"/>
                </a:solidFill>
              </a:rPr>
              <a:t>Table</a:t>
            </a:r>
            <a:r>
              <a:rPr lang="pt-BR" sz="4000" dirty="0">
                <a:solidFill>
                  <a:srgbClr val="FFFFFF"/>
                </a:solidFill>
              </a:rPr>
              <a:t> </a:t>
            </a:r>
            <a:r>
              <a:rPr lang="pt-BR" sz="4000" dirty="0" err="1">
                <a:solidFill>
                  <a:srgbClr val="FFFFFF"/>
                </a:solidFill>
              </a:rPr>
              <a:t>Storage</a:t>
            </a:r>
            <a:r>
              <a:rPr lang="pt-BR" sz="4000" dirty="0">
                <a:solidFill>
                  <a:srgbClr val="FFFFFF"/>
                </a:solidFill>
              </a:rPr>
              <a:t> Azure</a:t>
            </a:r>
            <a:br>
              <a:rPr lang="pt-BR" sz="4000" dirty="0">
                <a:solidFill>
                  <a:srgbClr val="FFFFFF"/>
                </a:solidFill>
              </a:rPr>
            </a:br>
            <a:r>
              <a:rPr lang="pt-BR" dirty="0"/>
              <a:t> </a:t>
            </a:r>
            <a:r>
              <a:rPr lang="pt-BR" sz="2800" dirty="0">
                <a:solidFill>
                  <a:schemeClr val="bg1"/>
                </a:solidFill>
              </a:rPr>
              <a:t>Dados estruturados não relacionais, </a:t>
            </a:r>
            <a:r>
              <a:rPr lang="pt-BR" sz="2800" dirty="0" err="1">
                <a:solidFill>
                  <a:schemeClr val="bg1"/>
                </a:solidFill>
              </a:rPr>
              <a:t>NoSQL</a:t>
            </a:r>
            <a:r>
              <a:rPr lang="pt-BR" sz="2800" dirty="0">
                <a:solidFill>
                  <a:schemeClr val="bg1"/>
                </a:solidFill>
              </a:rPr>
              <a:t>, Azure Cosmo DB </a:t>
            </a:r>
          </a:p>
        </p:txBody>
      </p:sp>
      <p:sp>
        <p:nvSpPr>
          <p:cNvPr id="3" name="Espaço Reservado para Conteúdo 2">
            <a:extLst>
              <a:ext uri="{FF2B5EF4-FFF2-40B4-BE49-F238E27FC236}">
                <a16:creationId xmlns:a16="http://schemas.microsoft.com/office/drawing/2014/main" id="{C13736E8-35CE-40E5-AFED-0B4B8547A035}"/>
              </a:ext>
            </a:extLst>
          </p:cNvPr>
          <p:cNvSpPr>
            <a:spLocks noGrp="1"/>
          </p:cNvSpPr>
          <p:nvPr>
            <p:ph idx="1"/>
          </p:nvPr>
        </p:nvSpPr>
        <p:spPr>
          <a:xfrm>
            <a:off x="162560" y="2418080"/>
            <a:ext cx="12029440" cy="4297680"/>
          </a:xfrm>
        </p:spPr>
        <p:txBody>
          <a:bodyPr>
            <a:normAutofit fontScale="92500" lnSpcReduction="20000"/>
          </a:bodyPr>
          <a:lstStyle/>
          <a:p>
            <a:endParaRPr lang="pt-BR" sz="2000" dirty="0">
              <a:solidFill>
                <a:srgbClr val="000000"/>
              </a:solidFill>
            </a:endParaRPr>
          </a:p>
          <a:p>
            <a:r>
              <a:rPr lang="pt-BR" dirty="0"/>
              <a:t>Armazenamento de </a:t>
            </a:r>
            <a:r>
              <a:rPr lang="pt-BR" dirty="0" err="1"/>
              <a:t>TBs</a:t>
            </a:r>
            <a:r>
              <a:rPr lang="pt-BR" dirty="0"/>
              <a:t> de dados estruturados capazes de atender a aplicativos de dimensionamento da Web</a:t>
            </a:r>
          </a:p>
          <a:p>
            <a:endParaRPr lang="pt-BR" dirty="0"/>
          </a:p>
          <a:p>
            <a:r>
              <a:rPr lang="pt-BR" dirty="0"/>
              <a:t>Armazenando conjuntos de dados que não exigem junções complexas, chaves estrangeiras ou procedimentos armazenados e que podem ser </a:t>
            </a:r>
            <a:r>
              <a:rPr lang="pt-BR" dirty="0" err="1"/>
              <a:t>desnormalizados</a:t>
            </a:r>
            <a:r>
              <a:rPr lang="pt-BR" dirty="0"/>
              <a:t> para acesso rápido</a:t>
            </a:r>
          </a:p>
          <a:p>
            <a:endParaRPr lang="pt-BR" dirty="0"/>
          </a:p>
          <a:p>
            <a:r>
              <a:rPr lang="pt-BR" dirty="0"/>
              <a:t>Consulta rápida de dados usando um índice </a:t>
            </a:r>
            <a:r>
              <a:rPr lang="pt-BR" dirty="0" err="1"/>
              <a:t>clusterizado</a:t>
            </a:r>
            <a:endParaRPr lang="pt-BR" dirty="0"/>
          </a:p>
          <a:p>
            <a:endParaRPr lang="pt-BR" dirty="0"/>
          </a:p>
          <a:p>
            <a:r>
              <a:rPr lang="pt-BR" dirty="0"/>
              <a:t>Acesso a dados usando o protocolo </a:t>
            </a:r>
            <a:r>
              <a:rPr lang="pt-BR" dirty="0" err="1"/>
              <a:t>OData</a:t>
            </a:r>
            <a:r>
              <a:rPr lang="pt-BR" dirty="0"/>
              <a:t> e consultas LINQ com bibliotecas WCF Data Service .NET</a:t>
            </a:r>
          </a:p>
          <a:p>
            <a:endParaRPr lang="pt-BR" dirty="0"/>
          </a:p>
          <a:p>
            <a:endParaRPr lang="pt-BR" sz="2000" dirty="0">
              <a:solidFill>
                <a:srgbClr val="000000"/>
              </a:solidFill>
            </a:endParaRPr>
          </a:p>
        </p:txBody>
      </p:sp>
    </p:spTree>
    <p:extLst>
      <p:ext uri="{BB962C8B-B14F-4D97-AF65-F5344CB8AC3E}">
        <p14:creationId xmlns:p14="http://schemas.microsoft.com/office/powerpoint/2010/main" val="7421770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030CB385-3BFF-46A8-B86A-57D0D5082CB9}"/>
              </a:ext>
            </a:extLst>
          </p:cNvPr>
          <p:cNvSpPr>
            <a:spLocks noGrp="1"/>
          </p:cNvSpPr>
          <p:nvPr>
            <p:ph type="title"/>
          </p:nvPr>
        </p:nvSpPr>
        <p:spPr>
          <a:xfrm>
            <a:off x="1179226" y="826680"/>
            <a:ext cx="9833548" cy="1325563"/>
          </a:xfrm>
          <a:ln>
            <a:solidFill>
              <a:schemeClr val="accent1"/>
            </a:solidFill>
          </a:ln>
        </p:spPr>
        <p:txBody>
          <a:bodyPr>
            <a:normAutofit/>
          </a:bodyPr>
          <a:lstStyle/>
          <a:p>
            <a:pPr algn="ctr"/>
            <a:r>
              <a:rPr lang="pt-BR" sz="4000" dirty="0" err="1">
                <a:solidFill>
                  <a:srgbClr val="FFFFFF"/>
                </a:solidFill>
              </a:rPr>
              <a:t>Queue</a:t>
            </a:r>
            <a:r>
              <a:rPr lang="pt-BR" sz="4000" dirty="0">
                <a:solidFill>
                  <a:srgbClr val="FFFFFF"/>
                </a:solidFill>
              </a:rPr>
              <a:t> </a:t>
            </a:r>
            <a:r>
              <a:rPr lang="pt-BR" sz="4000" dirty="0" err="1">
                <a:solidFill>
                  <a:srgbClr val="FFFFFF"/>
                </a:solidFill>
              </a:rPr>
              <a:t>Storage</a:t>
            </a:r>
            <a:br>
              <a:rPr lang="pt-BR" sz="4000" dirty="0">
                <a:solidFill>
                  <a:srgbClr val="FFFFFF"/>
                </a:solidFill>
              </a:rPr>
            </a:br>
            <a:r>
              <a:rPr lang="pt-BR" dirty="0"/>
              <a:t> </a:t>
            </a:r>
            <a:r>
              <a:rPr lang="pt-BR" sz="2800" dirty="0" err="1">
                <a:solidFill>
                  <a:schemeClr val="bg1"/>
                </a:solidFill>
              </a:rPr>
              <a:t>Queue</a:t>
            </a:r>
            <a:r>
              <a:rPr lang="pt-BR" sz="2800" dirty="0">
                <a:solidFill>
                  <a:schemeClr val="bg1"/>
                </a:solidFill>
              </a:rPr>
              <a:t>, Mensageria</a:t>
            </a:r>
          </a:p>
        </p:txBody>
      </p:sp>
      <p:sp>
        <p:nvSpPr>
          <p:cNvPr id="3" name="Espaço Reservado para Conteúdo 2">
            <a:extLst>
              <a:ext uri="{FF2B5EF4-FFF2-40B4-BE49-F238E27FC236}">
                <a16:creationId xmlns:a16="http://schemas.microsoft.com/office/drawing/2014/main" id="{C13736E8-35CE-40E5-AFED-0B4B8547A035}"/>
              </a:ext>
            </a:extLst>
          </p:cNvPr>
          <p:cNvSpPr>
            <a:spLocks noGrp="1"/>
          </p:cNvSpPr>
          <p:nvPr>
            <p:ph idx="1"/>
          </p:nvPr>
        </p:nvSpPr>
        <p:spPr>
          <a:xfrm>
            <a:off x="162560" y="2418080"/>
            <a:ext cx="12029440" cy="4297680"/>
          </a:xfrm>
        </p:spPr>
        <p:txBody>
          <a:bodyPr>
            <a:normAutofit/>
          </a:bodyPr>
          <a:lstStyle/>
          <a:p>
            <a:endParaRPr lang="pt-BR" sz="2000" dirty="0">
              <a:solidFill>
                <a:srgbClr val="000000"/>
              </a:solidFill>
            </a:endParaRPr>
          </a:p>
          <a:p>
            <a:r>
              <a:rPr lang="pt-BR" dirty="0"/>
              <a:t>Mensagem da fila de até 64 KB</a:t>
            </a:r>
          </a:p>
          <a:p>
            <a:endParaRPr lang="pt-BR" dirty="0"/>
          </a:p>
          <a:p>
            <a:r>
              <a:rPr lang="pt-BR" dirty="0"/>
              <a:t>Lista de pendências de trabalho para processamento assíncrono.</a:t>
            </a:r>
          </a:p>
          <a:p>
            <a:endParaRPr lang="pt-BR" dirty="0"/>
          </a:p>
          <a:p>
            <a:r>
              <a:rPr lang="pt-BR" dirty="0"/>
              <a:t>Exemplos: logs de diagnóstico, métricas e despejos de memória.</a:t>
            </a:r>
          </a:p>
          <a:p>
            <a:endParaRPr lang="pt-BR" dirty="0"/>
          </a:p>
          <a:p>
            <a:endParaRPr lang="pt-BR" sz="2000" dirty="0">
              <a:solidFill>
                <a:srgbClr val="000000"/>
              </a:solidFill>
            </a:endParaRPr>
          </a:p>
        </p:txBody>
      </p:sp>
    </p:spTree>
    <p:extLst>
      <p:ext uri="{BB962C8B-B14F-4D97-AF65-F5344CB8AC3E}">
        <p14:creationId xmlns:p14="http://schemas.microsoft.com/office/powerpoint/2010/main" val="11694530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8C237D-C83B-44D6-A21B-A1D3D52941B4}"/>
              </a:ext>
            </a:extLst>
          </p:cNvPr>
          <p:cNvSpPr>
            <a:spLocks noGrp="1"/>
          </p:cNvSpPr>
          <p:nvPr>
            <p:ph type="title"/>
          </p:nvPr>
        </p:nvSpPr>
        <p:spPr>
          <a:xfrm>
            <a:off x="1136428" y="627564"/>
            <a:ext cx="7474172" cy="1325563"/>
          </a:xfrm>
        </p:spPr>
        <p:txBody>
          <a:bodyPr>
            <a:normAutofit fontScale="90000"/>
          </a:bodyPr>
          <a:lstStyle/>
          <a:p>
            <a:pPr algn="ctr"/>
            <a:r>
              <a:rPr lang="pt-BR" sz="4400" b="1" dirty="0"/>
              <a:t>Tipos de Contas de Armazenamento</a:t>
            </a:r>
            <a:br>
              <a:rPr lang="pt-BR" sz="4400" b="1" dirty="0"/>
            </a:br>
            <a:r>
              <a:rPr lang="pt-BR" sz="2400" dirty="0"/>
              <a:t>Standard ou premium, recursos e preços diferentes.</a:t>
            </a:r>
            <a:br>
              <a:rPr lang="pt-BR" sz="2400" dirty="0"/>
            </a:br>
            <a:r>
              <a:rPr lang="pt-BR" sz="2400" dirty="0"/>
              <a:t>Criptografia usando a SSE (</a:t>
            </a:r>
            <a:r>
              <a:rPr lang="pt-BR" sz="2400" dirty="0" err="1"/>
              <a:t>Storage</a:t>
            </a:r>
            <a:r>
              <a:rPr lang="pt-BR" sz="2400" dirty="0"/>
              <a:t> Service </a:t>
            </a:r>
            <a:r>
              <a:rPr lang="pt-BR" sz="2400" dirty="0" err="1"/>
              <a:t>Encryption</a:t>
            </a:r>
            <a:r>
              <a:rPr lang="pt-BR" sz="2400" dirty="0"/>
              <a:t>)</a:t>
            </a:r>
          </a:p>
        </p:txBody>
      </p:sp>
      <p:sp>
        <p:nvSpPr>
          <p:cNvPr id="3" name="Espaço Reservado para Conteúdo 2">
            <a:extLst>
              <a:ext uri="{FF2B5EF4-FFF2-40B4-BE49-F238E27FC236}">
                <a16:creationId xmlns:a16="http://schemas.microsoft.com/office/drawing/2014/main" id="{C011C18D-7A39-494D-AF58-889B2CA1B016}"/>
              </a:ext>
            </a:extLst>
          </p:cNvPr>
          <p:cNvSpPr>
            <a:spLocks noGrp="1"/>
          </p:cNvSpPr>
          <p:nvPr>
            <p:ph idx="1"/>
          </p:nvPr>
        </p:nvSpPr>
        <p:spPr>
          <a:xfrm>
            <a:off x="617594" y="1953127"/>
            <a:ext cx="8484073" cy="5090159"/>
          </a:xfrm>
        </p:spPr>
        <p:txBody>
          <a:bodyPr anchor="ctr">
            <a:normAutofit/>
          </a:bodyPr>
          <a:lstStyle/>
          <a:p>
            <a:r>
              <a:rPr lang="pt-BR" sz="1600" b="1" dirty="0"/>
              <a:t>Contas de uso geral v2</a:t>
            </a:r>
            <a:r>
              <a:rPr lang="pt-BR" sz="1600" dirty="0"/>
              <a:t>: tipo de conta de armazenamento básico para </a:t>
            </a:r>
            <a:r>
              <a:rPr lang="pt-BR" sz="1600" dirty="0" err="1"/>
              <a:t>BLOBs</a:t>
            </a:r>
            <a:r>
              <a:rPr lang="pt-BR" sz="1600" dirty="0"/>
              <a:t>, arquivos, filas e tabelas. Permite selecionar a camada</a:t>
            </a:r>
            <a:r>
              <a:rPr lang="pt-BR" sz="1600"/>
              <a:t>, Cold </a:t>
            </a:r>
            <a:r>
              <a:rPr lang="pt-BR" sz="1600" dirty="0"/>
              <a:t>ou Hot.</a:t>
            </a:r>
          </a:p>
          <a:p>
            <a:endParaRPr lang="pt-BR" sz="1600" dirty="0"/>
          </a:p>
          <a:p>
            <a:r>
              <a:rPr lang="pt-BR" sz="1600" b="1" dirty="0"/>
              <a:t>Contas de uso geral v1</a:t>
            </a:r>
            <a:r>
              <a:rPr lang="pt-BR" sz="1600" dirty="0"/>
              <a:t>: tipo de conta herdada para </a:t>
            </a:r>
            <a:r>
              <a:rPr lang="pt-BR" sz="1600" dirty="0" err="1"/>
              <a:t>BLOBs</a:t>
            </a:r>
            <a:r>
              <a:rPr lang="pt-BR" sz="1600" dirty="0"/>
              <a:t>, arquivos, filas e tabelas. Não suporta hot ou Cold</a:t>
            </a:r>
          </a:p>
          <a:p>
            <a:endParaRPr lang="pt-BR" sz="1600" dirty="0"/>
          </a:p>
          <a:p>
            <a:r>
              <a:rPr lang="pt-BR" sz="1600" b="1" dirty="0"/>
              <a:t>Contas do </a:t>
            </a:r>
            <a:r>
              <a:rPr lang="pt-BR" sz="1600" b="1" dirty="0" err="1"/>
              <a:t>BlockBlobStorage</a:t>
            </a:r>
            <a:r>
              <a:rPr lang="pt-BR" sz="1600" dirty="0"/>
              <a:t>: contas de armazenamento somente </a:t>
            </a:r>
            <a:r>
              <a:rPr lang="pt-BR" sz="1600" dirty="0" err="1"/>
              <a:t>blob</a:t>
            </a:r>
            <a:r>
              <a:rPr lang="pt-BR" sz="1600" dirty="0"/>
              <a:t> com características de desempenho premium. Recomendado para cenários com altas taxas de transações, usando objetos menores ou exigindo latência de armazenamento consistentemente baixa.</a:t>
            </a:r>
          </a:p>
          <a:p>
            <a:endParaRPr lang="pt-BR" sz="1600" dirty="0"/>
          </a:p>
          <a:p>
            <a:r>
              <a:rPr lang="pt-BR" sz="1600" b="1" dirty="0"/>
              <a:t>Contas de armazenamento </a:t>
            </a:r>
            <a:r>
              <a:rPr lang="pt-BR" sz="1600" dirty="0"/>
              <a:t>de arquivo: contas de armazenamento somente de arquivos com características de desempenho premium. Recomendado para aplicativos de escala empresarial ou de alto desempenho.</a:t>
            </a:r>
          </a:p>
          <a:p>
            <a:endParaRPr lang="pt-BR" sz="1600" dirty="0"/>
          </a:p>
          <a:p>
            <a:r>
              <a:rPr lang="pt-BR" sz="1600" b="1" dirty="0"/>
              <a:t>Contas </a:t>
            </a:r>
            <a:r>
              <a:rPr lang="pt-BR" sz="1600" b="1" dirty="0" err="1"/>
              <a:t>BlobStorage</a:t>
            </a:r>
            <a:r>
              <a:rPr lang="pt-BR" sz="1600" dirty="0"/>
              <a:t>: contas de armazenamento somente </a:t>
            </a:r>
            <a:r>
              <a:rPr lang="pt-BR" sz="1600" dirty="0" err="1"/>
              <a:t>blob</a:t>
            </a:r>
            <a:r>
              <a:rPr lang="pt-BR" sz="1600" dirty="0"/>
              <a:t> herdadas. Use contas de uso geral v2 em vez desta opção, quando possível.</a:t>
            </a:r>
          </a:p>
          <a:p>
            <a:endParaRPr lang="pt-BR" sz="1100" dirty="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DC73E3E3-7090-48A7-8815-2C141C462D6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29117293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3116AABE-3839-4159-ADE4-17455F040EC9}"/>
              </a:ext>
            </a:extLst>
          </p:cNvPr>
          <p:cNvSpPr>
            <a:spLocks noGrp="1"/>
          </p:cNvSpPr>
          <p:nvPr>
            <p:ph idx="4294967295"/>
          </p:nvPr>
        </p:nvSpPr>
        <p:spPr>
          <a:xfrm>
            <a:off x="0" y="965200"/>
            <a:ext cx="3728720" cy="2926080"/>
          </a:xfrm>
          <a:solidFill>
            <a:schemeClr val="accent1">
              <a:lumMod val="40000"/>
              <a:lumOff val="60000"/>
            </a:schemeClr>
          </a:solidFill>
        </p:spPr>
        <p:txBody>
          <a:bodyPr>
            <a:noAutofit/>
          </a:bodyPr>
          <a:lstStyle/>
          <a:p>
            <a:pPr marL="0" indent="0">
              <a:buNone/>
            </a:pPr>
            <a:r>
              <a:rPr lang="pt-BR" sz="2400" b="1" dirty="0"/>
              <a:t>Camada de acesso quente</a:t>
            </a:r>
          </a:p>
          <a:p>
            <a:r>
              <a:rPr lang="pt-BR" sz="1600" dirty="0"/>
              <a:t>Dados que estão em uso ativo ou que devem ser acessados (lidos e gravados) com frequência.</a:t>
            </a:r>
          </a:p>
          <a:p>
            <a:r>
              <a:rPr lang="pt-BR" sz="1600" dirty="0"/>
              <a:t>Dados que são preparados para processamento e migração eventual para a camada de acesso fria.</a:t>
            </a:r>
          </a:p>
          <a:p>
            <a:pPr marL="0" indent="0">
              <a:buNone/>
            </a:pPr>
            <a:endParaRPr lang="pt-BR" sz="2400" b="1" dirty="0"/>
          </a:p>
          <a:p>
            <a:endParaRPr lang="pt-BR" dirty="0"/>
          </a:p>
        </p:txBody>
      </p:sp>
      <p:sp>
        <p:nvSpPr>
          <p:cNvPr id="4" name="Espaço Reservado para Conteúdo 2">
            <a:extLst>
              <a:ext uri="{FF2B5EF4-FFF2-40B4-BE49-F238E27FC236}">
                <a16:creationId xmlns:a16="http://schemas.microsoft.com/office/drawing/2014/main" id="{0D37AEE4-DF5B-428A-8F1F-8CC5599947BF}"/>
              </a:ext>
            </a:extLst>
          </p:cNvPr>
          <p:cNvSpPr txBox="1">
            <a:spLocks/>
          </p:cNvSpPr>
          <p:nvPr/>
        </p:nvSpPr>
        <p:spPr>
          <a:xfrm>
            <a:off x="3728720" y="965200"/>
            <a:ext cx="4348480" cy="2926080"/>
          </a:xfrm>
          <a:prstGeom prst="rect">
            <a:avLst/>
          </a:prstGeom>
          <a:solidFill>
            <a:srgbClr val="8FAADC"/>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sz="2400" b="1" dirty="0"/>
              <a:t>Camada de acesso frio</a:t>
            </a:r>
          </a:p>
          <a:p>
            <a:r>
              <a:rPr lang="pt-BR" sz="1600" dirty="0"/>
              <a:t>Conjuntos de dados de recuperação de desastre e de backup de curto prazo.</a:t>
            </a:r>
          </a:p>
          <a:p>
            <a:r>
              <a:rPr lang="pt-BR" sz="1600" dirty="0"/>
              <a:t>Conteúdo de mídia mais antigo que não é mais exibido frequentemente, mas ainda deve estar disponível imediatamente quando acessado.</a:t>
            </a:r>
          </a:p>
          <a:p>
            <a:r>
              <a:rPr lang="pt-BR" sz="1600" dirty="0"/>
              <a:t>Grandes conjuntos de dados que precisam ser armazenados de forma econômica enquanto mais dados estão sendo obtidos para processamento futuro.</a:t>
            </a:r>
          </a:p>
        </p:txBody>
      </p:sp>
      <p:sp>
        <p:nvSpPr>
          <p:cNvPr id="5" name="Espaço Reservado para Conteúdo 2">
            <a:extLst>
              <a:ext uri="{FF2B5EF4-FFF2-40B4-BE49-F238E27FC236}">
                <a16:creationId xmlns:a16="http://schemas.microsoft.com/office/drawing/2014/main" id="{144145A1-5040-4AE1-ACA3-3DB494F37799}"/>
              </a:ext>
            </a:extLst>
          </p:cNvPr>
          <p:cNvSpPr txBox="1">
            <a:spLocks/>
          </p:cNvSpPr>
          <p:nvPr/>
        </p:nvSpPr>
        <p:spPr>
          <a:xfrm>
            <a:off x="8077200" y="965200"/>
            <a:ext cx="4114800" cy="2926080"/>
          </a:xfrm>
          <a:prstGeom prst="rect">
            <a:avLst/>
          </a:prstGeom>
          <a:solidFill>
            <a:srgbClr val="7093D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sz="2400" b="1" dirty="0"/>
              <a:t>Camada de acesso ao arquivo</a:t>
            </a:r>
          </a:p>
          <a:p>
            <a:r>
              <a:rPr lang="pt-BR" sz="1600" dirty="0"/>
              <a:t>Backup de longo prazo, backup secundário e conjuntos de dados de arquivamento</a:t>
            </a:r>
          </a:p>
          <a:p>
            <a:r>
              <a:rPr lang="pt-BR" sz="1600" dirty="0"/>
              <a:t>Dados originais (brutos) que devem ser preservados, mesmo após serem processados em formato utilizável final.</a:t>
            </a:r>
          </a:p>
          <a:p>
            <a:r>
              <a:rPr lang="pt-BR" sz="1600" dirty="0"/>
              <a:t>Dados de conformidade e arquivamento que precisam ser armazenados por um longo tempo e quase nunca são acessados.</a:t>
            </a:r>
          </a:p>
          <a:p>
            <a:endParaRPr lang="pt-BR" dirty="0"/>
          </a:p>
        </p:txBody>
      </p:sp>
      <p:sp>
        <p:nvSpPr>
          <p:cNvPr id="9" name="Retângulo 8">
            <a:extLst>
              <a:ext uri="{FF2B5EF4-FFF2-40B4-BE49-F238E27FC236}">
                <a16:creationId xmlns:a16="http://schemas.microsoft.com/office/drawing/2014/main" id="{5785A60E-7BE0-4D5A-B1FA-3FBBF126EA57}"/>
              </a:ext>
            </a:extLst>
          </p:cNvPr>
          <p:cNvSpPr/>
          <p:nvPr/>
        </p:nvSpPr>
        <p:spPr>
          <a:xfrm>
            <a:off x="0" y="0"/>
            <a:ext cx="12192000" cy="965200"/>
          </a:xfrm>
          <a:prstGeom prst="rect">
            <a:avLst/>
          </a:prstGeom>
          <a:gradFill flip="none" rotWithShape="1">
            <a:gsLst>
              <a:gs pos="0">
                <a:schemeClr val="bg1"/>
              </a:gs>
              <a:gs pos="57000">
                <a:schemeClr val="bg2">
                  <a:lumMod val="75000"/>
                </a:schemeClr>
              </a:gs>
              <a:gs pos="100000">
                <a:schemeClr val="bg1"/>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Gráfico 10" descr="Fogueira">
            <a:extLst>
              <a:ext uri="{FF2B5EF4-FFF2-40B4-BE49-F238E27FC236}">
                <a16:creationId xmlns:a16="http://schemas.microsoft.com/office/drawing/2014/main" id="{2BACC751-2305-4D6E-B29D-484B1ADC45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07160" y="30480"/>
            <a:ext cx="914400" cy="914400"/>
          </a:xfrm>
          <a:prstGeom prst="rect">
            <a:avLst/>
          </a:prstGeom>
        </p:spPr>
      </p:pic>
      <p:pic>
        <p:nvPicPr>
          <p:cNvPr id="13" name="Gráfico 12" descr="Boneco de Neve">
            <a:extLst>
              <a:ext uri="{FF2B5EF4-FFF2-40B4-BE49-F238E27FC236}">
                <a16:creationId xmlns:a16="http://schemas.microsoft.com/office/drawing/2014/main" id="{CD460FDF-982D-4312-A38C-556B7342040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40680" y="60960"/>
            <a:ext cx="914400" cy="914400"/>
          </a:xfrm>
          <a:prstGeom prst="rect">
            <a:avLst/>
          </a:prstGeom>
        </p:spPr>
      </p:pic>
      <p:pic>
        <p:nvPicPr>
          <p:cNvPr id="15" name="Gráfico 14" descr="Caveira">
            <a:extLst>
              <a:ext uri="{FF2B5EF4-FFF2-40B4-BE49-F238E27FC236}">
                <a16:creationId xmlns:a16="http://schemas.microsoft.com/office/drawing/2014/main" id="{366ECFE2-4CFC-410E-BBAA-8A3E3081D8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677400" y="50800"/>
            <a:ext cx="914400" cy="914400"/>
          </a:xfrm>
          <a:prstGeom prst="rect">
            <a:avLst/>
          </a:prstGeom>
        </p:spPr>
      </p:pic>
      <p:sp>
        <p:nvSpPr>
          <p:cNvPr id="10" name="Retângulo 9">
            <a:extLst>
              <a:ext uri="{FF2B5EF4-FFF2-40B4-BE49-F238E27FC236}">
                <a16:creationId xmlns:a16="http://schemas.microsoft.com/office/drawing/2014/main" id="{7FC7B93A-01EB-4648-B86E-3C8891D8159F}"/>
              </a:ext>
            </a:extLst>
          </p:cNvPr>
          <p:cNvSpPr/>
          <p:nvPr/>
        </p:nvSpPr>
        <p:spPr>
          <a:xfrm>
            <a:off x="0" y="3891281"/>
            <a:ext cx="12192000" cy="3003080"/>
          </a:xfrm>
          <a:prstGeom prst="rect">
            <a:avLst/>
          </a:prstGeom>
        </p:spPr>
        <p:txBody>
          <a:bodyPr vert="horz" lIns="91440" tIns="45720" rIns="91440" bIns="45720" rtlCol="0" anchor="ctr">
            <a:noAutofit/>
          </a:bodyPr>
          <a:lstStyle/>
          <a:p>
            <a:pPr marL="228600" indent="-228600" defTabSz="914400">
              <a:lnSpc>
                <a:spcPct val="90000"/>
              </a:lnSpc>
              <a:spcBef>
                <a:spcPts val="1000"/>
              </a:spcBef>
              <a:buFont typeface="Arial" panose="020B0604020202020204" pitchFamily="34" charset="0"/>
              <a:buChar char="•"/>
            </a:pPr>
            <a:r>
              <a:rPr lang="pt-BR" sz="1600" dirty="0"/>
              <a:t>Somente as camadas de acesso quentes e frias podem ser definidas no nível da conta. A camada de acesso de arquivamento não está disponível no nível da conta.</a:t>
            </a:r>
          </a:p>
          <a:p>
            <a:pPr marL="228600" indent="-228600" defTabSz="914400">
              <a:lnSpc>
                <a:spcPct val="90000"/>
              </a:lnSpc>
              <a:spcBef>
                <a:spcPts val="1000"/>
              </a:spcBef>
              <a:buFont typeface="Arial" panose="020B0604020202020204" pitchFamily="34" charset="0"/>
              <a:buChar char="•"/>
            </a:pPr>
            <a:r>
              <a:rPr lang="pt-BR" sz="1600" dirty="0"/>
              <a:t>Camadas quentes, frias e de arquivo podem ser definidas no nível do </a:t>
            </a:r>
            <a:r>
              <a:rPr lang="pt-BR" sz="1600" dirty="0" err="1"/>
              <a:t>blob</a:t>
            </a:r>
            <a:r>
              <a:rPr lang="pt-BR" sz="1600" dirty="0"/>
              <a:t>.</a:t>
            </a:r>
          </a:p>
          <a:p>
            <a:pPr marL="228600" indent="-228600" defTabSz="914400">
              <a:lnSpc>
                <a:spcPct val="90000"/>
              </a:lnSpc>
              <a:spcBef>
                <a:spcPts val="1000"/>
              </a:spcBef>
              <a:buFont typeface="Arial" panose="020B0604020202020204" pitchFamily="34" charset="0"/>
              <a:buChar char="•"/>
            </a:pPr>
            <a:r>
              <a:rPr lang="pt-BR" sz="1600" dirty="0"/>
              <a:t>Os dados na camada de acesso frio podem tolerar uma disponibilidade ligeiramente menor, mas ainda exigem alta durabilidade, latência de recuperação e características de taxa de transferência semelhantes aos dados ativos. Para dados legais, um SLA (contrato de nível de serviço) de disponibilidade ligeiramente menor e custos de acesso mais altos em comparação com os dados ativos são compensações aceitáveis para reduzir os custos de armazenamento.</a:t>
            </a:r>
          </a:p>
          <a:p>
            <a:pPr marL="228600" indent="-228600" defTabSz="914400">
              <a:lnSpc>
                <a:spcPct val="90000"/>
              </a:lnSpc>
              <a:spcBef>
                <a:spcPts val="1000"/>
              </a:spcBef>
              <a:buFont typeface="Arial" panose="020B0604020202020204" pitchFamily="34" charset="0"/>
              <a:buChar char="•"/>
            </a:pPr>
            <a:r>
              <a:rPr lang="pt-BR" sz="1600" dirty="0"/>
              <a:t>O armazenamento de arquivos armazena dados offline e oferece os custos de armazenamento mais baixos, mas também os mais altos custos de acesso.</a:t>
            </a:r>
          </a:p>
        </p:txBody>
      </p:sp>
    </p:spTree>
    <p:extLst>
      <p:ext uri="{BB962C8B-B14F-4D97-AF65-F5344CB8AC3E}">
        <p14:creationId xmlns:p14="http://schemas.microsoft.com/office/powerpoint/2010/main" val="863971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FC2BAE-4C07-4BF4-8503-0642610C687F}"/>
              </a:ext>
            </a:extLst>
          </p:cNvPr>
          <p:cNvSpPr>
            <a:spLocks noGrp="1"/>
          </p:cNvSpPr>
          <p:nvPr>
            <p:ph type="title"/>
          </p:nvPr>
        </p:nvSpPr>
        <p:spPr>
          <a:xfrm>
            <a:off x="4258415" y="320853"/>
            <a:ext cx="9122584" cy="1325563"/>
          </a:xfrm>
        </p:spPr>
        <p:txBody>
          <a:bodyPr>
            <a:normAutofit/>
          </a:bodyPr>
          <a:lstStyle/>
          <a:p>
            <a:r>
              <a:rPr lang="pt-BR" sz="3200" b="1" dirty="0"/>
              <a:t>Redes Replicação, Redundância, Durabilidade</a:t>
            </a:r>
            <a:endParaRPr lang="pt-BR" sz="3200" dirty="0"/>
          </a:p>
        </p:txBody>
      </p:sp>
      <p:sp>
        <p:nvSpPr>
          <p:cNvPr id="3" name="Espaço Reservado para Conteúdo 2">
            <a:extLst>
              <a:ext uri="{FF2B5EF4-FFF2-40B4-BE49-F238E27FC236}">
                <a16:creationId xmlns:a16="http://schemas.microsoft.com/office/drawing/2014/main" id="{9826E00A-87EC-463D-A81A-9244A0367D56}"/>
              </a:ext>
            </a:extLst>
          </p:cNvPr>
          <p:cNvSpPr>
            <a:spLocks noGrp="1"/>
          </p:cNvSpPr>
          <p:nvPr>
            <p:ph idx="1"/>
          </p:nvPr>
        </p:nvSpPr>
        <p:spPr>
          <a:xfrm>
            <a:off x="1137017" y="1442720"/>
            <a:ext cx="7494629" cy="4309843"/>
          </a:xfrm>
        </p:spPr>
        <p:txBody>
          <a:bodyPr>
            <a:normAutofit lnSpcReduction="10000"/>
          </a:bodyPr>
          <a:lstStyle/>
          <a:p>
            <a:r>
              <a:rPr lang="pt-BR" sz="1600" dirty="0"/>
              <a:t>LRS (armazenamento com redundância local): Uma estratégia de replicação simples e de baixo custo. Os dados são replicados de forma síncrona três vezes dentro da região primária.</a:t>
            </a:r>
          </a:p>
          <a:p>
            <a:r>
              <a:rPr lang="pt-BR" sz="1600" dirty="0"/>
              <a:t>ZRS (armazenamento com redundância de zona): Replicação para cenários que exigem alta disponibilidade. Os dados são replicados de forma síncrona em três zonas de disponibilidade do Azure na região primária.</a:t>
            </a:r>
          </a:p>
          <a:p>
            <a:r>
              <a:rPr lang="pt-BR" sz="1600" dirty="0"/>
              <a:t>GRS (Armazenamento com redundância geográfica): Replicação entre regiões para proteger contra interrupções regionais. Os dados são replicados de forma síncrona três vezes na região primária e, em seguida, replicados assincronamente para a região secundária. Para acesso de leitura aos dados na região secundária, habilite o armazenamento com redundância geográfica com acesso de leitura (RA-GRS).</a:t>
            </a:r>
          </a:p>
          <a:p>
            <a:r>
              <a:rPr lang="pt-BR" sz="1600" dirty="0"/>
              <a:t>GZRS (Armazenamento com redundância de zona geográfica) (visualização): Replicação para cenários que exigem alta disponibilidade e durabilidade máxima. Os dados são replicados de forma síncrona em três zonas de disponibilidade do Azure na região primária e, em seguida, replicados assincronamente para a região secundária. Para acesso de leitura aos dados na região secundária, habilite o armazenamento com redundância de zona geográfica com acesso de leitura (RA-GZRS).</a:t>
            </a:r>
          </a:p>
          <a:p>
            <a:endParaRPr lang="pt-BR" sz="1000" dirty="0"/>
          </a:p>
        </p:txBody>
      </p:sp>
      <p:sp>
        <p:nvSpPr>
          <p:cNvPr id="20" name="Freeform 6">
            <a:extLst>
              <a:ext uri="{FF2B5EF4-FFF2-40B4-BE49-F238E27FC236}">
                <a16:creationId xmlns:a16="http://schemas.microsoft.com/office/drawing/2014/main" id="{A9616D99-AEFB-4C95-84EF-5DEC698D9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rgbClr val="4C4C4C"/>
          </a:solidFill>
          <a:ln w="0">
            <a:noFill/>
            <a:prstDash val="solid"/>
            <a:round/>
            <a:headEnd/>
            <a:tailEnd/>
          </a:ln>
        </p:spPr>
        <p:txBody>
          <a:bodyPr/>
          <a:lstStyle/>
          <a:p>
            <a:endParaRPr lang="pt-BR"/>
          </a:p>
        </p:txBody>
      </p:sp>
      <p:sp>
        <p:nvSpPr>
          <p:cNvPr id="22" name="Freeform 6">
            <a:extLst>
              <a:ext uri="{FF2B5EF4-FFF2-40B4-BE49-F238E27FC236}">
                <a16:creationId xmlns:a16="http://schemas.microsoft.com/office/drawing/2014/main" id="{D0F97023-F626-4FC5-8C2D-753B5C7F4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rgbClr val="4C4C4C"/>
          </a:solidFill>
          <a:ln w="0">
            <a:noFill/>
            <a:prstDash val="solid"/>
            <a:round/>
            <a:headEnd/>
            <a:tailEnd/>
          </a:ln>
        </p:spPr>
        <p:txBody>
          <a:bodyPr/>
          <a:lstStyle/>
          <a:p>
            <a:endParaRPr lang="pt-BR"/>
          </a:p>
        </p:txBody>
      </p:sp>
      <p:pic>
        <p:nvPicPr>
          <p:cNvPr id="7" name="Graphic 6">
            <a:extLst>
              <a:ext uri="{FF2B5EF4-FFF2-40B4-BE49-F238E27FC236}">
                <a16:creationId xmlns:a16="http://schemas.microsoft.com/office/drawing/2014/main" id="{12B47DB3-F8FF-44B2-8540-29E2CAD50D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2092" y="4125996"/>
            <a:ext cx="1485771" cy="1485771"/>
          </a:xfrm>
          <a:prstGeom prst="rect">
            <a:avLst/>
          </a:prstGeom>
        </p:spPr>
      </p:pic>
      <p:pic>
        <p:nvPicPr>
          <p:cNvPr id="12" name="Graphic 6">
            <a:extLst>
              <a:ext uri="{FF2B5EF4-FFF2-40B4-BE49-F238E27FC236}">
                <a16:creationId xmlns:a16="http://schemas.microsoft.com/office/drawing/2014/main" id="{29845BA3-B615-4164-97A7-E02E680EBEB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71514" y="3613573"/>
            <a:ext cx="1749710" cy="1749710"/>
          </a:xfrm>
          <a:prstGeom prst="rect">
            <a:avLst/>
          </a:prstGeom>
        </p:spPr>
      </p:pic>
      <p:pic>
        <p:nvPicPr>
          <p:cNvPr id="13" name="Graphic 6">
            <a:extLst>
              <a:ext uri="{FF2B5EF4-FFF2-40B4-BE49-F238E27FC236}">
                <a16:creationId xmlns:a16="http://schemas.microsoft.com/office/drawing/2014/main" id="{A7560606-F4DA-4284-BE87-159D30F11AB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53522" y="2509632"/>
            <a:ext cx="1660999" cy="1660999"/>
          </a:xfrm>
          <a:prstGeom prst="rect">
            <a:avLst/>
          </a:prstGeom>
        </p:spPr>
      </p:pic>
    </p:spTree>
    <p:extLst>
      <p:ext uri="{BB962C8B-B14F-4D97-AF65-F5344CB8AC3E}">
        <p14:creationId xmlns:p14="http://schemas.microsoft.com/office/powerpoint/2010/main" val="28454165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C77168-CB2A-45D0-AD8A-7801AE568E66}"/>
              </a:ext>
            </a:extLst>
          </p:cNvPr>
          <p:cNvSpPr>
            <a:spLocks noGrp="1"/>
          </p:cNvSpPr>
          <p:nvPr>
            <p:ph type="title"/>
          </p:nvPr>
        </p:nvSpPr>
        <p:spPr>
          <a:xfrm>
            <a:off x="2631440" y="0"/>
            <a:ext cx="10515600" cy="1325563"/>
          </a:xfrm>
        </p:spPr>
        <p:txBody>
          <a:bodyPr/>
          <a:lstStyle/>
          <a:p>
            <a:r>
              <a:rPr lang="pt-BR" b="1" dirty="0"/>
              <a:t>Disks for Azure</a:t>
            </a:r>
            <a:endParaRPr lang="pt-BR" dirty="0"/>
          </a:p>
        </p:txBody>
      </p:sp>
      <p:graphicFrame>
        <p:nvGraphicFramePr>
          <p:cNvPr id="8" name="Diagrama 7">
            <a:extLst>
              <a:ext uri="{FF2B5EF4-FFF2-40B4-BE49-F238E27FC236}">
                <a16:creationId xmlns:a16="http://schemas.microsoft.com/office/drawing/2014/main" id="{70BEF897-82E6-44B4-BDB5-2F85BB028FA1}"/>
              </a:ext>
            </a:extLst>
          </p:cNvPr>
          <p:cNvGraphicFramePr/>
          <p:nvPr>
            <p:extLst>
              <p:ext uri="{D42A27DB-BD31-4B8C-83A1-F6EECF244321}">
                <p14:modId xmlns:p14="http://schemas.microsoft.com/office/powerpoint/2010/main" val="347178245"/>
              </p:ext>
            </p:extLst>
          </p:nvPr>
        </p:nvGraphicFramePr>
        <p:xfrm>
          <a:off x="0" y="0"/>
          <a:ext cx="12192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Seta: da Esquerda para a Direita 8">
            <a:extLst>
              <a:ext uri="{FF2B5EF4-FFF2-40B4-BE49-F238E27FC236}">
                <a16:creationId xmlns:a16="http://schemas.microsoft.com/office/drawing/2014/main" id="{0ED5B265-A183-4836-9ACE-147B57097FEF}"/>
              </a:ext>
            </a:extLst>
          </p:cNvPr>
          <p:cNvSpPr/>
          <p:nvPr/>
        </p:nvSpPr>
        <p:spPr>
          <a:xfrm>
            <a:off x="162560" y="5699760"/>
            <a:ext cx="11775440" cy="93472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         $$$         (-)</a:t>
            </a:r>
          </a:p>
        </p:txBody>
      </p:sp>
    </p:spTree>
    <p:extLst>
      <p:ext uri="{BB962C8B-B14F-4D97-AF65-F5344CB8AC3E}">
        <p14:creationId xmlns:p14="http://schemas.microsoft.com/office/powerpoint/2010/main" val="7033363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744182F2-2FB0-4067-AE08-C12B73533327}"/>
              </a:ext>
            </a:extLst>
          </p:cNvPr>
          <p:cNvSpPr>
            <a:spLocks noGrp="1"/>
          </p:cNvSpPr>
          <p:nvPr>
            <p:ph type="title"/>
          </p:nvPr>
        </p:nvSpPr>
        <p:spPr>
          <a:xfrm>
            <a:off x="863029" y="1012004"/>
            <a:ext cx="3416158" cy="4795408"/>
          </a:xfrm>
        </p:spPr>
        <p:txBody>
          <a:bodyPr>
            <a:normAutofit/>
          </a:bodyPr>
          <a:lstStyle/>
          <a:p>
            <a:r>
              <a:rPr lang="pt-BR" sz="4400">
                <a:solidFill>
                  <a:srgbClr val="FFFFFF"/>
                </a:solidFill>
              </a:rPr>
              <a:t>Storage Advanced</a:t>
            </a:r>
          </a:p>
        </p:txBody>
      </p:sp>
      <p:graphicFrame>
        <p:nvGraphicFramePr>
          <p:cNvPr id="6" name="Diagrama 5">
            <a:extLst>
              <a:ext uri="{FF2B5EF4-FFF2-40B4-BE49-F238E27FC236}">
                <a16:creationId xmlns:a16="http://schemas.microsoft.com/office/drawing/2014/main" id="{77A44D7B-9272-4CD5-8507-CFA785FEE882}"/>
              </a:ext>
            </a:extLst>
          </p:cNvPr>
          <p:cNvGraphicFramePr/>
          <p:nvPr>
            <p:extLst>
              <p:ext uri="{D42A27DB-BD31-4B8C-83A1-F6EECF244321}">
                <p14:modId xmlns:p14="http://schemas.microsoft.com/office/powerpoint/2010/main" val="2508190254"/>
              </p:ext>
            </p:extLst>
          </p:nvPr>
        </p:nvGraphicFramePr>
        <p:xfrm>
          <a:off x="3810000" y="0"/>
          <a:ext cx="8382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44816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23B1EA-B90B-4E78-9652-D5D6E499014B}"/>
              </a:ext>
            </a:extLst>
          </p:cNvPr>
          <p:cNvSpPr>
            <a:spLocks noGrp="1"/>
          </p:cNvSpPr>
          <p:nvPr>
            <p:ph type="title"/>
          </p:nvPr>
        </p:nvSpPr>
        <p:spPr>
          <a:xfrm>
            <a:off x="838200" y="365125"/>
            <a:ext cx="10515600" cy="752475"/>
          </a:xfrm>
        </p:spPr>
        <p:txBody>
          <a:bodyPr/>
          <a:lstStyle/>
          <a:p>
            <a:r>
              <a:rPr lang="pt-BR" dirty="0" err="1"/>
              <a:t>Storage</a:t>
            </a:r>
            <a:r>
              <a:rPr lang="pt-BR" dirty="0"/>
              <a:t> </a:t>
            </a:r>
            <a:r>
              <a:rPr lang="pt-BR" dirty="0" err="1"/>
              <a:t>Account</a:t>
            </a:r>
            <a:endParaRPr lang="pt-BR" dirty="0"/>
          </a:p>
        </p:txBody>
      </p:sp>
      <p:pic>
        <p:nvPicPr>
          <p:cNvPr id="4" name="Imagem 3">
            <a:extLst>
              <a:ext uri="{FF2B5EF4-FFF2-40B4-BE49-F238E27FC236}">
                <a16:creationId xmlns:a16="http://schemas.microsoft.com/office/drawing/2014/main" id="{806C7E79-4C7C-47FB-9864-19A02D790DE6}"/>
              </a:ext>
            </a:extLst>
          </p:cNvPr>
          <p:cNvPicPr>
            <a:picLocks noChangeAspect="1"/>
          </p:cNvPicPr>
          <p:nvPr/>
        </p:nvPicPr>
        <p:blipFill>
          <a:blip r:embed="rId2"/>
          <a:stretch>
            <a:fillRect/>
          </a:stretch>
        </p:blipFill>
        <p:spPr>
          <a:xfrm>
            <a:off x="165074" y="1463675"/>
            <a:ext cx="6672112" cy="5029200"/>
          </a:xfrm>
          <a:prstGeom prst="rect">
            <a:avLst/>
          </a:prstGeom>
        </p:spPr>
      </p:pic>
      <p:pic>
        <p:nvPicPr>
          <p:cNvPr id="5" name="Imagem 4">
            <a:extLst>
              <a:ext uri="{FF2B5EF4-FFF2-40B4-BE49-F238E27FC236}">
                <a16:creationId xmlns:a16="http://schemas.microsoft.com/office/drawing/2014/main" id="{A62D23EE-DBD1-4469-8B70-E87DBA3ADC9C}"/>
              </a:ext>
            </a:extLst>
          </p:cNvPr>
          <p:cNvPicPr>
            <a:picLocks noChangeAspect="1"/>
          </p:cNvPicPr>
          <p:nvPr/>
        </p:nvPicPr>
        <p:blipFill>
          <a:blip r:embed="rId3"/>
          <a:stretch>
            <a:fillRect/>
          </a:stretch>
        </p:blipFill>
        <p:spPr>
          <a:xfrm>
            <a:off x="6370327" y="3220720"/>
            <a:ext cx="5656599" cy="3429000"/>
          </a:xfrm>
          <a:prstGeom prst="rect">
            <a:avLst/>
          </a:prstGeom>
          <a:effectLst>
            <a:innerShdw blurRad="63500" dist="50800" dir="13500000">
              <a:srgbClr val="FF0000">
                <a:alpha val="50000"/>
              </a:srgbClr>
            </a:innerShdw>
          </a:effectLst>
        </p:spPr>
      </p:pic>
      <p:pic>
        <p:nvPicPr>
          <p:cNvPr id="6" name="Imagem 5">
            <a:extLst>
              <a:ext uri="{FF2B5EF4-FFF2-40B4-BE49-F238E27FC236}">
                <a16:creationId xmlns:a16="http://schemas.microsoft.com/office/drawing/2014/main" id="{CCAAA641-1C0B-43E0-A104-E39F77C893E8}"/>
              </a:ext>
            </a:extLst>
          </p:cNvPr>
          <p:cNvPicPr>
            <a:picLocks noChangeAspect="1"/>
          </p:cNvPicPr>
          <p:nvPr/>
        </p:nvPicPr>
        <p:blipFill>
          <a:blip r:embed="rId4"/>
          <a:stretch>
            <a:fillRect/>
          </a:stretch>
        </p:blipFill>
        <p:spPr>
          <a:xfrm>
            <a:off x="6370327" y="0"/>
            <a:ext cx="5543233" cy="3098868"/>
          </a:xfrm>
          <a:prstGeom prst="rect">
            <a:avLst/>
          </a:prstGeom>
          <a:effectLst>
            <a:innerShdw blurRad="63500" dist="50800" dir="13500000">
              <a:srgbClr val="FF0000">
                <a:alpha val="50000"/>
              </a:srgbClr>
            </a:innerShdw>
          </a:effectLst>
        </p:spPr>
      </p:pic>
    </p:spTree>
    <p:extLst>
      <p:ext uri="{BB962C8B-B14F-4D97-AF65-F5344CB8AC3E}">
        <p14:creationId xmlns:p14="http://schemas.microsoft.com/office/powerpoint/2010/main" val="32954374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9C94CA-FD19-49EF-BBC6-02B405553F62}"/>
              </a:ext>
            </a:extLst>
          </p:cNvPr>
          <p:cNvSpPr>
            <a:spLocks noGrp="1"/>
          </p:cNvSpPr>
          <p:nvPr>
            <p:ph type="title"/>
          </p:nvPr>
        </p:nvSpPr>
        <p:spPr>
          <a:xfrm>
            <a:off x="838199" y="291090"/>
            <a:ext cx="10515599" cy="932688"/>
          </a:xfrm>
        </p:spPr>
        <p:txBody>
          <a:bodyPr vert="horz" lIns="91440" tIns="45720" rIns="91440" bIns="45720" rtlCol="0" anchor="b">
            <a:normAutofit/>
          </a:bodyPr>
          <a:lstStyle/>
          <a:p>
            <a:pPr algn="ctr"/>
            <a:r>
              <a:rPr lang="en-US" sz="4800" kern="1200">
                <a:solidFill>
                  <a:schemeClr val="tx1"/>
                </a:solidFill>
                <a:latin typeface="+mj-lt"/>
                <a:ea typeface="+mj-ea"/>
                <a:cs typeface="+mj-cs"/>
              </a:rPr>
              <a:t>Azure Storage Explorer</a:t>
            </a:r>
          </a:p>
        </p:txBody>
      </p:sp>
      <p:pic>
        <p:nvPicPr>
          <p:cNvPr id="5" name="Imagem 4">
            <a:extLst>
              <a:ext uri="{FF2B5EF4-FFF2-40B4-BE49-F238E27FC236}">
                <a16:creationId xmlns:a16="http://schemas.microsoft.com/office/drawing/2014/main" id="{1B8C5A5E-DC75-4DEE-8293-5A4C8224C3BD}"/>
              </a:ext>
            </a:extLst>
          </p:cNvPr>
          <p:cNvPicPr>
            <a:picLocks noChangeAspect="1"/>
          </p:cNvPicPr>
          <p:nvPr/>
        </p:nvPicPr>
        <p:blipFill>
          <a:blip r:embed="rId2"/>
          <a:stretch>
            <a:fillRect/>
          </a:stretch>
        </p:blipFill>
        <p:spPr>
          <a:xfrm>
            <a:off x="1674560" y="1223778"/>
            <a:ext cx="9542080" cy="5484597"/>
          </a:xfrm>
          <a:prstGeom prst="rect">
            <a:avLst/>
          </a:prstGeom>
        </p:spPr>
      </p:pic>
    </p:spTree>
    <p:extLst>
      <p:ext uri="{BB962C8B-B14F-4D97-AF65-F5344CB8AC3E}">
        <p14:creationId xmlns:p14="http://schemas.microsoft.com/office/powerpoint/2010/main" val="4343326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69D2A6-3CBB-4A8A-A8B9-CD9E35732500}"/>
              </a:ext>
            </a:extLst>
          </p:cNvPr>
          <p:cNvSpPr>
            <a:spLocks noGrp="1"/>
          </p:cNvSpPr>
          <p:nvPr>
            <p:ph type="title"/>
          </p:nvPr>
        </p:nvSpPr>
        <p:spPr>
          <a:xfrm>
            <a:off x="838200" y="365125"/>
            <a:ext cx="10515600" cy="935355"/>
          </a:xfrm>
        </p:spPr>
        <p:txBody>
          <a:bodyPr/>
          <a:lstStyle/>
          <a:p>
            <a:r>
              <a:rPr lang="pt-BR" dirty="0" err="1"/>
              <a:t>Conteiners</a:t>
            </a:r>
            <a:endParaRPr lang="pt-BR" dirty="0"/>
          </a:p>
        </p:txBody>
      </p:sp>
      <p:sp>
        <p:nvSpPr>
          <p:cNvPr id="3" name="Espaço Reservado para Conteúdo 2">
            <a:extLst>
              <a:ext uri="{FF2B5EF4-FFF2-40B4-BE49-F238E27FC236}">
                <a16:creationId xmlns:a16="http://schemas.microsoft.com/office/drawing/2014/main" id="{002AACD4-1DA9-4DE9-B5A2-BDFA9F8BB431}"/>
              </a:ext>
            </a:extLst>
          </p:cNvPr>
          <p:cNvSpPr>
            <a:spLocks noGrp="1"/>
          </p:cNvSpPr>
          <p:nvPr>
            <p:ph idx="1"/>
          </p:nvPr>
        </p:nvSpPr>
        <p:spPr>
          <a:xfrm>
            <a:off x="665480" y="1300480"/>
            <a:ext cx="10515600" cy="5364480"/>
          </a:xfrm>
        </p:spPr>
        <p:txBody>
          <a:bodyPr>
            <a:normAutofit/>
          </a:bodyPr>
          <a:lstStyle/>
          <a:p>
            <a:r>
              <a:rPr lang="pt-BR" dirty="0" err="1"/>
              <a:t>Blob</a:t>
            </a:r>
            <a:r>
              <a:rPr lang="pt-BR" dirty="0"/>
              <a:t> </a:t>
            </a:r>
            <a:r>
              <a:rPr lang="pt-BR" dirty="0" err="1"/>
              <a:t>Conteiner</a:t>
            </a:r>
            <a:endParaRPr lang="pt-BR" dirty="0"/>
          </a:p>
          <a:p>
            <a:pPr lvl="1"/>
            <a:r>
              <a:rPr lang="pt-BR" dirty="0"/>
              <a:t>Access </a:t>
            </a:r>
            <a:r>
              <a:rPr lang="pt-BR" dirty="0" err="1"/>
              <a:t>Policy</a:t>
            </a:r>
            <a:endParaRPr lang="pt-BR" dirty="0"/>
          </a:p>
          <a:p>
            <a:pPr lvl="2"/>
            <a:r>
              <a:rPr lang="pt-BR" dirty="0"/>
              <a:t>Private – Não permite acesso </a:t>
            </a:r>
            <a:r>
              <a:rPr lang="pt-BR" dirty="0" err="1"/>
              <a:t>anonimo</a:t>
            </a:r>
            <a:r>
              <a:rPr lang="pt-BR" dirty="0"/>
              <a:t>.</a:t>
            </a:r>
          </a:p>
          <a:p>
            <a:pPr lvl="2"/>
            <a:r>
              <a:rPr lang="pt-BR" dirty="0" err="1"/>
              <a:t>Blob</a:t>
            </a:r>
            <a:r>
              <a:rPr lang="pt-BR" dirty="0"/>
              <a:t> – Acesso de leitura anônimo apenas para </a:t>
            </a:r>
            <a:r>
              <a:rPr lang="pt-BR" dirty="0" err="1"/>
              <a:t>blob</a:t>
            </a:r>
            <a:r>
              <a:rPr lang="pt-BR" dirty="0"/>
              <a:t>.</a:t>
            </a:r>
          </a:p>
          <a:p>
            <a:pPr lvl="2"/>
            <a:r>
              <a:rPr lang="pt-BR" dirty="0"/>
              <a:t>Container - Acesso de leitura anônimo para </a:t>
            </a:r>
            <a:r>
              <a:rPr lang="pt-BR" dirty="0" err="1"/>
              <a:t>blob</a:t>
            </a:r>
            <a:r>
              <a:rPr lang="pt-BR" dirty="0"/>
              <a:t> e </a:t>
            </a:r>
            <a:r>
              <a:rPr lang="pt-BR" dirty="0" err="1"/>
              <a:t>conteiner</a:t>
            </a:r>
            <a:r>
              <a:rPr lang="pt-BR" dirty="0"/>
              <a:t>.</a:t>
            </a:r>
          </a:p>
          <a:p>
            <a:endParaRPr lang="pt-BR" dirty="0"/>
          </a:p>
          <a:p>
            <a:endParaRPr lang="pt-BR" dirty="0"/>
          </a:p>
          <a:p>
            <a:endParaRPr lang="pt-BR" dirty="0"/>
          </a:p>
          <a:p>
            <a:endParaRPr lang="pt-BR" dirty="0"/>
          </a:p>
          <a:p>
            <a:r>
              <a:rPr lang="pt-BR" dirty="0"/>
              <a:t>File </a:t>
            </a:r>
            <a:r>
              <a:rPr lang="pt-BR" dirty="0" err="1"/>
              <a:t>Share</a:t>
            </a:r>
            <a:r>
              <a:rPr lang="pt-BR" dirty="0"/>
              <a:t> </a:t>
            </a:r>
          </a:p>
          <a:p>
            <a:pPr lvl="1"/>
            <a:r>
              <a:rPr lang="pt-BR" dirty="0"/>
              <a:t>Define cota para limitar o tamanho total dos arquivos no compartilhamento</a:t>
            </a:r>
          </a:p>
          <a:p>
            <a:endParaRPr lang="pt-BR" dirty="0"/>
          </a:p>
          <a:p>
            <a:pPr lvl="1"/>
            <a:endParaRPr lang="pt-BR" dirty="0"/>
          </a:p>
        </p:txBody>
      </p:sp>
      <p:pic>
        <p:nvPicPr>
          <p:cNvPr id="4" name="Imagem 3">
            <a:extLst>
              <a:ext uri="{FF2B5EF4-FFF2-40B4-BE49-F238E27FC236}">
                <a16:creationId xmlns:a16="http://schemas.microsoft.com/office/drawing/2014/main" id="{3E048090-48B2-443F-AC64-B4AD16EA5C84}"/>
              </a:ext>
            </a:extLst>
          </p:cNvPr>
          <p:cNvPicPr>
            <a:picLocks noChangeAspect="1"/>
          </p:cNvPicPr>
          <p:nvPr/>
        </p:nvPicPr>
        <p:blipFill>
          <a:blip r:embed="rId2"/>
          <a:stretch>
            <a:fillRect/>
          </a:stretch>
        </p:blipFill>
        <p:spPr>
          <a:xfrm>
            <a:off x="2778760" y="3285759"/>
            <a:ext cx="8575040" cy="1958380"/>
          </a:xfrm>
          <a:prstGeom prst="rect">
            <a:avLst/>
          </a:prstGeom>
        </p:spPr>
      </p:pic>
      <p:pic>
        <p:nvPicPr>
          <p:cNvPr id="5" name="Imagem 4">
            <a:extLst>
              <a:ext uri="{FF2B5EF4-FFF2-40B4-BE49-F238E27FC236}">
                <a16:creationId xmlns:a16="http://schemas.microsoft.com/office/drawing/2014/main" id="{E8729E26-3308-4ACB-B86C-326905FC2258}"/>
              </a:ext>
            </a:extLst>
          </p:cNvPr>
          <p:cNvPicPr>
            <a:picLocks noChangeAspect="1"/>
          </p:cNvPicPr>
          <p:nvPr/>
        </p:nvPicPr>
        <p:blipFill>
          <a:blip r:embed="rId3"/>
          <a:stretch>
            <a:fillRect/>
          </a:stretch>
        </p:blipFill>
        <p:spPr>
          <a:xfrm>
            <a:off x="5252720" y="547141"/>
            <a:ext cx="5764213" cy="1629351"/>
          </a:xfrm>
          <a:prstGeom prst="rect">
            <a:avLst/>
          </a:prstGeom>
        </p:spPr>
      </p:pic>
    </p:spTree>
    <p:extLst>
      <p:ext uri="{BB962C8B-B14F-4D97-AF65-F5344CB8AC3E}">
        <p14:creationId xmlns:p14="http://schemas.microsoft.com/office/powerpoint/2010/main" val="13694165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E11543D5-C568-46C1-95E6-02DFE0901F72}"/>
              </a:ext>
            </a:extLst>
          </p:cNvPr>
          <p:cNvSpPr>
            <a:spLocks noGrp="1"/>
          </p:cNvSpPr>
          <p:nvPr>
            <p:ph type="title"/>
          </p:nvPr>
        </p:nvSpPr>
        <p:spPr>
          <a:xfrm>
            <a:off x="838200" y="253397"/>
            <a:ext cx="10515600" cy="1273233"/>
          </a:xfrm>
        </p:spPr>
        <p:txBody>
          <a:bodyPr>
            <a:normAutofit/>
          </a:bodyPr>
          <a:lstStyle/>
          <a:p>
            <a:r>
              <a:rPr lang="pt-BR" sz="4000"/>
              <a:t>SAS – Share Access Signature</a:t>
            </a:r>
          </a:p>
        </p:txBody>
      </p:sp>
      <p:sp>
        <p:nvSpPr>
          <p:cNvPr id="14"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ço Reservado para Conteúdo 2">
            <a:extLst>
              <a:ext uri="{FF2B5EF4-FFF2-40B4-BE49-F238E27FC236}">
                <a16:creationId xmlns:a16="http://schemas.microsoft.com/office/drawing/2014/main" id="{1F3C7E3B-0383-4335-A8EB-35E18472805E}"/>
              </a:ext>
            </a:extLst>
          </p:cNvPr>
          <p:cNvSpPr>
            <a:spLocks noGrp="1"/>
          </p:cNvSpPr>
          <p:nvPr>
            <p:ph idx="1"/>
          </p:nvPr>
        </p:nvSpPr>
        <p:spPr>
          <a:xfrm>
            <a:off x="838200" y="2478024"/>
            <a:ext cx="10515600" cy="3694176"/>
          </a:xfrm>
        </p:spPr>
        <p:txBody>
          <a:bodyPr>
            <a:normAutofit/>
          </a:bodyPr>
          <a:lstStyle/>
          <a:p>
            <a:r>
              <a:rPr lang="pt-BR" sz="1000"/>
              <a:t>Tipo de serviço: blob, file, queue e table.</a:t>
            </a:r>
          </a:p>
          <a:p>
            <a:r>
              <a:rPr lang="pt-BR" sz="1000"/>
              <a:t>Tipo de recurso: servisse, container e objeto.</a:t>
            </a:r>
          </a:p>
          <a:p>
            <a:r>
              <a:rPr lang="pt-BR" sz="1000"/>
              <a:t>Tipo de permissão: leitura, escrita, listar, deletar, adicionar, criar, atualizar e processar.</a:t>
            </a:r>
          </a:p>
          <a:p>
            <a:r>
              <a:rPr lang="pt-BR" sz="1000"/>
              <a:t>Data e hora de inicio e fim: data e hora de inicio, data e hora de expiração.</a:t>
            </a:r>
          </a:p>
          <a:p>
            <a:r>
              <a:rPr lang="pt-BR" sz="1000"/>
              <a:t>Ip ou Range de Ip permitido: Ip ou intervalo Ip.</a:t>
            </a:r>
          </a:p>
          <a:p>
            <a:r>
              <a:rPr lang="pt-BR" sz="1000"/>
              <a:t>Protocolo permitido: somente https ou http e https. </a:t>
            </a:r>
          </a:p>
          <a:p>
            <a:r>
              <a:rPr lang="pt-BR" sz="1000"/>
              <a:t>Associar a acces key: key1 ou key2. </a:t>
            </a:r>
          </a:p>
          <a:p>
            <a:r>
              <a:rPr lang="pt-BR" sz="1000"/>
              <a:t>Token </a:t>
            </a:r>
          </a:p>
          <a:p>
            <a:pPr lvl="1"/>
            <a:r>
              <a:rPr lang="pt-BR" sz="1000"/>
              <a:t>?sv=2019-02-02</a:t>
            </a:r>
          </a:p>
          <a:p>
            <a:pPr lvl="1"/>
            <a:r>
              <a:rPr lang="pt-BR" sz="1000"/>
              <a:t>&amp;ss=b </a:t>
            </a:r>
          </a:p>
          <a:p>
            <a:pPr lvl="1"/>
            <a:r>
              <a:rPr lang="pt-BR" sz="1000"/>
              <a:t>&amp;srt=sco </a:t>
            </a:r>
          </a:p>
          <a:p>
            <a:pPr lvl="1"/>
            <a:r>
              <a:rPr lang="pt-BR" sz="1000"/>
              <a:t>&amp;sp=rwdlac </a:t>
            </a:r>
          </a:p>
          <a:p>
            <a:pPr lvl="1"/>
            <a:r>
              <a:rPr lang="pt-BR" sz="1000"/>
              <a:t>&amp;se=2019-12-19T19:24:05Z </a:t>
            </a:r>
          </a:p>
          <a:p>
            <a:pPr lvl="1"/>
            <a:r>
              <a:rPr lang="pt-BR" sz="1000"/>
              <a:t>&amp;st=2019-12-19T11:24:05Z </a:t>
            </a:r>
          </a:p>
          <a:p>
            <a:pPr lvl="1"/>
            <a:r>
              <a:rPr lang="pt-BR" sz="1000"/>
              <a:t>&amp;spr=https </a:t>
            </a:r>
          </a:p>
          <a:p>
            <a:pPr lvl="1"/>
            <a:r>
              <a:rPr lang="pt-BR" sz="1000"/>
              <a:t>&amp;sig=zGmq2bSYDSG8IJ2D1sTEBnZj8lfkgf0eeDt2YcUoxSc%3D</a:t>
            </a:r>
          </a:p>
        </p:txBody>
      </p:sp>
    </p:spTree>
    <p:extLst>
      <p:ext uri="{BB962C8B-B14F-4D97-AF65-F5344CB8AC3E}">
        <p14:creationId xmlns:p14="http://schemas.microsoft.com/office/powerpoint/2010/main" val="38791989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1543D5-C568-46C1-95E6-02DFE0901F72}"/>
              </a:ext>
            </a:extLst>
          </p:cNvPr>
          <p:cNvSpPr>
            <a:spLocks noGrp="1"/>
          </p:cNvSpPr>
          <p:nvPr>
            <p:ph type="title"/>
          </p:nvPr>
        </p:nvSpPr>
        <p:spPr>
          <a:xfrm>
            <a:off x="685800" y="0"/>
            <a:ext cx="10515600" cy="1325563"/>
          </a:xfrm>
        </p:spPr>
        <p:txBody>
          <a:bodyPr/>
          <a:lstStyle/>
          <a:p>
            <a:r>
              <a:rPr lang="pt-BR" dirty="0"/>
              <a:t>SAS – </a:t>
            </a:r>
            <a:r>
              <a:rPr lang="pt-BR" dirty="0" err="1"/>
              <a:t>Share</a:t>
            </a:r>
            <a:r>
              <a:rPr lang="pt-BR" dirty="0"/>
              <a:t> Access </a:t>
            </a:r>
            <a:r>
              <a:rPr lang="pt-BR" dirty="0" err="1"/>
              <a:t>Signature</a:t>
            </a:r>
            <a:endParaRPr lang="pt-BR" dirty="0"/>
          </a:p>
        </p:txBody>
      </p:sp>
      <p:pic>
        <p:nvPicPr>
          <p:cNvPr id="6" name="Imagem 5">
            <a:extLst>
              <a:ext uri="{FF2B5EF4-FFF2-40B4-BE49-F238E27FC236}">
                <a16:creationId xmlns:a16="http://schemas.microsoft.com/office/drawing/2014/main" id="{1592B2AD-5B26-455A-B187-2BF37DB6B3B4}"/>
              </a:ext>
            </a:extLst>
          </p:cNvPr>
          <p:cNvPicPr>
            <a:picLocks noChangeAspect="1"/>
          </p:cNvPicPr>
          <p:nvPr/>
        </p:nvPicPr>
        <p:blipFill>
          <a:blip r:embed="rId2"/>
          <a:stretch>
            <a:fillRect/>
          </a:stretch>
        </p:blipFill>
        <p:spPr>
          <a:xfrm>
            <a:off x="523240" y="931586"/>
            <a:ext cx="11145520" cy="5842649"/>
          </a:xfrm>
          <a:prstGeom prst="rect">
            <a:avLst/>
          </a:prstGeom>
        </p:spPr>
      </p:pic>
      <p:pic>
        <p:nvPicPr>
          <p:cNvPr id="9" name="Imagem 8">
            <a:extLst>
              <a:ext uri="{FF2B5EF4-FFF2-40B4-BE49-F238E27FC236}">
                <a16:creationId xmlns:a16="http://schemas.microsoft.com/office/drawing/2014/main" id="{A4A5C8D6-1196-4C38-8624-8180A07B422F}"/>
              </a:ext>
            </a:extLst>
          </p:cNvPr>
          <p:cNvPicPr>
            <a:picLocks noChangeAspect="1"/>
          </p:cNvPicPr>
          <p:nvPr/>
        </p:nvPicPr>
        <p:blipFill>
          <a:blip r:embed="rId3"/>
          <a:stretch>
            <a:fillRect/>
          </a:stretch>
        </p:blipFill>
        <p:spPr>
          <a:xfrm>
            <a:off x="7576879" y="454001"/>
            <a:ext cx="4422683" cy="1743124"/>
          </a:xfrm>
          <a:prstGeom prst="rect">
            <a:avLst/>
          </a:prstGeom>
          <a:effectLst>
            <a:innerShdw blurRad="63500" dist="50800" dir="10800000">
              <a:srgbClr val="FF0000">
                <a:alpha val="50000"/>
              </a:srgbClr>
            </a:innerShdw>
          </a:effectLst>
        </p:spPr>
      </p:pic>
      <p:pic>
        <p:nvPicPr>
          <p:cNvPr id="10" name="Imagem 9">
            <a:extLst>
              <a:ext uri="{FF2B5EF4-FFF2-40B4-BE49-F238E27FC236}">
                <a16:creationId xmlns:a16="http://schemas.microsoft.com/office/drawing/2014/main" id="{EAC0DD4A-B9C0-47B2-B8F7-3D78EA411ADB}"/>
              </a:ext>
            </a:extLst>
          </p:cNvPr>
          <p:cNvPicPr>
            <a:picLocks noChangeAspect="1"/>
          </p:cNvPicPr>
          <p:nvPr/>
        </p:nvPicPr>
        <p:blipFill>
          <a:blip r:embed="rId4"/>
          <a:stretch>
            <a:fillRect/>
          </a:stretch>
        </p:blipFill>
        <p:spPr>
          <a:xfrm>
            <a:off x="7486980" y="4774164"/>
            <a:ext cx="4602480" cy="572257"/>
          </a:xfrm>
          <a:prstGeom prst="rect">
            <a:avLst/>
          </a:prstGeom>
          <a:effectLst>
            <a:innerShdw blurRad="63500" dist="50800" dir="13500000">
              <a:srgbClr val="FF0000">
                <a:alpha val="50000"/>
              </a:srgbClr>
            </a:innerShdw>
          </a:effectLst>
        </p:spPr>
      </p:pic>
      <p:sp>
        <p:nvSpPr>
          <p:cNvPr id="11" name="Retângulo 10">
            <a:extLst>
              <a:ext uri="{FF2B5EF4-FFF2-40B4-BE49-F238E27FC236}">
                <a16:creationId xmlns:a16="http://schemas.microsoft.com/office/drawing/2014/main" id="{8AE6FC64-CABB-41E7-AE1B-F2E7380E3345}"/>
              </a:ext>
            </a:extLst>
          </p:cNvPr>
          <p:cNvSpPr/>
          <p:nvPr/>
        </p:nvSpPr>
        <p:spPr>
          <a:xfrm>
            <a:off x="9144000" y="4181676"/>
            <a:ext cx="2348515" cy="35369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3865B6"/>
                </a:solidFill>
              </a:rPr>
              <a:t>Token no final da URL</a:t>
            </a:r>
          </a:p>
        </p:txBody>
      </p:sp>
      <p:cxnSp>
        <p:nvCxnSpPr>
          <p:cNvPr id="12" name="Conector de Seta Reta 11">
            <a:extLst>
              <a:ext uri="{FF2B5EF4-FFF2-40B4-BE49-F238E27FC236}">
                <a16:creationId xmlns:a16="http://schemas.microsoft.com/office/drawing/2014/main" id="{614DF06A-B35F-4B59-AABE-8A7927F80813}"/>
              </a:ext>
            </a:extLst>
          </p:cNvPr>
          <p:cNvCxnSpPr>
            <a:cxnSpLocks/>
            <a:stCxn id="11" idx="2"/>
            <a:endCxn id="10" idx="0"/>
          </p:cNvCxnSpPr>
          <p:nvPr/>
        </p:nvCxnSpPr>
        <p:spPr>
          <a:xfrm flipH="1">
            <a:off x="9788220" y="4535371"/>
            <a:ext cx="530038" cy="238793"/>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26825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1543D5-C568-46C1-95E6-02DFE0901F72}"/>
              </a:ext>
            </a:extLst>
          </p:cNvPr>
          <p:cNvSpPr>
            <a:spLocks noGrp="1"/>
          </p:cNvSpPr>
          <p:nvPr>
            <p:ph type="title"/>
          </p:nvPr>
        </p:nvSpPr>
        <p:spPr>
          <a:xfrm>
            <a:off x="685800" y="0"/>
            <a:ext cx="10515600" cy="1325563"/>
          </a:xfrm>
        </p:spPr>
        <p:txBody>
          <a:bodyPr/>
          <a:lstStyle/>
          <a:p>
            <a:r>
              <a:rPr lang="pt-BR" dirty="0"/>
              <a:t>SAS – </a:t>
            </a:r>
            <a:r>
              <a:rPr lang="pt-BR" dirty="0" err="1"/>
              <a:t>Share</a:t>
            </a:r>
            <a:r>
              <a:rPr lang="pt-BR" dirty="0"/>
              <a:t> Access </a:t>
            </a:r>
            <a:r>
              <a:rPr lang="pt-BR" dirty="0" err="1"/>
              <a:t>Signature</a:t>
            </a:r>
            <a:endParaRPr lang="pt-BR" dirty="0"/>
          </a:p>
        </p:txBody>
      </p:sp>
      <p:pic>
        <p:nvPicPr>
          <p:cNvPr id="3" name="Imagem 2">
            <a:extLst>
              <a:ext uri="{FF2B5EF4-FFF2-40B4-BE49-F238E27FC236}">
                <a16:creationId xmlns:a16="http://schemas.microsoft.com/office/drawing/2014/main" id="{9664EFAC-40A8-452A-9880-3C70DEB85B74}"/>
              </a:ext>
            </a:extLst>
          </p:cNvPr>
          <p:cNvPicPr>
            <a:picLocks noChangeAspect="1"/>
          </p:cNvPicPr>
          <p:nvPr/>
        </p:nvPicPr>
        <p:blipFill>
          <a:blip r:embed="rId2"/>
          <a:stretch>
            <a:fillRect/>
          </a:stretch>
        </p:blipFill>
        <p:spPr>
          <a:xfrm>
            <a:off x="232728" y="1072777"/>
            <a:ext cx="5324792" cy="1439750"/>
          </a:xfrm>
          <a:prstGeom prst="rect">
            <a:avLst/>
          </a:prstGeom>
        </p:spPr>
      </p:pic>
      <p:sp>
        <p:nvSpPr>
          <p:cNvPr id="13" name="Retângulo 12">
            <a:extLst>
              <a:ext uri="{FF2B5EF4-FFF2-40B4-BE49-F238E27FC236}">
                <a16:creationId xmlns:a16="http://schemas.microsoft.com/office/drawing/2014/main" id="{93460C5D-9880-4773-9883-F5A62A12C12D}"/>
              </a:ext>
            </a:extLst>
          </p:cNvPr>
          <p:cNvSpPr/>
          <p:nvPr/>
        </p:nvSpPr>
        <p:spPr>
          <a:xfrm>
            <a:off x="1720866" y="2309966"/>
            <a:ext cx="2348515" cy="35369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err="1">
                <a:solidFill>
                  <a:srgbClr val="3865B6"/>
                </a:solidFill>
              </a:rPr>
              <a:t>Policy</a:t>
            </a:r>
            <a:r>
              <a:rPr lang="pt-BR" b="1" dirty="0">
                <a:solidFill>
                  <a:srgbClr val="3865B6"/>
                </a:solidFill>
              </a:rPr>
              <a:t> Nomeada</a:t>
            </a:r>
          </a:p>
        </p:txBody>
      </p:sp>
      <p:cxnSp>
        <p:nvCxnSpPr>
          <p:cNvPr id="14" name="Conector de Seta Reta 13">
            <a:extLst>
              <a:ext uri="{FF2B5EF4-FFF2-40B4-BE49-F238E27FC236}">
                <a16:creationId xmlns:a16="http://schemas.microsoft.com/office/drawing/2014/main" id="{C7341BAE-B9C6-40A1-AA64-20CED2CCE06A}"/>
              </a:ext>
            </a:extLst>
          </p:cNvPr>
          <p:cNvCxnSpPr>
            <a:cxnSpLocks/>
            <a:stCxn id="13" idx="3"/>
            <a:endCxn id="15" idx="2"/>
          </p:cNvCxnSpPr>
          <p:nvPr/>
        </p:nvCxnSpPr>
        <p:spPr>
          <a:xfrm flipV="1">
            <a:off x="4069381" y="2259740"/>
            <a:ext cx="329899" cy="227074"/>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0D5BD8FD-1EB5-4EB5-85F4-E5F3FDA002B7}"/>
              </a:ext>
            </a:extLst>
          </p:cNvPr>
          <p:cNvSpPr/>
          <p:nvPr/>
        </p:nvSpPr>
        <p:spPr>
          <a:xfrm>
            <a:off x="4399280" y="2113280"/>
            <a:ext cx="762000" cy="29292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7" name="Imagem 16">
            <a:extLst>
              <a:ext uri="{FF2B5EF4-FFF2-40B4-BE49-F238E27FC236}">
                <a16:creationId xmlns:a16="http://schemas.microsoft.com/office/drawing/2014/main" id="{7A6FCE25-5B75-445A-8137-4B5A61A96E1E}"/>
              </a:ext>
            </a:extLst>
          </p:cNvPr>
          <p:cNvPicPr>
            <a:picLocks noChangeAspect="1"/>
          </p:cNvPicPr>
          <p:nvPr/>
        </p:nvPicPr>
        <p:blipFill>
          <a:blip r:embed="rId3"/>
          <a:stretch>
            <a:fillRect/>
          </a:stretch>
        </p:blipFill>
        <p:spPr>
          <a:xfrm>
            <a:off x="685800" y="2833027"/>
            <a:ext cx="4028990" cy="2883853"/>
          </a:xfrm>
          <a:prstGeom prst="rect">
            <a:avLst/>
          </a:prstGeom>
        </p:spPr>
      </p:pic>
      <p:pic>
        <p:nvPicPr>
          <p:cNvPr id="18" name="Imagem 17">
            <a:extLst>
              <a:ext uri="{FF2B5EF4-FFF2-40B4-BE49-F238E27FC236}">
                <a16:creationId xmlns:a16="http://schemas.microsoft.com/office/drawing/2014/main" id="{559322D7-0FCB-4484-9587-23A330FBC674}"/>
              </a:ext>
            </a:extLst>
          </p:cNvPr>
          <p:cNvPicPr>
            <a:picLocks noChangeAspect="1"/>
          </p:cNvPicPr>
          <p:nvPr/>
        </p:nvPicPr>
        <p:blipFill>
          <a:blip r:embed="rId4"/>
          <a:stretch>
            <a:fillRect/>
          </a:stretch>
        </p:blipFill>
        <p:spPr>
          <a:xfrm>
            <a:off x="6452235" y="1164332"/>
            <a:ext cx="5053965" cy="2483733"/>
          </a:xfrm>
          <a:prstGeom prst="rect">
            <a:avLst/>
          </a:prstGeom>
        </p:spPr>
      </p:pic>
      <p:sp>
        <p:nvSpPr>
          <p:cNvPr id="19" name="Retângulo 18">
            <a:extLst>
              <a:ext uri="{FF2B5EF4-FFF2-40B4-BE49-F238E27FC236}">
                <a16:creationId xmlns:a16="http://schemas.microsoft.com/office/drawing/2014/main" id="{B86721ED-CEA7-4A2C-A1A6-D8BE4F61E8D8}"/>
              </a:ext>
            </a:extLst>
          </p:cNvPr>
          <p:cNvSpPr/>
          <p:nvPr/>
        </p:nvSpPr>
        <p:spPr>
          <a:xfrm>
            <a:off x="7898146" y="525010"/>
            <a:ext cx="2348515" cy="35369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err="1">
                <a:solidFill>
                  <a:srgbClr val="3865B6"/>
                </a:solidFill>
              </a:rPr>
              <a:t>Policy</a:t>
            </a:r>
            <a:r>
              <a:rPr lang="pt-BR" b="1" dirty="0">
                <a:solidFill>
                  <a:srgbClr val="3865B6"/>
                </a:solidFill>
              </a:rPr>
              <a:t> </a:t>
            </a:r>
            <a:r>
              <a:rPr lang="pt-BR" b="1" dirty="0" err="1">
                <a:solidFill>
                  <a:srgbClr val="3865B6"/>
                </a:solidFill>
              </a:rPr>
              <a:t>Editavel</a:t>
            </a:r>
            <a:endParaRPr lang="pt-BR" b="1" dirty="0">
              <a:solidFill>
                <a:srgbClr val="3865B6"/>
              </a:solidFill>
            </a:endParaRPr>
          </a:p>
        </p:txBody>
      </p:sp>
      <p:cxnSp>
        <p:nvCxnSpPr>
          <p:cNvPr id="20" name="Conector de Seta Reta 19">
            <a:extLst>
              <a:ext uri="{FF2B5EF4-FFF2-40B4-BE49-F238E27FC236}">
                <a16:creationId xmlns:a16="http://schemas.microsoft.com/office/drawing/2014/main" id="{F7552338-30F2-4408-AF8D-E3D26797655F}"/>
              </a:ext>
            </a:extLst>
          </p:cNvPr>
          <p:cNvCxnSpPr>
            <a:cxnSpLocks/>
            <a:stCxn id="19" idx="2"/>
            <a:endCxn id="21" idx="2"/>
          </p:cNvCxnSpPr>
          <p:nvPr/>
        </p:nvCxnSpPr>
        <p:spPr>
          <a:xfrm>
            <a:off x="9072404" y="878705"/>
            <a:ext cx="55879" cy="1107261"/>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21" name="Elipse 20">
            <a:extLst>
              <a:ext uri="{FF2B5EF4-FFF2-40B4-BE49-F238E27FC236}">
                <a16:creationId xmlns:a16="http://schemas.microsoft.com/office/drawing/2014/main" id="{67D28E4A-BF8E-49A9-856A-5F9776EF69E5}"/>
              </a:ext>
            </a:extLst>
          </p:cNvPr>
          <p:cNvSpPr/>
          <p:nvPr/>
        </p:nvSpPr>
        <p:spPr>
          <a:xfrm>
            <a:off x="9128283" y="1839506"/>
            <a:ext cx="762000" cy="29292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4" name="Imagem 23">
            <a:extLst>
              <a:ext uri="{FF2B5EF4-FFF2-40B4-BE49-F238E27FC236}">
                <a16:creationId xmlns:a16="http://schemas.microsoft.com/office/drawing/2014/main" id="{AA03A5EB-3120-4496-8356-1F394B8D9201}"/>
              </a:ext>
            </a:extLst>
          </p:cNvPr>
          <p:cNvPicPr>
            <a:picLocks noChangeAspect="1"/>
          </p:cNvPicPr>
          <p:nvPr/>
        </p:nvPicPr>
        <p:blipFill>
          <a:blip r:embed="rId5"/>
          <a:stretch>
            <a:fillRect/>
          </a:stretch>
        </p:blipFill>
        <p:spPr>
          <a:xfrm>
            <a:off x="4578351" y="3003933"/>
            <a:ext cx="3319796" cy="2266561"/>
          </a:xfrm>
          <a:prstGeom prst="rect">
            <a:avLst/>
          </a:prstGeom>
        </p:spPr>
      </p:pic>
      <p:pic>
        <p:nvPicPr>
          <p:cNvPr id="25" name="Imagem 24">
            <a:extLst>
              <a:ext uri="{FF2B5EF4-FFF2-40B4-BE49-F238E27FC236}">
                <a16:creationId xmlns:a16="http://schemas.microsoft.com/office/drawing/2014/main" id="{A2E5A1D9-7FBE-44C1-88B2-56953A923480}"/>
              </a:ext>
            </a:extLst>
          </p:cNvPr>
          <p:cNvPicPr>
            <a:picLocks noChangeAspect="1"/>
          </p:cNvPicPr>
          <p:nvPr/>
        </p:nvPicPr>
        <p:blipFill>
          <a:blip r:embed="rId6"/>
          <a:stretch>
            <a:fillRect/>
          </a:stretch>
        </p:blipFill>
        <p:spPr>
          <a:xfrm>
            <a:off x="9528809" y="2677597"/>
            <a:ext cx="2601735" cy="2888823"/>
          </a:xfrm>
          <a:prstGeom prst="rect">
            <a:avLst/>
          </a:prstGeom>
        </p:spPr>
      </p:pic>
      <p:pic>
        <p:nvPicPr>
          <p:cNvPr id="26" name="Imagem 25">
            <a:extLst>
              <a:ext uri="{FF2B5EF4-FFF2-40B4-BE49-F238E27FC236}">
                <a16:creationId xmlns:a16="http://schemas.microsoft.com/office/drawing/2014/main" id="{4A2680D1-A33A-4CCE-B81A-ADDA78EED5A4}"/>
              </a:ext>
            </a:extLst>
          </p:cNvPr>
          <p:cNvPicPr>
            <a:picLocks noChangeAspect="1"/>
          </p:cNvPicPr>
          <p:nvPr/>
        </p:nvPicPr>
        <p:blipFill>
          <a:blip r:embed="rId7"/>
          <a:stretch>
            <a:fillRect/>
          </a:stretch>
        </p:blipFill>
        <p:spPr>
          <a:xfrm>
            <a:off x="6452235" y="4774307"/>
            <a:ext cx="3652034" cy="2076442"/>
          </a:xfrm>
          <a:prstGeom prst="rect">
            <a:avLst/>
          </a:prstGeom>
        </p:spPr>
      </p:pic>
    </p:spTree>
    <p:extLst>
      <p:ext uri="{BB962C8B-B14F-4D97-AF65-F5344CB8AC3E}">
        <p14:creationId xmlns:p14="http://schemas.microsoft.com/office/powerpoint/2010/main" val="41819544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B5FC483-10A1-4B24-8E4F-922837D106D5}"/>
              </a:ext>
            </a:extLst>
          </p:cNvPr>
          <p:cNvSpPr>
            <a:spLocks noGrp="1"/>
          </p:cNvSpPr>
          <p:nvPr>
            <p:ph type="title"/>
          </p:nvPr>
        </p:nvSpPr>
        <p:spPr>
          <a:xfrm>
            <a:off x="838200" y="631825"/>
            <a:ext cx="10515600" cy="1325563"/>
          </a:xfrm>
        </p:spPr>
        <p:txBody>
          <a:bodyPr>
            <a:normAutofit/>
          </a:bodyPr>
          <a:lstStyle/>
          <a:p>
            <a:r>
              <a:rPr lang="pt-BR" sz="4400" dirty="0"/>
              <a:t>Acesso aos Dados</a:t>
            </a:r>
          </a:p>
        </p:txBody>
      </p:sp>
      <p:sp>
        <p:nvSpPr>
          <p:cNvPr id="3" name="Espaço Reservado para Conteúdo 2">
            <a:extLst>
              <a:ext uri="{FF2B5EF4-FFF2-40B4-BE49-F238E27FC236}">
                <a16:creationId xmlns:a16="http://schemas.microsoft.com/office/drawing/2014/main" id="{9CFE2BC8-05AF-4F7C-B3C1-72E8668195CD}"/>
              </a:ext>
            </a:extLst>
          </p:cNvPr>
          <p:cNvSpPr>
            <a:spLocks noGrp="1"/>
          </p:cNvSpPr>
          <p:nvPr>
            <p:ph idx="1"/>
          </p:nvPr>
        </p:nvSpPr>
        <p:spPr>
          <a:xfrm>
            <a:off x="838200" y="2057400"/>
            <a:ext cx="10515600" cy="3871762"/>
          </a:xfrm>
        </p:spPr>
        <p:txBody>
          <a:bodyPr>
            <a:normAutofit/>
          </a:bodyPr>
          <a:lstStyle/>
          <a:p>
            <a:r>
              <a:rPr lang="pt-BR" sz="1700" b="1" dirty="0"/>
              <a:t>Integração do Azure Active </a:t>
            </a:r>
            <a:r>
              <a:rPr lang="pt-BR" sz="1700" b="1" dirty="0" err="1"/>
              <a:t>Directory</a:t>
            </a:r>
            <a:r>
              <a:rPr lang="pt-BR" sz="1700" b="1" dirty="0"/>
              <a:t> (Azure AD)</a:t>
            </a:r>
            <a:r>
              <a:rPr lang="pt-BR" sz="1700" dirty="0"/>
              <a:t> para </a:t>
            </a:r>
            <a:r>
              <a:rPr lang="pt-BR" sz="1700" dirty="0" err="1"/>
              <a:t>BLOBs</a:t>
            </a:r>
            <a:r>
              <a:rPr lang="pt-BR" sz="1700" dirty="0"/>
              <a:t> e filas. O Azure AD fornece RBAC (controle de acesso baseado em função) para um controle refinado sobre o acesso de um cliente a recursos em uma conta de armazenamento. </a:t>
            </a:r>
          </a:p>
          <a:p>
            <a:r>
              <a:rPr lang="pt-BR" sz="1700" b="1" dirty="0"/>
              <a:t>Integração de Azure AD Domain Services (DS) (versão prévia)</a:t>
            </a:r>
            <a:r>
              <a:rPr lang="pt-BR" sz="1700" dirty="0"/>
              <a:t> para arquivos. Os arquivos do Azure oferecem suporte à autenticação baseada em identidade sobre o protocolo SMB por meio do Azure AD DS. Isso fornece ao RBAC um controle refinado sobre o acesso de um cliente aos recursos em uma conta de armazenamento. </a:t>
            </a:r>
          </a:p>
          <a:p>
            <a:r>
              <a:rPr lang="pt-BR" sz="1700" b="1" dirty="0"/>
              <a:t>Autorização de chave compartilhada</a:t>
            </a:r>
            <a:r>
              <a:rPr lang="pt-BR" sz="1700" dirty="0"/>
              <a:t> para </a:t>
            </a:r>
            <a:r>
              <a:rPr lang="pt-BR" sz="1700" dirty="0" err="1"/>
              <a:t>blobs</a:t>
            </a:r>
            <a:r>
              <a:rPr lang="pt-BR" sz="1700" dirty="0"/>
              <a:t>, arquivos, filas e tabelas. Um cliente usando a Chave Compartilhada passa um cabeçalho com cada solicitação assinada usando a chave de acesso da conta de armazenamento. </a:t>
            </a:r>
          </a:p>
          <a:p>
            <a:r>
              <a:rPr lang="pt-BR" sz="1700" b="1" dirty="0"/>
              <a:t>Assinaturas de acesso compartilhado</a:t>
            </a:r>
            <a:r>
              <a:rPr lang="pt-BR" sz="1700" dirty="0"/>
              <a:t> para </a:t>
            </a:r>
            <a:r>
              <a:rPr lang="pt-BR" sz="1700" dirty="0" err="1"/>
              <a:t>blobs</a:t>
            </a:r>
            <a:r>
              <a:rPr lang="pt-BR" sz="1700" dirty="0"/>
              <a:t>, arquivos, filas e tabelas. SAS (assinaturas de acesso compartilhado) fornecem acesso delegado limitado a recursos em uma conta de armazenamento. Adicionar restrições no intervalo de tempo para o qual a assinatura é válida ou nas permissões concedidas fornecerá flexibilidade no gerenciamento de acesso.</a:t>
            </a:r>
          </a:p>
          <a:p>
            <a:r>
              <a:rPr lang="pt-BR" sz="1700" b="1" dirty="0"/>
              <a:t>Acesso de leitura pública anônimo</a:t>
            </a:r>
            <a:r>
              <a:rPr lang="pt-BR" sz="1700" dirty="0"/>
              <a:t> para contêineres e </a:t>
            </a:r>
            <a:r>
              <a:rPr lang="pt-BR" sz="1700" dirty="0" err="1"/>
              <a:t>blobs</a:t>
            </a:r>
            <a:r>
              <a:rPr lang="pt-BR" sz="1700" dirty="0"/>
              <a:t>. A autorização não é necessária. </a:t>
            </a:r>
          </a:p>
        </p:txBody>
      </p:sp>
    </p:spTree>
    <p:extLst>
      <p:ext uri="{BB962C8B-B14F-4D97-AF65-F5344CB8AC3E}">
        <p14:creationId xmlns:p14="http://schemas.microsoft.com/office/powerpoint/2010/main" val="33389049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B5FC483-10A1-4B24-8E4F-922837D106D5}"/>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a:solidFill>
                  <a:srgbClr val="FFFFFF"/>
                </a:solidFill>
                <a:latin typeface="+mj-lt"/>
                <a:ea typeface="+mj-ea"/>
                <a:cs typeface="+mj-cs"/>
              </a:rPr>
              <a:t>Acesso aos Dados</a:t>
            </a:r>
          </a:p>
        </p:txBody>
      </p:sp>
      <p:cxnSp>
        <p:nvCxnSpPr>
          <p:cNvPr id="11" name="Straight Connector 10">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graphicFrame>
        <p:nvGraphicFramePr>
          <p:cNvPr id="4" name="Tabela 3">
            <a:extLst>
              <a:ext uri="{FF2B5EF4-FFF2-40B4-BE49-F238E27FC236}">
                <a16:creationId xmlns:a16="http://schemas.microsoft.com/office/drawing/2014/main" id="{807A4505-CC42-4F8B-9418-F3EAEA7B14B0}"/>
              </a:ext>
            </a:extLst>
          </p:cNvPr>
          <p:cNvGraphicFramePr>
            <a:graphicFrameLocks noGrp="1"/>
          </p:cNvGraphicFramePr>
          <p:nvPr>
            <p:extLst>
              <p:ext uri="{D42A27DB-BD31-4B8C-83A1-F6EECF244321}">
                <p14:modId xmlns:p14="http://schemas.microsoft.com/office/powerpoint/2010/main" val="1144067104"/>
              </p:ext>
            </p:extLst>
          </p:nvPr>
        </p:nvGraphicFramePr>
        <p:xfrm>
          <a:off x="378069" y="2310834"/>
          <a:ext cx="11438791" cy="4313487"/>
        </p:xfrm>
        <a:graphic>
          <a:graphicData uri="http://schemas.openxmlformats.org/drawingml/2006/table">
            <a:tbl>
              <a:tblPr firstRow="1" bandRow="1">
                <a:tableStyleId>{5C22544A-7EE6-4342-B048-85BDC9FD1C3A}</a:tableStyleId>
              </a:tblPr>
              <a:tblGrid>
                <a:gridCol w="2161423">
                  <a:extLst>
                    <a:ext uri="{9D8B030D-6E8A-4147-A177-3AD203B41FA5}">
                      <a16:colId xmlns:a16="http://schemas.microsoft.com/office/drawing/2014/main" val="116765681"/>
                    </a:ext>
                  </a:extLst>
                </a:gridCol>
                <a:gridCol w="1879499">
                  <a:extLst>
                    <a:ext uri="{9D8B030D-6E8A-4147-A177-3AD203B41FA5}">
                      <a16:colId xmlns:a16="http://schemas.microsoft.com/office/drawing/2014/main" val="1680122431"/>
                    </a:ext>
                  </a:extLst>
                </a:gridCol>
                <a:gridCol w="2332790">
                  <a:extLst>
                    <a:ext uri="{9D8B030D-6E8A-4147-A177-3AD203B41FA5}">
                      <a16:colId xmlns:a16="http://schemas.microsoft.com/office/drawing/2014/main" val="1703918181"/>
                    </a:ext>
                  </a:extLst>
                </a:gridCol>
                <a:gridCol w="2896640">
                  <a:extLst>
                    <a:ext uri="{9D8B030D-6E8A-4147-A177-3AD203B41FA5}">
                      <a16:colId xmlns:a16="http://schemas.microsoft.com/office/drawing/2014/main" val="2910115041"/>
                    </a:ext>
                  </a:extLst>
                </a:gridCol>
                <a:gridCol w="2168439">
                  <a:extLst>
                    <a:ext uri="{9D8B030D-6E8A-4147-A177-3AD203B41FA5}">
                      <a16:colId xmlns:a16="http://schemas.microsoft.com/office/drawing/2014/main" val="3833414780"/>
                    </a:ext>
                  </a:extLst>
                </a:gridCol>
              </a:tblGrid>
              <a:tr h="1224413">
                <a:tc>
                  <a:txBody>
                    <a:bodyPr/>
                    <a:lstStyle/>
                    <a:p>
                      <a:pPr algn="l" fontAlgn="b"/>
                      <a:br>
                        <a:rPr lang="pt-BR" sz="1400" dirty="0">
                          <a:effectLst/>
                        </a:rPr>
                      </a:br>
                      <a:endParaRPr lang="pt-BR" sz="1400" dirty="0">
                        <a:effectLst/>
                      </a:endParaRPr>
                    </a:p>
                  </a:txBody>
                  <a:tcPr marL="57567" marR="57567" marT="43176" marB="43176" anchor="ctr"/>
                </a:tc>
                <a:tc>
                  <a:txBody>
                    <a:bodyPr/>
                    <a:lstStyle/>
                    <a:p>
                      <a:pPr algn="l" fontAlgn="b"/>
                      <a:r>
                        <a:rPr lang="pt-BR" sz="1400" dirty="0">
                          <a:effectLst/>
                        </a:rPr>
                        <a:t>Chave compartilhada (chave da conta de armazenamento)</a:t>
                      </a:r>
                    </a:p>
                  </a:txBody>
                  <a:tcPr marL="57567" marR="57567" marT="43176" marB="43176"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pt-BR" sz="1400" dirty="0">
                          <a:effectLst/>
                        </a:rPr>
                        <a:t>Assinatura de acesso compartilhado (SAS)</a:t>
                      </a:r>
                    </a:p>
                    <a:p>
                      <a:pPr algn="l" fontAlgn="b"/>
                      <a:endParaRPr lang="pt-BR" sz="1400" dirty="0">
                        <a:effectLst/>
                      </a:endParaRPr>
                    </a:p>
                  </a:txBody>
                  <a:tcPr marL="57567" marR="57567" marT="43176" marB="43176"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pt-BR" sz="1400" dirty="0">
                          <a:effectLst/>
                        </a:rPr>
                        <a:t>Active </a:t>
                      </a:r>
                      <a:r>
                        <a:rPr lang="pt-BR" sz="1400" dirty="0" err="1">
                          <a:effectLst/>
                        </a:rPr>
                        <a:t>Directory</a:t>
                      </a:r>
                      <a:r>
                        <a:rPr lang="pt-BR" sz="1400" dirty="0">
                          <a:effectLst/>
                        </a:rPr>
                        <a:t> do Azure (Azure AD)</a:t>
                      </a:r>
                    </a:p>
                    <a:p>
                      <a:pPr algn="l" fontAlgn="b"/>
                      <a:endParaRPr lang="pt-BR" sz="1400" dirty="0">
                        <a:effectLst/>
                      </a:endParaRPr>
                    </a:p>
                  </a:txBody>
                  <a:tcPr marL="57567" marR="57567" marT="43176" marB="4317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effectLst/>
                        </a:rPr>
                        <a:t>Acesso de leitura público anônimo</a:t>
                      </a:r>
                    </a:p>
                    <a:p>
                      <a:endParaRPr lang="pt-BR" sz="1400" dirty="0"/>
                    </a:p>
                  </a:txBody>
                  <a:tcPr marL="51810" marR="51810" marT="25906" marB="25906" anchor="ctr"/>
                </a:tc>
                <a:extLst>
                  <a:ext uri="{0D108BD9-81ED-4DB2-BD59-A6C34878D82A}">
                    <a16:rowId xmlns:a16="http://schemas.microsoft.com/office/drawing/2014/main" val="4120161858"/>
                  </a:ext>
                </a:extLst>
              </a:tr>
              <a:tr h="550415">
                <a:tc>
                  <a:txBody>
                    <a:bodyPr/>
                    <a:lstStyle/>
                    <a:p>
                      <a:pPr algn="l" fontAlgn="t"/>
                      <a:r>
                        <a:rPr lang="pt-BR" sz="1400">
                          <a:effectLst/>
                        </a:rPr>
                        <a:t>Blobs do Azure</a:t>
                      </a:r>
                    </a:p>
                  </a:txBody>
                  <a:tcPr marL="57567" marR="57567" marT="43176" marB="43176"/>
                </a:tc>
                <a:tc>
                  <a:txBody>
                    <a:bodyPr/>
                    <a:lstStyle/>
                    <a:p>
                      <a:pPr algn="l" fontAlgn="t"/>
                      <a:r>
                        <a:rPr lang="pt-BR" sz="1400" u="none" strike="noStrike" dirty="0">
                          <a:effectLst/>
                        </a:rPr>
                        <a:t>Com suporte</a:t>
                      </a:r>
                      <a:endParaRPr lang="pt-BR" sz="1400" dirty="0">
                        <a:effectLst/>
                      </a:endParaRPr>
                    </a:p>
                  </a:txBody>
                  <a:tcPr marL="57567" marR="57567" marT="43176" marB="43176"/>
                </a:tc>
                <a:tc>
                  <a:txBody>
                    <a:bodyPr/>
                    <a:lstStyle/>
                    <a:p>
                      <a:pPr algn="l" fontAlgn="t"/>
                      <a:r>
                        <a:rPr lang="pt-BR" sz="1400" u="none" strike="noStrike" dirty="0">
                          <a:effectLst/>
                        </a:rPr>
                        <a:t>Com suporte</a:t>
                      </a:r>
                      <a:endParaRPr lang="pt-BR" sz="1400" dirty="0">
                        <a:effectLst/>
                      </a:endParaRPr>
                    </a:p>
                  </a:txBody>
                  <a:tcPr marL="57567" marR="57567" marT="43176" marB="43176"/>
                </a:tc>
                <a:tc>
                  <a:txBody>
                    <a:bodyPr/>
                    <a:lstStyle/>
                    <a:p>
                      <a:pPr algn="l" fontAlgn="t"/>
                      <a:r>
                        <a:rPr lang="pt-BR" sz="1400" u="none" strike="noStrike" dirty="0">
                          <a:effectLst/>
                        </a:rPr>
                        <a:t>Com suporte</a:t>
                      </a:r>
                      <a:endParaRPr lang="pt-BR" sz="1400" dirty="0">
                        <a:effectLst/>
                      </a:endParaRPr>
                    </a:p>
                  </a:txBody>
                  <a:tcPr marL="57567" marR="57567" marT="43176" marB="43176"/>
                </a:tc>
                <a:tc>
                  <a:txBody>
                    <a:bodyPr/>
                    <a:lstStyle/>
                    <a:p>
                      <a:pPr algn="l" fontAlgn="t"/>
                      <a:r>
                        <a:rPr lang="pt-BR" sz="1400" u="none" strike="noStrike" dirty="0">
                          <a:effectLst/>
                        </a:rPr>
                        <a:t>Com suporte</a:t>
                      </a:r>
                      <a:endParaRPr lang="pt-BR" sz="1400" dirty="0">
                        <a:effectLst/>
                      </a:endParaRPr>
                    </a:p>
                  </a:txBody>
                  <a:tcPr marL="57567" marR="57567" marT="43176" marB="43176"/>
                </a:tc>
                <a:extLst>
                  <a:ext uri="{0D108BD9-81ED-4DB2-BD59-A6C34878D82A}">
                    <a16:rowId xmlns:a16="http://schemas.microsoft.com/office/drawing/2014/main" val="260669207"/>
                  </a:ext>
                </a:extLst>
              </a:tr>
              <a:tr h="887414">
                <a:tc>
                  <a:txBody>
                    <a:bodyPr/>
                    <a:lstStyle/>
                    <a:p>
                      <a:pPr algn="l" fontAlgn="t"/>
                      <a:r>
                        <a:rPr lang="pt-BR" sz="1400">
                          <a:effectLst/>
                        </a:rPr>
                        <a:t>Arquivos do Azure (SMB)</a:t>
                      </a:r>
                    </a:p>
                  </a:txBody>
                  <a:tcPr marL="57567" marR="57567" marT="43176" marB="43176"/>
                </a:tc>
                <a:tc>
                  <a:txBody>
                    <a:bodyPr/>
                    <a:lstStyle/>
                    <a:p>
                      <a:pPr algn="l" fontAlgn="t"/>
                      <a:r>
                        <a:rPr lang="pt-BR" sz="1400" u="none" strike="noStrike" dirty="0">
                          <a:effectLst/>
                        </a:rPr>
                        <a:t>Com suporte</a:t>
                      </a:r>
                      <a:endParaRPr lang="pt-BR" sz="1400" dirty="0">
                        <a:effectLst/>
                      </a:endParaRPr>
                    </a:p>
                  </a:txBody>
                  <a:tcPr marL="57567" marR="57567" marT="43176" marB="43176"/>
                </a:tc>
                <a:tc>
                  <a:txBody>
                    <a:bodyPr/>
                    <a:lstStyle/>
                    <a:p>
                      <a:pPr algn="l" fontAlgn="t"/>
                      <a:r>
                        <a:rPr lang="pt-BR" sz="1400">
                          <a:effectLst/>
                        </a:rPr>
                        <a:t>Sem suporte</a:t>
                      </a:r>
                    </a:p>
                  </a:txBody>
                  <a:tcPr marL="57567" marR="57567" marT="43176" marB="43176"/>
                </a:tc>
                <a:tc>
                  <a:txBody>
                    <a:bodyPr/>
                    <a:lstStyle/>
                    <a:p>
                      <a:pPr algn="l" fontAlgn="t"/>
                      <a:r>
                        <a:rPr lang="pt-BR" sz="1400" u="none" strike="noStrike" dirty="0">
                          <a:effectLst/>
                        </a:rPr>
                        <a:t>Com suporte, somente com os serviços de domínio do AAD</a:t>
                      </a:r>
                      <a:endParaRPr lang="pt-BR" sz="1400" dirty="0">
                        <a:effectLst/>
                      </a:endParaRPr>
                    </a:p>
                  </a:txBody>
                  <a:tcPr marL="57567" marR="57567" marT="43176" marB="43176"/>
                </a:tc>
                <a:tc>
                  <a:txBody>
                    <a:bodyPr/>
                    <a:lstStyle/>
                    <a:p>
                      <a:pPr algn="l" fontAlgn="t"/>
                      <a:r>
                        <a:rPr lang="pt-BR" sz="1400">
                          <a:effectLst/>
                        </a:rPr>
                        <a:t>Sem suporte</a:t>
                      </a:r>
                    </a:p>
                  </a:txBody>
                  <a:tcPr marL="57567" marR="57567" marT="43176" marB="43176"/>
                </a:tc>
                <a:extLst>
                  <a:ext uri="{0D108BD9-81ED-4DB2-BD59-A6C34878D82A}">
                    <a16:rowId xmlns:a16="http://schemas.microsoft.com/office/drawing/2014/main" val="3696895761"/>
                  </a:ext>
                </a:extLst>
              </a:tr>
              <a:tr h="550415">
                <a:tc>
                  <a:txBody>
                    <a:bodyPr/>
                    <a:lstStyle/>
                    <a:p>
                      <a:pPr algn="l" fontAlgn="t"/>
                      <a:r>
                        <a:rPr lang="pt-BR" sz="1400">
                          <a:effectLst/>
                        </a:rPr>
                        <a:t>Arquivos do Azure (REST)</a:t>
                      </a:r>
                    </a:p>
                  </a:txBody>
                  <a:tcPr marL="57567" marR="57567" marT="43176" marB="43176"/>
                </a:tc>
                <a:tc>
                  <a:txBody>
                    <a:bodyPr/>
                    <a:lstStyle/>
                    <a:p>
                      <a:pPr algn="l" fontAlgn="t"/>
                      <a:r>
                        <a:rPr lang="pt-BR" sz="1400" u="none" strike="noStrike" dirty="0">
                          <a:effectLst/>
                        </a:rPr>
                        <a:t>Com suporte</a:t>
                      </a:r>
                      <a:endParaRPr lang="pt-BR" sz="1400" dirty="0">
                        <a:effectLst/>
                      </a:endParaRPr>
                    </a:p>
                  </a:txBody>
                  <a:tcPr marL="57567" marR="57567" marT="43176" marB="43176"/>
                </a:tc>
                <a:tc>
                  <a:txBody>
                    <a:bodyPr/>
                    <a:lstStyle/>
                    <a:p>
                      <a:pPr algn="l" fontAlgn="t"/>
                      <a:r>
                        <a:rPr lang="pt-BR" sz="1400" u="none" strike="noStrike" dirty="0">
                          <a:effectLst/>
                        </a:rPr>
                        <a:t>Com suporte</a:t>
                      </a:r>
                      <a:endParaRPr lang="pt-BR" sz="1400" dirty="0">
                        <a:effectLst/>
                      </a:endParaRPr>
                    </a:p>
                  </a:txBody>
                  <a:tcPr marL="57567" marR="57567" marT="43176" marB="43176"/>
                </a:tc>
                <a:tc>
                  <a:txBody>
                    <a:bodyPr/>
                    <a:lstStyle/>
                    <a:p>
                      <a:pPr algn="l" fontAlgn="t"/>
                      <a:r>
                        <a:rPr lang="pt-BR" sz="1400">
                          <a:effectLst/>
                        </a:rPr>
                        <a:t>Sem suporte</a:t>
                      </a:r>
                    </a:p>
                  </a:txBody>
                  <a:tcPr marL="57567" marR="57567" marT="43176" marB="43176"/>
                </a:tc>
                <a:tc>
                  <a:txBody>
                    <a:bodyPr/>
                    <a:lstStyle/>
                    <a:p>
                      <a:pPr algn="l" fontAlgn="t"/>
                      <a:r>
                        <a:rPr lang="pt-BR" sz="1400">
                          <a:effectLst/>
                        </a:rPr>
                        <a:t>Sem suporte</a:t>
                      </a:r>
                    </a:p>
                  </a:txBody>
                  <a:tcPr marL="57567" marR="57567" marT="43176" marB="43176"/>
                </a:tc>
                <a:extLst>
                  <a:ext uri="{0D108BD9-81ED-4DB2-BD59-A6C34878D82A}">
                    <a16:rowId xmlns:a16="http://schemas.microsoft.com/office/drawing/2014/main" val="1812879869"/>
                  </a:ext>
                </a:extLst>
              </a:tr>
              <a:tr h="550415">
                <a:tc>
                  <a:txBody>
                    <a:bodyPr/>
                    <a:lstStyle/>
                    <a:p>
                      <a:pPr algn="l" fontAlgn="t"/>
                      <a:r>
                        <a:rPr lang="pt-BR" sz="1400">
                          <a:effectLst/>
                        </a:rPr>
                        <a:t>Filas do Azure</a:t>
                      </a:r>
                    </a:p>
                  </a:txBody>
                  <a:tcPr marL="57567" marR="57567" marT="43176" marB="43176"/>
                </a:tc>
                <a:tc>
                  <a:txBody>
                    <a:bodyPr/>
                    <a:lstStyle/>
                    <a:p>
                      <a:pPr algn="l" fontAlgn="t"/>
                      <a:r>
                        <a:rPr lang="pt-BR" sz="1400" u="none" strike="noStrike" dirty="0">
                          <a:effectLst/>
                        </a:rPr>
                        <a:t>Com suporte</a:t>
                      </a:r>
                      <a:endParaRPr lang="pt-BR" sz="1400" dirty="0">
                        <a:effectLst/>
                      </a:endParaRPr>
                    </a:p>
                  </a:txBody>
                  <a:tcPr marL="57567" marR="57567" marT="43176" marB="43176"/>
                </a:tc>
                <a:tc>
                  <a:txBody>
                    <a:bodyPr/>
                    <a:lstStyle/>
                    <a:p>
                      <a:pPr algn="l" fontAlgn="t"/>
                      <a:r>
                        <a:rPr lang="pt-BR" sz="1400" u="none" strike="noStrike" dirty="0">
                          <a:effectLst/>
                        </a:rPr>
                        <a:t>Com suporte</a:t>
                      </a:r>
                      <a:endParaRPr lang="pt-BR" sz="1400" dirty="0">
                        <a:effectLst/>
                      </a:endParaRPr>
                    </a:p>
                  </a:txBody>
                  <a:tcPr marL="57567" marR="57567" marT="43176" marB="43176"/>
                </a:tc>
                <a:tc>
                  <a:txBody>
                    <a:bodyPr/>
                    <a:lstStyle/>
                    <a:p>
                      <a:pPr algn="l" fontAlgn="t"/>
                      <a:r>
                        <a:rPr lang="pt-BR" sz="1400" u="none" strike="noStrike" dirty="0">
                          <a:effectLst/>
                        </a:rPr>
                        <a:t>Com suporte</a:t>
                      </a:r>
                      <a:endParaRPr lang="pt-BR" sz="1400" dirty="0">
                        <a:effectLst/>
                      </a:endParaRPr>
                    </a:p>
                  </a:txBody>
                  <a:tcPr marL="57567" marR="57567" marT="43176" marB="43176"/>
                </a:tc>
                <a:tc>
                  <a:txBody>
                    <a:bodyPr/>
                    <a:lstStyle/>
                    <a:p>
                      <a:pPr algn="l" fontAlgn="t"/>
                      <a:r>
                        <a:rPr lang="pt-BR" sz="1400">
                          <a:effectLst/>
                        </a:rPr>
                        <a:t>Sem suporte</a:t>
                      </a:r>
                    </a:p>
                  </a:txBody>
                  <a:tcPr marL="57567" marR="57567" marT="43176" marB="43176"/>
                </a:tc>
                <a:extLst>
                  <a:ext uri="{0D108BD9-81ED-4DB2-BD59-A6C34878D82A}">
                    <a16:rowId xmlns:a16="http://schemas.microsoft.com/office/drawing/2014/main" val="3935198618"/>
                  </a:ext>
                </a:extLst>
              </a:tr>
              <a:tr h="550415">
                <a:tc>
                  <a:txBody>
                    <a:bodyPr/>
                    <a:lstStyle/>
                    <a:p>
                      <a:pPr algn="l" fontAlgn="t"/>
                      <a:r>
                        <a:rPr lang="pt-BR" sz="1400" dirty="0">
                          <a:effectLst/>
                        </a:rPr>
                        <a:t>Tabelas do Azure</a:t>
                      </a:r>
                    </a:p>
                  </a:txBody>
                  <a:tcPr marL="57567" marR="57567" marT="43176" marB="43176"/>
                </a:tc>
                <a:tc>
                  <a:txBody>
                    <a:bodyPr/>
                    <a:lstStyle/>
                    <a:p>
                      <a:pPr algn="l" fontAlgn="t"/>
                      <a:r>
                        <a:rPr lang="pt-BR" sz="1400" u="none" strike="noStrike" dirty="0">
                          <a:effectLst/>
                        </a:rPr>
                        <a:t>Com suporte</a:t>
                      </a:r>
                      <a:endParaRPr lang="pt-BR" sz="1400" dirty="0">
                        <a:effectLst/>
                      </a:endParaRPr>
                    </a:p>
                  </a:txBody>
                  <a:tcPr marL="57567" marR="57567" marT="43176" marB="43176"/>
                </a:tc>
                <a:tc>
                  <a:txBody>
                    <a:bodyPr/>
                    <a:lstStyle/>
                    <a:p>
                      <a:pPr algn="l" fontAlgn="t"/>
                      <a:r>
                        <a:rPr lang="pt-BR" sz="1400" u="none" dirty="0">
                          <a:effectLst/>
                        </a:rPr>
                        <a:t>Com suporte</a:t>
                      </a:r>
                    </a:p>
                  </a:txBody>
                  <a:tcPr marL="57567" marR="57567" marT="43176" marB="43176"/>
                </a:tc>
                <a:tc>
                  <a:txBody>
                    <a:bodyPr/>
                    <a:lstStyle/>
                    <a:p>
                      <a:pPr algn="l" fontAlgn="t"/>
                      <a:r>
                        <a:rPr lang="pt-BR" sz="1400">
                          <a:effectLst/>
                        </a:rPr>
                        <a:t>Sem suporte</a:t>
                      </a:r>
                    </a:p>
                  </a:txBody>
                  <a:tcPr marL="57567" marR="57567" marT="43176" marB="43176"/>
                </a:tc>
                <a:tc>
                  <a:txBody>
                    <a:bodyPr/>
                    <a:lstStyle/>
                    <a:p>
                      <a:pPr algn="l" fontAlgn="t"/>
                      <a:r>
                        <a:rPr lang="pt-BR" sz="1400" dirty="0">
                          <a:effectLst/>
                        </a:rPr>
                        <a:t>Sem suporte</a:t>
                      </a:r>
                    </a:p>
                  </a:txBody>
                  <a:tcPr marL="57567" marR="57567" marT="43176" marB="43176"/>
                </a:tc>
                <a:extLst>
                  <a:ext uri="{0D108BD9-81ED-4DB2-BD59-A6C34878D82A}">
                    <a16:rowId xmlns:a16="http://schemas.microsoft.com/office/drawing/2014/main" val="1775101457"/>
                  </a:ext>
                </a:extLst>
              </a:tr>
            </a:tbl>
          </a:graphicData>
        </a:graphic>
      </p:graphicFrame>
    </p:spTree>
    <p:extLst>
      <p:ext uri="{BB962C8B-B14F-4D97-AF65-F5344CB8AC3E}">
        <p14:creationId xmlns:p14="http://schemas.microsoft.com/office/powerpoint/2010/main" val="23291940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5B2FF2-E7A6-4405-B8DA-D00FB06607E3}"/>
              </a:ext>
            </a:extLst>
          </p:cNvPr>
          <p:cNvSpPr>
            <a:spLocks noGrp="1"/>
          </p:cNvSpPr>
          <p:nvPr>
            <p:ph type="title"/>
          </p:nvPr>
        </p:nvSpPr>
        <p:spPr>
          <a:xfrm>
            <a:off x="198118" y="-49819"/>
            <a:ext cx="10515599" cy="932688"/>
          </a:xfrm>
        </p:spPr>
        <p:txBody>
          <a:bodyPr vert="horz" lIns="91440" tIns="45720" rIns="91440" bIns="45720" rtlCol="0" anchor="b">
            <a:normAutofit/>
          </a:bodyPr>
          <a:lstStyle/>
          <a:p>
            <a:pPr algn="ctr"/>
            <a:r>
              <a:rPr lang="en-US" sz="4800" b="1" kern="1200" dirty="0" err="1">
                <a:solidFill>
                  <a:schemeClr val="tx1"/>
                </a:solidFill>
                <a:latin typeface="+mj-lt"/>
                <a:ea typeface="+mj-ea"/>
                <a:cs typeface="+mj-cs"/>
              </a:rPr>
              <a:t>AzCopy</a:t>
            </a:r>
            <a:r>
              <a:rPr lang="en-US" sz="4800" b="1" kern="1200" dirty="0">
                <a:solidFill>
                  <a:schemeClr val="tx1"/>
                </a:solidFill>
                <a:latin typeface="+mj-lt"/>
                <a:ea typeface="+mj-ea"/>
                <a:cs typeface="+mj-cs"/>
              </a:rPr>
              <a:t> – </a:t>
            </a:r>
            <a:r>
              <a:rPr lang="en-US" sz="4800" b="1" kern="1200" dirty="0" err="1">
                <a:solidFill>
                  <a:schemeClr val="tx1"/>
                </a:solidFill>
                <a:latin typeface="+mj-lt"/>
                <a:ea typeface="+mj-ea"/>
                <a:cs typeface="+mj-cs"/>
              </a:rPr>
              <a:t>Aplicativo</a:t>
            </a:r>
            <a:r>
              <a:rPr lang="en-US" sz="4800" b="1" kern="1200" dirty="0">
                <a:solidFill>
                  <a:schemeClr val="tx1"/>
                </a:solidFill>
                <a:latin typeface="+mj-lt"/>
                <a:ea typeface="+mj-ea"/>
                <a:cs typeface="+mj-cs"/>
              </a:rPr>
              <a:t> de </a:t>
            </a:r>
            <a:r>
              <a:rPr lang="en-US" sz="4800" b="1" kern="1200" dirty="0" err="1">
                <a:solidFill>
                  <a:schemeClr val="tx1"/>
                </a:solidFill>
                <a:latin typeface="+mj-lt"/>
                <a:ea typeface="+mj-ea"/>
                <a:cs typeface="+mj-cs"/>
              </a:rPr>
              <a:t>Cópia</a:t>
            </a:r>
            <a:endParaRPr lang="en-US" sz="4800" kern="1200" dirty="0">
              <a:solidFill>
                <a:schemeClr val="tx1"/>
              </a:solidFill>
              <a:latin typeface="+mj-lt"/>
              <a:ea typeface="+mj-ea"/>
              <a:cs typeface="+mj-cs"/>
            </a:endParaRPr>
          </a:p>
        </p:txBody>
      </p:sp>
      <p:pic>
        <p:nvPicPr>
          <p:cNvPr id="4" name="Imagem 3">
            <a:extLst>
              <a:ext uri="{FF2B5EF4-FFF2-40B4-BE49-F238E27FC236}">
                <a16:creationId xmlns:a16="http://schemas.microsoft.com/office/drawing/2014/main" id="{54F91E66-895A-4FB6-A16E-D0A4ACE8CC0E}"/>
              </a:ext>
            </a:extLst>
          </p:cNvPr>
          <p:cNvPicPr>
            <a:picLocks noChangeAspect="1"/>
          </p:cNvPicPr>
          <p:nvPr/>
        </p:nvPicPr>
        <p:blipFill>
          <a:blip r:embed="rId2"/>
          <a:stretch>
            <a:fillRect/>
          </a:stretch>
        </p:blipFill>
        <p:spPr>
          <a:xfrm>
            <a:off x="506763" y="1130042"/>
            <a:ext cx="11178470" cy="4219873"/>
          </a:xfrm>
          <a:prstGeom prst="rect">
            <a:avLst/>
          </a:prstGeom>
        </p:spPr>
      </p:pic>
      <p:sp>
        <p:nvSpPr>
          <p:cNvPr id="7" name="Retângulo 6">
            <a:extLst>
              <a:ext uri="{FF2B5EF4-FFF2-40B4-BE49-F238E27FC236}">
                <a16:creationId xmlns:a16="http://schemas.microsoft.com/office/drawing/2014/main" id="{932A4636-8A49-4E10-9B24-96E2673E0533}"/>
              </a:ext>
            </a:extLst>
          </p:cNvPr>
          <p:cNvSpPr/>
          <p:nvPr/>
        </p:nvSpPr>
        <p:spPr>
          <a:xfrm>
            <a:off x="601730" y="5825484"/>
            <a:ext cx="3391150" cy="37356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err="1">
                <a:solidFill>
                  <a:srgbClr val="3865B6"/>
                </a:solidFill>
              </a:rPr>
              <a:t>Copy</a:t>
            </a:r>
            <a:r>
              <a:rPr lang="pt-BR" b="1" dirty="0">
                <a:solidFill>
                  <a:srgbClr val="3865B6"/>
                </a:solidFill>
              </a:rPr>
              <a:t> + origem + </a:t>
            </a:r>
            <a:r>
              <a:rPr lang="pt-BR" b="1" dirty="0" err="1">
                <a:solidFill>
                  <a:srgbClr val="3865B6"/>
                </a:solidFill>
              </a:rPr>
              <a:t>url</a:t>
            </a:r>
            <a:r>
              <a:rPr lang="pt-BR" b="1" dirty="0">
                <a:solidFill>
                  <a:srgbClr val="3865B6"/>
                </a:solidFill>
              </a:rPr>
              <a:t> destino + SAS</a:t>
            </a:r>
          </a:p>
        </p:txBody>
      </p:sp>
      <p:cxnSp>
        <p:nvCxnSpPr>
          <p:cNvPr id="9" name="Conector de Seta Reta 8">
            <a:extLst>
              <a:ext uri="{FF2B5EF4-FFF2-40B4-BE49-F238E27FC236}">
                <a16:creationId xmlns:a16="http://schemas.microsoft.com/office/drawing/2014/main" id="{06213C97-31BB-4369-A860-7F0EAA79FCD2}"/>
              </a:ext>
            </a:extLst>
          </p:cNvPr>
          <p:cNvCxnSpPr>
            <a:cxnSpLocks/>
            <a:stCxn id="7" idx="0"/>
            <a:endCxn id="10" idx="4"/>
          </p:cNvCxnSpPr>
          <p:nvPr/>
        </p:nvCxnSpPr>
        <p:spPr>
          <a:xfrm flipV="1">
            <a:off x="2297305" y="1991360"/>
            <a:ext cx="3798695" cy="3834124"/>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0" name="Elipse 9">
            <a:extLst>
              <a:ext uri="{FF2B5EF4-FFF2-40B4-BE49-F238E27FC236}">
                <a16:creationId xmlns:a16="http://schemas.microsoft.com/office/drawing/2014/main" id="{013811B5-CF66-4111-9348-4DAE38FDBB4B}"/>
              </a:ext>
            </a:extLst>
          </p:cNvPr>
          <p:cNvSpPr/>
          <p:nvPr/>
        </p:nvSpPr>
        <p:spPr>
          <a:xfrm>
            <a:off x="0" y="845734"/>
            <a:ext cx="12192000" cy="1145626"/>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6" name="Imagem 15">
            <a:extLst>
              <a:ext uri="{FF2B5EF4-FFF2-40B4-BE49-F238E27FC236}">
                <a16:creationId xmlns:a16="http://schemas.microsoft.com/office/drawing/2014/main" id="{BA41F655-6AC2-4873-952B-5ABDB7285B2A}"/>
              </a:ext>
            </a:extLst>
          </p:cNvPr>
          <p:cNvPicPr>
            <a:picLocks noChangeAspect="1"/>
          </p:cNvPicPr>
          <p:nvPr/>
        </p:nvPicPr>
        <p:blipFill>
          <a:blip r:embed="rId3"/>
          <a:stretch>
            <a:fillRect/>
          </a:stretch>
        </p:blipFill>
        <p:spPr>
          <a:xfrm>
            <a:off x="4328141" y="5016143"/>
            <a:ext cx="7610475" cy="1609725"/>
          </a:xfrm>
          <a:prstGeom prst="rect">
            <a:avLst/>
          </a:prstGeom>
        </p:spPr>
      </p:pic>
    </p:spTree>
    <p:extLst>
      <p:ext uri="{BB962C8B-B14F-4D97-AF65-F5344CB8AC3E}">
        <p14:creationId xmlns:p14="http://schemas.microsoft.com/office/powerpoint/2010/main" val="21103321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3652F6F9-1549-4F3A-A267-C3921D5A8CFE}"/>
              </a:ext>
            </a:extLst>
          </p:cNvPr>
          <p:cNvPicPr>
            <a:picLocks noChangeAspect="1"/>
          </p:cNvPicPr>
          <p:nvPr/>
        </p:nvPicPr>
        <p:blipFill>
          <a:blip r:embed="rId2"/>
          <a:stretch>
            <a:fillRect/>
          </a:stretch>
        </p:blipFill>
        <p:spPr>
          <a:xfrm>
            <a:off x="1290320" y="1144644"/>
            <a:ext cx="9961710" cy="4568712"/>
          </a:xfrm>
          <a:prstGeom prst="rect">
            <a:avLst/>
          </a:prstGeom>
        </p:spPr>
      </p:pic>
      <p:sp>
        <p:nvSpPr>
          <p:cNvPr id="2" name="Título 1">
            <a:extLst>
              <a:ext uri="{FF2B5EF4-FFF2-40B4-BE49-F238E27FC236}">
                <a16:creationId xmlns:a16="http://schemas.microsoft.com/office/drawing/2014/main" id="{915B2FF2-E7A6-4405-B8DA-D00FB06607E3}"/>
              </a:ext>
            </a:extLst>
          </p:cNvPr>
          <p:cNvSpPr>
            <a:spLocks noGrp="1"/>
          </p:cNvSpPr>
          <p:nvPr>
            <p:ph type="title"/>
          </p:nvPr>
        </p:nvSpPr>
        <p:spPr>
          <a:xfrm>
            <a:off x="198118" y="-49819"/>
            <a:ext cx="10515599" cy="932688"/>
          </a:xfrm>
        </p:spPr>
        <p:txBody>
          <a:bodyPr vert="horz" lIns="91440" tIns="45720" rIns="91440" bIns="45720" rtlCol="0" anchor="b">
            <a:normAutofit/>
          </a:bodyPr>
          <a:lstStyle/>
          <a:p>
            <a:pPr algn="ctr"/>
            <a:r>
              <a:rPr lang="en-US" sz="4800" b="1" dirty="0"/>
              <a:t>Storage </a:t>
            </a:r>
            <a:r>
              <a:rPr lang="en-US" sz="4800" b="1" kern="1200" dirty="0">
                <a:solidFill>
                  <a:schemeClr val="tx1"/>
                </a:solidFill>
                <a:latin typeface="+mj-lt"/>
                <a:ea typeface="+mj-ea"/>
                <a:cs typeface="+mj-cs"/>
              </a:rPr>
              <a:t>Custom Domain</a:t>
            </a:r>
            <a:endParaRPr lang="en-US" sz="4800" kern="1200" dirty="0">
              <a:solidFill>
                <a:schemeClr val="tx1"/>
              </a:solidFill>
              <a:latin typeface="+mj-lt"/>
              <a:ea typeface="+mj-ea"/>
              <a:cs typeface="+mj-cs"/>
            </a:endParaRPr>
          </a:p>
        </p:txBody>
      </p:sp>
      <p:sp>
        <p:nvSpPr>
          <p:cNvPr id="7" name="Retângulo 6">
            <a:extLst>
              <a:ext uri="{FF2B5EF4-FFF2-40B4-BE49-F238E27FC236}">
                <a16:creationId xmlns:a16="http://schemas.microsoft.com/office/drawing/2014/main" id="{932A4636-8A49-4E10-9B24-96E2673E0533}"/>
              </a:ext>
            </a:extLst>
          </p:cNvPr>
          <p:cNvSpPr/>
          <p:nvPr/>
        </p:nvSpPr>
        <p:spPr>
          <a:xfrm>
            <a:off x="5577840" y="5975131"/>
            <a:ext cx="4084485" cy="46775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3865B6"/>
                </a:solidFill>
              </a:rPr>
              <a:t>URL Registrada no provedor de domínio</a:t>
            </a:r>
          </a:p>
        </p:txBody>
      </p:sp>
      <p:cxnSp>
        <p:nvCxnSpPr>
          <p:cNvPr id="9" name="Conector de Seta Reta 8">
            <a:extLst>
              <a:ext uri="{FF2B5EF4-FFF2-40B4-BE49-F238E27FC236}">
                <a16:creationId xmlns:a16="http://schemas.microsoft.com/office/drawing/2014/main" id="{06213C97-31BB-4369-A860-7F0EAA79FCD2}"/>
              </a:ext>
            </a:extLst>
          </p:cNvPr>
          <p:cNvCxnSpPr>
            <a:cxnSpLocks/>
            <a:stCxn id="7" idx="0"/>
            <a:endCxn id="10" idx="4"/>
          </p:cNvCxnSpPr>
          <p:nvPr/>
        </p:nvCxnSpPr>
        <p:spPr>
          <a:xfrm flipV="1">
            <a:off x="7620083" y="5090160"/>
            <a:ext cx="340277" cy="884971"/>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0" name="Elipse 9">
            <a:extLst>
              <a:ext uri="{FF2B5EF4-FFF2-40B4-BE49-F238E27FC236}">
                <a16:creationId xmlns:a16="http://schemas.microsoft.com/office/drawing/2014/main" id="{013811B5-CF66-4111-9348-4DAE38FDBB4B}"/>
              </a:ext>
            </a:extLst>
          </p:cNvPr>
          <p:cNvSpPr/>
          <p:nvPr/>
        </p:nvSpPr>
        <p:spPr>
          <a:xfrm>
            <a:off x="3799840" y="4135120"/>
            <a:ext cx="8321040" cy="95504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0510754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ECD7990C-88A5-4E5D-BFF7-EA876D4B09D5}"/>
              </a:ext>
            </a:extLst>
          </p:cNvPr>
          <p:cNvSpPr>
            <a:spLocks noGrp="1"/>
          </p:cNvSpPr>
          <p:nvPr>
            <p:ph type="title"/>
          </p:nvPr>
        </p:nvSpPr>
        <p:spPr>
          <a:xfrm>
            <a:off x="838200" y="253397"/>
            <a:ext cx="10515600" cy="1273233"/>
          </a:xfrm>
        </p:spPr>
        <p:txBody>
          <a:bodyPr>
            <a:normAutofit/>
          </a:bodyPr>
          <a:lstStyle/>
          <a:p>
            <a:r>
              <a:rPr lang="pt-BR" sz="4000" dirty="0" err="1"/>
              <a:t>Import</a:t>
            </a:r>
            <a:r>
              <a:rPr lang="pt-BR" sz="4000" dirty="0"/>
              <a:t> / </a:t>
            </a:r>
            <a:r>
              <a:rPr lang="pt-BR" sz="4000" dirty="0" err="1"/>
              <a:t>Export</a:t>
            </a:r>
            <a:endParaRPr lang="pt-BR" sz="4000" dirty="0"/>
          </a:p>
        </p:txBody>
      </p:sp>
      <p:sp>
        <p:nvSpPr>
          <p:cNvPr id="14"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ço Reservado para Conteúdo 2">
            <a:extLst>
              <a:ext uri="{FF2B5EF4-FFF2-40B4-BE49-F238E27FC236}">
                <a16:creationId xmlns:a16="http://schemas.microsoft.com/office/drawing/2014/main" id="{FC89AAD1-EDC1-41E2-83FB-0C8D9C15D9B6}"/>
              </a:ext>
            </a:extLst>
          </p:cNvPr>
          <p:cNvSpPr>
            <a:spLocks noGrp="1"/>
          </p:cNvSpPr>
          <p:nvPr>
            <p:ph idx="1"/>
          </p:nvPr>
        </p:nvSpPr>
        <p:spPr>
          <a:xfrm>
            <a:off x="838200" y="1780027"/>
            <a:ext cx="11109960" cy="4392173"/>
          </a:xfrm>
        </p:spPr>
        <p:txBody>
          <a:bodyPr>
            <a:normAutofit/>
          </a:bodyPr>
          <a:lstStyle/>
          <a:p>
            <a:r>
              <a:rPr lang="pt-BR" sz="2000" dirty="0"/>
              <a:t>Permite transferir com segurança grandes quantidades de dados entre o armazenamento (</a:t>
            </a:r>
            <a:r>
              <a:rPr lang="pt-BR" sz="2000" dirty="0" err="1"/>
              <a:t>blobs</a:t>
            </a:r>
            <a:r>
              <a:rPr lang="pt-BR" sz="2000" dirty="0"/>
              <a:t> e arquivos) do Azure o datacenter local, por meio do envio físico de unidades de disco.</a:t>
            </a:r>
          </a:p>
          <a:p>
            <a:r>
              <a:rPr lang="pt-BR" sz="2000" b="1" dirty="0"/>
              <a:t>Serviço de importação/exportação</a:t>
            </a:r>
            <a:r>
              <a:rPr lang="pt-BR" sz="2000" dirty="0"/>
              <a:t>: Disponível no portal do Azure para criar e acompanhar trabalhos de importação e exportação.</a:t>
            </a:r>
          </a:p>
          <a:p>
            <a:r>
              <a:rPr lang="pt-BR" sz="2000" b="1" dirty="0" err="1"/>
              <a:t>WAImportExport</a:t>
            </a:r>
            <a:r>
              <a:rPr lang="pt-BR" sz="2000" dirty="0"/>
              <a:t> (ferramenta de linha de comando):</a:t>
            </a:r>
          </a:p>
          <a:p>
            <a:pPr lvl="1"/>
            <a:r>
              <a:rPr lang="pt-BR" sz="2000" dirty="0"/>
              <a:t>Prepara as unidades de disco que são enviadas para importação.</a:t>
            </a:r>
          </a:p>
          <a:p>
            <a:pPr lvl="1"/>
            <a:r>
              <a:rPr lang="pt-BR" sz="2000" dirty="0"/>
              <a:t>Facilita a cópia de seus dados para a unidade.</a:t>
            </a:r>
          </a:p>
          <a:p>
            <a:pPr lvl="1"/>
            <a:r>
              <a:rPr lang="pt-BR" sz="2000" dirty="0"/>
              <a:t>Criptografa os dados na unidade com </a:t>
            </a:r>
            <a:r>
              <a:rPr lang="pt-BR" sz="2000" dirty="0" err="1"/>
              <a:t>BitLocker</a:t>
            </a:r>
            <a:r>
              <a:rPr lang="pt-BR" sz="2000" dirty="0"/>
              <a:t>.</a:t>
            </a:r>
          </a:p>
          <a:p>
            <a:pPr lvl="1"/>
            <a:r>
              <a:rPr lang="pt-BR" sz="2000" dirty="0"/>
              <a:t>Gera os arquivos de diário da unidade usados durante a criação de importação.</a:t>
            </a:r>
          </a:p>
          <a:p>
            <a:pPr lvl="1"/>
            <a:r>
              <a:rPr lang="pt-BR" sz="2000" dirty="0"/>
              <a:t>Ajuda a identificar os números de unidades necessárias para trabalhos de exportação.</a:t>
            </a:r>
          </a:p>
          <a:p>
            <a:r>
              <a:rPr lang="pt-BR" sz="2000" b="1" dirty="0"/>
              <a:t>Unidades de disco</a:t>
            </a:r>
            <a:r>
              <a:rPr lang="pt-BR" sz="2000" dirty="0"/>
              <a:t> </a:t>
            </a:r>
            <a:r>
              <a:rPr lang="pt-BR" sz="2000" dirty="0" err="1"/>
              <a:t>SSDs</a:t>
            </a:r>
            <a:r>
              <a:rPr lang="pt-BR" sz="2000" dirty="0"/>
              <a:t> (unidades de estado sólido) ou </a:t>
            </a:r>
            <a:r>
              <a:rPr lang="pt-BR" sz="2000" dirty="0" err="1"/>
              <a:t>HDDs</a:t>
            </a:r>
            <a:r>
              <a:rPr lang="pt-BR" sz="2000" dirty="0"/>
              <a:t> (unidades de disco rígido). A Microsoft pode fornecer os discos.</a:t>
            </a:r>
          </a:p>
          <a:p>
            <a:endParaRPr lang="pt-BR" sz="1700" dirty="0"/>
          </a:p>
        </p:txBody>
      </p:sp>
    </p:spTree>
    <p:extLst>
      <p:ext uri="{BB962C8B-B14F-4D97-AF65-F5344CB8AC3E}">
        <p14:creationId xmlns:p14="http://schemas.microsoft.com/office/powerpoint/2010/main" val="34056101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48E5F4-74F2-49A8-B534-858CDC3CA952}"/>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kern="1200">
                <a:solidFill>
                  <a:schemeClr val="tx1"/>
                </a:solidFill>
                <a:latin typeface="+mj-lt"/>
                <a:ea typeface="+mj-ea"/>
                <a:cs typeface="+mj-cs"/>
              </a:rPr>
              <a:t>Import / Export</a:t>
            </a:r>
          </a:p>
        </p:txBody>
      </p:sp>
      <p:graphicFrame>
        <p:nvGraphicFramePr>
          <p:cNvPr id="5" name="Tabela 4">
            <a:extLst>
              <a:ext uri="{FF2B5EF4-FFF2-40B4-BE49-F238E27FC236}">
                <a16:creationId xmlns:a16="http://schemas.microsoft.com/office/drawing/2014/main" id="{3F55C315-7861-4780-92D3-E1430287D602}"/>
              </a:ext>
            </a:extLst>
          </p:cNvPr>
          <p:cNvGraphicFramePr>
            <a:graphicFrameLocks noGrp="1"/>
          </p:cNvGraphicFramePr>
          <p:nvPr>
            <p:extLst>
              <p:ext uri="{D42A27DB-BD31-4B8C-83A1-F6EECF244321}">
                <p14:modId xmlns:p14="http://schemas.microsoft.com/office/powerpoint/2010/main" val="2727710016"/>
              </p:ext>
            </p:extLst>
          </p:nvPr>
        </p:nvGraphicFramePr>
        <p:xfrm>
          <a:off x="162560" y="1249680"/>
          <a:ext cx="11856722" cy="5344160"/>
        </p:xfrm>
        <a:graphic>
          <a:graphicData uri="http://schemas.openxmlformats.org/drawingml/2006/table">
            <a:tbl>
              <a:tblPr firstRow="1" bandRow="1">
                <a:noFill/>
                <a:tableStyleId>{5C22544A-7EE6-4342-B048-85BDC9FD1C3A}</a:tableStyleId>
              </a:tblPr>
              <a:tblGrid>
                <a:gridCol w="1103572">
                  <a:extLst>
                    <a:ext uri="{9D8B030D-6E8A-4147-A177-3AD203B41FA5}">
                      <a16:colId xmlns:a16="http://schemas.microsoft.com/office/drawing/2014/main" val="410533493"/>
                    </a:ext>
                  </a:extLst>
                </a:gridCol>
                <a:gridCol w="2521102">
                  <a:extLst>
                    <a:ext uri="{9D8B030D-6E8A-4147-A177-3AD203B41FA5}">
                      <a16:colId xmlns:a16="http://schemas.microsoft.com/office/drawing/2014/main" val="2329102087"/>
                    </a:ext>
                  </a:extLst>
                </a:gridCol>
                <a:gridCol w="1974812">
                  <a:extLst>
                    <a:ext uri="{9D8B030D-6E8A-4147-A177-3AD203B41FA5}">
                      <a16:colId xmlns:a16="http://schemas.microsoft.com/office/drawing/2014/main" val="369862069"/>
                    </a:ext>
                  </a:extLst>
                </a:gridCol>
                <a:gridCol w="3306004">
                  <a:extLst>
                    <a:ext uri="{9D8B030D-6E8A-4147-A177-3AD203B41FA5}">
                      <a16:colId xmlns:a16="http://schemas.microsoft.com/office/drawing/2014/main" val="308147457"/>
                    </a:ext>
                  </a:extLst>
                </a:gridCol>
                <a:gridCol w="1376719">
                  <a:extLst>
                    <a:ext uri="{9D8B030D-6E8A-4147-A177-3AD203B41FA5}">
                      <a16:colId xmlns:a16="http://schemas.microsoft.com/office/drawing/2014/main" val="2757978644"/>
                    </a:ext>
                  </a:extLst>
                </a:gridCol>
                <a:gridCol w="1574513">
                  <a:extLst>
                    <a:ext uri="{9D8B030D-6E8A-4147-A177-3AD203B41FA5}">
                      <a16:colId xmlns:a16="http://schemas.microsoft.com/office/drawing/2014/main" val="206590775"/>
                    </a:ext>
                  </a:extLst>
                </a:gridCol>
              </a:tblGrid>
              <a:tr h="837856">
                <a:tc>
                  <a:txBody>
                    <a:bodyPr/>
                    <a:lstStyle/>
                    <a:p>
                      <a:endParaRPr lang="pt-BR" sz="1600" b="1" dirty="0">
                        <a:solidFill>
                          <a:schemeClr val="tx1">
                            <a:lumMod val="75000"/>
                            <a:lumOff val="25000"/>
                          </a:schemeClr>
                        </a:solidFill>
                      </a:endParaRPr>
                    </a:p>
                  </a:txBody>
                  <a:tcPr marL="160531" marR="80266" marT="80266" marB="80266">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r>
                        <a:rPr lang="pt-BR" sz="1600" b="1" dirty="0">
                          <a:solidFill>
                            <a:schemeClr val="tx1">
                              <a:lumMod val="75000"/>
                              <a:lumOff val="25000"/>
                            </a:schemeClr>
                          </a:solidFill>
                        </a:rPr>
                        <a:t>Criar</a:t>
                      </a:r>
                    </a:p>
                    <a:p>
                      <a:r>
                        <a:rPr lang="pt-BR" sz="1600" b="1" dirty="0" err="1">
                          <a:solidFill>
                            <a:schemeClr val="tx1">
                              <a:lumMod val="75000"/>
                              <a:lumOff val="25000"/>
                            </a:schemeClr>
                          </a:solidFill>
                        </a:rPr>
                        <a:t>Creating</a:t>
                      </a:r>
                      <a:endParaRPr lang="pt-BR" sz="1600" b="1" dirty="0">
                        <a:solidFill>
                          <a:schemeClr val="tx1">
                            <a:lumMod val="75000"/>
                            <a:lumOff val="25000"/>
                          </a:schemeClr>
                        </a:solidFill>
                      </a:endParaRPr>
                    </a:p>
                  </a:txBody>
                  <a:tcPr marL="160531" marR="80266" marT="80266" marB="80266">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r>
                        <a:rPr lang="pt-BR" sz="1600" b="1">
                          <a:solidFill>
                            <a:schemeClr val="tx1">
                              <a:lumMod val="75000"/>
                              <a:lumOff val="25000"/>
                            </a:schemeClr>
                          </a:solidFill>
                        </a:rPr>
                        <a:t>Remeter</a:t>
                      </a:r>
                    </a:p>
                    <a:p>
                      <a:r>
                        <a:rPr lang="pt-BR" sz="1600" b="1" err="1">
                          <a:solidFill>
                            <a:schemeClr val="tx1">
                              <a:lumMod val="75000"/>
                              <a:lumOff val="25000"/>
                            </a:schemeClr>
                          </a:solidFill>
                        </a:rPr>
                        <a:t>Shipping</a:t>
                      </a:r>
                      <a:endParaRPr lang="pt-BR" sz="1600" b="1">
                        <a:solidFill>
                          <a:schemeClr val="tx1">
                            <a:lumMod val="75000"/>
                            <a:lumOff val="25000"/>
                          </a:schemeClr>
                        </a:solidFill>
                      </a:endParaRPr>
                    </a:p>
                  </a:txBody>
                  <a:tcPr marL="160531" marR="80266" marT="80266" marB="80266">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r>
                        <a:rPr lang="pt-BR" sz="1600" b="1">
                          <a:solidFill>
                            <a:schemeClr val="tx1">
                              <a:lumMod val="75000"/>
                              <a:lumOff val="25000"/>
                            </a:schemeClr>
                          </a:solidFill>
                        </a:rPr>
                        <a:t>Transferir</a:t>
                      </a:r>
                    </a:p>
                    <a:p>
                      <a:r>
                        <a:rPr lang="pt-BR" sz="1600" b="1" err="1">
                          <a:solidFill>
                            <a:schemeClr val="tx1">
                              <a:lumMod val="75000"/>
                              <a:lumOff val="25000"/>
                            </a:schemeClr>
                          </a:solidFill>
                        </a:rPr>
                        <a:t>Transferring</a:t>
                      </a:r>
                      <a:endParaRPr lang="pt-BR" sz="1600" b="1">
                        <a:solidFill>
                          <a:schemeClr val="tx1">
                            <a:lumMod val="75000"/>
                            <a:lumOff val="25000"/>
                          </a:schemeClr>
                        </a:solidFill>
                      </a:endParaRPr>
                    </a:p>
                  </a:txBody>
                  <a:tcPr marL="160531" marR="80266" marT="80266" marB="80266">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r>
                        <a:rPr lang="pt-BR" sz="1600" b="1">
                          <a:solidFill>
                            <a:schemeClr val="tx1">
                              <a:lumMod val="75000"/>
                              <a:lumOff val="25000"/>
                            </a:schemeClr>
                          </a:solidFill>
                        </a:rPr>
                        <a:t>Embalar</a:t>
                      </a:r>
                    </a:p>
                    <a:p>
                      <a:r>
                        <a:rPr lang="pt-BR" sz="1600" b="1" err="1">
                          <a:solidFill>
                            <a:schemeClr val="tx1">
                              <a:lumMod val="75000"/>
                              <a:lumOff val="25000"/>
                            </a:schemeClr>
                          </a:solidFill>
                        </a:rPr>
                        <a:t>Packaging</a:t>
                      </a:r>
                      <a:endParaRPr lang="pt-BR" sz="1600" b="1">
                        <a:solidFill>
                          <a:schemeClr val="tx1">
                            <a:lumMod val="75000"/>
                            <a:lumOff val="25000"/>
                          </a:schemeClr>
                        </a:solidFill>
                      </a:endParaRPr>
                    </a:p>
                  </a:txBody>
                  <a:tcPr marL="160531" marR="80266" marT="80266" marB="80266">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r>
                        <a:rPr lang="pt-BR" sz="1600" b="1">
                          <a:solidFill>
                            <a:schemeClr val="tx1">
                              <a:lumMod val="75000"/>
                              <a:lumOff val="25000"/>
                            </a:schemeClr>
                          </a:solidFill>
                        </a:rPr>
                        <a:t>Completar</a:t>
                      </a:r>
                    </a:p>
                    <a:p>
                      <a:r>
                        <a:rPr lang="pt-BR" sz="1600" b="1">
                          <a:solidFill>
                            <a:schemeClr val="tx1">
                              <a:lumMod val="75000"/>
                              <a:lumOff val="25000"/>
                            </a:schemeClr>
                          </a:solidFill>
                        </a:rPr>
                        <a:t>Complete</a:t>
                      </a:r>
                    </a:p>
                  </a:txBody>
                  <a:tcPr marL="160531" marR="80266" marT="80266" marB="80266">
                    <a:lnL w="12700" cmpd="sng">
                      <a:noFill/>
                      <a:prstDash val="solid"/>
                    </a:lnL>
                    <a:lnR w="12700" cmpd="sng">
                      <a:noFill/>
                      <a:prstDash val="solid"/>
                    </a:lnR>
                    <a:lnT w="12700" cmpd="sng">
                      <a:noFill/>
                      <a:prstDash val="solid"/>
                    </a:lnT>
                    <a:lnB w="9525" cap="flat" cmpd="sng" algn="ctr">
                      <a:solidFill>
                        <a:srgbClr val="D8DCDC"/>
                      </a:solidFill>
                      <a:prstDash val="solid"/>
                    </a:lnB>
                    <a:noFill/>
                  </a:tcPr>
                </a:tc>
                <a:extLst>
                  <a:ext uri="{0D108BD9-81ED-4DB2-BD59-A6C34878D82A}">
                    <a16:rowId xmlns:a16="http://schemas.microsoft.com/office/drawing/2014/main" val="2906627589"/>
                  </a:ext>
                </a:extLst>
              </a:tr>
              <a:tr h="2253152">
                <a:tc>
                  <a:txBody>
                    <a:bodyPr/>
                    <a:lstStyle/>
                    <a:p>
                      <a:r>
                        <a:rPr lang="pt-BR" sz="1600" dirty="0">
                          <a:solidFill>
                            <a:schemeClr val="tx1">
                              <a:lumMod val="75000"/>
                              <a:lumOff val="25000"/>
                            </a:schemeClr>
                          </a:solidFill>
                        </a:rPr>
                        <a:t>Importar</a:t>
                      </a:r>
                    </a:p>
                    <a:p>
                      <a:r>
                        <a:rPr lang="pt-BR" sz="1600" dirty="0" err="1">
                          <a:solidFill>
                            <a:schemeClr val="tx1">
                              <a:lumMod val="75000"/>
                              <a:lumOff val="25000"/>
                            </a:schemeClr>
                          </a:solidFill>
                        </a:rPr>
                        <a:t>Import</a:t>
                      </a:r>
                      <a:endParaRPr lang="pt-BR" sz="1600" dirty="0">
                        <a:solidFill>
                          <a:schemeClr val="tx1">
                            <a:lumMod val="75000"/>
                            <a:lumOff val="25000"/>
                          </a:schemeClr>
                        </a:solidFill>
                      </a:endParaRPr>
                    </a:p>
                    <a:p>
                      <a:r>
                        <a:rPr lang="pt-BR" sz="1600" dirty="0" err="1">
                          <a:solidFill>
                            <a:schemeClr val="tx1">
                              <a:lumMod val="75000"/>
                              <a:lumOff val="25000"/>
                            </a:schemeClr>
                          </a:solidFill>
                        </a:rPr>
                        <a:t>Job</a:t>
                      </a:r>
                      <a:r>
                        <a:rPr lang="pt-BR" sz="1600" dirty="0">
                          <a:solidFill>
                            <a:schemeClr val="tx1">
                              <a:lumMod val="75000"/>
                              <a:lumOff val="25000"/>
                            </a:schemeClr>
                          </a:solidFill>
                        </a:rPr>
                        <a:t> </a:t>
                      </a:r>
                      <a:r>
                        <a:rPr lang="pt-BR" sz="1600" dirty="0" err="1">
                          <a:solidFill>
                            <a:schemeClr val="tx1">
                              <a:lumMod val="75000"/>
                              <a:lumOff val="25000"/>
                            </a:schemeClr>
                          </a:solidFill>
                        </a:rPr>
                        <a:t>Flow</a:t>
                      </a:r>
                      <a:endParaRPr lang="pt-BR" sz="1600" dirty="0">
                        <a:solidFill>
                          <a:schemeClr val="tx1">
                            <a:lumMod val="75000"/>
                            <a:lumOff val="25000"/>
                          </a:schemeClr>
                        </a:solidFill>
                      </a:endParaRPr>
                    </a:p>
                  </a:txBody>
                  <a:tcPr marL="160531" marR="80266" marT="80266" marB="80266">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r>
                        <a:rPr lang="pt-BR" sz="1600" dirty="0">
                          <a:solidFill>
                            <a:schemeClr val="tx1">
                              <a:lumMod val="75000"/>
                              <a:lumOff val="25000"/>
                            </a:schemeClr>
                          </a:solidFill>
                        </a:rPr>
                        <a:t>Cliente prepara os discos (ferramenta de importação / exportação) e criptografa com o </a:t>
                      </a:r>
                      <a:r>
                        <a:rPr lang="pt-BR" sz="1600" dirty="0" err="1">
                          <a:solidFill>
                            <a:schemeClr val="tx1">
                              <a:lumMod val="75000"/>
                              <a:lumOff val="25000"/>
                            </a:schemeClr>
                          </a:solidFill>
                        </a:rPr>
                        <a:t>bitlocker</a:t>
                      </a:r>
                      <a:r>
                        <a:rPr lang="pt-BR" sz="1600" dirty="0">
                          <a:solidFill>
                            <a:schemeClr val="tx1">
                              <a:lumMod val="75000"/>
                              <a:lumOff val="25000"/>
                            </a:schemeClr>
                          </a:solidFill>
                        </a:rPr>
                        <a:t>.</a:t>
                      </a:r>
                    </a:p>
                    <a:p>
                      <a:r>
                        <a:rPr lang="pt-BR" sz="1600" dirty="0">
                          <a:solidFill>
                            <a:schemeClr val="tx1">
                              <a:lumMod val="75000"/>
                              <a:lumOff val="25000"/>
                            </a:schemeClr>
                          </a:solidFill>
                        </a:rPr>
                        <a:t>Cria </a:t>
                      </a:r>
                      <a:r>
                        <a:rPr lang="pt-BR" sz="1600" dirty="0" err="1">
                          <a:solidFill>
                            <a:schemeClr val="tx1">
                              <a:lumMod val="75000"/>
                              <a:lumOff val="25000"/>
                            </a:schemeClr>
                          </a:solidFill>
                        </a:rPr>
                        <a:t>jobs</a:t>
                      </a:r>
                      <a:r>
                        <a:rPr lang="pt-BR" sz="1600" dirty="0">
                          <a:solidFill>
                            <a:schemeClr val="tx1">
                              <a:lumMod val="75000"/>
                              <a:lumOff val="25000"/>
                            </a:schemeClr>
                          </a:solidFill>
                        </a:rPr>
                        <a:t> de importação no Portal do Azure.</a:t>
                      </a:r>
                    </a:p>
                  </a:txBody>
                  <a:tcPr marL="160531" marR="80266" marT="80266" marB="80266">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r>
                        <a:rPr lang="pt-BR" sz="1600">
                          <a:solidFill>
                            <a:schemeClr val="tx1">
                              <a:lumMod val="75000"/>
                              <a:lumOff val="25000"/>
                            </a:schemeClr>
                          </a:solidFill>
                        </a:rPr>
                        <a:t>O cliente envia os discos rígidos para o </a:t>
                      </a:r>
                      <a:r>
                        <a:rPr lang="pt-BR" sz="1600" err="1">
                          <a:solidFill>
                            <a:schemeClr val="tx1">
                              <a:lumMod val="75000"/>
                              <a:lumOff val="25000"/>
                            </a:schemeClr>
                          </a:solidFill>
                        </a:rPr>
                        <a:t>DataCenter</a:t>
                      </a:r>
                      <a:r>
                        <a:rPr lang="pt-BR" sz="1600">
                          <a:solidFill>
                            <a:schemeClr val="tx1">
                              <a:lumMod val="75000"/>
                              <a:lumOff val="25000"/>
                            </a:schemeClr>
                          </a:solidFill>
                        </a:rPr>
                        <a:t>.</a:t>
                      </a:r>
                    </a:p>
                    <a:p>
                      <a:r>
                        <a:rPr lang="pt-BR" sz="1600">
                          <a:solidFill>
                            <a:schemeClr val="tx1">
                              <a:lumMod val="75000"/>
                              <a:lumOff val="25000"/>
                            </a:schemeClr>
                          </a:solidFill>
                        </a:rPr>
                        <a:t>A transportadora entrega os drivers rígidos ao data center.</a:t>
                      </a:r>
                    </a:p>
                  </a:txBody>
                  <a:tcPr marL="160531" marR="80266" marT="80266" marB="80266">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r>
                        <a:rPr lang="pt-BR" sz="1600">
                          <a:solidFill>
                            <a:schemeClr val="tx1">
                              <a:lumMod val="75000"/>
                              <a:lumOff val="25000"/>
                            </a:schemeClr>
                          </a:solidFill>
                        </a:rPr>
                        <a:t>Os discos são processados no datacenter.</a:t>
                      </a:r>
                    </a:p>
                    <a:p>
                      <a:r>
                        <a:rPr lang="pt-BR" sz="1600">
                          <a:solidFill>
                            <a:schemeClr val="tx1">
                              <a:lumMod val="75000"/>
                              <a:lumOff val="25000"/>
                            </a:schemeClr>
                          </a:solidFill>
                        </a:rPr>
                        <a:t>Os dados são copiados dos discos para conta de armazenamento (</a:t>
                      </a:r>
                      <a:r>
                        <a:rPr lang="pt-BR" sz="1600" err="1">
                          <a:solidFill>
                            <a:schemeClr val="tx1">
                              <a:lumMod val="75000"/>
                              <a:lumOff val="25000"/>
                            </a:schemeClr>
                          </a:solidFill>
                        </a:rPr>
                        <a:t>storage</a:t>
                      </a:r>
                      <a:r>
                        <a:rPr lang="pt-BR" sz="1600">
                          <a:solidFill>
                            <a:schemeClr val="tx1">
                              <a:lumMod val="75000"/>
                              <a:lumOff val="25000"/>
                            </a:schemeClr>
                          </a:solidFill>
                        </a:rPr>
                        <a:t> </a:t>
                      </a:r>
                      <a:r>
                        <a:rPr lang="pt-BR" sz="1600" err="1">
                          <a:solidFill>
                            <a:schemeClr val="tx1">
                              <a:lumMod val="75000"/>
                              <a:lumOff val="25000"/>
                            </a:schemeClr>
                          </a:solidFill>
                        </a:rPr>
                        <a:t>account</a:t>
                      </a:r>
                      <a:r>
                        <a:rPr lang="pt-BR" sz="1600">
                          <a:solidFill>
                            <a:schemeClr val="tx1">
                              <a:lumMod val="75000"/>
                              <a:lumOff val="25000"/>
                            </a:schemeClr>
                          </a:solidFill>
                        </a:rPr>
                        <a:t>).</a:t>
                      </a:r>
                    </a:p>
                  </a:txBody>
                  <a:tcPr marL="160531" marR="80266" marT="80266" marB="80266">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r>
                        <a:rPr lang="pt-BR" sz="1600">
                          <a:solidFill>
                            <a:schemeClr val="tx1">
                              <a:lumMod val="75000"/>
                              <a:lumOff val="25000"/>
                            </a:schemeClr>
                          </a:solidFill>
                        </a:rPr>
                        <a:t>Os discos são embalados para devolução.</a:t>
                      </a:r>
                    </a:p>
                  </a:txBody>
                  <a:tcPr marL="160531" marR="80266" marT="80266" marB="80266">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r>
                        <a:rPr lang="pt-BR" sz="1600">
                          <a:solidFill>
                            <a:schemeClr val="tx1">
                              <a:lumMod val="75000"/>
                              <a:lumOff val="25000"/>
                            </a:schemeClr>
                          </a:solidFill>
                        </a:rPr>
                        <a:t>Os discos rígidos são enviados de volta ao cliente.</a:t>
                      </a:r>
                    </a:p>
                  </a:txBody>
                  <a:tcPr marL="160531" marR="80266" marT="80266" marB="80266">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499127391"/>
                  </a:ext>
                </a:extLst>
              </a:tr>
              <a:tr h="2253152">
                <a:tc>
                  <a:txBody>
                    <a:bodyPr/>
                    <a:lstStyle/>
                    <a:p>
                      <a:r>
                        <a:rPr lang="pt-BR" sz="1600">
                          <a:solidFill>
                            <a:schemeClr val="tx1">
                              <a:lumMod val="75000"/>
                              <a:lumOff val="25000"/>
                            </a:schemeClr>
                          </a:solidFill>
                        </a:rPr>
                        <a:t>Exportar</a:t>
                      </a:r>
                    </a:p>
                    <a:p>
                      <a:r>
                        <a:rPr lang="pt-BR" sz="1600" err="1">
                          <a:solidFill>
                            <a:schemeClr val="tx1">
                              <a:lumMod val="75000"/>
                              <a:lumOff val="25000"/>
                            </a:schemeClr>
                          </a:solidFill>
                        </a:rPr>
                        <a:t>Export</a:t>
                      </a:r>
                      <a:endParaRPr lang="pt-BR" sz="1600">
                        <a:solidFill>
                          <a:schemeClr val="tx1">
                            <a:lumMod val="75000"/>
                            <a:lumOff val="2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600" err="1">
                          <a:solidFill>
                            <a:schemeClr val="tx1">
                              <a:lumMod val="75000"/>
                              <a:lumOff val="25000"/>
                            </a:schemeClr>
                          </a:solidFill>
                        </a:rPr>
                        <a:t>Job</a:t>
                      </a:r>
                      <a:r>
                        <a:rPr lang="pt-BR" sz="1600">
                          <a:solidFill>
                            <a:schemeClr val="tx1">
                              <a:lumMod val="75000"/>
                              <a:lumOff val="25000"/>
                            </a:schemeClr>
                          </a:solidFill>
                        </a:rPr>
                        <a:t> </a:t>
                      </a:r>
                      <a:r>
                        <a:rPr lang="pt-BR" sz="1600" err="1">
                          <a:solidFill>
                            <a:schemeClr val="tx1">
                              <a:lumMod val="75000"/>
                              <a:lumOff val="25000"/>
                            </a:schemeClr>
                          </a:solidFill>
                        </a:rPr>
                        <a:t>Flow</a:t>
                      </a:r>
                      <a:endParaRPr lang="pt-BR" sz="1600">
                        <a:solidFill>
                          <a:schemeClr val="tx1">
                            <a:lumMod val="75000"/>
                            <a:lumOff val="25000"/>
                          </a:schemeClr>
                        </a:solidFill>
                      </a:endParaRPr>
                    </a:p>
                    <a:p>
                      <a:endParaRPr lang="pt-BR" sz="1600">
                        <a:solidFill>
                          <a:schemeClr val="tx1">
                            <a:lumMod val="75000"/>
                            <a:lumOff val="25000"/>
                          </a:schemeClr>
                        </a:solidFill>
                      </a:endParaRPr>
                    </a:p>
                  </a:txBody>
                  <a:tcPr marL="160531" marR="80266" marT="80266" marB="80266">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r>
                        <a:rPr lang="pt-BR" sz="1600" dirty="0">
                          <a:solidFill>
                            <a:schemeClr val="tx1">
                              <a:lumMod val="75000"/>
                              <a:lumOff val="25000"/>
                            </a:schemeClr>
                          </a:solidFill>
                        </a:rPr>
                        <a:t>Cliente cria um </a:t>
                      </a:r>
                      <a:r>
                        <a:rPr lang="pt-BR" sz="1600" dirty="0" err="1">
                          <a:solidFill>
                            <a:schemeClr val="tx1">
                              <a:lumMod val="75000"/>
                              <a:lumOff val="25000"/>
                            </a:schemeClr>
                          </a:solidFill>
                        </a:rPr>
                        <a:t>job</a:t>
                      </a:r>
                      <a:r>
                        <a:rPr lang="pt-BR" sz="1600" dirty="0">
                          <a:solidFill>
                            <a:schemeClr val="tx1">
                              <a:lumMod val="75000"/>
                              <a:lumOff val="25000"/>
                            </a:schemeClr>
                          </a:solidFill>
                        </a:rPr>
                        <a:t> de exportação no Portal do Azure.</a:t>
                      </a:r>
                    </a:p>
                  </a:txBody>
                  <a:tcPr marL="160531" marR="80266" marT="80266" marB="80266">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r>
                        <a:rPr lang="pt-BR" sz="1600" dirty="0">
                          <a:solidFill>
                            <a:schemeClr val="tx1">
                              <a:lumMod val="75000"/>
                              <a:lumOff val="25000"/>
                            </a:schemeClr>
                          </a:solidFill>
                        </a:rPr>
                        <a:t>O cliente envia os discos para o datacenter. </a:t>
                      </a:r>
                    </a:p>
                    <a:p>
                      <a:r>
                        <a:rPr lang="pt-BR" sz="1600" dirty="0">
                          <a:solidFill>
                            <a:schemeClr val="tx1">
                              <a:lumMod val="75000"/>
                              <a:lumOff val="25000"/>
                            </a:schemeClr>
                          </a:solidFill>
                        </a:rPr>
                        <a:t>A transportadora entrega os discos ao datacenter</a:t>
                      </a:r>
                    </a:p>
                  </a:txBody>
                  <a:tcPr marL="160531" marR="80266" marT="80266" marB="80266">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r>
                        <a:rPr lang="pt-BR" sz="1600" dirty="0">
                          <a:solidFill>
                            <a:schemeClr val="tx1">
                              <a:lumMod val="75000"/>
                              <a:lumOff val="25000"/>
                            </a:schemeClr>
                          </a:solidFill>
                        </a:rPr>
                        <a:t>Os discos são processados no datacenter.</a:t>
                      </a:r>
                    </a:p>
                    <a:p>
                      <a:r>
                        <a:rPr lang="pt-BR" sz="1600" dirty="0">
                          <a:solidFill>
                            <a:schemeClr val="tx1">
                              <a:lumMod val="75000"/>
                              <a:lumOff val="25000"/>
                            </a:schemeClr>
                          </a:solidFill>
                        </a:rPr>
                        <a:t>Os dados são copiados da conta de armazenamento (</a:t>
                      </a:r>
                      <a:r>
                        <a:rPr lang="pt-BR" sz="1600" dirty="0" err="1">
                          <a:solidFill>
                            <a:schemeClr val="tx1">
                              <a:lumMod val="75000"/>
                              <a:lumOff val="25000"/>
                            </a:schemeClr>
                          </a:solidFill>
                        </a:rPr>
                        <a:t>storage</a:t>
                      </a:r>
                      <a:r>
                        <a:rPr lang="pt-BR" sz="1600" dirty="0">
                          <a:solidFill>
                            <a:schemeClr val="tx1">
                              <a:lumMod val="75000"/>
                              <a:lumOff val="25000"/>
                            </a:schemeClr>
                          </a:solidFill>
                        </a:rPr>
                        <a:t> </a:t>
                      </a:r>
                      <a:r>
                        <a:rPr lang="pt-BR" sz="1600" dirty="0" err="1">
                          <a:solidFill>
                            <a:schemeClr val="tx1">
                              <a:lumMod val="75000"/>
                              <a:lumOff val="25000"/>
                            </a:schemeClr>
                          </a:solidFill>
                        </a:rPr>
                        <a:t>account</a:t>
                      </a:r>
                      <a:r>
                        <a:rPr lang="pt-BR" sz="1600" dirty="0">
                          <a:solidFill>
                            <a:schemeClr val="tx1">
                              <a:lumMod val="75000"/>
                              <a:lumOff val="25000"/>
                            </a:schemeClr>
                          </a:solidFill>
                        </a:rPr>
                        <a:t>)  para os discos.</a:t>
                      </a:r>
                    </a:p>
                    <a:p>
                      <a:r>
                        <a:rPr lang="pt-BR" sz="1600" dirty="0">
                          <a:solidFill>
                            <a:schemeClr val="tx1">
                              <a:lumMod val="75000"/>
                              <a:lumOff val="25000"/>
                            </a:schemeClr>
                          </a:solidFill>
                        </a:rPr>
                        <a:t>Os discos são criptografados com o </a:t>
                      </a:r>
                      <a:r>
                        <a:rPr lang="pt-BR" sz="1600" dirty="0" err="1">
                          <a:solidFill>
                            <a:schemeClr val="tx1">
                              <a:lumMod val="75000"/>
                              <a:lumOff val="25000"/>
                            </a:schemeClr>
                          </a:solidFill>
                        </a:rPr>
                        <a:t>BitLocker</a:t>
                      </a:r>
                      <a:r>
                        <a:rPr lang="pt-BR" sz="1600" dirty="0">
                          <a:solidFill>
                            <a:schemeClr val="tx1">
                              <a:lumMod val="75000"/>
                              <a:lumOff val="25000"/>
                            </a:schemeClr>
                          </a:solidFill>
                        </a:rPr>
                        <a:t>.</a:t>
                      </a:r>
                    </a:p>
                  </a:txBody>
                  <a:tcPr marL="160531" marR="80266" marT="80266" marB="80266">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r>
                        <a:rPr lang="pt-BR" sz="1600" dirty="0">
                          <a:solidFill>
                            <a:schemeClr val="tx1">
                              <a:lumMod val="75000"/>
                              <a:lumOff val="25000"/>
                            </a:schemeClr>
                          </a:solidFill>
                        </a:rPr>
                        <a:t>Os discos  são embalados e preparados para remessa de devolução.</a:t>
                      </a:r>
                    </a:p>
                  </a:txBody>
                  <a:tcPr marL="160531" marR="80266" marT="80266" marB="80266">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r>
                        <a:rPr lang="pt-BR" sz="1600" dirty="0">
                          <a:solidFill>
                            <a:schemeClr val="tx1">
                              <a:lumMod val="75000"/>
                              <a:lumOff val="25000"/>
                            </a:schemeClr>
                          </a:solidFill>
                        </a:rPr>
                        <a:t>Os discos são enviados de volta ao cliente.</a:t>
                      </a:r>
                    </a:p>
                  </a:txBody>
                  <a:tcPr marL="160531" marR="80266" marT="80266" marB="80266">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extLst>
                  <a:ext uri="{0D108BD9-81ED-4DB2-BD59-A6C34878D82A}">
                    <a16:rowId xmlns:a16="http://schemas.microsoft.com/office/drawing/2014/main" val="3767201334"/>
                  </a:ext>
                </a:extLst>
              </a:tr>
            </a:tbl>
          </a:graphicData>
        </a:graphic>
      </p:graphicFrame>
    </p:spTree>
    <p:extLst>
      <p:ext uri="{BB962C8B-B14F-4D97-AF65-F5344CB8AC3E}">
        <p14:creationId xmlns:p14="http://schemas.microsoft.com/office/powerpoint/2010/main" val="37536899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48E5F4-74F2-49A8-B534-858CDC3CA952}"/>
              </a:ext>
            </a:extLst>
          </p:cNvPr>
          <p:cNvSpPr>
            <a:spLocks noGrp="1"/>
          </p:cNvSpPr>
          <p:nvPr>
            <p:ph type="title"/>
          </p:nvPr>
        </p:nvSpPr>
        <p:spPr>
          <a:xfrm>
            <a:off x="838199" y="291090"/>
            <a:ext cx="10515599" cy="932688"/>
          </a:xfrm>
        </p:spPr>
        <p:txBody>
          <a:bodyPr vert="horz" lIns="91440" tIns="45720" rIns="91440" bIns="45720" rtlCol="0" anchor="b">
            <a:normAutofit/>
          </a:bodyPr>
          <a:lstStyle/>
          <a:p>
            <a:pPr algn="ctr"/>
            <a:r>
              <a:rPr lang="en-US" sz="4800" kern="1200">
                <a:solidFill>
                  <a:schemeClr val="tx1"/>
                </a:solidFill>
                <a:latin typeface="+mj-lt"/>
                <a:ea typeface="+mj-ea"/>
                <a:cs typeface="+mj-cs"/>
              </a:rPr>
              <a:t>Import / Export</a:t>
            </a:r>
          </a:p>
        </p:txBody>
      </p:sp>
      <p:pic>
        <p:nvPicPr>
          <p:cNvPr id="3" name="Imagem 2">
            <a:extLst>
              <a:ext uri="{FF2B5EF4-FFF2-40B4-BE49-F238E27FC236}">
                <a16:creationId xmlns:a16="http://schemas.microsoft.com/office/drawing/2014/main" id="{25461C5C-01E6-4EF7-B875-213CE1A2275A}"/>
              </a:ext>
            </a:extLst>
          </p:cNvPr>
          <p:cNvPicPr>
            <a:picLocks noChangeAspect="1"/>
          </p:cNvPicPr>
          <p:nvPr/>
        </p:nvPicPr>
        <p:blipFill>
          <a:blip r:embed="rId2"/>
          <a:stretch>
            <a:fillRect/>
          </a:stretch>
        </p:blipFill>
        <p:spPr>
          <a:xfrm>
            <a:off x="244398" y="1097280"/>
            <a:ext cx="11490402" cy="5601570"/>
          </a:xfrm>
          <a:prstGeom prst="rect">
            <a:avLst/>
          </a:prstGeom>
        </p:spPr>
      </p:pic>
    </p:spTree>
    <p:extLst>
      <p:ext uri="{BB962C8B-B14F-4D97-AF65-F5344CB8AC3E}">
        <p14:creationId xmlns:p14="http://schemas.microsoft.com/office/powerpoint/2010/main" val="23973663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9CB473-8D8E-477E-8394-510A70E36164}"/>
              </a:ext>
            </a:extLst>
          </p:cNvPr>
          <p:cNvSpPr>
            <a:spLocks noGrp="1"/>
          </p:cNvSpPr>
          <p:nvPr>
            <p:ph type="title"/>
          </p:nvPr>
        </p:nvSpPr>
        <p:spPr>
          <a:xfrm>
            <a:off x="324316" y="172085"/>
            <a:ext cx="10515600" cy="630555"/>
          </a:xfrm>
        </p:spPr>
        <p:txBody>
          <a:bodyPr>
            <a:normAutofit fontScale="90000"/>
          </a:bodyPr>
          <a:lstStyle/>
          <a:p>
            <a:r>
              <a:rPr lang="pt-BR" dirty="0" err="1"/>
              <a:t>WebSite</a:t>
            </a:r>
            <a:r>
              <a:rPr lang="pt-BR" dirty="0"/>
              <a:t> Estático </a:t>
            </a:r>
            <a:r>
              <a:rPr lang="pt-BR" dirty="0" err="1"/>
              <a:t>Storage</a:t>
            </a:r>
            <a:endParaRPr lang="pt-BR" dirty="0"/>
          </a:p>
        </p:txBody>
      </p:sp>
      <p:pic>
        <p:nvPicPr>
          <p:cNvPr id="4" name="Imagem 3">
            <a:extLst>
              <a:ext uri="{FF2B5EF4-FFF2-40B4-BE49-F238E27FC236}">
                <a16:creationId xmlns:a16="http://schemas.microsoft.com/office/drawing/2014/main" id="{4154439A-00D8-46C2-BE25-9D8989FAD6A6}"/>
              </a:ext>
            </a:extLst>
          </p:cNvPr>
          <p:cNvPicPr>
            <a:picLocks noChangeAspect="1"/>
          </p:cNvPicPr>
          <p:nvPr/>
        </p:nvPicPr>
        <p:blipFill>
          <a:blip r:embed="rId2"/>
          <a:stretch>
            <a:fillRect/>
          </a:stretch>
        </p:blipFill>
        <p:spPr>
          <a:xfrm>
            <a:off x="589280" y="970425"/>
            <a:ext cx="10697676" cy="4617575"/>
          </a:xfrm>
          <a:prstGeom prst="rect">
            <a:avLst/>
          </a:prstGeom>
        </p:spPr>
      </p:pic>
      <p:pic>
        <p:nvPicPr>
          <p:cNvPr id="5" name="Imagem 4">
            <a:extLst>
              <a:ext uri="{FF2B5EF4-FFF2-40B4-BE49-F238E27FC236}">
                <a16:creationId xmlns:a16="http://schemas.microsoft.com/office/drawing/2014/main" id="{E3CDA2B9-A867-46FE-9AD5-91B2BCEDF97A}"/>
              </a:ext>
            </a:extLst>
          </p:cNvPr>
          <p:cNvPicPr>
            <a:picLocks noChangeAspect="1"/>
          </p:cNvPicPr>
          <p:nvPr/>
        </p:nvPicPr>
        <p:blipFill>
          <a:blip r:embed="rId3"/>
          <a:stretch>
            <a:fillRect/>
          </a:stretch>
        </p:blipFill>
        <p:spPr>
          <a:xfrm>
            <a:off x="6340475" y="4524165"/>
            <a:ext cx="5587365" cy="2127669"/>
          </a:xfrm>
          <a:prstGeom prst="rect">
            <a:avLst/>
          </a:prstGeom>
          <a:effectLst>
            <a:innerShdw blurRad="63500" dist="50800" dir="13500000">
              <a:srgbClr val="FF0000">
                <a:alpha val="50000"/>
              </a:srgbClr>
            </a:innerShdw>
          </a:effectLst>
        </p:spPr>
      </p:pic>
    </p:spTree>
    <p:extLst>
      <p:ext uri="{BB962C8B-B14F-4D97-AF65-F5344CB8AC3E}">
        <p14:creationId xmlns:p14="http://schemas.microsoft.com/office/powerpoint/2010/main" val="29692700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83545E-7840-435A-ADDF-B0B0369C36E9}"/>
              </a:ext>
            </a:extLst>
          </p:cNvPr>
          <p:cNvSpPr>
            <a:spLocks noGrp="1"/>
          </p:cNvSpPr>
          <p:nvPr>
            <p:ph type="title"/>
          </p:nvPr>
        </p:nvSpPr>
        <p:spPr>
          <a:xfrm>
            <a:off x="2370667" y="2187743"/>
            <a:ext cx="7789333" cy="2482515"/>
          </a:xfrm>
        </p:spPr>
        <p:txBody>
          <a:bodyPr vert="horz" lIns="91440" tIns="45720" rIns="91440" bIns="45720" rtlCol="0" anchor="ctr">
            <a:normAutofit/>
          </a:bodyPr>
          <a:lstStyle/>
          <a:p>
            <a:r>
              <a:rPr lang="pt-BR" sz="6000" dirty="0"/>
              <a:t>M</a:t>
            </a:r>
            <a:r>
              <a:rPr lang="pt-BR" sz="6000" kern="1200" dirty="0">
                <a:solidFill>
                  <a:schemeClr val="tx1"/>
                </a:solidFill>
                <a:latin typeface="+mj-lt"/>
                <a:ea typeface="+mj-ea"/>
                <a:cs typeface="+mj-cs"/>
              </a:rPr>
              <a:t>áquinas Virtuais</a:t>
            </a:r>
            <a:endParaRPr lang="en-US" sz="6000" kern="1200" dirty="0">
              <a:solidFill>
                <a:schemeClr val="tx1"/>
              </a:solidFill>
              <a:latin typeface="+mj-lt"/>
              <a:ea typeface="+mj-ea"/>
              <a:cs typeface="+mj-cs"/>
            </a:endParaRPr>
          </a:p>
        </p:txBody>
      </p:sp>
      <p:pic>
        <p:nvPicPr>
          <p:cNvPr id="6" name="Graphic 5">
            <a:extLst>
              <a:ext uri="{FF2B5EF4-FFF2-40B4-BE49-F238E27FC236}">
                <a16:creationId xmlns:a16="http://schemas.microsoft.com/office/drawing/2014/main" id="{052314E5-8253-48A5-859B-129F94E805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1" y="2743201"/>
            <a:ext cx="1371600" cy="1371600"/>
          </a:xfrm>
          <a:prstGeom prst="rect">
            <a:avLst/>
          </a:prstGeom>
        </p:spPr>
      </p:pic>
      <p:pic>
        <p:nvPicPr>
          <p:cNvPr id="8" name="Graphic 7">
            <a:extLst>
              <a:ext uri="{FF2B5EF4-FFF2-40B4-BE49-F238E27FC236}">
                <a16:creationId xmlns:a16="http://schemas.microsoft.com/office/drawing/2014/main" id="{FA4577BE-6A11-4DB2-AE1F-216AFFD312F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526074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01AF4B-A646-47B7-88B1-AF4AD57966FF}"/>
              </a:ext>
            </a:extLst>
          </p:cNvPr>
          <p:cNvSpPr>
            <a:spLocks noGrp="1"/>
          </p:cNvSpPr>
          <p:nvPr>
            <p:ph type="title"/>
          </p:nvPr>
        </p:nvSpPr>
        <p:spPr>
          <a:xfrm>
            <a:off x="838200" y="365125"/>
            <a:ext cx="10515600" cy="935355"/>
          </a:xfrm>
        </p:spPr>
        <p:txBody>
          <a:bodyPr/>
          <a:lstStyle/>
          <a:p>
            <a:r>
              <a:rPr lang="pt-BR" dirty="0" err="1"/>
              <a:t>Hypervisor</a:t>
            </a:r>
            <a:endParaRPr lang="pt-BR" dirty="0"/>
          </a:p>
        </p:txBody>
      </p:sp>
      <p:grpSp>
        <p:nvGrpSpPr>
          <p:cNvPr id="68" name="Agrupar 67">
            <a:extLst>
              <a:ext uri="{FF2B5EF4-FFF2-40B4-BE49-F238E27FC236}">
                <a16:creationId xmlns:a16="http://schemas.microsoft.com/office/drawing/2014/main" id="{743AEE8C-B004-4C6E-8FE8-465BD05CA895}"/>
              </a:ext>
            </a:extLst>
          </p:cNvPr>
          <p:cNvGrpSpPr/>
          <p:nvPr/>
        </p:nvGrpSpPr>
        <p:grpSpPr>
          <a:xfrm>
            <a:off x="213360" y="1567497"/>
            <a:ext cx="3942080" cy="4924743"/>
            <a:chOff x="213360" y="1567497"/>
            <a:chExt cx="3942080" cy="4924743"/>
          </a:xfrm>
        </p:grpSpPr>
        <p:sp>
          <p:nvSpPr>
            <p:cNvPr id="31" name="Retângulo 30">
              <a:extLst>
                <a:ext uri="{FF2B5EF4-FFF2-40B4-BE49-F238E27FC236}">
                  <a16:creationId xmlns:a16="http://schemas.microsoft.com/office/drawing/2014/main" id="{2D033531-1366-4AB9-950B-A14C9C23F6CB}"/>
                </a:ext>
              </a:extLst>
            </p:cNvPr>
            <p:cNvSpPr/>
            <p:nvPr/>
          </p:nvSpPr>
          <p:spPr>
            <a:xfrm>
              <a:off x="213360" y="1567497"/>
              <a:ext cx="3942080" cy="492474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b="1" dirty="0">
                  <a:solidFill>
                    <a:srgbClr val="002060"/>
                  </a:solidFill>
                </a:rPr>
                <a:t>BARE METAL</a:t>
              </a:r>
            </a:p>
          </p:txBody>
        </p:sp>
        <p:sp>
          <p:nvSpPr>
            <p:cNvPr id="4" name="Retângulo 3">
              <a:extLst>
                <a:ext uri="{FF2B5EF4-FFF2-40B4-BE49-F238E27FC236}">
                  <a16:creationId xmlns:a16="http://schemas.microsoft.com/office/drawing/2014/main" id="{C505E270-C053-4565-813C-66E6F6EC2127}"/>
                </a:ext>
              </a:extLst>
            </p:cNvPr>
            <p:cNvSpPr/>
            <p:nvPr/>
          </p:nvSpPr>
          <p:spPr>
            <a:xfrm>
              <a:off x="416560" y="5425440"/>
              <a:ext cx="349504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Hardware</a:t>
              </a:r>
            </a:p>
          </p:txBody>
        </p:sp>
        <p:sp>
          <p:nvSpPr>
            <p:cNvPr id="6" name="Retângulo 5">
              <a:extLst>
                <a:ext uri="{FF2B5EF4-FFF2-40B4-BE49-F238E27FC236}">
                  <a16:creationId xmlns:a16="http://schemas.microsoft.com/office/drawing/2014/main" id="{454AF228-238A-4029-BCEA-B93F4B2F1E41}"/>
                </a:ext>
              </a:extLst>
            </p:cNvPr>
            <p:cNvSpPr/>
            <p:nvPr/>
          </p:nvSpPr>
          <p:spPr>
            <a:xfrm>
              <a:off x="416560" y="4772343"/>
              <a:ext cx="349504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err="1"/>
                <a:t>Hypervisor</a:t>
              </a:r>
              <a:endParaRPr lang="pt-BR" dirty="0"/>
            </a:p>
          </p:txBody>
        </p:sp>
        <p:sp>
          <p:nvSpPr>
            <p:cNvPr id="9" name="Retângulo 8">
              <a:extLst>
                <a:ext uri="{FF2B5EF4-FFF2-40B4-BE49-F238E27FC236}">
                  <a16:creationId xmlns:a16="http://schemas.microsoft.com/office/drawing/2014/main" id="{19E3DA66-8DAC-4516-A5B0-CCC8C3544BB2}"/>
                </a:ext>
              </a:extLst>
            </p:cNvPr>
            <p:cNvSpPr/>
            <p:nvPr/>
          </p:nvSpPr>
          <p:spPr>
            <a:xfrm>
              <a:off x="416560" y="4003040"/>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SO</a:t>
              </a:r>
            </a:p>
          </p:txBody>
        </p:sp>
        <p:sp>
          <p:nvSpPr>
            <p:cNvPr id="10" name="Retângulo 9">
              <a:extLst>
                <a:ext uri="{FF2B5EF4-FFF2-40B4-BE49-F238E27FC236}">
                  <a16:creationId xmlns:a16="http://schemas.microsoft.com/office/drawing/2014/main" id="{FE66AEFC-F134-40F4-9A6A-111F0BA59D19}"/>
                </a:ext>
              </a:extLst>
            </p:cNvPr>
            <p:cNvSpPr/>
            <p:nvPr/>
          </p:nvSpPr>
          <p:spPr>
            <a:xfrm>
              <a:off x="3134995" y="4001294"/>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SO</a:t>
              </a:r>
            </a:p>
          </p:txBody>
        </p:sp>
        <p:sp>
          <p:nvSpPr>
            <p:cNvPr id="11" name="Retângulo 10">
              <a:extLst>
                <a:ext uri="{FF2B5EF4-FFF2-40B4-BE49-F238E27FC236}">
                  <a16:creationId xmlns:a16="http://schemas.microsoft.com/office/drawing/2014/main" id="{488EE0D4-666C-416A-8AE1-4DC16E5CC395}"/>
                </a:ext>
              </a:extLst>
            </p:cNvPr>
            <p:cNvSpPr/>
            <p:nvPr/>
          </p:nvSpPr>
          <p:spPr>
            <a:xfrm>
              <a:off x="1330960" y="4001294"/>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SO</a:t>
              </a:r>
            </a:p>
          </p:txBody>
        </p:sp>
        <p:sp>
          <p:nvSpPr>
            <p:cNvPr id="12" name="Retângulo 11">
              <a:extLst>
                <a:ext uri="{FF2B5EF4-FFF2-40B4-BE49-F238E27FC236}">
                  <a16:creationId xmlns:a16="http://schemas.microsoft.com/office/drawing/2014/main" id="{935FC3A8-7D8C-4F01-8B9D-4CA4A936999F}"/>
                </a:ext>
              </a:extLst>
            </p:cNvPr>
            <p:cNvSpPr/>
            <p:nvPr/>
          </p:nvSpPr>
          <p:spPr>
            <a:xfrm>
              <a:off x="2209800" y="4001294"/>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SO</a:t>
              </a:r>
            </a:p>
          </p:txBody>
        </p:sp>
        <p:sp>
          <p:nvSpPr>
            <p:cNvPr id="13" name="Retângulo 12">
              <a:extLst>
                <a:ext uri="{FF2B5EF4-FFF2-40B4-BE49-F238E27FC236}">
                  <a16:creationId xmlns:a16="http://schemas.microsoft.com/office/drawing/2014/main" id="{317CF8F3-2550-40B0-A349-D284770E47EF}"/>
                </a:ext>
              </a:extLst>
            </p:cNvPr>
            <p:cNvSpPr/>
            <p:nvPr/>
          </p:nvSpPr>
          <p:spPr>
            <a:xfrm>
              <a:off x="416560" y="3233737"/>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APP</a:t>
              </a:r>
            </a:p>
          </p:txBody>
        </p:sp>
        <p:sp>
          <p:nvSpPr>
            <p:cNvPr id="14" name="Retângulo 13">
              <a:extLst>
                <a:ext uri="{FF2B5EF4-FFF2-40B4-BE49-F238E27FC236}">
                  <a16:creationId xmlns:a16="http://schemas.microsoft.com/office/drawing/2014/main" id="{CD355A5F-68EB-4852-ADB6-DCBE58C88C13}"/>
                </a:ext>
              </a:extLst>
            </p:cNvPr>
            <p:cNvSpPr/>
            <p:nvPr/>
          </p:nvSpPr>
          <p:spPr>
            <a:xfrm>
              <a:off x="3129280" y="3230245"/>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APP</a:t>
              </a:r>
            </a:p>
          </p:txBody>
        </p:sp>
        <p:sp>
          <p:nvSpPr>
            <p:cNvPr id="16" name="Retângulo 15">
              <a:extLst>
                <a:ext uri="{FF2B5EF4-FFF2-40B4-BE49-F238E27FC236}">
                  <a16:creationId xmlns:a16="http://schemas.microsoft.com/office/drawing/2014/main" id="{9CCD6009-E3C3-4173-B2EE-DE7FC38C0BD5}"/>
                </a:ext>
              </a:extLst>
            </p:cNvPr>
            <p:cNvSpPr/>
            <p:nvPr/>
          </p:nvSpPr>
          <p:spPr>
            <a:xfrm>
              <a:off x="1330960" y="3233420"/>
              <a:ext cx="165608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APP</a:t>
              </a:r>
            </a:p>
          </p:txBody>
        </p:sp>
      </p:grpSp>
      <p:grpSp>
        <p:nvGrpSpPr>
          <p:cNvPr id="69" name="Agrupar 68">
            <a:extLst>
              <a:ext uri="{FF2B5EF4-FFF2-40B4-BE49-F238E27FC236}">
                <a16:creationId xmlns:a16="http://schemas.microsoft.com/office/drawing/2014/main" id="{E5426D6A-BC21-46AA-A680-038AB7C68EE2}"/>
              </a:ext>
            </a:extLst>
          </p:cNvPr>
          <p:cNvGrpSpPr/>
          <p:nvPr/>
        </p:nvGrpSpPr>
        <p:grpSpPr>
          <a:xfrm>
            <a:off x="4536440" y="1567497"/>
            <a:ext cx="3149600" cy="4924743"/>
            <a:chOff x="4536440" y="1567497"/>
            <a:chExt cx="3149600" cy="4924743"/>
          </a:xfrm>
        </p:grpSpPr>
        <p:sp>
          <p:nvSpPr>
            <p:cNvPr id="38" name="Retângulo 37">
              <a:extLst>
                <a:ext uri="{FF2B5EF4-FFF2-40B4-BE49-F238E27FC236}">
                  <a16:creationId xmlns:a16="http://schemas.microsoft.com/office/drawing/2014/main" id="{CE4609B9-FE33-4B7B-81F0-048E7E31C5D1}"/>
                </a:ext>
              </a:extLst>
            </p:cNvPr>
            <p:cNvSpPr/>
            <p:nvPr/>
          </p:nvSpPr>
          <p:spPr>
            <a:xfrm>
              <a:off x="4536440" y="1567497"/>
              <a:ext cx="3149600" cy="492474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b="1" dirty="0">
                  <a:solidFill>
                    <a:srgbClr val="002060"/>
                  </a:solidFill>
                </a:rPr>
                <a:t>HIBRIDO</a:t>
              </a:r>
            </a:p>
          </p:txBody>
        </p:sp>
        <p:sp>
          <p:nvSpPr>
            <p:cNvPr id="39" name="Retângulo 38">
              <a:extLst>
                <a:ext uri="{FF2B5EF4-FFF2-40B4-BE49-F238E27FC236}">
                  <a16:creationId xmlns:a16="http://schemas.microsoft.com/office/drawing/2014/main" id="{88F1ADB4-0E11-4051-AC2B-7A5EB651EF41}"/>
                </a:ext>
              </a:extLst>
            </p:cNvPr>
            <p:cNvSpPr/>
            <p:nvPr/>
          </p:nvSpPr>
          <p:spPr>
            <a:xfrm>
              <a:off x="4714240" y="5425440"/>
              <a:ext cx="269748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Hardware</a:t>
              </a:r>
            </a:p>
          </p:txBody>
        </p:sp>
        <p:sp>
          <p:nvSpPr>
            <p:cNvPr id="40" name="Retângulo 39">
              <a:extLst>
                <a:ext uri="{FF2B5EF4-FFF2-40B4-BE49-F238E27FC236}">
                  <a16:creationId xmlns:a16="http://schemas.microsoft.com/office/drawing/2014/main" id="{564EB9F2-7FC6-4A76-A4FE-4A0886A2A897}"/>
                </a:ext>
              </a:extLst>
            </p:cNvPr>
            <p:cNvSpPr/>
            <p:nvPr/>
          </p:nvSpPr>
          <p:spPr>
            <a:xfrm>
              <a:off x="4743450" y="4772343"/>
              <a:ext cx="269748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err="1"/>
                <a:t>Hypervisor</a:t>
              </a:r>
              <a:r>
                <a:rPr lang="pt-BR" dirty="0"/>
                <a:t> Sistema Op.</a:t>
              </a:r>
            </a:p>
          </p:txBody>
        </p:sp>
        <p:sp>
          <p:nvSpPr>
            <p:cNvPr id="42" name="Retângulo 41">
              <a:extLst>
                <a:ext uri="{FF2B5EF4-FFF2-40B4-BE49-F238E27FC236}">
                  <a16:creationId xmlns:a16="http://schemas.microsoft.com/office/drawing/2014/main" id="{6F8BC7A2-C78A-4AE5-9D50-38E9BDDD99A1}"/>
                </a:ext>
              </a:extLst>
            </p:cNvPr>
            <p:cNvSpPr/>
            <p:nvPr/>
          </p:nvSpPr>
          <p:spPr>
            <a:xfrm>
              <a:off x="6629400" y="4001294"/>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SO</a:t>
              </a:r>
            </a:p>
          </p:txBody>
        </p:sp>
        <p:sp>
          <p:nvSpPr>
            <p:cNvPr id="44" name="Retângulo 43">
              <a:extLst>
                <a:ext uri="{FF2B5EF4-FFF2-40B4-BE49-F238E27FC236}">
                  <a16:creationId xmlns:a16="http://schemas.microsoft.com/office/drawing/2014/main" id="{133FCD7C-DD62-4F64-818E-3687EFFA5F58}"/>
                </a:ext>
              </a:extLst>
            </p:cNvPr>
            <p:cNvSpPr/>
            <p:nvPr/>
          </p:nvSpPr>
          <p:spPr>
            <a:xfrm>
              <a:off x="5699760" y="4001294"/>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SO</a:t>
              </a:r>
            </a:p>
          </p:txBody>
        </p:sp>
        <p:sp>
          <p:nvSpPr>
            <p:cNvPr id="45" name="Retângulo 44">
              <a:extLst>
                <a:ext uri="{FF2B5EF4-FFF2-40B4-BE49-F238E27FC236}">
                  <a16:creationId xmlns:a16="http://schemas.microsoft.com/office/drawing/2014/main" id="{884D924D-06F2-4312-AF73-279497813C6A}"/>
                </a:ext>
              </a:extLst>
            </p:cNvPr>
            <p:cNvSpPr/>
            <p:nvPr/>
          </p:nvSpPr>
          <p:spPr>
            <a:xfrm>
              <a:off x="4743450" y="3987006"/>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APP</a:t>
              </a:r>
            </a:p>
          </p:txBody>
        </p:sp>
        <p:sp>
          <p:nvSpPr>
            <p:cNvPr id="46" name="Retângulo 45">
              <a:extLst>
                <a:ext uri="{FF2B5EF4-FFF2-40B4-BE49-F238E27FC236}">
                  <a16:creationId xmlns:a16="http://schemas.microsoft.com/office/drawing/2014/main" id="{DD42AC28-32FA-491C-9767-4F7764F0CF0B}"/>
                </a:ext>
              </a:extLst>
            </p:cNvPr>
            <p:cNvSpPr/>
            <p:nvPr/>
          </p:nvSpPr>
          <p:spPr>
            <a:xfrm>
              <a:off x="6629400" y="3233737"/>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APP</a:t>
              </a:r>
            </a:p>
          </p:txBody>
        </p:sp>
        <p:sp>
          <p:nvSpPr>
            <p:cNvPr id="47" name="Retângulo 46">
              <a:extLst>
                <a:ext uri="{FF2B5EF4-FFF2-40B4-BE49-F238E27FC236}">
                  <a16:creationId xmlns:a16="http://schemas.microsoft.com/office/drawing/2014/main" id="{A0DD7991-7F74-4354-840D-8C953F11FDE1}"/>
                </a:ext>
              </a:extLst>
            </p:cNvPr>
            <p:cNvSpPr/>
            <p:nvPr/>
          </p:nvSpPr>
          <p:spPr>
            <a:xfrm>
              <a:off x="5699760" y="3230245"/>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APP</a:t>
              </a:r>
            </a:p>
          </p:txBody>
        </p:sp>
      </p:grpSp>
      <p:grpSp>
        <p:nvGrpSpPr>
          <p:cNvPr id="74" name="Agrupar 73">
            <a:extLst>
              <a:ext uri="{FF2B5EF4-FFF2-40B4-BE49-F238E27FC236}">
                <a16:creationId xmlns:a16="http://schemas.microsoft.com/office/drawing/2014/main" id="{A895770A-6BD9-4767-BDBA-96E67BFD59FC}"/>
              </a:ext>
            </a:extLst>
          </p:cNvPr>
          <p:cNvGrpSpPr/>
          <p:nvPr/>
        </p:nvGrpSpPr>
        <p:grpSpPr>
          <a:xfrm>
            <a:off x="8067040" y="1567497"/>
            <a:ext cx="3942080" cy="4924743"/>
            <a:chOff x="8067040" y="1567497"/>
            <a:chExt cx="3942080" cy="4924743"/>
          </a:xfrm>
        </p:grpSpPr>
        <p:sp>
          <p:nvSpPr>
            <p:cNvPr id="48" name="Retângulo 47">
              <a:extLst>
                <a:ext uri="{FF2B5EF4-FFF2-40B4-BE49-F238E27FC236}">
                  <a16:creationId xmlns:a16="http://schemas.microsoft.com/office/drawing/2014/main" id="{CC5433C4-BC2B-4B0A-B794-F338CDB10F33}"/>
                </a:ext>
              </a:extLst>
            </p:cNvPr>
            <p:cNvSpPr/>
            <p:nvPr/>
          </p:nvSpPr>
          <p:spPr>
            <a:xfrm>
              <a:off x="8067040" y="1567497"/>
              <a:ext cx="3942080" cy="492474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b="1" dirty="0">
                  <a:solidFill>
                    <a:srgbClr val="002060"/>
                  </a:solidFill>
                </a:rPr>
                <a:t>HOSTED</a:t>
              </a:r>
            </a:p>
          </p:txBody>
        </p:sp>
        <p:sp>
          <p:nvSpPr>
            <p:cNvPr id="49" name="Retângulo 48">
              <a:extLst>
                <a:ext uri="{FF2B5EF4-FFF2-40B4-BE49-F238E27FC236}">
                  <a16:creationId xmlns:a16="http://schemas.microsoft.com/office/drawing/2014/main" id="{58A93C90-C4CE-4FDA-B638-4A8CDD79D107}"/>
                </a:ext>
              </a:extLst>
            </p:cNvPr>
            <p:cNvSpPr/>
            <p:nvPr/>
          </p:nvSpPr>
          <p:spPr>
            <a:xfrm>
              <a:off x="8285480" y="5425440"/>
              <a:ext cx="349504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Hardware</a:t>
              </a:r>
            </a:p>
          </p:txBody>
        </p:sp>
        <p:sp>
          <p:nvSpPr>
            <p:cNvPr id="50" name="Retângulo 49">
              <a:extLst>
                <a:ext uri="{FF2B5EF4-FFF2-40B4-BE49-F238E27FC236}">
                  <a16:creationId xmlns:a16="http://schemas.microsoft.com/office/drawing/2014/main" id="{9F5080E0-403D-4E19-A8F0-86C049147DF0}"/>
                </a:ext>
              </a:extLst>
            </p:cNvPr>
            <p:cNvSpPr/>
            <p:nvPr/>
          </p:nvSpPr>
          <p:spPr>
            <a:xfrm>
              <a:off x="8270240" y="4772343"/>
              <a:ext cx="349504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SO - Sistema Operacional</a:t>
              </a:r>
            </a:p>
          </p:txBody>
        </p:sp>
        <p:sp>
          <p:nvSpPr>
            <p:cNvPr id="51" name="Retângulo 50">
              <a:extLst>
                <a:ext uri="{FF2B5EF4-FFF2-40B4-BE49-F238E27FC236}">
                  <a16:creationId xmlns:a16="http://schemas.microsoft.com/office/drawing/2014/main" id="{28D1233C-4F51-4CCA-8DB2-DEECE5A5EAA1}"/>
                </a:ext>
              </a:extLst>
            </p:cNvPr>
            <p:cNvSpPr/>
            <p:nvPr/>
          </p:nvSpPr>
          <p:spPr>
            <a:xfrm>
              <a:off x="8239760" y="3356768"/>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SO</a:t>
              </a:r>
            </a:p>
          </p:txBody>
        </p:sp>
        <p:sp>
          <p:nvSpPr>
            <p:cNvPr id="53" name="Retângulo 52">
              <a:extLst>
                <a:ext uri="{FF2B5EF4-FFF2-40B4-BE49-F238E27FC236}">
                  <a16:creationId xmlns:a16="http://schemas.microsoft.com/office/drawing/2014/main" id="{09815C6D-307D-4917-88BF-00968AF21C5C}"/>
                </a:ext>
              </a:extLst>
            </p:cNvPr>
            <p:cNvSpPr/>
            <p:nvPr/>
          </p:nvSpPr>
          <p:spPr>
            <a:xfrm>
              <a:off x="9154160" y="3355022"/>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SO</a:t>
              </a:r>
            </a:p>
          </p:txBody>
        </p:sp>
        <p:sp>
          <p:nvSpPr>
            <p:cNvPr id="54" name="Retângulo 53">
              <a:extLst>
                <a:ext uri="{FF2B5EF4-FFF2-40B4-BE49-F238E27FC236}">
                  <a16:creationId xmlns:a16="http://schemas.microsoft.com/office/drawing/2014/main" id="{B61839F7-C6DE-43CD-9239-1182241F2EB6}"/>
                </a:ext>
              </a:extLst>
            </p:cNvPr>
            <p:cNvSpPr/>
            <p:nvPr/>
          </p:nvSpPr>
          <p:spPr>
            <a:xfrm>
              <a:off x="10033000" y="3355022"/>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SO</a:t>
              </a:r>
            </a:p>
          </p:txBody>
        </p:sp>
        <p:sp>
          <p:nvSpPr>
            <p:cNvPr id="55" name="Retângulo 54">
              <a:extLst>
                <a:ext uri="{FF2B5EF4-FFF2-40B4-BE49-F238E27FC236}">
                  <a16:creationId xmlns:a16="http://schemas.microsoft.com/office/drawing/2014/main" id="{D61157B2-32FB-481D-9E6A-26A9AF2B93F1}"/>
                </a:ext>
              </a:extLst>
            </p:cNvPr>
            <p:cNvSpPr/>
            <p:nvPr/>
          </p:nvSpPr>
          <p:spPr>
            <a:xfrm>
              <a:off x="8239760" y="2587465"/>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APP</a:t>
              </a:r>
            </a:p>
          </p:txBody>
        </p:sp>
        <p:sp>
          <p:nvSpPr>
            <p:cNvPr id="57" name="Retângulo 56">
              <a:extLst>
                <a:ext uri="{FF2B5EF4-FFF2-40B4-BE49-F238E27FC236}">
                  <a16:creationId xmlns:a16="http://schemas.microsoft.com/office/drawing/2014/main" id="{027CD83C-EB62-40FB-916E-2DBCEBCE53C1}"/>
                </a:ext>
              </a:extLst>
            </p:cNvPr>
            <p:cNvSpPr/>
            <p:nvPr/>
          </p:nvSpPr>
          <p:spPr>
            <a:xfrm>
              <a:off x="9154160" y="2587148"/>
              <a:ext cx="165608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APP</a:t>
              </a:r>
            </a:p>
          </p:txBody>
        </p:sp>
        <p:sp>
          <p:nvSpPr>
            <p:cNvPr id="71" name="Retângulo 70">
              <a:extLst>
                <a:ext uri="{FF2B5EF4-FFF2-40B4-BE49-F238E27FC236}">
                  <a16:creationId xmlns:a16="http://schemas.microsoft.com/office/drawing/2014/main" id="{12CA6533-48BD-4A8D-9791-3D65D61E0716}"/>
                </a:ext>
              </a:extLst>
            </p:cNvPr>
            <p:cNvSpPr/>
            <p:nvPr/>
          </p:nvSpPr>
          <p:spPr>
            <a:xfrm>
              <a:off x="8270240" y="4120912"/>
              <a:ext cx="254000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err="1"/>
                <a:t>Hypervisor</a:t>
              </a:r>
              <a:endParaRPr lang="pt-BR" dirty="0"/>
            </a:p>
          </p:txBody>
        </p:sp>
        <p:sp>
          <p:nvSpPr>
            <p:cNvPr id="73" name="Retângulo 72">
              <a:extLst>
                <a:ext uri="{FF2B5EF4-FFF2-40B4-BE49-F238E27FC236}">
                  <a16:creationId xmlns:a16="http://schemas.microsoft.com/office/drawing/2014/main" id="{0F41A785-1E3D-4E8D-A3B5-87A2A7A034A2}"/>
                </a:ext>
              </a:extLst>
            </p:cNvPr>
            <p:cNvSpPr/>
            <p:nvPr/>
          </p:nvSpPr>
          <p:spPr>
            <a:xfrm>
              <a:off x="10952480" y="4062809"/>
              <a:ext cx="782320"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APP</a:t>
              </a:r>
            </a:p>
          </p:txBody>
        </p:sp>
      </p:grpSp>
    </p:spTree>
    <p:extLst>
      <p:ext uri="{BB962C8B-B14F-4D97-AF65-F5344CB8AC3E}">
        <p14:creationId xmlns:p14="http://schemas.microsoft.com/office/powerpoint/2010/main" val="8270534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074069-07A0-4B58-92D7-2BE7E7CEC79F}"/>
              </a:ext>
            </a:extLst>
          </p:cNvPr>
          <p:cNvSpPr>
            <a:spLocks noGrp="1"/>
          </p:cNvSpPr>
          <p:nvPr>
            <p:ph type="title"/>
          </p:nvPr>
        </p:nvSpPr>
        <p:spPr/>
        <p:txBody>
          <a:bodyPr/>
          <a:lstStyle/>
          <a:p>
            <a:r>
              <a:rPr lang="pt-BR" dirty="0"/>
              <a:t>Resumo </a:t>
            </a:r>
            <a:r>
              <a:rPr lang="pt-BR" dirty="0" err="1"/>
              <a:t>VMs</a:t>
            </a:r>
            <a:endParaRPr lang="pt-BR" dirty="0"/>
          </a:p>
        </p:txBody>
      </p:sp>
      <p:sp>
        <p:nvSpPr>
          <p:cNvPr id="3" name="Espaço Reservado para Conteúdo 2">
            <a:extLst>
              <a:ext uri="{FF2B5EF4-FFF2-40B4-BE49-F238E27FC236}">
                <a16:creationId xmlns:a16="http://schemas.microsoft.com/office/drawing/2014/main" id="{D3A27C05-7686-4AB7-9D33-F08265CB0EAC}"/>
              </a:ext>
            </a:extLst>
          </p:cNvPr>
          <p:cNvSpPr>
            <a:spLocks noGrp="1"/>
          </p:cNvSpPr>
          <p:nvPr>
            <p:ph idx="1"/>
          </p:nvPr>
        </p:nvSpPr>
        <p:spPr>
          <a:xfrm>
            <a:off x="721360" y="1391920"/>
            <a:ext cx="10632440" cy="5242560"/>
          </a:xfrm>
        </p:spPr>
        <p:txBody>
          <a:bodyPr>
            <a:normAutofit fontScale="85000" lnSpcReduction="20000"/>
          </a:bodyPr>
          <a:lstStyle/>
          <a:p>
            <a:r>
              <a:rPr lang="pt-BR" dirty="0" err="1"/>
              <a:t>Familia</a:t>
            </a:r>
            <a:r>
              <a:rPr lang="pt-BR" dirty="0"/>
              <a:t> A – Muito </a:t>
            </a:r>
            <a:r>
              <a:rPr lang="pt-BR" dirty="0" err="1"/>
              <a:t>basica</a:t>
            </a:r>
            <a:r>
              <a:rPr lang="pt-BR" dirty="0"/>
              <a:t>, são usadas para testes e desenvolvimento.</a:t>
            </a:r>
          </a:p>
          <a:p>
            <a:r>
              <a:rPr lang="pt-BR" dirty="0" err="1"/>
              <a:t>Familia</a:t>
            </a:r>
            <a:r>
              <a:rPr lang="pt-BR" dirty="0"/>
              <a:t> B – </a:t>
            </a:r>
            <a:r>
              <a:rPr lang="pt-BR" dirty="0" err="1"/>
              <a:t>Burstable</a:t>
            </a:r>
            <a:r>
              <a:rPr lang="pt-BR" dirty="0"/>
              <a:t>, Capacidade de CPU, máquinas que geram crédito a quando CPU é alocada e não utilizada.</a:t>
            </a:r>
          </a:p>
          <a:p>
            <a:r>
              <a:rPr lang="pt-BR" dirty="0" err="1"/>
              <a:t>Familia</a:t>
            </a:r>
            <a:r>
              <a:rPr lang="pt-BR" dirty="0"/>
              <a:t> D – General </a:t>
            </a:r>
            <a:r>
              <a:rPr lang="pt-BR" dirty="0" err="1"/>
              <a:t>propose</a:t>
            </a:r>
            <a:r>
              <a:rPr lang="pt-BR" dirty="0"/>
              <a:t>, possui grande capacidade de armazenamento, pode até ser usada como </a:t>
            </a:r>
            <a:r>
              <a:rPr lang="pt-BR" dirty="0" err="1"/>
              <a:t>storage</a:t>
            </a:r>
            <a:r>
              <a:rPr lang="pt-BR" dirty="0"/>
              <a:t>.</a:t>
            </a:r>
          </a:p>
          <a:p>
            <a:r>
              <a:rPr lang="pt-BR" dirty="0" err="1"/>
              <a:t>Familia</a:t>
            </a:r>
            <a:r>
              <a:rPr lang="pt-BR" dirty="0"/>
              <a:t> E – Memória, máquinas com memória RAM otimizada.</a:t>
            </a:r>
          </a:p>
          <a:p>
            <a:r>
              <a:rPr lang="pt-BR" dirty="0" err="1"/>
              <a:t>Familia</a:t>
            </a:r>
            <a:r>
              <a:rPr lang="pt-BR" dirty="0"/>
              <a:t> F – CPU,  alto poder de processamento.</a:t>
            </a:r>
          </a:p>
          <a:p>
            <a:r>
              <a:rPr lang="pt-BR" dirty="0" err="1"/>
              <a:t>Familia</a:t>
            </a:r>
            <a:r>
              <a:rPr lang="pt-BR" dirty="0"/>
              <a:t> G – </a:t>
            </a:r>
            <a:r>
              <a:rPr lang="pt-BR" dirty="0" err="1"/>
              <a:t>Godzila</a:t>
            </a:r>
            <a:r>
              <a:rPr lang="pt-BR" dirty="0"/>
              <a:t>, maquinas gigantes.</a:t>
            </a:r>
          </a:p>
          <a:p>
            <a:r>
              <a:rPr lang="pt-BR" dirty="0" err="1"/>
              <a:t>Familia</a:t>
            </a:r>
            <a:r>
              <a:rPr lang="pt-BR" dirty="0"/>
              <a:t> H – </a:t>
            </a:r>
            <a:r>
              <a:rPr lang="pt-BR" dirty="0" err="1"/>
              <a:t>Hight</a:t>
            </a:r>
            <a:r>
              <a:rPr lang="pt-BR" dirty="0"/>
              <a:t> </a:t>
            </a:r>
            <a:r>
              <a:rPr lang="pt-BR" dirty="0" err="1"/>
              <a:t>performace</a:t>
            </a:r>
            <a:r>
              <a:rPr lang="pt-BR" dirty="0"/>
              <a:t> compute, máquinas com alto teor de processamento, usada por cientistas.</a:t>
            </a:r>
          </a:p>
          <a:p>
            <a:r>
              <a:rPr lang="pt-BR" dirty="0" err="1"/>
              <a:t>Familia</a:t>
            </a:r>
            <a:r>
              <a:rPr lang="pt-BR" dirty="0"/>
              <a:t> L – Grande velocidade de input e output em </a:t>
            </a:r>
            <a:r>
              <a:rPr lang="pt-BR" dirty="0" err="1"/>
              <a:t>storage</a:t>
            </a:r>
            <a:r>
              <a:rPr lang="pt-BR" dirty="0"/>
              <a:t>.</a:t>
            </a:r>
          </a:p>
          <a:p>
            <a:r>
              <a:rPr lang="pt-BR" dirty="0" err="1"/>
              <a:t>Familia</a:t>
            </a:r>
            <a:r>
              <a:rPr lang="pt-BR" dirty="0"/>
              <a:t> M – </a:t>
            </a:r>
            <a:r>
              <a:rPr lang="pt-BR" dirty="0" err="1"/>
              <a:t>Large</a:t>
            </a:r>
            <a:r>
              <a:rPr lang="pt-BR" dirty="0"/>
              <a:t> </a:t>
            </a:r>
            <a:r>
              <a:rPr lang="pt-BR" dirty="0" err="1"/>
              <a:t>memory</a:t>
            </a:r>
            <a:r>
              <a:rPr lang="pt-BR" dirty="0"/>
              <a:t>. Memória RAM muito Grande.</a:t>
            </a:r>
          </a:p>
          <a:p>
            <a:r>
              <a:rPr lang="pt-BR" dirty="0" err="1"/>
              <a:t>Familia</a:t>
            </a:r>
            <a:r>
              <a:rPr lang="pt-BR" dirty="0"/>
              <a:t> N – GPU, alto processamento.</a:t>
            </a:r>
          </a:p>
          <a:p>
            <a:r>
              <a:rPr lang="pt-BR" dirty="0" err="1"/>
              <a:t>Familia</a:t>
            </a:r>
            <a:r>
              <a:rPr lang="pt-BR" dirty="0"/>
              <a:t> SAP Hanna – especifica para SAP HANNA. </a:t>
            </a:r>
          </a:p>
        </p:txBody>
      </p:sp>
    </p:spTree>
    <p:extLst>
      <p:ext uri="{BB962C8B-B14F-4D97-AF65-F5344CB8AC3E}">
        <p14:creationId xmlns:p14="http://schemas.microsoft.com/office/powerpoint/2010/main" val="14083271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2ED9029-64A6-4BAE-BA25-DC2A13D43E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834" y="0"/>
            <a:ext cx="12192000"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AFABACF-DDBE-415C-8EE1-F7DD68C632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38656" cy="6858000"/>
          </a:xfrm>
          <a:prstGeom prst="rect">
            <a:avLst/>
          </a:prstGeom>
          <a:solidFill>
            <a:schemeClr val="accent5">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6" name="Rectangle 25">
            <a:extLst>
              <a:ext uri="{FF2B5EF4-FFF2-40B4-BE49-F238E27FC236}">
                <a16:creationId xmlns:a16="http://schemas.microsoft.com/office/drawing/2014/main" id="{41E17A99-1553-4633-ADFB-5CCDCF801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656" y="0"/>
            <a:ext cx="321564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53750A7-14AF-4260-AFF2-7491E114AB12}"/>
              </a:ext>
            </a:extLst>
          </p:cNvPr>
          <p:cNvSpPr>
            <a:spLocks noGrp="1"/>
          </p:cNvSpPr>
          <p:nvPr>
            <p:ph type="title"/>
          </p:nvPr>
        </p:nvSpPr>
        <p:spPr>
          <a:xfrm>
            <a:off x="84533" y="1635422"/>
            <a:ext cx="1371957" cy="4491015"/>
          </a:xfrm>
        </p:spPr>
        <p:txBody>
          <a:bodyPr anchor="t">
            <a:normAutofit/>
          </a:bodyPr>
          <a:lstStyle/>
          <a:p>
            <a:pPr algn="r"/>
            <a:r>
              <a:rPr lang="pt-BR" sz="2400" dirty="0">
                <a:solidFill>
                  <a:srgbClr val="FFFFFF"/>
                </a:solidFill>
              </a:rPr>
              <a:t>Virtual </a:t>
            </a:r>
            <a:br>
              <a:rPr lang="pt-BR" sz="2400" dirty="0">
                <a:solidFill>
                  <a:srgbClr val="FFFFFF"/>
                </a:solidFill>
              </a:rPr>
            </a:br>
            <a:br>
              <a:rPr lang="pt-BR" sz="2400" dirty="0">
                <a:solidFill>
                  <a:srgbClr val="FFFFFF"/>
                </a:solidFill>
              </a:rPr>
            </a:br>
            <a:br>
              <a:rPr lang="pt-BR" sz="2400" dirty="0">
                <a:solidFill>
                  <a:srgbClr val="FFFFFF"/>
                </a:solidFill>
              </a:rPr>
            </a:br>
            <a:r>
              <a:rPr lang="pt-BR" sz="2400" dirty="0" err="1">
                <a:solidFill>
                  <a:srgbClr val="FFFFFF"/>
                </a:solidFill>
              </a:rPr>
              <a:t>Machine</a:t>
            </a:r>
            <a:br>
              <a:rPr lang="pt-BR" sz="2400" dirty="0">
                <a:solidFill>
                  <a:srgbClr val="FFFFFF"/>
                </a:solidFill>
              </a:rPr>
            </a:br>
            <a:r>
              <a:rPr lang="pt-BR" sz="2400" dirty="0">
                <a:solidFill>
                  <a:srgbClr val="FFFFFF"/>
                </a:solidFill>
              </a:rPr>
              <a:t> </a:t>
            </a:r>
            <a:br>
              <a:rPr lang="pt-BR" sz="2400" dirty="0">
                <a:solidFill>
                  <a:srgbClr val="FFFFFF"/>
                </a:solidFill>
              </a:rPr>
            </a:br>
            <a:br>
              <a:rPr lang="pt-BR" sz="2400" dirty="0">
                <a:solidFill>
                  <a:srgbClr val="FFFFFF"/>
                </a:solidFill>
              </a:rPr>
            </a:br>
            <a:r>
              <a:rPr lang="pt-BR" sz="2400" dirty="0">
                <a:solidFill>
                  <a:srgbClr val="FFFFFF"/>
                </a:solidFill>
              </a:rPr>
              <a:t>Famílias</a:t>
            </a:r>
          </a:p>
        </p:txBody>
      </p:sp>
      <p:sp>
        <p:nvSpPr>
          <p:cNvPr id="3" name="Espaço Reservado para Conteúdo 2">
            <a:extLst>
              <a:ext uri="{FF2B5EF4-FFF2-40B4-BE49-F238E27FC236}">
                <a16:creationId xmlns:a16="http://schemas.microsoft.com/office/drawing/2014/main" id="{EB0E079A-4526-42F2-9292-5FEAE457C3B4}"/>
              </a:ext>
            </a:extLst>
          </p:cNvPr>
          <p:cNvSpPr>
            <a:spLocks noGrp="1"/>
          </p:cNvSpPr>
          <p:nvPr>
            <p:ph idx="1"/>
          </p:nvPr>
        </p:nvSpPr>
        <p:spPr>
          <a:xfrm>
            <a:off x="1438657" y="59436"/>
            <a:ext cx="10717676" cy="6739127"/>
          </a:xfrm>
        </p:spPr>
        <p:txBody>
          <a:bodyPr>
            <a:normAutofit lnSpcReduction="10000"/>
          </a:bodyPr>
          <a:lstStyle/>
          <a:p>
            <a:r>
              <a:rPr lang="pt-BR" sz="1600" b="1" dirty="0">
                <a:solidFill>
                  <a:srgbClr val="FFFFFF"/>
                </a:solidFill>
              </a:rPr>
              <a:t>A-Series - </a:t>
            </a:r>
            <a:r>
              <a:rPr lang="pt-BR" sz="1600" b="1" dirty="0" err="1">
                <a:solidFill>
                  <a:srgbClr val="FFFFFF"/>
                </a:solidFill>
              </a:rPr>
              <a:t>VMs</a:t>
            </a:r>
            <a:r>
              <a:rPr lang="pt-BR" sz="1600" b="1" dirty="0">
                <a:solidFill>
                  <a:srgbClr val="FFFFFF"/>
                </a:solidFill>
              </a:rPr>
              <a:t> econômicas de nível de entrada para desenvolvimento e teste (Basic)</a:t>
            </a:r>
          </a:p>
          <a:p>
            <a:pPr lvl="1"/>
            <a:r>
              <a:rPr lang="pt-BR" sz="1600" dirty="0">
                <a:solidFill>
                  <a:srgbClr val="FFFFFF"/>
                </a:solidFill>
              </a:rPr>
              <a:t>As </a:t>
            </a:r>
            <a:r>
              <a:rPr lang="pt-BR" sz="1600" dirty="0" err="1">
                <a:solidFill>
                  <a:srgbClr val="FFFFFF"/>
                </a:solidFill>
              </a:rPr>
              <a:t>VMs</a:t>
            </a:r>
            <a:r>
              <a:rPr lang="pt-BR" sz="1600" dirty="0">
                <a:solidFill>
                  <a:srgbClr val="FFFFFF"/>
                </a:solidFill>
              </a:rPr>
              <a:t> de série A tem configurações de memória e de desempenho de CPU melhor adequadas para cargas de trabalho de nível de entrada, como desenvolvimento e teste. Elas são econômicas e fornecem uma opção de baixo custo para começar com o Azure. O Av2 Standard é a última geração de </a:t>
            </a:r>
            <a:r>
              <a:rPr lang="pt-BR" sz="1600" dirty="0" err="1">
                <a:solidFill>
                  <a:srgbClr val="FFFFFF"/>
                </a:solidFill>
              </a:rPr>
              <a:t>VMs</a:t>
            </a:r>
            <a:r>
              <a:rPr lang="pt-BR" sz="1600" dirty="0">
                <a:solidFill>
                  <a:srgbClr val="FFFFFF"/>
                </a:solidFill>
              </a:rPr>
              <a:t> da série A com desempenho de CPU semelhante, mas com mais RAM por </a:t>
            </a:r>
            <a:r>
              <a:rPr lang="pt-BR" sz="1600" dirty="0" err="1">
                <a:solidFill>
                  <a:srgbClr val="FFFFFF"/>
                </a:solidFill>
              </a:rPr>
              <a:t>vCPU</a:t>
            </a:r>
            <a:r>
              <a:rPr lang="pt-BR" sz="1600" dirty="0">
                <a:solidFill>
                  <a:srgbClr val="FFFFFF"/>
                </a:solidFill>
              </a:rPr>
              <a:t> e discos mais rápidos.</a:t>
            </a:r>
          </a:p>
          <a:p>
            <a:r>
              <a:rPr lang="pt-BR" sz="1600" b="1" dirty="0">
                <a:solidFill>
                  <a:srgbClr val="FFFFFF"/>
                </a:solidFill>
              </a:rPr>
              <a:t>Série </a:t>
            </a:r>
            <a:r>
              <a:rPr lang="pt-BR" sz="1600" b="1" dirty="0" err="1">
                <a:solidFill>
                  <a:srgbClr val="FFFFFF"/>
                </a:solidFill>
              </a:rPr>
              <a:t>Bs</a:t>
            </a:r>
            <a:r>
              <a:rPr lang="pt-BR" sz="1600" b="1" dirty="0">
                <a:solidFill>
                  <a:srgbClr val="FFFFFF"/>
                </a:solidFill>
              </a:rPr>
              <a:t> - </a:t>
            </a:r>
            <a:r>
              <a:rPr lang="pt-BR" sz="1600" b="1" dirty="0" err="1">
                <a:solidFill>
                  <a:srgbClr val="FFFFFF"/>
                </a:solidFill>
              </a:rPr>
              <a:t>VMs</a:t>
            </a:r>
            <a:r>
              <a:rPr lang="pt-BR" sz="1600" b="1" dirty="0">
                <a:solidFill>
                  <a:srgbClr val="FFFFFF"/>
                </a:solidFill>
              </a:rPr>
              <a:t> econômicas expansíveis (</a:t>
            </a:r>
            <a:r>
              <a:rPr lang="pt-BR" sz="1600" b="1" dirty="0" err="1">
                <a:solidFill>
                  <a:srgbClr val="FFFFFF"/>
                </a:solidFill>
              </a:rPr>
              <a:t>Bustable</a:t>
            </a:r>
            <a:r>
              <a:rPr lang="pt-BR" sz="1600" b="1" dirty="0">
                <a:solidFill>
                  <a:srgbClr val="FFFFFF"/>
                </a:solidFill>
              </a:rPr>
              <a:t> – CPU </a:t>
            </a:r>
            <a:r>
              <a:rPr lang="pt-BR" sz="1600" b="1" dirty="0" err="1">
                <a:solidFill>
                  <a:srgbClr val="FFFFFF"/>
                </a:solidFill>
              </a:rPr>
              <a:t>Economica</a:t>
            </a:r>
            <a:r>
              <a:rPr lang="pt-BR" sz="1600" b="1" dirty="0">
                <a:solidFill>
                  <a:srgbClr val="FFFFFF"/>
                </a:solidFill>
              </a:rPr>
              <a:t>)</a:t>
            </a:r>
          </a:p>
          <a:p>
            <a:pPr lvl="1"/>
            <a:r>
              <a:rPr lang="pt-BR" sz="1600" dirty="0">
                <a:solidFill>
                  <a:srgbClr val="FFFFFF"/>
                </a:solidFill>
              </a:rPr>
              <a:t>As máquinas virtuais da série </a:t>
            </a:r>
            <a:r>
              <a:rPr lang="pt-BR" sz="1600" dirty="0" err="1">
                <a:solidFill>
                  <a:srgbClr val="FFFFFF"/>
                </a:solidFill>
              </a:rPr>
              <a:t>Bs</a:t>
            </a:r>
            <a:r>
              <a:rPr lang="pt-BR" sz="1600" dirty="0">
                <a:solidFill>
                  <a:srgbClr val="FFFFFF"/>
                </a:solidFill>
              </a:rPr>
              <a:t> são econômicas e oferecem opções de baixo custo para cargas de trabalho que geralmente são executadas com uma utilização de CPU de linha de base baixa a moderada, mas que, às vezes, precisam disparar para uma utilização de CPU significativamente mais alta quando a demanda aumenta.</a:t>
            </a:r>
          </a:p>
          <a:p>
            <a:r>
              <a:rPr lang="pt-BR" sz="1600" b="1" dirty="0">
                <a:solidFill>
                  <a:srgbClr val="FFFFFF"/>
                </a:solidFill>
              </a:rPr>
              <a:t>Série D - Computação para fins gerais (Proposta geral)</a:t>
            </a:r>
          </a:p>
          <a:p>
            <a:pPr lvl="1"/>
            <a:r>
              <a:rPr lang="pt-BR" sz="1600" dirty="0">
                <a:solidFill>
                  <a:srgbClr val="FFFFFF"/>
                </a:solidFill>
              </a:rPr>
              <a:t>As </a:t>
            </a:r>
            <a:r>
              <a:rPr lang="pt-BR" sz="1600" dirty="0" err="1">
                <a:solidFill>
                  <a:srgbClr val="FFFFFF"/>
                </a:solidFill>
              </a:rPr>
              <a:t>VMs</a:t>
            </a:r>
            <a:r>
              <a:rPr lang="pt-BR" sz="1600" dirty="0">
                <a:solidFill>
                  <a:srgbClr val="FFFFFF"/>
                </a:solidFill>
              </a:rPr>
              <a:t> da série D apresentam CPUs rápidas e uma configuração ideal de CPU para memória, tornando-as adequadas para a maioria das cargas de trabalho de produção. </a:t>
            </a:r>
          </a:p>
          <a:p>
            <a:pPr>
              <a:lnSpc>
                <a:spcPct val="100000"/>
              </a:lnSpc>
            </a:pPr>
            <a:r>
              <a:rPr lang="pt-BR" sz="1600" b="1" dirty="0">
                <a:solidFill>
                  <a:srgbClr val="FFFFFF"/>
                </a:solidFill>
              </a:rPr>
              <a:t>Série DC - Proteja dados em uso</a:t>
            </a:r>
          </a:p>
          <a:p>
            <a:pPr lvl="1"/>
            <a:r>
              <a:rPr lang="pt-BR" sz="1600" dirty="0">
                <a:solidFill>
                  <a:srgbClr val="FFFFFF"/>
                </a:solidFill>
              </a:rPr>
              <a:t>As máquinas virtuais da série DC são uma nova família de </a:t>
            </a:r>
            <a:r>
              <a:rPr lang="pt-BR" sz="1600" dirty="0" err="1">
                <a:solidFill>
                  <a:srgbClr val="FFFFFF"/>
                </a:solidFill>
              </a:rPr>
              <a:t>VMs</a:t>
            </a:r>
            <a:r>
              <a:rPr lang="pt-BR" sz="1600" dirty="0">
                <a:solidFill>
                  <a:srgbClr val="FFFFFF"/>
                </a:solidFill>
              </a:rPr>
              <a:t> para proteger a confidencialidade e a integridade dos dados e do código, processadas no Azure usando enclaves seguros. Elas são agregadas às funcionalidades de criptografia internas existentes que protegem os dados no Azure enquanto eles estão em repouso e em trânsito.</a:t>
            </a:r>
          </a:p>
          <a:p>
            <a:r>
              <a:rPr lang="pt-BR" sz="1600" b="1" dirty="0">
                <a:solidFill>
                  <a:srgbClr val="FFFFFF"/>
                </a:solidFill>
              </a:rPr>
              <a:t>Série E - Otimizada para aplicativos </a:t>
            </a:r>
            <a:r>
              <a:rPr lang="pt-BR" sz="1600" b="1" dirty="0" err="1">
                <a:solidFill>
                  <a:srgbClr val="FFFFFF"/>
                </a:solidFill>
              </a:rPr>
              <a:t>hyper-threaded</a:t>
            </a:r>
            <a:r>
              <a:rPr lang="pt-BR" sz="1600" b="1" dirty="0">
                <a:solidFill>
                  <a:srgbClr val="FFFFFF"/>
                </a:solidFill>
              </a:rPr>
              <a:t> na memória (Memória RAM)</a:t>
            </a:r>
          </a:p>
          <a:p>
            <a:pPr lvl="1"/>
            <a:r>
              <a:rPr lang="pt-BR" sz="1600" dirty="0">
                <a:solidFill>
                  <a:srgbClr val="FFFFFF"/>
                </a:solidFill>
              </a:rPr>
              <a:t>As máquinas virtuais do Azure da série E são otimizadas para aplicativos pesados na memória, como o SAP HANA. Essas </a:t>
            </a:r>
            <a:r>
              <a:rPr lang="pt-BR" sz="1600" dirty="0" err="1">
                <a:solidFill>
                  <a:srgbClr val="FFFFFF"/>
                </a:solidFill>
              </a:rPr>
              <a:t>VMs</a:t>
            </a:r>
            <a:r>
              <a:rPr lang="pt-BR" sz="1600" dirty="0">
                <a:solidFill>
                  <a:srgbClr val="FFFFFF"/>
                </a:solidFill>
              </a:rPr>
              <a:t> são configuradas com altas taxas de memória / núcleo, o que as torna adequadas para servidores de bancos de dados relacionais, com caches médios a grandes e análises na memória.</a:t>
            </a:r>
          </a:p>
          <a:p>
            <a:pPr>
              <a:lnSpc>
                <a:spcPct val="100000"/>
              </a:lnSpc>
            </a:pPr>
            <a:r>
              <a:rPr lang="pt-BR" sz="1600" b="1" dirty="0">
                <a:solidFill>
                  <a:srgbClr val="FFFFFF"/>
                </a:solidFill>
              </a:rPr>
              <a:t>Série F - Computar máquinas virtuais otimizadas (CPU – </a:t>
            </a:r>
            <a:r>
              <a:rPr lang="pt-BR" sz="1600" b="1" dirty="0" err="1">
                <a:solidFill>
                  <a:srgbClr val="FFFFFF"/>
                </a:solidFill>
              </a:rPr>
              <a:t>Cors</a:t>
            </a:r>
            <a:r>
              <a:rPr lang="pt-BR" sz="1600" b="1" dirty="0">
                <a:solidFill>
                  <a:srgbClr val="FFFFFF"/>
                </a:solidFill>
              </a:rPr>
              <a:t> , Processamento)</a:t>
            </a:r>
          </a:p>
          <a:p>
            <a:pPr lvl="1"/>
            <a:r>
              <a:rPr lang="pt-BR" sz="1600" dirty="0">
                <a:solidFill>
                  <a:srgbClr val="FFFFFF"/>
                </a:solidFill>
              </a:rPr>
              <a:t>As </a:t>
            </a:r>
            <a:r>
              <a:rPr lang="pt-BR" sz="1600" dirty="0" err="1">
                <a:solidFill>
                  <a:srgbClr val="FFFFFF"/>
                </a:solidFill>
              </a:rPr>
              <a:t>VMs</a:t>
            </a:r>
            <a:r>
              <a:rPr lang="pt-BR" sz="1600" dirty="0">
                <a:solidFill>
                  <a:srgbClr val="FFFFFF"/>
                </a:solidFill>
              </a:rPr>
              <a:t> da série F apresentam um índice maior de CPU/memória. Elas têm 2 GB de RAM e 16 GB de SSD (unidade de estado sólido) local por núcleo da CPU e são otimizadas para cargas de trabalho de computação intensiva. A série Fsv2 apresenta 2 </a:t>
            </a:r>
            <a:r>
              <a:rPr lang="pt-BR" sz="1600" dirty="0" err="1">
                <a:solidFill>
                  <a:srgbClr val="FFFFFF"/>
                </a:solidFill>
              </a:rPr>
              <a:t>GiB</a:t>
            </a:r>
            <a:r>
              <a:rPr lang="pt-BR" sz="1600" dirty="0">
                <a:solidFill>
                  <a:srgbClr val="FFFFFF"/>
                </a:solidFill>
              </a:rPr>
              <a:t> de RAM e 8 GB de armazenamento temporário local (SSD) por </a:t>
            </a:r>
            <a:r>
              <a:rPr lang="pt-BR" sz="1600" dirty="0" err="1">
                <a:solidFill>
                  <a:srgbClr val="FFFFFF"/>
                </a:solidFill>
              </a:rPr>
              <a:t>vCPU</a:t>
            </a:r>
            <a:r>
              <a:rPr lang="pt-BR" sz="1600" dirty="0">
                <a:solidFill>
                  <a:srgbClr val="FFFFFF"/>
                </a:solidFill>
              </a:rPr>
              <a:t>. A série Fsv2 contém a tecnologia </a:t>
            </a:r>
            <a:r>
              <a:rPr lang="pt-BR" sz="1600" dirty="0" err="1">
                <a:solidFill>
                  <a:srgbClr val="FFFFFF"/>
                </a:solidFill>
              </a:rPr>
              <a:t>Hyper-Threading</a:t>
            </a:r>
            <a:r>
              <a:rPr lang="pt-BR" sz="1600" dirty="0">
                <a:solidFill>
                  <a:srgbClr val="FFFFFF"/>
                </a:solidFill>
              </a:rPr>
              <a:t> e é baseada no processador Intel Xeon® Platinum 8168 (</a:t>
            </a:r>
            <a:r>
              <a:rPr lang="pt-BR" sz="1600" dirty="0" err="1">
                <a:solidFill>
                  <a:srgbClr val="FFFFFF"/>
                </a:solidFill>
              </a:rPr>
              <a:t>SkyLake</a:t>
            </a:r>
            <a:r>
              <a:rPr lang="pt-BR" sz="1600" dirty="0">
                <a:solidFill>
                  <a:srgbClr val="FFFFFF"/>
                </a:solidFill>
              </a:rPr>
              <a:t>) de 2,7 GHz, que pode alcançar velocidades de </a:t>
            </a:r>
            <a:r>
              <a:rPr lang="pt-BR" sz="1600" dirty="0" err="1">
                <a:solidFill>
                  <a:srgbClr val="FFFFFF"/>
                </a:solidFill>
              </a:rPr>
              <a:t>clock</a:t>
            </a:r>
            <a:r>
              <a:rPr lang="pt-BR" sz="1600" dirty="0">
                <a:solidFill>
                  <a:srgbClr val="FFFFFF"/>
                </a:solidFill>
              </a:rPr>
              <a:t> de até 3,7 GHz com a Tecnologia Intel Turbo </a:t>
            </a:r>
            <a:r>
              <a:rPr lang="pt-BR" sz="1600" dirty="0" err="1">
                <a:solidFill>
                  <a:srgbClr val="FFFFFF"/>
                </a:solidFill>
              </a:rPr>
              <a:t>Boost</a:t>
            </a:r>
            <a:r>
              <a:rPr lang="pt-BR" sz="1600" dirty="0">
                <a:solidFill>
                  <a:srgbClr val="FFFFFF"/>
                </a:solidFill>
              </a:rPr>
              <a:t> 2.0.</a:t>
            </a:r>
          </a:p>
          <a:p>
            <a:endParaRPr lang="pt-BR" sz="500" dirty="0">
              <a:solidFill>
                <a:srgbClr val="FFFFFF"/>
              </a:solidFill>
            </a:endParaRPr>
          </a:p>
        </p:txBody>
      </p:sp>
    </p:spTree>
    <p:extLst>
      <p:ext uri="{BB962C8B-B14F-4D97-AF65-F5344CB8AC3E}">
        <p14:creationId xmlns:p14="http://schemas.microsoft.com/office/powerpoint/2010/main" val="2626019925"/>
      </p:ext>
    </p:extLst>
  </p:cSld>
  <p:clrMapOvr>
    <a:overrideClrMapping bg1="dk1" tx1="lt1" bg2="dk2" tx2="lt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2ED9029-64A6-4BAE-BA25-DC2A13D43E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834" y="0"/>
            <a:ext cx="12192000"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AFABACF-DDBE-415C-8EE1-F7DD68C632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38656" cy="6858000"/>
          </a:xfrm>
          <a:prstGeom prst="rect">
            <a:avLst/>
          </a:prstGeom>
          <a:solidFill>
            <a:schemeClr val="accent5">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6" name="Rectangle 25">
            <a:extLst>
              <a:ext uri="{FF2B5EF4-FFF2-40B4-BE49-F238E27FC236}">
                <a16:creationId xmlns:a16="http://schemas.microsoft.com/office/drawing/2014/main" id="{41E17A99-1553-4633-ADFB-5CCDCF801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656" y="0"/>
            <a:ext cx="321564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53750A7-14AF-4260-AFF2-7491E114AB12}"/>
              </a:ext>
            </a:extLst>
          </p:cNvPr>
          <p:cNvSpPr>
            <a:spLocks noGrp="1"/>
          </p:cNvSpPr>
          <p:nvPr>
            <p:ph type="title"/>
          </p:nvPr>
        </p:nvSpPr>
        <p:spPr>
          <a:xfrm>
            <a:off x="84533" y="1635422"/>
            <a:ext cx="1371957" cy="4491015"/>
          </a:xfrm>
        </p:spPr>
        <p:txBody>
          <a:bodyPr anchor="t">
            <a:normAutofit/>
          </a:bodyPr>
          <a:lstStyle/>
          <a:p>
            <a:pPr algn="r"/>
            <a:r>
              <a:rPr lang="pt-BR" sz="2400" dirty="0">
                <a:solidFill>
                  <a:srgbClr val="FFFFFF"/>
                </a:solidFill>
              </a:rPr>
              <a:t>Virtual </a:t>
            </a:r>
            <a:br>
              <a:rPr lang="pt-BR" sz="2400" dirty="0">
                <a:solidFill>
                  <a:srgbClr val="FFFFFF"/>
                </a:solidFill>
              </a:rPr>
            </a:br>
            <a:br>
              <a:rPr lang="pt-BR" sz="2400" dirty="0">
                <a:solidFill>
                  <a:srgbClr val="FFFFFF"/>
                </a:solidFill>
              </a:rPr>
            </a:br>
            <a:br>
              <a:rPr lang="pt-BR" sz="2400" dirty="0">
                <a:solidFill>
                  <a:srgbClr val="FFFFFF"/>
                </a:solidFill>
              </a:rPr>
            </a:br>
            <a:r>
              <a:rPr lang="pt-BR" sz="2400" dirty="0" err="1">
                <a:solidFill>
                  <a:srgbClr val="FFFFFF"/>
                </a:solidFill>
              </a:rPr>
              <a:t>Machine</a:t>
            </a:r>
            <a:br>
              <a:rPr lang="pt-BR" sz="2400" dirty="0">
                <a:solidFill>
                  <a:srgbClr val="FFFFFF"/>
                </a:solidFill>
              </a:rPr>
            </a:br>
            <a:r>
              <a:rPr lang="pt-BR" sz="2400" dirty="0">
                <a:solidFill>
                  <a:srgbClr val="FFFFFF"/>
                </a:solidFill>
              </a:rPr>
              <a:t> </a:t>
            </a:r>
            <a:br>
              <a:rPr lang="pt-BR" sz="2400" dirty="0">
                <a:solidFill>
                  <a:srgbClr val="FFFFFF"/>
                </a:solidFill>
              </a:rPr>
            </a:br>
            <a:br>
              <a:rPr lang="pt-BR" sz="2400" dirty="0">
                <a:solidFill>
                  <a:srgbClr val="FFFFFF"/>
                </a:solidFill>
              </a:rPr>
            </a:br>
            <a:r>
              <a:rPr lang="pt-BR" sz="2400" dirty="0">
                <a:solidFill>
                  <a:srgbClr val="FFFFFF"/>
                </a:solidFill>
              </a:rPr>
              <a:t>Famílias</a:t>
            </a:r>
          </a:p>
        </p:txBody>
      </p:sp>
      <p:sp>
        <p:nvSpPr>
          <p:cNvPr id="3" name="Espaço Reservado para Conteúdo 2">
            <a:extLst>
              <a:ext uri="{FF2B5EF4-FFF2-40B4-BE49-F238E27FC236}">
                <a16:creationId xmlns:a16="http://schemas.microsoft.com/office/drawing/2014/main" id="{EB0E079A-4526-42F2-9292-5FEAE457C3B4}"/>
              </a:ext>
            </a:extLst>
          </p:cNvPr>
          <p:cNvSpPr>
            <a:spLocks noGrp="1"/>
          </p:cNvSpPr>
          <p:nvPr>
            <p:ph idx="1"/>
          </p:nvPr>
        </p:nvSpPr>
        <p:spPr>
          <a:xfrm>
            <a:off x="1438657" y="59436"/>
            <a:ext cx="10717676" cy="6739127"/>
          </a:xfrm>
        </p:spPr>
        <p:txBody>
          <a:bodyPr>
            <a:normAutofit fontScale="92500" lnSpcReduction="10000"/>
          </a:bodyPr>
          <a:lstStyle/>
          <a:p>
            <a:r>
              <a:rPr lang="pt-BR" sz="1600" b="1" dirty="0">
                <a:solidFill>
                  <a:srgbClr val="FFFFFF"/>
                </a:solidFill>
              </a:rPr>
              <a:t>Serie G - Máquinas virtuais otimizadas de armazenamento e memória (</a:t>
            </a:r>
            <a:r>
              <a:rPr lang="pt-BR" sz="1600" b="1" dirty="0" err="1">
                <a:solidFill>
                  <a:srgbClr val="FFFFFF"/>
                </a:solidFill>
              </a:rPr>
              <a:t>Godzila</a:t>
            </a:r>
            <a:r>
              <a:rPr lang="pt-BR" sz="1600" b="1" dirty="0">
                <a:solidFill>
                  <a:srgbClr val="FFFFFF"/>
                </a:solidFill>
              </a:rPr>
              <a:t> – Maquinas gigantes)</a:t>
            </a:r>
          </a:p>
          <a:p>
            <a:pPr lvl="1"/>
            <a:r>
              <a:rPr lang="pt-BR" sz="1600" dirty="0">
                <a:solidFill>
                  <a:srgbClr val="FFFFFF"/>
                </a:solidFill>
              </a:rPr>
              <a:t>As </a:t>
            </a:r>
            <a:r>
              <a:rPr lang="pt-BR" sz="1600" dirty="0" err="1">
                <a:solidFill>
                  <a:srgbClr val="FFFFFF"/>
                </a:solidFill>
              </a:rPr>
              <a:t>VMs</a:t>
            </a:r>
            <a:r>
              <a:rPr lang="pt-BR" sz="1600" dirty="0">
                <a:solidFill>
                  <a:srgbClr val="FFFFFF"/>
                </a:solidFill>
              </a:rPr>
              <a:t> da série G contêm a família de processadores Intel® Xeon® E5 v3, com duas vezes mais memória e quatro vezes mais armazenamento de SSD (unidade de estado sólido) do que a Série D para uso geral. A série G apresenta até ½ TB de RAM e 32 núcleos de CPU, fornecendo desempenho computacional inigualável, memória e armazenamento SSD local para seus aplicativos mais exigentes.</a:t>
            </a:r>
          </a:p>
          <a:p>
            <a:r>
              <a:rPr lang="pt-BR" sz="1600" b="1" dirty="0">
                <a:solidFill>
                  <a:srgbClr val="FFFFFF"/>
                </a:solidFill>
              </a:rPr>
              <a:t>Série H - Máquinas virtuais com computação de alto desempenho (high performance – Alta </a:t>
            </a:r>
            <a:r>
              <a:rPr lang="pt-BR" sz="1600" b="1" dirty="0" err="1">
                <a:solidFill>
                  <a:srgbClr val="FFFFFF"/>
                </a:solidFill>
              </a:rPr>
              <a:t>performace</a:t>
            </a:r>
            <a:r>
              <a:rPr lang="pt-BR" sz="1600" b="1" dirty="0">
                <a:solidFill>
                  <a:srgbClr val="FFFFFF"/>
                </a:solidFill>
              </a:rPr>
              <a:t> – Ideal para processamento cientifico)</a:t>
            </a:r>
          </a:p>
          <a:p>
            <a:pPr lvl="1"/>
            <a:r>
              <a:rPr lang="pt-BR" sz="1600" dirty="0">
                <a:solidFill>
                  <a:srgbClr val="FFFFFF"/>
                </a:solidFill>
              </a:rPr>
              <a:t>As </a:t>
            </a:r>
            <a:r>
              <a:rPr lang="pt-BR" sz="1600" dirty="0" err="1">
                <a:solidFill>
                  <a:srgbClr val="FFFFFF"/>
                </a:solidFill>
              </a:rPr>
              <a:t>VMs</a:t>
            </a:r>
            <a:r>
              <a:rPr lang="pt-BR" sz="1600" dirty="0">
                <a:solidFill>
                  <a:srgbClr val="FFFFFF"/>
                </a:solidFill>
              </a:rPr>
              <a:t> da série HB são otimizadas para aplicativos de HPC orientados por largura de banda de memória, como hidrodinâmica, análise explícita de elementos finitos e modelagem de clima. As </a:t>
            </a:r>
            <a:r>
              <a:rPr lang="pt-BR" sz="1600" dirty="0" err="1">
                <a:solidFill>
                  <a:srgbClr val="FFFFFF"/>
                </a:solidFill>
              </a:rPr>
              <a:t>VMs</a:t>
            </a:r>
            <a:r>
              <a:rPr lang="pt-BR" sz="1600" dirty="0">
                <a:solidFill>
                  <a:srgbClr val="FFFFFF"/>
                </a:solidFill>
              </a:rPr>
              <a:t> HB contam com 60 núcleos do processador AMD EPYC 7551, 4 GB de RAM por núcleo de CPU, nenhum </a:t>
            </a:r>
            <a:r>
              <a:rPr lang="pt-BR" sz="1600" dirty="0" err="1">
                <a:solidFill>
                  <a:srgbClr val="FFFFFF"/>
                </a:solidFill>
              </a:rPr>
              <a:t>hyperthreading</a:t>
            </a:r>
            <a:r>
              <a:rPr lang="pt-BR" sz="1600" dirty="0">
                <a:solidFill>
                  <a:srgbClr val="FFFFFF"/>
                </a:solidFill>
              </a:rPr>
              <a:t> e até 4 discos gerenciados. A plataforma AMD EPYC oferece mais de 260 GB/s de largura de banda de memória. As </a:t>
            </a:r>
            <a:r>
              <a:rPr lang="pt-BR" sz="1600" dirty="0" err="1">
                <a:solidFill>
                  <a:srgbClr val="FFFFFF"/>
                </a:solidFill>
              </a:rPr>
              <a:t>VMs</a:t>
            </a:r>
            <a:r>
              <a:rPr lang="pt-BR" sz="1600" dirty="0">
                <a:solidFill>
                  <a:srgbClr val="FFFFFF"/>
                </a:solidFill>
              </a:rPr>
              <a:t> da série HC são otimizadas para aplicativos de HPC orientados por computação intensiva, como análise implícita de elementos finitos, simulação de reservatório e química computacional. As </a:t>
            </a:r>
            <a:r>
              <a:rPr lang="pt-BR" sz="1600" dirty="0" err="1">
                <a:solidFill>
                  <a:srgbClr val="FFFFFF"/>
                </a:solidFill>
              </a:rPr>
              <a:t>VMs</a:t>
            </a:r>
            <a:r>
              <a:rPr lang="pt-BR" sz="1600" dirty="0">
                <a:solidFill>
                  <a:srgbClr val="FFFFFF"/>
                </a:solidFill>
              </a:rPr>
              <a:t> HC contam com 44 núcleos do processador Intel Xeon Platinum 8168, 8 GB de RAM por núcleo de CPU, nenhum </a:t>
            </a:r>
            <a:r>
              <a:rPr lang="pt-BR" sz="1600" dirty="0" err="1">
                <a:solidFill>
                  <a:srgbClr val="FFFFFF"/>
                </a:solidFill>
              </a:rPr>
              <a:t>hyperthreading</a:t>
            </a:r>
            <a:r>
              <a:rPr lang="pt-BR" sz="1600" dirty="0">
                <a:solidFill>
                  <a:srgbClr val="FFFFFF"/>
                </a:solidFill>
              </a:rPr>
              <a:t> e até 4 discos gerenciados. A plataforma Intel Xeon Platinum é compatível com o ecossistema avançado de ferramentas de software da Intel e apresenta uma velocidade de </a:t>
            </a:r>
            <a:r>
              <a:rPr lang="pt-BR" sz="1600" dirty="0" err="1">
                <a:solidFill>
                  <a:srgbClr val="FFFFFF"/>
                </a:solidFill>
              </a:rPr>
              <a:t>clock</a:t>
            </a:r>
            <a:r>
              <a:rPr lang="pt-BR" sz="1600" dirty="0">
                <a:solidFill>
                  <a:srgbClr val="FFFFFF"/>
                </a:solidFill>
              </a:rPr>
              <a:t> de 3.4 GHz em todos os núcleos na maioria das cargas de trabalho.</a:t>
            </a:r>
          </a:p>
          <a:p>
            <a:pPr>
              <a:lnSpc>
                <a:spcPct val="100000"/>
              </a:lnSpc>
            </a:pPr>
            <a:r>
              <a:rPr lang="pt-BR" sz="1600" b="1" dirty="0">
                <a:solidFill>
                  <a:srgbClr val="FFFFFF"/>
                </a:solidFill>
              </a:rPr>
              <a:t>Série </a:t>
            </a:r>
            <a:r>
              <a:rPr lang="pt-BR" sz="1600" b="1" dirty="0" err="1">
                <a:solidFill>
                  <a:srgbClr val="FFFFFF"/>
                </a:solidFill>
              </a:rPr>
              <a:t>Ls</a:t>
            </a:r>
            <a:r>
              <a:rPr lang="pt-BR" sz="1600" b="1" dirty="0">
                <a:solidFill>
                  <a:srgbClr val="FFFFFF"/>
                </a:solidFill>
              </a:rPr>
              <a:t> - Armazenar máquinas virtuais otimizadas</a:t>
            </a:r>
          </a:p>
          <a:p>
            <a:pPr lvl="1"/>
            <a:r>
              <a:rPr lang="pt-BR" sz="1600" dirty="0">
                <a:solidFill>
                  <a:srgbClr val="FFFFFF"/>
                </a:solidFill>
              </a:rPr>
              <a:t>A série Lsv2 mais recente apresenta alta taxa de transferência, baixa latência e armazenamento </a:t>
            </a:r>
            <a:r>
              <a:rPr lang="pt-BR" sz="1600" dirty="0" err="1">
                <a:solidFill>
                  <a:srgbClr val="FFFFFF"/>
                </a:solidFill>
              </a:rPr>
              <a:t>NVMe</a:t>
            </a:r>
            <a:r>
              <a:rPr lang="pt-BR" sz="1600" dirty="0">
                <a:solidFill>
                  <a:srgbClr val="FFFFFF"/>
                </a:solidFill>
              </a:rPr>
              <a:t> local diretamente mapeado. As </a:t>
            </a:r>
            <a:r>
              <a:rPr lang="pt-BR" sz="1600" dirty="0" err="1">
                <a:solidFill>
                  <a:srgbClr val="FFFFFF"/>
                </a:solidFill>
              </a:rPr>
              <a:t>VMs</a:t>
            </a:r>
            <a:r>
              <a:rPr lang="pt-BR" sz="1600" dirty="0">
                <a:solidFill>
                  <a:srgbClr val="FFFFFF"/>
                </a:solidFill>
              </a:rPr>
              <a:t> Lsv2 são executadas no processador AMD EPYC™ 7551 com um impulso total dos núcleos de 2,55 até 3,0 GHz de impulso de um único núcleo. As </a:t>
            </a:r>
            <a:r>
              <a:rPr lang="pt-BR" sz="1600" dirty="0" err="1">
                <a:solidFill>
                  <a:srgbClr val="FFFFFF"/>
                </a:solidFill>
              </a:rPr>
              <a:t>VMs</a:t>
            </a:r>
            <a:r>
              <a:rPr lang="pt-BR" sz="1600" dirty="0">
                <a:solidFill>
                  <a:srgbClr val="FFFFFF"/>
                </a:solidFill>
              </a:rPr>
              <a:t> da série LSv2 oferecem até 80 </a:t>
            </a:r>
            <a:r>
              <a:rPr lang="pt-BR" sz="1600" dirty="0" err="1">
                <a:solidFill>
                  <a:srgbClr val="FFFFFF"/>
                </a:solidFill>
              </a:rPr>
              <a:t>vCPUs</a:t>
            </a:r>
            <a:r>
              <a:rPr lang="pt-BR" sz="1600" dirty="0">
                <a:solidFill>
                  <a:srgbClr val="FFFFFF"/>
                </a:solidFill>
              </a:rPr>
              <a:t> em uma configuração de </a:t>
            </a:r>
            <a:r>
              <a:rPr lang="pt-BR" sz="1600" dirty="0" err="1">
                <a:solidFill>
                  <a:srgbClr val="FFFFFF"/>
                </a:solidFill>
              </a:rPr>
              <a:t>hiper-thread</a:t>
            </a:r>
            <a:r>
              <a:rPr lang="pt-BR" sz="1600" dirty="0">
                <a:solidFill>
                  <a:srgbClr val="FFFFFF"/>
                </a:solidFill>
              </a:rPr>
              <a:t>, com 8 </a:t>
            </a:r>
            <a:r>
              <a:rPr lang="pt-BR" sz="1600" dirty="0" err="1">
                <a:solidFill>
                  <a:srgbClr val="FFFFFF"/>
                </a:solidFill>
              </a:rPr>
              <a:t>GiB</a:t>
            </a:r>
            <a:r>
              <a:rPr lang="pt-BR" sz="1600" dirty="0">
                <a:solidFill>
                  <a:srgbClr val="FFFFFF"/>
                </a:solidFill>
              </a:rPr>
              <a:t> de memória por </a:t>
            </a:r>
            <a:r>
              <a:rPr lang="pt-BR" sz="1600" dirty="0" err="1">
                <a:solidFill>
                  <a:srgbClr val="FFFFFF"/>
                </a:solidFill>
              </a:rPr>
              <a:t>vCPU</a:t>
            </a:r>
            <a:r>
              <a:rPr lang="pt-BR" sz="1600" dirty="0">
                <a:solidFill>
                  <a:srgbClr val="FFFFFF"/>
                </a:solidFill>
              </a:rPr>
              <a:t> e até 19,2 TB (10 x 1,92 TB) disponíveis diretamente para a VM.</a:t>
            </a:r>
            <a:endParaRPr lang="pt-BR" sz="1600" b="1" dirty="0">
              <a:solidFill>
                <a:srgbClr val="FFFFFF"/>
              </a:solidFill>
            </a:endParaRPr>
          </a:p>
          <a:p>
            <a:r>
              <a:rPr lang="pt-BR" sz="1600" b="1" dirty="0">
                <a:solidFill>
                  <a:srgbClr val="FFFFFF"/>
                </a:solidFill>
              </a:rPr>
              <a:t>Série M - As maiores máquinas virtuais otimizadas para memória</a:t>
            </a:r>
          </a:p>
          <a:p>
            <a:pPr lvl="1"/>
            <a:r>
              <a:rPr lang="pt-BR" sz="1600" dirty="0">
                <a:solidFill>
                  <a:srgbClr val="FFFFFF"/>
                </a:solidFill>
              </a:rPr>
              <a:t>A família da série M de máquinas virtuais do Azure abrange as </a:t>
            </a:r>
            <a:r>
              <a:rPr lang="pt-BR" sz="1600" dirty="0" err="1">
                <a:solidFill>
                  <a:srgbClr val="FFFFFF"/>
                </a:solidFill>
              </a:rPr>
              <a:t>VMs</a:t>
            </a:r>
            <a:r>
              <a:rPr lang="pt-BR" sz="1600" dirty="0">
                <a:solidFill>
                  <a:srgbClr val="FFFFFF"/>
                </a:solidFill>
              </a:rPr>
              <a:t> mais otimizadas para memória até o momento. Essas </a:t>
            </a:r>
            <a:r>
              <a:rPr lang="pt-BR" sz="1600" dirty="0" err="1">
                <a:solidFill>
                  <a:srgbClr val="FFFFFF"/>
                </a:solidFill>
              </a:rPr>
              <a:t>VMs</a:t>
            </a:r>
            <a:r>
              <a:rPr lang="pt-BR" sz="1600" dirty="0">
                <a:solidFill>
                  <a:srgbClr val="FFFFFF"/>
                </a:solidFill>
              </a:rPr>
              <a:t> são ideais para cargas de trabalho pesadas </a:t>
            </a:r>
            <a:r>
              <a:rPr lang="pt-BR" sz="1600" dirty="0" err="1">
                <a:solidFill>
                  <a:srgbClr val="FFFFFF"/>
                </a:solidFill>
              </a:rPr>
              <a:t>in-memory</a:t>
            </a:r>
            <a:r>
              <a:rPr lang="pt-BR" sz="1600" dirty="0">
                <a:solidFill>
                  <a:srgbClr val="FFFFFF"/>
                </a:solidFill>
              </a:rPr>
              <a:t>, como SAP HANA. A série M oferece até 4 TB de RAM em uma única VM. Além disso, essas </a:t>
            </a:r>
            <a:r>
              <a:rPr lang="pt-BR" sz="1600" dirty="0" err="1">
                <a:solidFill>
                  <a:srgbClr val="FFFFFF"/>
                </a:solidFill>
              </a:rPr>
              <a:t>VMs</a:t>
            </a:r>
            <a:r>
              <a:rPr lang="pt-BR" sz="1600" dirty="0">
                <a:solidFill>
                  <a:srgbClr val="FFFFFF"/>
                </a:solidFill>
              </a:rPr>
              <a:t> oferecem a maior contagem de CPU virtual de até 128 </a:t>
            </a:r>
            <a:r>
              <a:rPr lang="pt-BR" sz="1600" dirty="0" err="1">
                <a:solidFill>
                  <a:srgbClr val="FFFFFF"/>
                </a:solidFill>
              </a:rPr>
              <a:t>vCPUs</a:t>
            </a:r>
            <a:r>
              <a:rPr lang="pt-BR" sz="1600" dirty="0">
                <a:solidFill>
                  <a:srgbClr val="FFFFFF"/>
                </a:solidFill>
              </a:rPr>
              <a:t> em uma única VM para habilitar o processamento paralelo de alto desempenho.</a:t>
            </a:r>
          </a:p>
          <a:p>
            <a:r>
              <a:rPr lang="pt-BR" sz="1600" b="1" dirty="0">
                <a:solidFill>
                  <a:srgbClr val="FFFFFF"/>
                </a:solidFill>
              </a:rPr>
              <a:t>Série N - Máquinas virtuais habilitadas para GPU</a:t>
            </a:r>
          </a:p>
          <a:p>
            <a:pPr lvl="1"/>
            <a:r>
              <a:rPr lang="pt-BR" sz="1600" dirty="0">
                <a:solidFill>
                  <a:srgbClr val="FFFFFF"/>
                </a:solidFill>
              </a:rPr>
              <a:t>A série N é uma família de Máquinas Virtuais do Azure com capacidades de GPU. </a:t>
            </a:r>
            <a:r>
              <a:rPr lang="pt-BR" sz="1600" dirty="0" err="1">
                <a:solidFill>
                  <a:srgbClr val="FFFFFF"/>
                </a:solidFill>
              </a:rPr>
              <a:t>GPUs</a:t>
            </a:r>
            <a:r>
              <a:rPr lang="pt-BR" sz="1600" dirty="0">
                <a:solidFill>
                  <a:srgbClr val="FFFFFF"/>
                </a:solidFill>
              </a:rPr>
              <a:t> são ideais para cargas de trabalho com uso intensivo de gráficos e computação, ajudando os clientes a estimular a inovação por meio de cenários como visualização remota de alto nível, aprendizado aprofundado e análise preditiva.</a:t>
            </a:r>
          </a:p>
          <a:p>
            <a:endParaRPr lang="pt-BR" sz="500" dirty="0">
              <a:solidFill>
                <a:srgbClr val="FFFFFF"/>
              </a:solidFill>
            </a:endParaRPr>
          </a:p>
        </p:txBody>
      </p:sp>
    </p:spTree>
    <p:extLst>
      <p:ext uri="{BB962C8B-B14F-4D97-AF65-F5344CB8AC3E}">
        <p14:creationId xmlns:p14="http://schemas.microsoft.com/office/powerpoint/2010/main" val="2978337716"/>
      </p:ext>
    </p:extLst>
  </p:cSld>
  <p:clrMapOvr>
    <a:overrideClrMapping bg1="dk1" tx1="lt1" bg2="dk2" tx2="lt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3888DF-E4E1-4840-9CD4-FC0E28D162FF}"/>
              </a:ext>
            </a:extLst>
          </p:cNvPr>
          <p:cNvSpPr>
            <a:spLocks noGrp="1"/>
          </p:cNvSpPr>
          <p:nvPr>
            <p:ph type="title"/>
          </p:nvPr>
        </p:nvSpPr>
        <p:spPr/>
        <p:txBody>
          <a:bodyPr/>
          <a:lstStyle/>
          <a:p>
            <a:r>
              <a:rPr lang="pt-BR" dirty="0"/>
              <a:t>Família - Máquina Virtual</a:t>
            </a:r>
          </a:p>
        </p:txBody>
      </p:sp>
      <p:pic>
        <p:nvPicPr>
          <p:cNvPr id="4" name="Imagem 3">
            <a:extLst>
              <a:ext uri="{FF2B5EF4-FFF2-40B4-BE49-F238E27FC236}">
                <a16:creationId xmlns:a16="http://schemas.microsoft.com/office/drawing/2014/main" id="{B230B6D8-7B6C-4E08-8141-791B5F46475A}"/>
              </a:ext>
            </a:extLst>
          </p:cNvPr>
          <p:cNvPicPr>
            <a:picLocks noChangeAspect="1"/>
          </p:cNvPicPr>
          <p:nvPr/>
        </p:nvPicPr>
        <p:blipFill>
          <a:blip r:embed="rId2"/>
          <a:stretch>
            <a:fillRect/>
          </a:stretch>
        </p:blipFill>
        <p:spPr>
          <a:xfrm>
            <a:off x="279083" y="1391920"/>
            <a:ext cx="2921202" cy="3040062"/>
          </a:xfrm>
          <a:prstGeom prst="rect">
            <a:avLst/>
          </a:prstGeom>
        </p:spPr>
      </p:pic>
      <p:pic>
        <p:nvPicPr>
          <p:cNvPr id="5" name="Imagem 4">
            <a:extLst>
              <a:ext uri="{FF2B5EF4-FFF2-40B4-BE49-F238E27FC236}">
                <a16:creationId xmlns:a16="http://schemas.microsoft.com/office/drawing/2014/main" id="{14FF2968-6C52-442C-9DD2-31E8CAE87727}"/>
              </a:ext>
            </a:extLst>
          </p:cNvPr>
          <p:cNvPicPr>
            <a:picLocks noChangeAspect="1"/>
          </p:cNvPicPr>
          <p:nvPr/>
        </p:nvPicPr>
        <p:blipFill>
          <a:blip r:embed="rId3"/>
          <a:stretch>
            <a:fillRect/>
          </a:stretch>
        </p:blipFill>
        <p:spPr>
          <a:xfrm>
            <a:off x="3352685" y="1649178"/>
            <a:ext cx="8464552" cy="4477302"/>
          </a:xfrm>
          <a:prstGeom prst="rect">
            <a:avLst/>
          </a:prstGeom>
        </p:spPr>
      </p:pic>
      <p:sp>
        <p:nvSpPr>
          <p:cNvPr id="7" name="Retângulo 6">
            <a:extLst>
              <a:ext uri="{FF2B5EF4-FFF2-40B4-BE49-F238E27FC236}">
                <a16:creationId xmlns:a16="http://schemas.microsoft.com/office/drawing/2014/main" id="{B099812E-B825-4558-ACDF-60F169F626C5}"/>
              </a:ext>
            </a:extLst>
          </p:cNvPr>
          <p:cNvSpPr/>
          <p:nvPr/>
        </p:nvSpPr>
        <p:spPr>
          <a:xfrm>
            <a:off x="398621" y="4991020"/>
            <a:ext cx="2682125" cy="46775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3865B6"/>
                </a:solidFill>
              </a:rPr>
              <a:t>Selecionar VM</a:t>
            </a:r>
          </a:p>
        </p:txBody>
      </p:sp>
      <p:cxnSp>
        <p:nvCxnSpPr>
          <p:cNvPr id="8" name="Conector de Seta Reta 7">
            <a:extLst>
              <a:ext uri="{FF2B5EF4-FFF2-40B4-BE49-F238E27FC236}">
                <a16:creationId xmlns:a16="http://schemas.microsoft.com/office/drawing/2014/main" id="{F3366AEA-6027-4C64-8040-158E770D69E7}"/>
              </a:ext>
            </a:extLst>
          </p:cNvPr>
          <p:cNvCxnSpPr>
            <a:cxnSpLocks/>
            <a:stCxn id="7" idx="0"/>
            <a:endCxn id="9" idx="4"/>
          </p:cNvCxnSpPr>
          <p:nvPr/>
        </p:nvCxnSpPr>
        <p:spPr>
          <a:xfrm flipV="1">
            <a:off x="1739684" y="4683760"/>
            <a:ext cx="607276" cy="307260"/>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9" name="Elipse 8">
            <a:extLst>
              <a:ext uri="{FF2B5EF4-FFF2-40B4-BE49-F238E27FC236}">
                <a16:creationId xmlns:a16="http://schemas.microsoft.com/office/drawing/2014/main" id="{05232E88-E4C6-4A9C-8781-2BF2A4E8F1A0}"/>
              </a:ext>
            </a:extLst>
          </p:cNvPr>
          <p:cNvSpPr/>
          <p:nvPr/>
        </p:nvSpPr>
        <p:spPr>
          <a:xfrm>
            <a:off x="1117600" y="3728720"/>
            <a:ext cx="2458720" cy="95504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CB370A65-FD88-4DA8-BBE1-A0EF513F972D}"/>
              </a:ext>
            </a:extLst>
          </p:cNvPr>
          <p:cNvSpPr/>
          <p:nvPr/>
        </p:nvSpPr>
        <p:spPr>
          <a:xfrm>
            <a:off x="398621" y="6217761"/>
            <a:ext cx="4084485" cy="46775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3865B6"/>
                </a:solidFill>
              </a:rPr>
              <a:t>VM, família, preço e mais.</a:t>
            </a:r>
          </a:p>
        </p:txBody>
      </p:sp>
      <p:cxnSp>
        <p:nvCxnSpPr>
          <p:cNvPr id="15" name="Conector de Seta Reta 14">
            <a:extLst>
              <a:ext uri="{FF2B5EF4-FFF2-40B4-BE49-F238E27FC236}">
                <a16:creationId xmlns:a16="http://schemas.microsoft.com/office/drawing/2014/main" id="{2F94E464-E04A-47FF-8FBD-ECA260293DFA}"/>
              </a:ext>
            </a:extLst>
          </p:cNvPr>
          <p:cNvCxnSpPr>
            <a:cxnSpLocks/>
            <a:stCxn id="14" idx="0"/>
            <a:endCxn id="16" idx="4"/>
          </p:cNvCxnSpPr>
          <p:nvPr/>
        </p:nvCxnSpPr>
        <p:spPr>
          <a:xfrm flipV="1">
            <a:off x="2440864" y="3906520"/>
            <a:ext cx="5191880" cy="2311241"/>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6" name="Elipse 15">
            <a:extLst>
              <a:ext uri="{FF2B5EF4-FFF2-40B4-BE49-F238E27FC236}">
                <a16:creationId xmlns:a16="http://schemas.microsoft.com/office/drawing/2014/main" id="{34A3BD08-F0EB-4C8A-B4FE-D7A9E391D402}"/>
              </a:ext>
            </a:extLst>
          </p:cNvPr>
          <p:cNvSpPr/>
          <p:nvPr/>
        </p:nvSpPr>
        <p:spPr>
          <a:xfrm>
            <a:off x="3472224" y="2951480"/>
            <a:ext cx="8321040" cy="95504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0301645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38E2115-7B64-4E0A-9997-99A173D5931C}"/>
              </a:ext>
            </a:extLst>
          </p:cNvPr>
          <p:cNvSpPr>
            <a:spLocks noGrp="1"/>
          </p:cNvSpPr>
          <p:nvPr>
            <p:ph type="title"/>
          </p:nvPr>
        </p:nvSpPr>
        <p:spPr>
          <a:xfrm>
            <a:off x="863029" y="1012004"/>
            <a:ext cx="3416158" cy="4795408"/>
          </a:xfrm>
        </p:spPr>
        <p:txBody>
          <a:bodyPr>
            <a:normAutofit/>
          </a:bodyPr>
          <a:lstStyle/>
          <a:p>
            <a:r>
              <a:rPr lang="pt-BR">
                <a:solidFill>
                  <a:srgbClr val="FFFFFF"/>
                </a:solidFill>
              </a:rPr>
              <a:t>AZURE COMPUTE UNITS ACU’s</a:t>
            </a:r>
          </a:p>
        </p:txBody>
      </p:sp>
      <p:graphicFrame>
        <p:nvGraphicFramePr>
          <p:cNvPr id="5" name="Espaço Reservado para Conteúdo 2">
            <a:extLst>
              <a:ext uri="{FF2B5EF4-FFF2-40B4-BE49-F238E27FC236}">
                <a16:creationId xmlns:a16="http://schemas.microsoft.com/office/drawing/2014/main" id="{3E6FE076-A1F7-4F7D-9F99-2EA89D0B5E23}"/>
              </a:ext>
            </a:extLst>
          </p:cNvPr>
          <p:cNvGraphicFramePr>
            <a:graphicFrameLocks noGrp="1"/>
          </p:cNvGraphicFramePr>
          <p:nvPr>
            <p:ph idx="1"/>
            <p:extLst>
              <p:ext uri="{D42A27DB-BD31-4B8C-83A1-F6EECF244321}">
                <p14:modId xmlns:p14="http://schemas.microsoft.com/office/powerpoint/2010/main" val="2342512255"/>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834711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C87FC9F3-3338-48F9-B23A-A0A7FF4283E5}"/>
              </a:ext>
            </a:extLst>
          </p:cNvPr>
          <p:cNvSpPr>
            <a:spLocks noGrp="1"/>
          </p:cNvSpPr>
          <p:nvPr>
            <p:ph type="title"/>
          </p:nvPr>
        </p:nvSpPr>
        <p:spPr>
          <a:xfrm>
            <a:off x="640079" y="2053641"/>
            <a:ext cx="3669161" cy="2760098"/>
          </a:xfrm>
        </p:spPr>
        <p:txBody>
          <a:bodyPr>
            <a:normAutofit/>
          </a:bodyPr>
          <a:lstStyle/>
          <a:p>
            <a:r>
              <a:rPr lang="pt-BR">
                <a:solidFill>
                  <a:srgbClr val="FFFFFF"/>
                </a:solidFill>
              </a:rPr>
              <a:t>Máquinas Virtuais</a:t>
            </a:r>
          </a:p>
        </p:txBody>
      </p:sp>
      <p:sp>
        <p:nvSpPr>
          <p:cNvPr id="3" name="Espaço Reservado para Conteúdo 2">
            <a:extLst>
              <a:ext uri="{FF2B5EF4-FFF2-40B4-BE49-F238E27FC236}">
                <a16:creationId xmlns:a16="http://schemas.microsoft.com/office/drawing/2014/main" id="{51EC120B-AA01-4639-AAB1-1499CC8B2827}"/>
              </a:ext>
            </a:extLst>
          </p:cNvPr>
          <p:cNvSpPr>
            <a:spLocks noGrp="1"/>
          </p:cNvSpPr>
          <p:nvPr>
            <p:ph idx="1"/>
          </p:nvPr>
        </p:nvSpPr>
        <p:spPr>
          <a:xfrm>
            <a:off x="6090574" y="801866"/>
            <a:ext cx="5306084" cy="5230634"/>
          </a:xfrm>
        </p:spPr>
        <p:txBody>
          <a:bodyPr anchor="ctr">
            <a:normAutofit/>
          </a:bodyPr>
          <a:lstStyle/>
          <a:p>
            <a:r>
              <a:rPr lang="pt-BR" sz="1500" dirty="0" err="1">
                <a:solidFill>
                  <a:srgbClr val="000000"/>
                </a:solidFill>
              </a:rPr>
              <a:t>Availability</a:t>
            </a:r>
            <a:r>
              <a:rPr lang="pt-BR" sz="1500" dirty="0">
                <a:solidFill>
                  <a:srgbClr val="000000"/>
                </a:solidFill>
              </a:rPr>
              <a:t> zone - Zonas de Disponibilidade é uma oferta de alta disponibilidade que protege os aplicativos e dados contra falhas do datacenter. As Zonas de Disponibilidade são locais físicos exclusivos em uma região do Azure. Cada zona é composta por um ou mais datacenters equipados com energia, resfriamento e rede independentes. Para garantir a resiliência, há um mínimo de três zonas separadas em todas as regiões habilitadas. A separação física das Zonas de Disponibilidade dentro de uma região protege os aplicativos e dados contra falhas do datacenter.</a:t>
            </a:r>
          </a:p>
          <a:p>
            <a:r>
              <a:rPr lang="pt-BR" sz="1500" dirty="0" err="1">
                <a:solidFill>
                  <a:srgbClr val="000000"/>
                </a:solidFill>
              </a:rPr>
              <a:t>Availability</a:t>
            </a:r>
            <a:r>
              <a:rPr lang="pt-BR" sz="1500" dirty="0">
                <a:solidFill>
                  <a:srgbClr val="000000"/>
                </a:solidFill>
              </a:rPr>
              <a:t> set - Conjunto de disponibilidade é uma funcionalidade de agrupamento lógico para isolar recursos de VM uns dos outros quando são implantados. O Azure garante que as </a:t>
            </a:r>
            <a:r>
              <a:rPr lang="pt-BR" sz="1500" dirty="0" err="1">
                <a:solidFill>
                  <a:srgbClr val="000000"/>
                </a:solidFill>
              </a:rPr>
              <a:t>VMs</a:t>
            </a:r>
            <a:r>
              <a:rPr lang="pt-BR" sz="1500" dirty="0">
                <a:solidFill>
                  <a:srgbClr val="000000"/>
                </a:solidFill>
              </a:rPr>
              <a:t> colocadas em um conjunto de disponibilidade sejam executadas em vários servidores físicos, racks de computação, unidades de armazenamento e comutadores de rede. Se ocorrer uma falha de hardware ou de software, somente um subconjunto de suas </a:t>
            </a:r>
            <a:r>
              <a:rPr lang="pt-BR" sz="1500" dirty="0" err="1">
                <a:solidFill>
                  <a:srgbClr val="000000"/>
                </a:solidFill>
              </a:rPr>
              <a:t>VMs</a:t>
            </a:r>
            <a:r>
              <a:rPr lang="pt-BR" sz="1500" dirty="0">
                <a:solidFill>
                  <a:srgbClr val="000000"/>
                </a:solidFill>
              </a:rPr>
              <a:t> será afetado e a solução geral permanecerá operacional. Os conjuntos de disponibilidade são essenciais para a criação de soluções de nuvem confiáveis.</a:t>
            </a:r>
          </a:p>
          <a:p>
            <a:pPr lvl="1"/>
            <a:endParaRPr lang="pt-BR" sz="1500" dirty="0">
              <a:solidFill>
                <a:srgbClr val="000000"/>
              </a:solidFill>
            </a:endParaRPr>
          </a:p>
        </p:txBody>
      </p:sp>
    </p:spTree>
    <p:extLst>
      <p:ext uri="{BB962C8B-B14F-4D97-AF65-F5344CB8AC3E}">
        <p14:creationId xmlns:p14="http://schemas.microsoft.com/office/powerpoint/2010/main" val="6591963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https://digicomp.com.br/wp-content/uploads/2017/04/27_fev-blog-datacenter-digicomp-engenharia-tecnologia-bh-980x445.png">
            <a:extLst>
              <a:ext uri="{FF2B5EF4-FFF2-40B4-BE49-F238E27FC236}">
                <a16:creationId xmlns:a16="http://schemas.microsoft.com/office/drawing/2014/main" id="{02CBE7E5-B6EB-4ABC-84AC-EE2DBF06C77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85" r="12888" b="-1"/>
          <a:stretch/>
        </p:blipFill>
        <p:spPr bwMode="auto">
          <a:xfrm>
            <a:off x="-1" y="10"/>
            <a:ext cx="12192000" cy="6857990"/>
          </a:xfrm>
          <a:prstGeom prst="rect">
            <a:avLst/>
          </a:prstGeom>
          <a:noFill/>
          <a:extLst>
            <a:ext uri="{909E8E84-426E-40DD-AFC4-6F175D3DCCD1}">
              <a14:hiddenFill xmlns:a14="http://schemas.microsoft.com/office/drawing/2010/main">
                <a:solidFill>
                  <a:srgbClr val="FFFFFF"/>
                </a:solidFill>
              </a14:hiddenFill>
            </a:ext>
          </a:extLst>
        </p:spPr>
      </p:pic>
      <p:sp>
        <p:nvSpPr>
          <p:cNvPr id="71"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ítulo 1">
            <a:extLst>
              <a:ext uri="{FF2B5EF4-FFF2-40B4-BE49-F238E27FC236}">
                <a16:creationId xmlns:a16="http://schemas.microsoft.com/office/drawing/2014/main" id="{61E60CC3-3A8F-4FAC-BFD1-EAC8B5750874}"/>
              </a:ext>
            </a:extLst>
          </p:cNvPr>
          <p:cNvSpPr>
            <a:spLocks noGrp="1"/>
          </p:cNvSpPr>
          <p:nvPr>
            <p:ph type="title"/>
          </p:nvPr>
        </p:nvSpPr>
        <p:spPr>
          <a:xfrm>
            <a:off x="709448" y="1913950"/>
            <a:ext cx="4204137" cy="1342754"/>
          </a:xfrm>
        </p:spPr>
        <p:txBody>
          <a:bodyPr>
            <a:normAutofit/>
          </a:bodyPr>
          <a:lstStyle/>
          <a:p>
            <a:pPr algn="ctr"/>
            <a:r>
              <a:rPr lang="pt-BR" sz="3600"/>
              <a:t>Availability Set - Contingencia</a:t>
            </a:r>
          </a:p>
        </p:txBody>
      </p:sp>
      <p:cxnSp>
        <p:nvCxnSpPr>
          <p:cNvPr id="73" name="Straight Connector 72">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pic>
        <p:nvPicPr>
          <p:cNvPr id="10" name="Imagem 9">
            <a:extLst>
              <a:ext uri="{FF2B5EF4-FFF2-40B4-BE49-F238E27FC236}">
                <a16:creationId xmlns:a16="http://schemas.microsoft.com/office/drawing/2014/main" id="{B7FDF446-DF90-4C60-A11B-EC28797292DE}"/>
              </a:ext>
            </a:extLst>
          </p:cNvPr>
          <p:cNvPicPr>
            <a:picLocks noChangeAspect="1"/>
          </p:cNvPicPr>
          <p:nvPr/>
        </p:nvPicPr>
        <p:blipFill>
          <a:blip r:embed="rId3"/>
          <a:stretch>
            <a:fillRect/>
          </a:stretch>
        </p:blipFill>
        <p:spPr>
          <a:xfrm>
            <a:off x="8036560" y="2635409"/>
            <a:ext cx="555435" cy="453235"/>
          </a:xfrm>
          <a:prstGeom prst="rect">
            <a:avLst/>
          </a:prstGeom>
          <a:ln>
            <a:noFill/>
          </a:ln>
        </p:spPr>
      </p:pic>
      <p:sp>
        <p:nvSpPr>
          <p:cNvPr id="11" name="Retângulo 10">
            <a:extLst>
              <a:ext uri="{FF2B5EF4-FFF2-40B4-BE49-F238E27FC236}">
                <a16:creationId xmlns:a16="http://schemas.microsoft.com/office/drawing/2014/main" id="{ED4003FD-AC76-4497-9D1B-BEDCECEBF3FE}"/>
              </a:ext>
            </a:extLst>
          </p:cNvPr>
          <p:cNvSpPr/>
          <p:nvPr/>
        </p:nvSpPr>
        <p:spPr>
          <a:xfrm>
            <a:off x="9324989" y="845576"/>
            <a:ext cx="2682125" cy="46775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3865B6"/>
                </a:solidFill>
              </a:rPr>
              <a:t>VM Principal</a:t>
            </a:r>
          </a:p>
        </p:txBody>
      </p:sp>
      <p:cxnSp>
        <p:nvCxnSpPr>
          <p:cNvPr id="12" name="Conector de Seta Reta 11">
            <a:extLst>
              <a:ext uri="{FF2B5EF4-FFF2-40B4-BE49-F238E27FC236}">
                <a16:creationId xmlns:a16="http://schemas.microsoft.com/office/drawing/2014/main" id="{41770B5E-73D3-4D66-B04B-69033D8BA34F}"/>
              </a:ext>
            </a:extLst>
          </p:cNvPr>
          <p:cNvCxnSpPr>
            <a:cxnSpLocks/>
            <a:stCxn id="11" idx="2"/>
            <a:endCxn id="10" idx="3"/>
          </p:cNvCxnSpPr>
          <p:nvPr/>
        </p:nvCxnSpPr>
        <p:spPr>
          <a:xfrm flipH="1">
            <a:off x="8591995" y="1313333"/>
            <a:ext cx="2074057" cy="1548694"/>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6" name="Retângulo 15">
            <a:extLst>
              <a:ext uri="{FF2B5EF4-FFF2-40B4-BE49-F238E27FC236}">
                <a16:creationId xmlns:a16="http://schemas.microsoft.com/office/drawing/2014/main" id="{16E8B96F-044C-4BFF-A873-0F34C32E47FA}"/>
              </a:ext>
            </a:extLst>
          </p:cNvPr>
          <p:cNvSpPr/>
          <p:nvPr/>
        </p:nvSpPr>
        <p:spPr>
          <a:xfrm>
            <a:off x="1413697" y="3499964"/>
            <a:ext cx="2682125" cy="1083836"/>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err="1">
                <a:solidFill>
                  <a:schemeClr val="tx1"/>
                </a:solidFill>
              </a:rPr>
              <a:t>Fault</a:t>
            </a:r>
            <a:r>
              <a:rPr lang="pt-BR" sz="2000" b="1" dirty="0">
                <a:solidFill>
                  <a:schemeClr val="tx1"/>
                </a:solidFill>
              </a:rPr>
              <a:t> </a:t>
            </a:r>
            <a:r>
              <a:rPr lang="pt-BR" sz="2000" b="1" dirty="0" err="1">
                <a:solidFill>
                  <a:schemeClr val="tx1"/>
                </a:solidFill>
              </a:rPr>
              <a:t>Domains</a:t>
            </a:r>
            <a:endParaRPr lang="pt-BR" sz="2000" b="1" dirty="0">
              <a:solidFill>
                <a:schemeClr val="tx1"/>
              </a:solidFill>
            </a:endParaRPr>
          </a:p>
          <a:p>
            <a:pPr marL="285750" indent="-285750">
              <a:buFont typeface="Arial" panose="020B0604020202020204" pitchFamily="34" charset="0"/>
              <a:buChar char="•"/>
            </a:pPr>
            <a:r>
              <a:rPr lang="pt-BR" dirty="0">
                <a:solidFill>
                  <a:schemeClr val="tx1"/>
                </a:solidFill>
              </a:rPr>
              <a:t>Previne falhas, desastres.</a:t>
            </a:r>
          </a:p>
          <a:p>
            <a:pPr marL="285750" indent="-285750">
              <a:buFont typeface="Arial" panose="020B0604020202020204" pitchFamily="34" charset="0"/>
              <a:buChar char="•"/>
            </a:pPr>
            <a:r>
              <a:rPr lang="pt-BR" dirty="0">
                <a:solidFill>
                  <a:schemeClr val="tx1"/>
                </a:solidFill>
              </a:rPr>
              <a:t>Racks Diferentes</a:t>
            </a:r>
            <a:endParaRPr lang="pt-BR" b="1" dirty="0">
              <a:solidFill>
                <a:schemeClr val="tx1"/>
              </a:solidFill>
            </a:endParaRPr>
          </a:p>
        </p:txBody>
      </p:sp>
      <p:cxnSp>
        <p:nvCxnSpPr>
          <p:cNvPr id="17" name="Conector de Seta Reta 16">
            <a:extLst>
              <a:ext uri="{FF2B5EF4-FFF2-40B4-BE49-F238E27FC236}">
                <a16:creationId xmlns:a16="http://schemas.microsoft.com/office/drawing/2014/main" id="{04450828-FFFF-4DF0-9D56-CDEA3EF63D62}"/>
              </a:ext>
            </a:extLst>
          </p:cNvPr>
          <p:cNvCxnSpPr>
            <a:cxnSpLocks/>
            <a:stCxn id="16" idx="3"/>
            <a:endCxn id="30" idx="2"/>
          </p:cNvCxnSpPr>
          <p:nvPr/>
        </p:nvCxnSpPr>
        <p:spPr>
          <a:xfrm flipV="1">
            <a:off x="4095822" y="2787371"/>
            <a:ext cx="2162796" cy="1254511"/>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pic>
        <p:nvPicPr>
          <p:cNvPr id="24" name="Imagem 23">
            <a:extLst>
              <a:ext uri="{FF2B5EF4-FFF2-40B4-BE49-F238E27FC236}">
                <a16:creationId xmlns:a16="http://schemas.microsoft.com/office/drawing/2014/main" id="{9C3A1295-1421-4E3F-880C-5C16B24C338F}"/>
              </a:ext>
            </a:extLst>
          </p:cNvPr>
          <p:cNvPicPr>
            <a:picLocks noChangeAspect="1"/>
          </p:cNvPicPr>
          <p:nvPr/>
        </p:nvPicPr>
        <p:blipFill>
          <a:blip r:embed="rId3"/>
          <a:stretch>
            <a:fillRect/>
          </a:stretch>
        </p:blipFill>
        <p:spPr>
          <a:xfrm>
            <a:off x="6749148" y="2657286"/>
            <a:ext cx="555435" cy="453235"/>
          </a:xfrm>
          <a:prstGeom prst="rect">
            <a:avLst/>
          </a:prstGeom>
          <a:ln>
            <a:noFill/>
          </a:ln>
        </p:spPr>
      </p:pic>
      <p:pic>
        <p:nvPicPr>
          <p:cNvPr id="26" name="Imagem 25">
            <a:extLst>
              <a:ext uri="{FF2B5EF4-FFF2-40B4-BE49-F238E27FC236}">
                <a16:creationId xmlns:a16="http://schemas.microsoft.com/office/drawing/2014/main" id="{EEC5CE35-514A-4034-8646-C4A0FDEC2001}"/>
              </a:ext>
            </a:extLst>
          </p:cNvPr>
          <p:cNvPicPr>
            <a:picLocks noChangeAspect="1"/>
          </p:cNvPicPr>
          <p:nvPr/>
        </p:nvPicPr>
        <p:blipFill>
          <a:blip r:embed="rId3"/>
          <a:stretch>
            <a:fillRect/>
          </a:stretch>
        </p:blipFill>
        <p:spPr>
          <a:xfrm>
            <a:off x="8005561" y="3769357"/>
            <a:ext cx="555435" cy="453235"/>
          </a:xfrm>
          <a:prstGeom prst="rect">
            <a:avLst/>
          </a:prstGeom>
          <a:ln>
            <a:noFill/>
          </a:ln>
        </p:spPr>
      </p:pic>
      <p:sp>
        <p:nvSpPr>
          <p:cNvPr id="27" name="Retângulo 26">
            <a:extLst>
              <a:ext uri="{FF2B5EF4-FFF2-40B4-BE49-F238E27FC236}">
                <a16:creationId xmlns:a16="http://schemas.microsoft.com/office/drawing/2014/main" id="{58E0CF80-FDCB-4362-97B7-72FCE9ABBD3A}"/>
              </a:ext>
            </a:extLst>
          </p:cNvPr>
          <p:cNvSpPr/>
          <p:nvPr/>
        </p:nvSpPr>
        <p:spPr>
          <a:xfrm>
            <a:off x="1413698" y="4773067"/>
            <a:ext cx="2682125" cy="120352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Update </a:t>
            </a:r>
            <a:r>
              <a:rPr lang="pt-BR" sz="2000" b="1" dirty="0" err="1">
                <a:solidFill>
                  <a:schemeClr val="tx1"/>
                </a:solidFill>
              </a:rPr>
              <a:t>Domains</a:t>
            </a:r>
            <a:endParaRPr lang="pt-BR" sz="2000" b="1" dirty="0">
              <a:solidFill>
                <a:schemeClr val="tx1"/>
              </a:solidFill>
            </a:endParaRPr>
          </a:p>
          <a:p>
            <a:pPr marL="285750" indent="-285750">
              <a:buFont typeface="Arial" panose="020B0604020202020204" pitchFamily="34" charset="0"/>
              <a:buChar char="•"/>
            </a:pPr>
            <a:r>
              <a:rPr lang="pt-BR" dirty="0">
                <a:solidFill>
                  <a:schemeClr val="tx1"/>
                </a:solidFill>
              </a:rPr>
              <a:t>Previne atualizações ou manutenções.</a:t>
            </a:r>
          </a:p>
          <a:p>
            <a:pPr marL="285750" indent="-285750">
              <a:buFont typeface="Arial" panose="020B0604020202020204" pitchFamily="34" charset="0"/>
              <a:buChar char="•"/>
            </a:pPr>
            <a:r>
              <a:rPr lang="pt-BR" dirty="0">
                <a:solidFill>
                  <a:schemeClr val="tx1"/>
                </a:solidFill>
              </a:rPr>
              <a:t>Servidores Diferentes</a:t>
            </a:r>
          </a:p>
        </p:txBody>
      </p:sp>
      <p:sp>
        <p:nvSpPr>
          <p:cNvPr id="30" name="Elipse 29">
            <a:extLst>
              <a:ext uri="{FF2B5EF4-FFF2-40B4-BE49-F238E27FC236}">
                <a16:creationId xmlns:a16="http://schemas.microsoft.com/office/drawing/2014/main" id="{92977B79-CFF7-43D0-93C6-B07C45CDA924}"/>
              </a:ext>
            </a:extLst>
          </p:cNvPr>
          <p:cNvSpPr/>
          <p:nvPr/>
        </p:nvSpPr>
        <p:spPr>
          <a:xfrm>
            <a:off x="6258618" y="2032001"/>
            <a:ext cx="2699170" cy="1510739"/>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Elipse 30">
            <a:extLst>
              <a:ext uri="{FF2B5EF4-FFF2-40B4-BE49-F238E27FC236}">
                <a16:creationId xmlns:a16="http://schemas.microsoft.com/office/drawing/2014/main" id="{9223D36E-6DF5-4918-AF87-DEBAA55D3057}"/>
              </a:ext>
            </a:extLst>
          </p:cNvPr>
          <p:cNvSpPr/>
          <p:nvPr/>
        </p:nvSpPr>
        <p:spPr>
          <a:xfrm>
            <a:off x="7599680" y="2032001"/>
            <a:ext cx="1501242" cy="283464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3" name="Conector de Seta Reta 32">
            <a:extLst>
              <a:ext uri="{FF2B5EF4-FFF2-40B4-BE49-F238E27FC236}">
                <a16:creationId xmlns:a16="http://schemas.microsoft.com/office/drawing/2014/main" id="{6823078F-A767-4D98-8AF9-E6B5A50D2D32}"/>
              </a:ext>
            </a:extLst>
          </p:cNvPr>
          <p:cNvCxnSpPr>
            <a:cxnSpLocks/>
            <a:stCxn id="27" idx="3"/>
            <a:endCxn id="31" idx="3"/>
          </p:cNvCxnSpPr>
          <p:nvPr/>
        </p:nvCxnSpPr>
        <p:spPr>
          <a:xfrm flipV="1">
            <a:off x="4095823" y="4451518"/>
            <a:ext cx="3723709" cy="923313"/>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83482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0A845110-C602-4B10-A9B1-349E9DA4A60D}"/>
              </a:ext>
            </a:extLst>
          </p:cNvPr>
          <p:cNvSpPr>
            <a:spLocks noGrp="1"/>
          </p:cNvSpPr>
          <p:nvPr>
            <p:ph idx="1"/>
          </p:nvPr>
        </p:nvSpPr>
        <p:spPr/>
        <p:txBody>
          <a:bodyPr/>
          <a:lstStyle/>
          <a:p>
            <a:r>
              <a:rPr lang="pt-BR" dirty="0" err="1"/>
              <a:t>None</a:t>
            </a:r>
            <a:endParaRPr lang="pt-BR" dirty="0"/>
          </a:p>
          <a:p>
            <a:r>
              <a:rPr lang="pt-BR" dirty="0" err="1"/>
              <a:t>Allow</a:t>
            </a:r>
            <a:r>
              <a:rPr lang="pt-BR" dirty="0"/>
              <a:t> </a:t>
            </a:r>
            <a:r>
              <a:rPr lang="pt-BR" dirty="0" err="1"/>
              <a:t>selected</a:t>
            </a:r>
            <a:r>
              <a:rPr lang="pt-BR" dirty="0"/>
              <a:t> </a:t>
            </a:r>
            <a:r>
              <a:rPr lang="pt-BR" dirty="0" err="1"/>
              <a:t>ports</a:t>
            </a:r>
            <a:r>
              <a:rPr lang="pt-BR" dirty="0"/>
              <a:t> (Permitir portas)</a:t>
            </a:r>
          </a:p>
          <a:p>
            <a:pPr lvl="1"/>
            <a:r>
              <a:rPr lang="pt-BR" dirty="0"/>
              <a:t>Http porta 80</a:t>
            </a:r>
          </a:p>
          <a:p>
            <a:pPr lvl="1"/>
            <a:r>
              <a:rPr lang="pt-BR" dirty="0"/>
              <a:t>Https porta 443</a:t>
            </a:r>
          </a:p>
          <a:p>
            <a:pPr lvl="1"/>
            <a:r>
              <a:rPr lang="pt-BR" dirty="0"/>
              <a:t>SSH porta 22</a:t>
            </a:r>
          </a:p>
          <a:p>
            <a:pPr lvl="1"/>
            <a:r>
              <a:rPr lang="pt-BR" dirty="0"/>
              <a:t>RDP porta 3389</a:t>
            </a:r>
          </a:p>
          <a:p>
            <a:pPr lvl="1"/>
            <a:endParaRPr lang="pt-BR" dirty="0"/>
          </a:p>
        </p:txBody>
      </p:sp>
      <p:sp>
        <p:nvSpPr>
          <p:cNvPr id="4" name="Rectangle 1">
            <a:extLst>
              <a:ext uri="{FF2B5EF4-FFF2-40B4-BE49-F238E27FC236}">
                <a16:creationId xmlns:a16="http://schemas.microsoft.com/office/drawing/2014/main" id="{02C2FBAA-6138-43DF-B8B8-61A317B6BDF0}"/>
              </a:ext>
            </a:extLst>
          </p:cNvPr>
          <p:cNvSpPr>
            <a:spLocks noGrp="1" noChangeArrowheads="1"/>
          </p:cNvSpPr>
          <p:nvPr>
            <p:ph type="title"/>
          </p:nvPr>
        </p:nvSpPr>
        <p:spPr bwMode="auto">
          <a:xfrm>
            <a:off x="1010920" y="384740"/>
            <a:ext cx="4872744" cy="116441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2539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pt-BR" altLang="pt-BR" dirty="0" err="1">
                <a:latin typeface="+mj-lt"/>
              </a:rPr>
              <a:t>Public</a:t>
            </a:r>
            <a:r>
              <a:rPr lang="pt-BR" altLang="pt-BR" dirty="0">
                <a:latin typeface="+mj-lt"/>
              </a:rPr>
              <a:t> </a:t>
            </a:r>
            <a:r>
              <a:rPr lang="pt-BR" altLang="pt-BR" dirty="0" err="1">
                <a:latin typeface="+mj-lt"/>
              </a:rPr>
              <a:t>inbound</a:t>
            </a:r>
            <a:r>
              <a:rPr lang="pt-BR" altLang="pt-BR" dirty="0">
                <a:latin typeface="+mj-lt"/>
              </a:rPr>
              <a:t> </a:t>
            </a:r>
            <a:r>
              <a:rPr lang="pt-BR" altLang="pt-BR" dirty="0" err="1">
                <a:latin typeface="+mj-lt"/>
              </a:rPr>
              <a:t>ports</a:t>
            </a:r>
            <a:endParaRPr lang="pt-BR" altLang="pt-BR"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pt-BR" altLang="pt-BR" sz="900" b="0" i="0" u="none" strike="noStrike" cap="none" normalizeH="0" baseline="0" dirty="0">
                <a:ln>
                  <a:noFill/>
                </a:ln>
                <a:solidFill>
                  <a:srgbClr val="000000"/>
                </a:solidFill>
                <a:effectLst/>
                <a:latin typeface="az_ea_font"/>
              </a:rPr>
            </a:br>
            <a:endParaRPr kumimoji="0" lang="pt-BR" altLang="pt-B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443432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E1FBD0-6DBF-429A-BCCB-E2CC27FDA3C2}"/>
              </a:ext>
            </a:extLst>
          </p:cNvPr>
          <p:cNvSpPr>
            <a:spLocks noGrp="1"/>
          </p:cNvSpPr>
          <p:nvPr>
            <p:ph type="title"/>
          </p:nvPr>
        </p:nvSpPr>
        <p:spPr>
          <a:xfrm>
            <a:off x="838200" y="365126"/>
            <a:ext cx="6761480" cy="865504"/>
          </a:xfrm>
        </p:spPr>
        <p:txBody>
          <a:bodyPr/>
          <a:lstStyle/>
          <a:p>
            <a:r>
              <a:rPr lang="pt-BR" dirty="0"/>
              <a:t>Máquina Virtual</a:t>
            </a:r>
          </a:p>
        </p:txBody>
      </p:sp>
      <p:pic>
        <p:nvPicPr>
          <p:cNvPr id="5" name="Imagem 4">
            <a:extLst>
              <a:ext uri="{FF2B5EF4-FFF2-40B4-BE49-F238E27FC236}">
                <a16:creationId xmlns:a16="http://schemas.microsoft.com/office/drawing/2014/main" id="{D5BA71E9-AAE5-42E5-8C05-35D25852D214}"/>
              </a:ext>
            </a:extLst>
          </p:cNvPr>
          <p:cNvPicPr>
            <a:picLocks noChangeAspect="1"/>
          </p:cNvPicPr>
          <p:nvPr/>
        </p:nvPicPr>
        <p:blipFill>
          <a:blip r:embed="rId2"/>
          <a:stretch>
            <a:fillRect/>
          </a:stretch>
        </p:blipFill>
        <p:spPr>
          <a:xfrm>
            <a:off x="6786131" y="134383"/>
            <a:ext cx="4411307" cy="3587114"/>
          </a:xfrm>
          <a:prstGeom prst="rect">
            <a:avLst/>
          </a:prstGeom>
          <a:effectLst>
            <a:innerShdw blurRad="63500" dist="50800" dir="13500000">
              <a:srgbClr val="FF0000">
                <a:alpha val="50000"/>
              </a:srgbClr>
            </a:innerShdw>
          </a:effectLst>
        </p:spPr>
      </p:pic>
      <p:pic>
        <p:nvPicPr>
          <p:cNvPr id="6" name="Imagem 5">
            <a:extLst>
              <a:ext uri="{FF2B5EF4-FFF2-40B4-BE49-F238E27FC236}">
                <a16:creationId xmlns:a16="http://schemas.microsoft.com/office/drawing/2014/main" id="{2CDB123F-AA69-4490-8CDB-313AF810771D}"/>
              </a:ext>
            </a:extLst>
          </p:cNvPr>
          <p:cNvPicPr>
            <a:picLocks noChangeAspect="1"/>
          </p:cNvPicPr>
          <p:nvPr/>
        </p:nvPicPr>
        <p:blipFill>
          <a:blip r:embed="rId3"/>
          <a:stretch>
            <a:fillRect/>
          </a:stretch>
        </p:blipFill>
        <p:spPr>
          <a:xfrm>
            <a:off x="7659891" y="3609556"/>
            <a:ext cx="4411307" cy="3195341"/>
          </a:xfrm>
          <a:prstGeom prst="rect">
            <a:avLst/>
          </a:prstGeom>
          <a:effectLst>
            <a:innerShdw blurRad="63500" dist="50800" dir="13500000">
              <a:srgbClr val="FF0000">
                <a:alpha val="50000"/>
              </a:srgbClr>
            </a:innerShdw>
          </a:effectLst>
        </p:spPr>
      </p:pic>
      <p:pic>
        <p:nvPicPr>
          <p:cNvPr id="7" name="Imagem 6">
            <a:extLst>
              <a:ext uri="{FF2B5EF4-FFF2-40B4-BE49-F238E27FC236}">
                <a16:creationId xmlns:a16="http://schemas.microsoft.com/office/drawing/2014/main" id="{D03A822D-A811-408A-9F01-FEB99AC2070E}"/>
              </a:ext>
            </a:extLst>
          </p:cNvPr>
          <p:cNvPicPr>
            <a:picLocks noChangeAspect="1"/>
          </p:cNvPicPr>
          <p:nvPr/>
        </p:nvPicPr>
        <p:blipFill>
          <a:blip r:embed="rId4"/>
          <a:stretch>
            <a:fillRect/>
          </a:stretch>
        </p:blipFill>
        <p:spPr>
          <a:xfrm>
            <a:off x="151662" y="1129029"/>
            <a:ext cx="6345843" cy="5547360"/>
          </a:xfrm>
          <a:prstGeom prst="rect">
            <a:avLst/>
          </a:prstGeom>
          <a:effectLst>
            <a:innerShdw blurRad="63500" dist="50800" dir="13500000">
              <a:srgbClr val="FF0000">
                <a:alpha val="50000"/>
              </a:srgbClr>
            </a:innerShdw>
          </a:effectLst>
        </p:spPr>
      </p:pic>
      <p:sp>
        <p:nvSpPr>
          <p:cNvPr id="8" name="Retângulo 7">
            <a:extLst>
              <a:ext uri="{FF2B5EF4-FFF2-40B4-BE49-F238E27FC236}">
                <a16:creationId xmlns:a16="http://schemas.microsoft.com/office/drawing/2014/main" id="{714A1EF4-08B6-46B7-BD2A-B7084F5C5012}"/>
              </a:ext>
            </a:extLst>
          </p:cNvPr>
          <p:cNvSpPr/>
          <p:nvPr/>
        </p:nvSpPr>
        <p:spPr>
          <a:xfrm>
            <a:off x="4917555" y="6049803"/>
            <a:ext cx="2682125" cy="38766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Licenças da Máquina</a:t>
            </a:r>
          </a:p>
        </p:txBody>
      </p:sp>
      <p:cxnSp>
        <p:nvCxnSpPr>
          <p:cNvPr id="9" name="Conector de Seta Reta 8">
            <a:extLst>
              <a:ext uri="{FF2B5EF4-FFF2-40B4-BE49-F238E27FC236}">
                <a16:creationId xmlns:a16="http://schemas.microsoft.com/office/drawing/2014/main" id="{8075DEAA-8DF5-4ED0-97BF-E7AA2EC5AFA9}"/>
              </a:ext>
            </a:extLst>
          </p:cNvPr>
          <p:cNvCxnSpPr>
            <a:cxnSpLocks/>
            <a:stCxn id="8" idx="1"/>
            <a:endCxn id="10" idx="6"/>
          </p:cNvCxnSpPr>
          <p:nvPr/>
        </p:nvCxnSpPr>
        <p:spPr>
          <a:xfrm flipH="1">
            <a:off x="4206240" y="6243637"/>
            <a:ext cx="711315" cy="0"/>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0" name="Elipse 9">
            <a:extLst>
              <a:ext uri="{FF2B5EF4-FFF2-40B4-BE49-F238E27FC236}">
                <a16:creationId xmlns:a16="http://schemas.microsoft.com/office/drawing/2014/main" id="{4E4E833B-F7B3-4196-ABD3-4E621128B96A}"/>
              </a:ext>
            </a:extLst>
          </p:cNvPr>
          <p:cNvSpPr/>
          <p:nvPr/>
        </p:nvSpPr>
        <p:spPr>
          <a:xfrm>
            <a:off x="838200" y="5810885"/>
            <a:ext cx="3368040" cy="865504"/>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tângulo 22">
            <a:extLst>
              <a:ext uri="{FF2B5EF4-FFF2-40B4-BE49-F238E27FC236}">
                <a16:creationId xmlns:a16="http://schemas.microsoft.com/office/drawing/2014/main" id="{A094964A-4343-4214-AC99-FACE6FE62E4C}"/>
              </a:ext>
            </a:extLst>
          </p:cNvPr>
          <p:cNvSpPr/>
          <p:nvPr/>
        </p:nvSpPr>
        <p:spPr>
          <a:xfrm>
            <a:off x="263792" y="5245583"/>
            <a:ext cx="1930861" cy="48457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Acesso Externo</a:t>
            </a:r>
          </a:p>
        </p:txBody>
      </p:sp>
      <p:cxnSp>
        <p:nvCxnSpPr>
          <p:cNvPr id="24" name="Conector de Seta Reta 23">
            <a:extLst>
              <a:ext uri="{FF2B5EF4-FFF2-40B4-BE49-F238E27FC236}">
                <a16:creationId xmlns:a16="http://schemas.microsoft.com/office/drawing/2014/main" id="{A877C16C-483E-4345-AD32-69971B108DE0}"/>
              </a:ext>
            </a:extLst>
          </p:cNvPr>
          <p:cNvCxnSpPr>
            <a:cxnSpLocks/>
            <a:stCxn id="23" idx="3"/>
            <a:endCxn id="25" idx="3"/>
          </p:cNvCxnSpPr>
          <p:nvPr/>
        </p:nvCxnSpPr>
        <p:spPr>
          <a:xfrm>
            <a:off x="2194653" y="5487872"/>
            <a:ext cx="634313" cy="3128"/>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25" name="Elipse 24">
            <a:extLst>
              <a:ext uri="{FF2B5EF4-FFF2-40B4-BE49-F238E27FC236}">
                <a16:creationId xmlns:a16="http://schemas.microsoft.com/office/drawing/2014/main" id="{8414B8E9-3056-4082-A28B-744588C999A5}"/>
              </a:ext>
            </a:extLst>
          </p:cNvPr>
          <p:cNvSpPr/>
          <p:nvPr/>
        </p:nvSpPr>
        <p:spPr>
          <a:xfrm>
            <a:off x="2306782" y="4567569"/>
            <a:ext cx="3565698" cy="1081867"/>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7677349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1AE14BFE-05AC-4967-B511-AA38C55D7C4E}"/>
              </a:ext>
            </a:extLst>
          </p:cNvPr>
          <p:cNvPicPr>
            <a:picLocks noChangeAspect="1"/>
          </p:cNvPicPr>
          <p:nvPr/>
        </p:nvPicPr>
        <p:blipFill>
          <a:blip r:embed="rId2"/>
          <a:stretch>
            <a:fillRect/>
          </a:stretch>
        </p:blipFill>
        <p:spPr>
          <a:xfrm>
            <a:off x="181024" y="1230630"/>
            <a:ext cx="6901369" cy="5303515"/>
          </a:xfrm>
          <a:prstGeom prst="rect">
            <a:avLst/>
          </a:prstGeom>
        </p:spPr>
      </p:pic>
      <p:sp>
        <p:nvSpPr>
          <p:cNvPr id="2" name="Título 1">
            <a:extLst>
              <a:ext uri="{FF2B5EF4-FFF2-40B4-BE49-F238E27FC236}">
                <a16:creationId xmlns:a16="http://schemas.microsoft.com/office/drawing/2014/main" id="{51E1FBD0-6DBF-429A-BCCB-E2CC27FDA3C2}"/>
              </a:ext>
            </a:extLst>
          </p:cNvPr>
          <p:cNvSpPr>
            <a:spLocks noGrp="1"/>
          </p:cNvSpPr>
          <p:nvPr>
            <p:ph type="title"/>
          </p:nvPr>
        </p:nvSpPr>
        <p:spPr>
          <a:xfrm>
            <a:off x="838200" y="365126"/>
            <a:ext cx="6761480" cy="865504"/>
          </a:xfrm>
        </p:spPr>
        <p:txBody>
          <a:bodyPr/>
          <a:lstStyle/>
          <a:p>
            <a:r>
              <a:rPr lang="pt-BR" dirty="0"/>
              <a:t>Máquina Virtual</a:t>
            </a:r>
          </a:p>
        </p:txBody>
      </p:sp>
      <p:sp>
        <p:nvSpPr>
          <p:cNvPr id="8" name="Retângulo 7">
            <a:extLst>
              <a:ext uri="{FF2B5EF4-FFF2-40B4-BE49-F238E27FC236}">
                <a16:creationId xmlns:a16="http://schemas.microsoft.com/office/drawing/2014/main" id="{714A1EF4-08B6-46B7-BD2A-B7084F5C5012}"/>
              </a:ext>
            </a:extLst>
          </p:cNvPr>
          <p:cNvSpPr/>
          <p:nvPr/>
        </p:nvSpPr>
        <p:spPr>
          <a:xfrm>
            <a:off x="2174240" y="6348130"/>
            <a:ext cx="4277359" cy="37203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Máquina Desliga Automaticamente</a:t>
            </a:r>
          </a:p>
        </p:txBody>
      </p:sp>
      <p:cxnSp>
        <p:nvCxnSpPr>
          <p:cNvPr id="9" name="Conector de Seta Reta 8">
            <a:extLst>
              <a:ext uri="{FF2B5EF4-FFF2-40B4-BE49-F238E27FC236}">
                <a16:creationId xmlns:a16="http://schemas.microsoft.com/office/drawing/2014/main" id="{8075DEAA-8DF5-4ED0-97BF-E7AA2EC5AFA9}"/>
              </a:ext>
            </a:extLst>
          </p:cNvPr>
          <p:cNvCxnSpPr>
            <a:cxnSpLocks/>
            <a:stCxn id="8" idx="0"/>
            <a:endCxn id="10" idx="4"/>
          </p:cNvCxnSpPr>
          <p:nvPr/>
        </p:nvCxnSpPr>
        <p:spPr>
          <a:xfrm flipH="1" flipV="1">
            <a:off x="4208780" y="5293361"/>
            <a:ext cx="104140" cy="1054769"/>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0" name="Elipse 9">
            <a:extLst>
              <a:ext uri="{FF2B5EF4-FFF2-40B4-BE49-F238E27FC236}">
                <a16:creationId xmlns:a16="http://schemas.microsoft.com/office/drawing/2014/main" id="{4E4E833B-F7B3-4196-ABD3-4E621128B96A}"/>
              </a:ext>
            </a:extLst>
          </p:cNvPr>
          <p:cNvSpPr/>
          <p:nvPr/>
        </p:nvSpPr>
        <p:spPr>
          <a:xfrm>
            <a:off x="2616200" y="4185285"/>
            <a:ext cx="3185160" cy="1108076"/>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7" name="Imagem 16">
            <a:extLst>
              <a:ext uri="{FF2B5EF4-FFF2-40B4-BE49-F238E27FC236}">
                <a16:creationId xmlns:a16="http://schemas.microsoft.com/office/drawing/2014/main" id="{A90492D5-A51F-4AEF-9012-ABE5E6E86982}"/>
              </a:ext>
            </a:extLst>
          </p:cNvPr>
          <p:cNvPicPr>
            <a:picLocks noChangeAspect="1"/>
          </p:cNvPicPr>
          <p:nvPr/>
        </p:nvPicPr>
        <p:blipFill>
          <a:blip r:embed="rId3"/>
          <a:stretch>
            <a:fillRect/>
          </a:stretch>
        </p:blipFill>
        <p:spPr>
          <a:xfrm>
            <a:off x="4724400" y="26645"/>
            <a:ext cx="7467600" cy="2513950"/>
          </a:xfrm>
          <a:prstGeom prst="rect">
            <a:avLst/>
          </a:prstGeom>
          <a:effectLst>
            <a:innerShdw blurRad="63500" dist="50800" dir="13500000">
              <a:srgbClr val="FF0000">
                <a:alpha val="50000"/>
              </a:srgbClr>
            </a:innerShdw>
          </a:effectLst>
        </p:spPr>
      </p:pic>
      <p:pic>
        <p:nvPicPr>
          <p:cNvPr id="18" name="Imagem 17">
            <a:extLst>
              <a:ext uri="{FF2B5EF4-FFF2-40B4-BE49-F238E27FC236}">
                <a16:creationId xmlns:a16="http://schemas.microsoft.com/office/drawing/2014/main" id="{86BEC3F0-8569-4F2D-A73B-75B1401935FF}"/>
              </a:ext>
            </a:extLst>
          </p:cNvPr>
          <p:cNvPicPr>
            <a:picLocks noChangeAspect="1"/>
          </p:cNvPicPr>
          <p:nvPr/>
        </p:nvPicPr>
        <p:blipFill>
          <a:blip r:embed="rId4"/>
          <a:stretch>
            <a:fillRect/>
          </a:stretch>
        </p:blipFill>
        <p:spPr>
          <a:xfrm>
            <a:off x="6234659" y="2444728"/>
            <a:ext cx="5815349" cy="3766347"/>
          </a:xfrm>
          <a:prstGeom prst="rect">
            <a:avLst/>
          </a:prstGeom>
        </p:spPr>
      </p:pic>
    </p:spTree>
    <p:extLst>
      <p:ext uri="{BB962C8B-B14F-4D97-AF65-F5344CB8AC3E}">
        <p14:creationId xmlns:p14="http://schemas.microsoft.com/office/powerpoint/2010/main" val="33816662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3CFEDB99-94AD-4636-BB3C-D1D554F5CEF3}"/>
              </a:ext>
            </a:extLst>
          </p:cNvPr>
          <p:cNvPicPr>
            <a:picLocks noChangeAspect="1"/>
          </p:cNvPicPr>
          <p:nvPr/>
        </p:nvPicPr>
        <p:blipFill>
          <a:blip r:embed="rId2"/>
          <a:stretch>
            <a:fillRect/>
          </a:stretch>
        </p:blipFill>
        <p:spPr>
          <a:xfrm>
            <a:off x="91440" y="3188055"/>
            <a:ext cx="6819974" cy="3619757"/>
          </a:xfrm>
          <a:prstGeom prst="rect">
            <a:avLst/>
          </a:prstGeom>
        </p:spPr>
      </p:pic>
      <p:sp>
        <p:nvSpPr>
          <p:cNvPr id="2" name="Título 1">
            <a:extLst>
              <a:ext uri="{FF2B5EF4-FFF2-40B4-BE49-F238E27FC236}">
                <a16:creationId xmlns:a16="http://schemas.microsoft.com/office/drawing/2014/main" id="{51E1FBD0-6DBF-429A-BCCB-E2CC27FDA3C2}"/>
              </a:ext>
            </a:extLst>
          </p:cNvPr>
          <p:cNvSpPr>
            <a:spLocks noGrp="1"/>
          </p:cNvSpPr>
          <p:nvPr>
            <p:ph type="title"/>
          </p:nvPr>
        </p:nvSpPr>
        <p:spPr>
          <a:xfrm>
            <a:off x="248920" y="281484"/>
            <a:ext cx="6761480" cy="865504"/>
          </a:xfrm>
        </p:spPr>
        <p:txBody>
          <a:bodyPr/>
          <a:lstStyle/>
          <a:p>
            <a:r>
              <a:rPr lang="pt-BR" dirty="0"/>
              <a:t>Máquina Virtual</a:t>
            </a:r>
          </a:p>
        </p:txBody>
      </p:sp>
      <p:sp>
        <p:nvSpPr>
          <p:cNvPr id="8" name="Retângulo 7">
            <a:extLst>
              <a:ext uri="{FF2B5EF4-FFF2-40B4-BE49-F238E27FC236}">
                <a16:creationId xmlns:a16="http://schemas.microsoft.com/office/drawing/2014/main" id="{714A1EF4-08B6-46B7-BD2A-B7084F5C5012}"/>
              </a:ext>
            </a:extLst>
          </p:cNvPr>
          <p:cNvSpPr/>
          <p:nvPr/>
        </p:nvSpPr>
        <p:spPr>
          <a:xfrm>
            <a:off x="360681" y="1595756"/>
            <a:ext cx="1828800" cy="59834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Abre Dados de Conexão</a:t>
            </a:r>
          </a:p>
        </p:txBody>
      </p:sp>
      <p:cxnSp>
        <p:nvCxnSpPr>
          <p:cNvPr id="9" name="Conector de Seta Reta 8">
            <a:extLst>
              <a:ext uri="{FF2B5EF4-FFF2-40B4-BE49-F238E27FC236}">
                <a16:creationId xmlns:a16="http://schemas.microsoft.com/office/drawing/2014/main" id="{8075DEAA-8DF5-4ED0-97BF-E7AA2EC5AFA9}"/>
              </a:ext>
            </a:extLst>
          </p:cNvPr>
          <p:cNvCxnSpPr>
            <a:cxnSpLocks/>
            <a:stCxn id="8" idx="2"/>
            <a:endCxn id="10" idx="0"/>
          </p:cNvCxnSpPr>
          <p:nvPr/>
        </p:nvCxnSpPr>
        <p:spPr>
          <a:xfrm>
            <a:off x="1275081" y="2194103"/>
            <a:ext cx="1208106" cy="1312038"/>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0" name="Elipse 9">
            <a:extLst>
              <a:ext uri="{FF2B5EF4-FFF2-40B4-BE49-F238E27FC236}">
                <a16:creationId xmlns:a16="http://schemas.microsoft.com/office/drawing/2014/main" id="{4E4E833B-F7B3-4196-ABD3-4E621128B96A}"/>
              </a:ext>
            </a:extLst>
          </p:cNvPr>
          <p:cNvSpPr/>
          <p:nvPr/>
        </p:nvSpPr>
        <p:spPr>
          <a:xfrm>
            <a:off x="2076787" y="3506141"/>
            <a:ext cx="812800" cy="41656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a:extLst>
              <a:ext uri="{FF2B5EF4-FFF2-40B4-BE49-F238E27FC236}">
                <a16:creationId xmlns:a16="http://schemas.microsoft.com/office/drawing/2014/main" id="{4ED62EA8-9B71-4BAA-BDBD-247198D30A81}"/>
              </a:ext>
            </a:extLst>
          </p:cNvPr>
          <p:cNvSpPr/>
          <p:nvPr/>
        </p:nvSpPr>
        <p:spPr>
          <a:xfrm>
            <a:off x="2483187" y="1478369"/>
            <a:ext cx="1828800" cy="59834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Arquivo de Conexão</a:t>
            </a:r>
          </a:p>
        </p:txBody>
      </p:sp>
      <p:sp>
        <p:nvSpPr>
          <p:cNvPr id="21" name="Elipse 20">
            <a:extLst>
              <a:ext uri="{FF2B5EF4-FFF2-40B4-BE49-F238E27FC236}">
                <a16:creationId xmlns:a16="http://schemas.microsoft.com/office/drawing/2014/main" id="{597F546F-CAB7-43E7-B66C-C9B3732EA9C3}"/>
              </a:ext>
            </a:extLst>
          </p:cNvPr>
          <p:cNvSpPr/>
          <p:nvPr/>
        </p:nvSpPr>
        <p:spPr>
          <a:xfrm>
            <a:off x="4489787" y="5235533"/>
            <a:ext cx="1544320" cy="41656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3" name="Imagem 22">
            <a:extLst>
              <a:ext uri="{FF2B5EF4-FFF2-40B4-BE49-F238E27FC236}">
                <a16:creationId xmlns:a16="http://schemas.microsoft.com/office/drawing/2014/main" id="{09BD51D8-D371-483B-AB81-300ECF3BF4F5}"/>
              </a:ext>
            </a:extLst>
          </p:cNvPr>
          <p:cNvPicPr>
            <a:picLocks noChangeAspect="1"/>
          </p:cNvPicPr>
          <p:nvPr/>
        </p:nvPicPr>
        <p:blipFill>
          <a:blip r:embed="rId3"/>
          <a:stretch>
            <a:fillRect/>
          </a:stretch>
        </p:blipFill>
        <p:spPr>
          <a:xfrm>
            <a:off x="4329767" y="115757"/>
            <a:ext cx="7786294" cy="4622800"/>
          </a:xfrm>
          <a:prstGeom prst="rect">
            <a:avLst/>
          </a:prstGeom>
        </p:spPr>
      </p:pic>
      <p:cxnSp>
        <p:nvCxnSpPr>
          <p:cNvPr id="20" name="Conector de Seta Reta 19">
            <a:extLst>
              <a:ext uri="{FF2B5EF4-FFF2-40B4-BE49-F238E27FC236}">
                <a16:creationId xmlns:a16="http://schemas.microsoft.com/office/drawing/2014/main" id="{BBDBF8DE-EE18-4326-A065-6A66C680DF72}"/>
              </a:ext>
            </a:extLst>
          </p:cNvPr>
          <p:cNvCxnSpPr>
            <a:cxnSpLocks/>
            <a:stCxn id="19" idx="2"/>
            <a:endCxn id="21" idx="0"/>
          </p:cNvCxnSpPr>
          <p:nvPr/>
        </p:nvCxnSpPr>
        <p:spPr>
          <a:xfrm>
            <a:off x="3397587" y="2076716"/>
            <a:ext cx="1864360" cy="3158817"/>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41045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E1FBD0-6DBF-429A-BCCB-E2CC27FDA3C2}"/>
              </a:ext>
            </a:extLst>
          </p:cNvPr>
          <p:cNvSpPr>
            <a:spLocks noGrp="1"/>
          </p:cNvSpPr>
          <p:nvPr>
            <p:ph type="title"/>
          </p:nvPr>
        </p:nvSpPr>
        <p:spPr>
          <a:xfrm>
            <a:off x="248920" y="281484"/>
            <a:ext cx="6761480" cy="865504"/>
          </a:xfrm>
        </p:spPr>
        <p:txBody>
          <a:bodyPr/>
          <a:lstStyle/>
          <a:p>
            <a:r>
              <a:rPr lang="pt-BR" dirty="0"/>
              <a:t>Máquina Virtual</a:t>
            </a:r>
          </a:p>
        </p:txBody>
      </p:sp>
      <p:pic>
        <p:nvPicPr>
          <p:cNvPr id="3" name="Imagem 2">
            <a:extLst>
              <a:ext uri="{FF2B5EF4-FFF2-40B4-BE49-F238E27FC236}">
                <a16:creationId xmlns:a16="http://schemas.microsoft.com/office/drawing/2014/main" id="{6F78033E-9A14-4F75-A170-8BD519257588}"/>
              </a:ext>
            </a:extLst>
          </p:cNvPr>
          <p:cNvPicPr>
            <a:picLocks noChangeAspect="1"/>
          </p:cNvPicPr>
          <p:nvPr/>
        </p:nvPicPr>
        <p:blipFill>
          <a:blip r:embed="rId2"/>
          <a:stretch>
            <a:fillRect/>
          </a:stretch>
        </p:blipFill>
        <p:spPr>
          <a:xfrm>
            <a:off x="710267" y="991095"/>
            <a:ext cx="10627360" cy="5585421"/>
          </a:xfrm>
          <a:prstGeom prst="rect">
            <a:avLst/>
          </a:prstGeom>
        </p:spPr>
      </p:pic>
    </p:spTree>
    <p:extLst>
      <p:ext uri="{BB962C8B-B14F-4D97-AF65-F5344CB8AC3E}">
        <p14:creationId xmlns:p14="http://schemas.microsoft.com/office/powerpoint/2010/main" val="9110046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669030F2-69A2-463B-92FF-07913240DD77}"/>
              </a:ext>
            </a:extLst>
          </p:cNvPr>
          <p:cNvPicPr>
            <a:picLocks noChangeAspect="1"/>
          </p:cNvPicPr>
          <p:nvPr/>
        </p:nvPicPr>
        <p:blipFill>
          <a:blip r:embed="rId2"/>
          <a:stretch>
            <a:fillRect/>
          </a:stretch>
        </p:blipFill>
        <p:spPr>
          <a:xfrm>
            <a:off x="4823169" y="94572"/>
            <a:ext cx="4176574" cy="4188912"/>
          </a:xfrm>
          <a:prstGeom prst="rect">
            <a:avLst/>
          </a:prstGeom>
        </p:spPr>
      </p:pic>
      <p:pic>
        <p:nvPicPr>
          <p:cNvPr id="3" name="Imagem 2">
            <a:extLst>
              <a:ext uri="{FF2B5EF4-FFF2-40B4-BE49-F238E27FC236}">
                <a16:creationId xmlns:a16="http://schemas.microsoft.com/office/drawing/2014/main" id="{835F67B2-CED2-4307-90B5-5553EEDBDDA4}"/>
              </a:ext>
            </a:extLst>
          </p:cNvPr>
          <p:cNvPicPr>
            <a:picLocks noChangeAspect="1"/>
          </p:cNvPicPr>
          <p:nvPr/>
        </p:nvPicPr>
        <p:blipFill>
          <a:blip r:embed="rId3"/>
          <a:stretch>
            <a:fillRect/>
          </a:stretch>
        </p:blipFill>
        <p:spPr>
          <a:xfrm>
            <a:off x="71695" y="3581610"/>
            <a:ext cx="9101021" cy="3158818"/>
          </a:xfrm>
          <a:prstGeom prst="rect">
            <a:avLst/>
          </a:prstGeom>
        </p:spPr>
      </p:pic>
      <p:sp>
        <p:nvSpPr>
          <p:cNvPr id="2" name="Título 1">
            <a:extLst>
              <a:ext uri="{FF2B5EF4-FFF2-40B4-BE49-F238E27FC236}">
                <a16:creationId xmlns:a16="http://schemas.microsoft.com/office/drawing/2014/main" id="{51E1FBD0-6DBF-429A-BCCB-E2CC27FDA3C2}"/>
              </a:ext>
            </a:extLst>
          </p:cNvPr>
          <p:cNvSpPr>
            <a:spLocks noGrp="1"/>
          </p:cNvSpPr>
          <p:nvPr>
            <p:ph type="title"/>
          </p:nvPr>
        </p:nvSpPr>
        <p:spPr>
          <a:xfrm>
            <a:off x="248920" y="281484"/>
            <a:ext cx="6761480" cy="865504"/>
          </a:xfrm>
        </p:spPr>
        <p:txBody>
          <a:bodyPr/>
          <a:lstStyle/>
          <a:p>
            <a:r>
              <a:rPr lang="pt-BR" dirty="0"/>
              <a:t>Máquina Virtual</a:t>
            </a:r>
          </a:p>
        </p:txBody>
      </p:sp>
      <p:sp>
        <p:nvSpPr>
          <p:cNvPr id="8" name="Retângulo 7">
            <a:extLst>
              <a:ext uri="{FF2B5EF4-FFF2-40B4-BE49-F238E27FC236}">
                <a16:creationId xmlns:a16="http://schemas.microsoft.com/office/drawing/2014/main" id="{714A1EF4-08B6-46B7-BD2A-B7084F5C5012}"/>
              </a:ext>
            </a:extLst>
          </p:cNvPr>
          <p:cNvSpPr/>
          <p:nvPr/>
        </p:nvSpPr>
        <p:spPr>
          <a:xfrm>
            <a:off x="360681" y="1595756"/>
            <a:ext cx="1828800" cy="59834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Abre Dados de Conexão</a:t>
            </a:r>
          </a:p>
        </p:txBody>
      </p:sp>
      <p:cxnSp>
        <p:nvCxnSpPr>
          <p:cNvPr id="9" name="Conector de Seta Reta 8">
            <a:extLst>
              <a:ext uri="{FF2B5EF4-FFF2-40B4-BE49-F238E27FC236}">
                <a16:creationId xmlns:a16="http://schemas.microsoft.com/office/drawing/2014/main" id="{8075DEAA-8DF5-4ED0-97BF-E7AA2EC5AFA9}"/>
              </a:ext>
            </a:extLst>
          </p:cNvPr>
          <p:cNvCxnSpPr>
            <a:cxnSpLocks/>
            <a:stCxn id="8" idx="2"/>
            <a:endCxn id="10" idx="0"/>
          </p:cNvCxnSpPr>
          <p:nvPr/>
        </p:nvCxnSpPr>
        <p:spPr>
          <a:xfrm>
            <a:off x="1275081" y="2194103"/>
            <a:ext cx="1054115" cy="1900675"/>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0" name="Elipse 9">
            <a:extLst>
              <a:ext uri="{FF2B5EF4-FFF2-40B4-BE49-F238E27FC236}">
                <a16:creationId xmlns:a16="http://schemas.microsoft.com/office/drawing/2014/main" id="{4E4E833B-F7B3-4196-ABD3-4E621128B96A}"/>
              </a:ext>
            </a:extLst>
          </p:cNvPr>
          <p:cNvSpPr/>
          <p:nvPr/>
        </p:nvSpPr>
        <p:spPr>
          <a:xfrm>
            <a:off x="1922796" y="4094778"/>
            <a:ext cx="812800" cy="41656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a:extLst>
              <a:ext uri="{FF2B5EF4-FFF2-40B4-BE49-F238E27FC236}">
                <a16:creationId xmlns:a16="http://schemas.microsoft.com/office/drawing/2014/main" id="{4ED62EA8-9B71-4BAA-BDBD-247198D30A81}"/>
              </a:ext>
            </a:extLst>
          </p:cNvPr>
          <p:cNvSpPr/>
          <p:nvPr/>
        </p:nvSpPr>
        <p:spPr>
          <a:xfrm>
            <a:off x="2483187" y="1478369"/>
            <a:ext cx="1828800" cy="59834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Dados de Conexão</a:t>
            </a:r>
          </a:p>
        </p:txBody>
      </p:sp>
      <p:sp>
        <p:nvSpPr>
          <p:cNvPr id="21" name="Elipse 20">
            <a:extLst>
              <a:ext uri="{FF2B5EF4-FFF2-40B4-BE49-F238E27FC236}">
                <a16:creationId xmlns:a16="http://schemas.microsoft.com/office/drawing/2014/main" id="{597F546F-CAB7-43E7-B66C-C9B3732EA9C3}"/>
              </a:ext>
            </a:extLst>
          </p:cNvPr>
          <p:cNvSpPr/>
          <p:nvPr/>
        </p:nvSpPr>
        <p:spPr>
          <a:xfrm>
            <a:off x="6833175" y="6242455"/>
            <a:ext cx="2339541" cy="41656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0" name="Conector de Seta Reta 19">
            <a:extLst>
              <a:ext uri="{FF2B5EF4-FFF2-40B4-BE49-F238E27FC236}">
                <a16:creationId xmlns:a16="http://schemas.microsoft.com/office/drawing/2014/main" id="{BBDBF8DE-EE18-4326-A065-6A66C680DF72}"/>
              </a:ext>
            </a:extLst>
          </p:cNvPr>
          <p:cNvCxnSpPr>
            <a:cxnSpLocks/>
            <a:stCxn id="19" idx="2"/>
            <a:endCxn id="21" idx="0"/>
          </p:cNvCxnSpPr>
          <p:nvPr/>
        </p:nvCxnSpPr>
        <p:spPr>
          <a:xfrm>
            <a:off x="3397587" y="2076716"/>
            <a:ext cx="4605359" cy="4165739"/>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C1249A4A-1E68-42F9-8BE1-5CB479464877}"/>
              </a:ext>
            </a:extLst>
          </p:cNvPr>
          <p:cNvSpPr/>
          <p:nvPr/>
        </p:nvSpPr>
        <p:spPr>
          <a:xfrm>
            <a:off x="6237497" y="987649"/>
            <a:ext cx="2339541" cy="41656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6" name="Conector de Seta Reta 15">
            <a:extLst>
              <a:ext uri="{FF2B5EF4-FFF2-40B4-BE49-F238E27FC236}">
                <a16:creationId xmlns:a16="http://schemas.microsoft.com/office/drawing/2014/main" id="{3D63F01C-59DB-4634-BAE0-6D6501E9EFA3}"/>
              </a:ext>
            </a:extLst>
          </p:cNvPr>
          <p:cNvCxnSpPr>
            <a:cxnSpLocks/>
            <a:stCxn id="19" idx="3"/>
            <a:endCxn id="15" idx="2"/>
          </p:cNvCxnSpPr>
          <p:nvPr/>
        </p:nvCxnSpPr>
        <p:spPr>
          <a:xfrm flipV="1">
            <a:off x="4311987" y="1195929"/>
            <a:ext cx="1925510" cy="581614"/>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pic>
        <p:nvPicPr>
          <p:cNvPr id="18" name="Imagem 17">
            <a:extLst>
              <a:ext uri="{FF2B5EF4-FFF2-40B4-BE49-F238E27FC236}">
                <a16:creationId xmlns:a16="http://schemas.microsoft.com/office/drawing/2014/main" id="{7F1A0923-E9DB-4C4B-A0BB-EE8D42512101}"/>
              </a:ext>
            </a:extLst>
          </p:cNvPr>
          <p:cNvPicPr>
            <a:picLocks noChangeAspect="1"/>
          </p:cNvPicPr>
          <p:nvPr/>
        </p:nvPicPr>
        <p:blipFill>
          <a:blip r:embed="rId4"/>
          <a:stretch>
            <a:fillRect/>
          </a:stretch>
        </p:blipFill>
        <p:spPr>
          <a:xfrm>
            <a:off x="8577038" y="524529"/>
            <a:ext cx="3555983" cy="3561228"/>
          </a:xfrm>
          <a:prstGeom prst="rect">
            <a:avLst/>
          </a:prstGeom>
        </p:spPr>
      </p:pic>
      <p:sp>
        <p:nvSpPr>
          <p:cNvPr id="26" name="Elipse 25">
            <a:extLst>
              <a:ext uri="{FF2B5EF4-FFF2-40B4-BE49-F238E27FC236}">
                <a16:creationId xmlns:a16="http://schemas.microsoft.com/office/drawing/2014/main" id="{C405A7B7-9EC8-46A6-A91F-9F1BD2A0E725}"/>
              </a:ext>
            </a:extLst>
          </p:cNvPr>
          <p:cNvSpPr/>
          <p:nvPr/>
        </p:nvSpPr>
        <p:spPr>
          <a:xfrm>
            <a:off x="8693736" y="2993922"/>
            <a:ext cx="998642" cy="209692"/>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Elipse 26">
            <a:extLst>
              <a:ext uri="{FF2B5EF4-FFF2-40B4-BE49-F238E27FC236}">
                <a16:creationId xmlns:a16="http://schemas.microsoft.com/office/drawing/2014/main" id="{BEFA44A8-378F-4F6B-ACFC-36D74C57BC3D}"/>
              </a:ext>
            </a:extLst>
          </p:cNvPr>
          <p:cNvSpPr/>
          <p:nvPr/>
        </p:nvSpPr>
        <p:spPr>
          <a:xfrm>
            <a:off x="9652422" y="2664265"/>
            <a:ext cx="2339541" cy="41656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Retângulo 27">
            <a:extLst>
              <a:ext uri="{FF2B5EF4-FFF2-40B4-BE49-F238E27FC236}">
                <a16:creationId xmlns:a16="http://schemas.microsoft.com/office/drawing/2014/main" id="{476BE6F1-AC3B-4C76-9E18-10AB3C2AF53A}"/>
              </a:ext>
            </a:extLst>
          </p:cNvPr>
          <p:cNvSpPr/>
          <p:nvPr/>
        </p:nvSpPr>
        <p:spPr>
          <a:xfrm>
            <a:off x="9510925" y="73487"/>
            <a:ext cx="1828800" cy="33291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Chave Privada</a:t>
            </a:r>
          </a:p>
        </p:txBody>
      </p:sp>
      <p:cxnSp>
        <p:nvCxnSpPr>
          <p:cNvPr id="29" name="Conector de Seta Reta 28">
            <a:extLst>
              <a:ext uri="{FF2B5EF4-FFF2-40B4-BE49-F238E27FC236}">
                <a16:creationId xmlns:a16="http://schemas.microsoft.com/office/drawing/2014/main" id="{DC0806E0-FE9F-44A8-BDAC-451D3BE22B77}"/>
              </a:ext>
            </a:extLst>
          </p:cNvPr>
          <p:cNvCxnSpPr>
            <a:cxnSpLocks/>
            <a:stCxn id="28" idx="2"/>
            <a:endCxn id="26" idx="0"/>
          </p:cNvCxnSpPr>
          <p:nvPr/>
        </p:nvCxnSpPr>
        <p:spPr>
          <a:xfrm flipH="1">
            <a:off x="9193057" y="406400"/>
            <a:ext cx="1232268" cy="2587522"/>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32" name="Conector de Seta Reta 31">
            <a:extLst>
              <a:ext uri="{FF2B5EF4-FFF2-40B4-BE49-F238E27FC236}">
                <a16:creationId xmlns:a16="http://schemas.microsoft.com/office/drawing/2014/main" id="{268BF1AC-5F99-48F9-A8C4-E16AE9A89068}"/>
              </a:ext>
            </a:extLst>
          </p:cNvPr>
          <p:cNvCxnSpPr>
            <a:cxnSpLocks/>
            <a:stCxn id="28" idx="2"/>
            <a:endCxn id="27" idx="0"/>
          </p:cNvCxnSpPr>
          <p:nvPr/>
        </p:nvCxnSpPr>
        <p:spPr>
          <a:xfrm>
            <a:off x="10425325" y="406400"/>
            <a:ext cx="396868" cy="2257865"/>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36" name="Elipse 35">
            <a:extLst>
              <a:ext uri="{FF2B5EF4-FFF2-40B4-BE49-F238E27FC236}">
                <a16:creationId xmlns:a16="http://schemas.microsoft.com/office/drawing/2014/main" id="{9207BE49-C9DB-45F1-8BBB-EA77ED5EF5FE}"/>
              </a:ext>
            </a:extLst>
          </p:cNvPr>
          <p:cNvSpPr/>
          <p:nvPr/>
        </p:nvSpPr>
        <p:spPr>
          <a:xfrm>
            <a:off x="4579182" y="524529"/>
            <a:ext cx="1121084" cy="25484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8" name="Conector de Seta Reta 37">
            <a:extLst>
              <a:ext uri="{FF2B5EF4-FFF2-40B4-BE49-F238E27FC236}">
                <a16:creationId xmlns:a16="http://schemas.microsoft.com/office/drawing/2014/main" id="{315751E6-B58E-4FA6-8DE8-1708F1DB1C91}"/>
              </a:ext>
            </a:extLst>
          </p:cNvPr>
          <p:cNvCxnSpPr>
            <a:cxnSpLocks/>
            <a:stCxn id="19" idx="0"/>
            <a:endCxn id="36" idx="4"/>
          </p:cNvCxnSpPr>
          <p:nvPr/>
        </p:nvCxnSpPr>
        <p:spPr>
          <a:xfrm flipV="1">
            <a:off x="3397587" y="779369"/>
            <a:ext cx="1742137" cy="699000"/>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pic>
        <p:nvPicPr>
          <p:cNvPr id="47" name="Imagem 46">
            <a:extLst>
              <a:ext uri="{FF2B5EF4-FFF2-40B4-BE49-F238E27FC236}">
                <a16:creationId xmlns:a16="http://schemas.microsoft.com/office/drawing/2014/main" id="{AE0A4004-EFCC-40CD-B9AA-1E3577EE5726}"/>
              </a:ext>
            </a:extLst>
          </p:cNvPr>
          <p:cNvPicPr>
            <a:picLocks noChangeAspect="1"/>
          </p:cNvPicPr>
          <p:nvPr/>
        </p:nvPicPr>
        <p:blipFill>
          <a:blip r:embed="rId5"/>
          <a:stretch>
            <a:fillRect/>
          </a:stretch>
        </p:blipFill>
        <p:spPr>
          <a:xfrm>
            <a:off x="8774676" y="4154678"/>
            <a:ext cx="3406203" cy="1983228"/>
          </a:xfrm>
          <a:prstGeom prst="rect">
            <a:avLst/>
          </a:prstGeom>
        </p:spPr>
      </p:pic>
    </p:spTree>
    <p:extLst>
      <p:ext uri="{BB962C8B-B14F-4D97-AF65-F5344CB8AC3E}">
        <p14:creationId xmlns:p14="http://schemas.microsoft.com/office/powerpoint/2010/main" val="9273175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83545E-7840-435A-ADDF-B0B0369C36E9}"/>
              </a:ext>
            </a:extLst>
          </p:cNvPr>
          <p:cNvSpPr>
            <a:spLocks noGrp="1"/>
          </p:cNvSpPr>
          <p:nvPr>
            <p:ph type="title"/>
          </p:nvPr>
        </p:nvSpPr>
        <p:spPr>
          <a:xfrm>
            <a:off x="2370667" y="2187743"/>
            <a:ext cx="8805333" cy="2482515"/>
          </a:xfrm>
        </p:spPr>
        <p:txBody>
          <a:bodyPr vert="horz" lIns="91440" tIns="45720" rIns="91440" bIns="45720" rtlCol="0" anchor="ctr">
            <a:normAutofit/>
          </a:bodyPr>
          <a:lstStyle/>
          <a:p>
            <a:r>
              <a:rPr lang="pt-BR" sz="6000" dirty="0"/>
              <a:t>M</a:t>
            </a:r>
            <a:r>
              <a:rPr lang="pt-BR" sz="6000" kern="1200" dirty="0">
                <a:solidFill>
                  <a:schemeClr val="tx1"/>
                </a:solidFill>
                <a:latin typeface="+mj-lt"/>
                <a:ea typeface="+mj-ea"/>
                <a:cs typeface="+mj-cs"/>
              </a:rPr>
              <a:t>áquinas Virtuais e </a:t>
            </a:r>
            <a:r>
              <a:rPr lang="pt-BR" sz="6000" kern="1200" dirty="0" err="1">
                <a:solidFill>
                  <a:schemeClr val="tx1"/>
                </a:solidFill>
                <a:latin typeface="+mj-lt"/>
                <a:ea typeface="+mj-ea"/>
                <a:cs typeface="+mj-cs"/>
              </a:rPr>
              <a:t>Storage</a:t>
            </a:r>
            <a:endParaRPr lang="en-US" sz="6000" kern="1200" dirty="0">
              <a:solidFill>
                <a:schemeClr val="tx1"/>
              </a:solidFill>
              <a:latin typeface="+mj-lt"/>
              <a:ea typeface="+mj-ea"/>
              <a:cs typeface="+mj-cs"/>
            </a:endParaRPr>
          </a:p>
        </p:txBody>
      </p:sp>
      <p:pic>
        <p:nvPicPr>
          <p:cNvPr id="6" name="Graphic 5">
            <a:extLst>
              <a:ext uri="{FF2B5EF4-FFF2-40B4-BE49-F238E27FC236}">
                <a16:creationId xmlns:a16="http://schemas.microsoft.com/office/drawing/2014/main" id="{052314E5-8253-48A5-859B-129F94E805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1" y="2743201"/>
            <a:ext cx="1371600" cy="1371600"/>
          </a:xfrm>
          <a:prstGeom prst="rect">
            <a:avLst/>
          </a:prstGeom>
        </p:spPr>
      </p:pic>
      <p:pic>
        <p:nvPicPr>
          <p:cNvPr id="8" name="Graphic 7">
            <a:extLst>
              <a:ext uri="{FF2B5EF4-FFF2-40B4-BE49-F238E27FC236}">
                <a16:creationId xmlns:a16="http://schemas.microsoft.com/office/drawing/2014/main" id="{FA4577BE-6A11-4DB2-AE1F-216AFFD312F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24594330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m 15">
            <a:extLst>
              <a:ext uri="{FF2B5EF4-FFF2-40B4-BE49-F238E27FC236}">
                <a16:creationId xmlns:a16="http://schemas.microsoft.com/office/drawing/2014/main" id="{09F12BC2-F0F9-430E-8238-2BD035CB2FE8}"/>
              </a:ext>
            </a:extLst>
          </p:cNvPr>
          <p:cNvPicPr>
            <a:picLocks noChangeAspect="1"/>
          </p:cNvPicPr>
          <p:nvPr/>
        </p:nvPicPr>
        <p:blipFill>
          <a:blip r:embed="rId2"/>
          <a:stretch>
            <a:fillRect/>
          </a:stretch>
        </p:blipFill>
        <p:spPr>
          <a:xfrm>
            <a:off x="203200" y="3917653"/>
            <a:ext cx="8432800" cy="2737376"/>
          </a:xfrm>
          <a:prstGeom prst="rect">
            <a:avLst/>
          </a:prstGeom>
        </p:spPr>
      </p:pic>
      <p:sp>
        <p:nvSpPr>
          <p:cNvPr id="2" name="Título 1">
            <a:extLst>
              <a:ext uri="{FF2B5EF4-FFF2-40B4-BE49-F238E27FC236}">
                <a16:creationId xmlns:a16="http://schemas.microsoft.com/office/drawing/2014/main" id="{55951437-0577-4E14-A892-807E26F15DD7}"/>
              </a:ext>
            </a:extLst>
          </p:cNvPr>
          <p:cNvSpPr>
            <a:spLocks noGrp="1"/>
          </p:cNvSpPr>
          <p:nvPr>
            <p:ph type="title"/>
          </p:nvPr>
        </p:nvSpPr>
        <p:spPr/>
        <p:txBody>
          <a:bodyPr/>
          <a:lstStyle/>
          <a:p>
            <a:r>
              <a:rPr lang="pt-BR" dirty="0"/>
              <a:t>Disco Virtual </a:t>
            </a:r>
            <a:r>
              <a:rPr lang="pt-BR" dirty="0" err="1"/>
              <a:t>Machine</a:t>
            </a:r>
            <a:endParaRPr lang="pt-BR" dirty="0"/>
          </a:p>
        </p:txBody>
      </p:sp>
      <p:pic>
        <p:nvPicPr>
          <p:cNvPr id="4" name="Imagem 3">
            <a:extLst>
              <a:ext uri="{FF2B5EF4-FFF2-40B4-BE49-F238E27FC236}">
                <a16:creationId xmlns:a16="http://schemas.microsoft.com/office/drawing/2014/main" id="{EFFF0945-DB57-41C2-A683-8FBEB95C4D6D}"/>
              </a:ext>
            </a:extLst>
          </p:cNvPr>
          <p:cNvPicPr>
            <a:picLocks noChangeAspect="1"/>
          </p:cNvPicPr>
          <p:nvPr/>
        </p:nvPicPr>
        <p:blipFill>
          <a:blip r:embed="rId3"/>
          <a:stretch>
            <a:fillRect/>
          </a:stretch>
        </p:blipFill>
        <p:spPr>
          <a:xfrm>
            <a:off x="4484967" y="1303611"/>
            <a:ext cx="7503833" cy="3449265"/>
          </a:xfrm>
          <a:prstGeom prst="rect">
            <a:avLst/>
          </a:prstGeom>
        </p:spPr>
      </p:pic>
      <p:sp>
        <p:nvSpPr>
          <p:cNvPr id="5" name="Retângulo 4">
            <a:extLst>
              <a:ext uri="{FF2B5EF4-FFF2-40B4-BE49-F238E27FC236}">
                <a16:creationId xmlns:a16="http://schemas.microsoft.com/office/drawing/2014/main" id="{04289516-8135-4368-9A51-B2D8771E0BEB}"/>
              </a:ext>
            </a:extLst>
          </p:cNvPr>
          <p:cNvSpPr/>
          <p:nvPr/>
        </p:nvSpPr>
        <p:spPr>
          <a:xfrm>
            <a:off x="7949266" y="535429"/>
            <a:ext cx="3023533" cy="59834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Disco Máquina Virtual</a:t>
            </a:r>
          </a:p>
        </p:txBody>
      </p:sp>
      <p:sp>
        <p:nvSpPr>
          <p:cNvPr id="6" name="Elipse 5">
            <a:extLst>
              <a:ext uri="{FF2B5EF4-FFF2-40B4-BE49-F238E27FC236}">
                <a16:creationId xmlns:a16="http://schemas.microsoft.com/office/drawing/2014/main" id="{BC317A04-6311-44AD-8EBD-BEB1725500C1}"/>
              </a:ext>
            </a:extLst>
          </p:cNvPr>
          <p:cNvSpPr/>
          <p:nvPr/>
        </p:nvSpPr>
        <p:spPr>
          <a:xfrm>
            <a:off x="7874000" y="3561273"/>
            <a:ext cx="4322505" cy="869315"/>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 name="Conector de Seta Reta 6">
            <a:extLst>
              <a:ext uri="{FF2B5EF4-FFF2-40B4-BE49-F238E27FC236}">
                <a16:creationId xmlns:a16="http://schemas.microsoft.com/office/drawing/2014/main" id="{3067158D-0985-47E5-AF27-D11034D82D13}"/>
              </a:ext>
            </a:extLst>
          </p:cNvPr>
          <p:cNvCxnSpPr>
            <a:cxnSpLocks/>
            <a:stCxn id="5" idx="2"/>
            <a:endCxn id="6" idx="0"/>
          </p:cNvCxnSpPr>
          <p:nvPr/>
        </p:nvCxnSpPr>
        <p:spPr>
          <a:xfrm>
            <a:off x="9461033" y="1133776"/>
            <a:ext cx="574220" cy="2427497"/>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7" name="Retângulo 16">
            <a:extLst>
              <a:ext uri="{FF2B5EF4-FFF2-40B4-BE49-F238E27FC236}">
                <a16:creationId xmlns:a16="http://schemas.microsoft.com/office/drawing/2014/main" id="{D51F8B19-8CFA-4170-A297-A174133F919C}"/>
              </a:ext>
            </a:extLst>
          </p:cNvPr>
          <p:cNvSpPr/>
          <p:nvPr/>
        </p:nvSpPr>
        <p:spPr>
          <a:xfrm>
            <a:off x="671992" y="2037645"/>
            <a:ext cx="3023533" cy="59834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Discos existentes</a:t>
            </a:r>
          </a:p>
        </p:txBody>
      </p:sp>
      <p:sp>
        <p:nvSpPr>
          <p:cNvPr id="18" name="Elipse 17">
            <a:extLst>
              <a:ext uri="{FF2B5EF4-FFF2-40B4-BE49-F238E27FC236}">
                <a16:creationId xmlns:a16="http://schemas.microsoft.com/office/drawing/2014/main" id="{64835B1F-BE64-4F70-B728-C5AEDB15433E}"/>
              </a:ext>
            </a:extLst>
          </p:cNvPr>
          <p:cNvSpPr/>
          <p:nvPr/>
        </p:nvSpPr>
        <p:spPr>
          <a:xfrm>
            <a:off x="162462" y="5554389"/>
            <a:ext cx="9072978" cy="1148228"/>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9" name="Conector de Seta Reta 18">
            <a:extLst>
              <a:ext uri="{FF2B5EF4-FFF2-40B4-BE49-F238E27FC236}">
                <a16:creationId xmlns:a16="http://schemas.microsoft.com/office/drawing/2014/main" id="{75B387FA-F131-4EFE-A17B-4FF7A3AEB0ED}"/>
              </a:ext>
            </a:extLst>
          </p:cNvPr>
          <p:cNvCxnSpPr>
            <a:cxnSpLocks/>
            <a:stCxn id="17" idx="2"/>
            <a:endCxn id="18" idx="0"/>
          </p:cNvCxnSpPr>
          <p:nvPr/>
        </p:nvCxnSpPr>
        <p:spPr>
          <a:xfrm>
            <a:off x="2183759" y="2635992"/>
            <a:ext cx="2515192" cy="2918397"/>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48161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E687B0-5FF1-4DD2-A425-139503DA80B8}"/>
              </a:ext>
            </a:extLst>
          </p:cNvPr>
          <p:cNvSpPr>
            <a:spLocks noGrp="1"/>
          </p:cNvSpPr>
          <p:nvPr>
            <p:ph type="title"/>
          </p:nvPr>
        </p:nvSpPr>
        <p:spPr/>
        <p:txBody>
          <a:bodyPr/>
          <a:lstStyle/>
          <a:p>
            <a:r>
              <a:rPr lang="pt-BR" dirty="0"/>
              <a:t>Disk – Tipos – Máquinas Virtuais</a:t>
            </a:r>
          </a:p>
        </p:txBody>
      </p:sp>
      <p:sp>
        <p:nvSpPr>
          <p:cNvPr id="3" name="Espaço Reservado para Conteúdo 2">
            <a:extLst>
              <a:ext uri="{FF2B5EF4-FFF2-40B4-BE49-F238E27FC236}">
                <a16:creationId xmlns:a16="http://schemas.microsoft.com/office/drawing/2014/main" id="{9FDA6CA7-D446-4A1D-A35E-C5D99085BEB4}"/>
              </a:ext>
            </a:extLst>
          </p:cNvPr>
          <p:cNvSpPr>
            <a:spLocks noGrp="1"/>
          </p:cNvSpPr>
          <p:nvPr>
            <p:ph idx="1"/>
          </p:nvPr>
        </p:nvSpPr>
        <p:spPr/>
        <p:txBody>
          <a:bodyPr>
            <a:normAutofit/>
          </a:bodyPr>
          <a:lstStyle/>
          <a:p>
            <a:r>
              <a:rPr lang="pt-BR" dirty="0"/>
              <a:t>Três tipos de discos são usados com máquinas virtuais do Azure:</a:t>
            </a:r>
          </a:p>
          <a:p>
            <a:pPr lvl="1"/>
            <a:r>
              <a:rPr lang="pt-BR" b="1" dirty="0"/>
              <a:t>Disco do sistema operacional</a:t>
            </a:r>
            <a:r>
              <a:rPr lang="pt-BR" dirty="0"/>
              <a:t>: quando você cria uma VM do Azure, o Azure anexa automaticamente um VHD para o SO (sistema operacional).</a:t>
            </a:r>
          </a:p>
          <a:p>
            <a:pPr lvl="1"/>
            <a:r>
              <a:rPr lang="pt-BR" b="1" dirty="0"/>
              <a:t>Disco temporário</a:t>
            </a:r>
            <a:r>
              <a:rPr lang="pt-BR" dirty="0"/>
              <a:t>: quando você cria uma VM do Azure, o Azure adiciona automaticamente um disco temporário. Esse disco é usado para dados como arquivos de permuta e de página. Os dados nesse disco podem ser perdidos durante a manutenção ou ao reimplantar uma VM. Não use para armazenar dados permanentes, como arquivos de banco de dados ou logs de transações.</a:t>
            </a:r>
          </a:p>
          <a:p>
            <a:pPr lvl="1"/>
            <a:r>
              <a:rPr lang="pt-BR" b="1" dirty="0"/>
              <a:t>Discos de dados</a:t>
            </a:r>
            <a:r>
              <a:rPr lang="pt-BR" dirty="0"/>
              <a:t>: um disco de dados é um VHD anexado a uma máquina virtual para armazenar dados de aplicativos ou outros dados que precisam ser mantidos.</a:t>
            </a:r>
          </a:p>
          <a:p>
            <a:endParaRPr lang="pt-BR" dirty="0"/>
          </a:p>
          <a:p>
            <a:endParaRPr lang="pt-BR" dirty="0"/>
          </a:p>
          <a:p>
            <a:pPr lvl="1"/>
            <a:endParaRPr lang="pt-BR" dirty="0"/>
          </a:p>
        </p:txBody>
      </p:sp>
    </p:spTree>
    <p:extLst>
      <p:ext uri="{BB962C8B-B14F-4D97-AF65-F5344CB8AC3E}">
        <p14:creationId xmlns:p14="http://schemas.microsoft.com/office/powerpoint/2010/main" val="32081202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E687B0-5FF1-4DD2-A425-139503DA80B8}"/>
              </a:ext>
            </a:extLst>
          </p:cNvPr>
          <p:cNvSpPr>
            <a:spLocks noGrp="1"/>
          </p:cNvSpPr>
          <p:nvPr>
            <p:ph type="title"/>
          </p:nvPr>
        </p:nvSpPr>
        <p:spPr/>
        <p:txBody>
          <a:bodyPr/>
          <a:lstStyle/>
          <a:p>
            <a:r>
              <a:rPr lang="pt-BR" dirty="0"/>
              <a:t>Virtual </a:t>
            </a:r>
            <a:r>
              <a:rPr lang="pt-BR" dirty="0" err="1"/>
              <a:t>Machine</a:t>
            </a:r>
            <a:r>
              <a:rPr lang="pt-BR" dirty="0"/>
              <a:t> - Disk</a:t>
            </a:r>
          </a:p>
        </p:txBody>
      </p:sp>
      <p:sp>
        <p:nvSpPr>
          <p:cNvPr id="3" name="Espaço Reservado para Conteúdo 2">
            <a:extLst>
              <a:ext uri="{FF2B5EF4-FFF2-40B4-BE49-F238E27FC236}">
                <a16:creationId xmlns:a16="http://schemas.microsoft.com/office/drawing/2014/main" id="{9FDA6CA7-D446-4A1D-A35E-C5D99085BEB4}"/>
              </a:ext>
            </a:extLst>
          </p:cNvPr>
          <p:cNvSpPr>
            <a:spLocks noGrp="1"/>
          </p:cNvSpPr>
          <p:nvPr>
            <p:ph idx="1"/>
          </p:nvPr>
        </p:nvSpPr>
        <p:spPr/>
        <p:txBody>
          <a:bodyPr/>
          <a:lstStyle/>
          <a:p>
            <a:r>
              <a:rPr lang="pt-BR" dirty="0"/>
              <a:t>O que é IOPS.</a:t>
            </a:r>
          </a:p>
          <a:p>
            <a:pPr lvl="1"/>
            <a:r>
              <a:rPr lang="pt-BR" dirty="0"/>
              <a:t>É o número de solicitações que podem ser processadas pelo disco em um segundo. Uma única solicitação é uma operação de leitura ou gravação</a:t>
            </a:r>
          </a:p>
          <a:p>
            <a:r>
              <a:rPr lang="pt-BR" dirty="0"/>
              <a:t>O que é Taxa de Transferência (largura de banda, </a:t>
            </a:r>
            <a:r>
              <a:rPr lang="pt-BR" dirty="0" err="1"/>
              <a:t>throughput</a:t>
            </a:r>
            <a:r>
              <a:rPr lang="pt-BR" dirty="0"/>
              <a:t>) </a:t>
            </a:r>
          </a:p>
          <a:p>
            <a:pPr lvl="1"/>
            <a:r>
              <a:rPr lang="pt-BR" dirty="0"/>
              <a:t>É o volume de dados que o aplicativo envia aos discos de armazenamento em um intervalo especificado (geralmente, por segundo)</a:t>
            </a:r>
          </a:p>
          <a:p>
            <a:r>
              <a:rPr lang="pt-BR" dirty="0"/>
              <a:t>O que é Latência.</a:t>
            </a:r>
          </a:p>
          <a:p>
            <a:pPr lvl="1"/>
            <a:r>
              <a:rPr lang="pt-BR" dirty="0"/>
              <a:t>É o tempo que seu aplicativo leva para enviar uma solicitação e obter uma resposta</a:t>
            </a:r>
          </a:p>
        </p:txBody>
      </p:sp>
    </p:spTree>
    <p:extLst>
      <p:ext uri="{BB962C8B-B14F-4D97-AF65-F5344CB8AC3E}">
        <p14:creationId xmlns:p14="http://schemas.microsoft.com/office/powerpoint/2010/main" val="25485009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951437-0577-4E14-A892-807E26F15DD7}"/>
              </a:ext>
            </a:extLst>
          </p:cNvPr>
          <p:cNvSpPr>
            <a:spLocks noGrp="1"/>
          </p:cNvSpPr>
          <p:nvPr>
            <p:ph type="title"/>
          </p:nvPr>
        </p:nvSpPr>
        <p:spPr/>
        <p:txBody>
          <a:bodyPr/>
          <a:lstStyle/>
          <a:p>
            <a:r>
              <a:rPr lang="pt-BR" dirty="0"/>
              <a:t>Disco Virtual </a:t>
            </a:r>
            <a:r>
              <a:rPr lang="pt-BR" dirty="0" err="1"/>
              <a:t>Machine</a:t>
            </a:r>
            <a:endParaRPr lang="pt-BR" dirty="0"/>
          </a:p>
        </p:txBody>
      </p:sp>
      <p:pic>
        <p:nvPicPr>
          <p:cNvPr id="3" name="Imagem 2">
            <a:extLst>
              <a:ext uri="{FF2B5EF4-FFF2-40B4-BE49-F238E27FC236}">
                <a16:creationId xmlns:a16="http://schemas.microsoft.com/office/drawing/2014/main" id="{8736442B-88E3-42A7-8575-4A798134305F}"/>
              </a:ext>
            </a:extLst>
          </p:cNvPr>
          <p:cNvPicPr>
            <a:picLocks noChangeAspect="1"/>
          </p:cNvPicPr>
          <p:nvPr/>
        </p:nvPicPr>
        <p:blipFill>
          <a:blip r:embed="rId2"/>
          <a:stretch>
            <a:fillRect/>
          </a:stretch>
        </p:blipFill>
        <p:spPr>
          <a:xfrm>
            <a:off x="6431280" y="54928"/>
            <a:ext cx="5635693" cy="4301860"/>
          </a:xfrm>
          <a:prstGeom prst="rect">
            <a:avLst/>
          </a:prstGeom>
        </p:spPr>
      </p:pic>
      <p:pic>
        <p:nvPicPr>
          <p:cNvPr id="8" name="Imagem 7">
            <a:extLst>
              <a:ext uri="{FF2B5EF4-FFF2-40B4-BE49-F238E27FC236}">
                <a16:creationId xmlns:a16="http://schemas.microsoft.com/office/drawing/2014/main" id="{5CFC3567-004B-433F-AB33-AD8DE81CF36F}"/>
              </a:ext>
            </a:extLst>
          </p:cNvPr>
          <p:cNvPicPr>
            <a:picLocks noChangeAspect="1"/>
          </p:cNvPicPr>
          <p:nvPr/>
        </p:nvPicPr>
        <p:blipFill>
          <a:blip r:embed="rId3"/>
          <a:stretch>
            <a:fillRect/>
          </a:stretch>
        </p:blipFill>
        <p:spPr>
          <a:xfrm>
            <a:off x="198293" y="1452880"/>
            <a:ext cx="6232987" cy="3738880"/>
          </a:xfrm>
          <a:prstGeom prst="rect">
            <a:avLst/>
          </a:prstGeom>
        </p:spPr>
      </p:pic>
      <p:pic>
        <p:nvPicPr>
          <p:cNvPr id="9" name="Imagem 8">
            <a:extLst>
              <a:ext uri="{FF2B5EF4-FFF2-40B4-BE49-F238E27FC236}">
                <a16:creationId xmlns:a16="http://schemas.microsoft.com/office/drawing/2014/main" id="{C6324644-3137-4361-8328-F431CBBA8E11}"/>
              </a:ext>
            </a:extLst>
          </p:cNvPr>
          <p:cNvPicPr>
            <a:picLocks noChangeAspect="1"/>
          </p:cNvPicPr>
          <p:nvPr/>
        </p:nvPicPr>
        <p:blipFill>
          <a:blip r:embed="rId4"/>
          <a:stretch>
            <a:fillRect/>
          </a:stretch>
        </p:blipFill>
        <p:spPr>
          <a:xfrm>
            <a:off x="1767840" y="4777324"/>
            <a:ext cx="10424160" cy="2025748"/>
          </a:xfrm>
          <a:prstGeom prst="rect">
            <a:avLst/>
          </a:prstGeom>
        </p:spPr>
      </p:pic>
      <p:sp>
        <p:nvSpPr>
          <p:cNvPr id="14" name="Retângulo 13">
            <a:extLst>
              <a:ext uri="{FF2B5EF4-FFF2-40B4-BE49-F238E27FC236}">
                <a16:creationId xmlns:a16="http://schemas.microsoft.com/office/drawing/2014/main" id="{778E2AB0-A0ED-48E2-8FBD-BE3CD131946B}"/>
              </a:ext>
            </a:extLst>
          </p:cNvPr>
          <p:cNvSpPr/>
          <p:nvPr/>
        </p:nvSpPr>
        <p:spPr>
          <a:xfrm>
            <a:off x="7509672" y="4121070"/>
            <a:ext cx="3023533" cy="59834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Discos existentes</a:t>
            </a:r>
          </a:p>
        </p:txBody>
      </p:sp>
      <p:sp>
        <p:nvSpPr>
          <p:cNvPr id="15" name="Elipse 14">
            <a:extLst>
              <a:ext uri="{FF2B5EF4-FFF2-40B4-BE49-F238E27FC236}">
                <a16:creationId xmlns:a16="http://schemas.microsoft.com/office/drawing/2014/main" id="{C848414F-D4EA-4AF8-A5BA-8537529B2F3E}"/>
              </a:ext>
            </a:extLst>
          </p:cNvPr>
          <p:cNvSpPr/>
          <p:nvPr/>
        </p:nvSpPr>
        <p:spPr>
          <a:xfrm>
            <a:off x="1208941" y="5175858"/>
            <a:ext cx="10642525" cy="1611312"/>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0" name="Conector de Seta Reta 19">
            <a:extLst>
              <a:ext uri="{FF2B5EF4-FFF2-40B4-BE49-F238E27FC236}">
                <a16:creationId xmlns:a16="http://schemas.microsoft.com/office/drawing/2014/main" id="{814B76F4-25FE-4D46-8E54-73E1983BC84C}"/>
              </a:ext>
            </a:extLst>
          </p:cNvPr>
          <p:cNvCxnSpPr>
            <a:cxnSpLocks/>
            <a:stCxn id="14" idx="2"/>
            <a:endCxn id="15" idx="0"/>
          </p:cNvCxnSpPr>
          <p:nvPr/>
        </p:nvCxnSpPr>
        <p:spPr>
          <a:xfrm flipH="1">
            <a:off x="6530204" y="4719417"/>
            <a:ext cx="2491235" cy="456441"/>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2019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CC42A6-551A-4BD2-BEBE-5AC270A0915F}"/>
              </a:ext>
            </a:extLst>
          </p:cNvPr>
          <p:cNvSpPr>
            <a:spLocks noGrp="1"/>
          </p:cNvSpPr>
          <p:nvPr>
            <p:ph type="title"/>
          </p:nvPr>
        </p:nvSpPr>
        <p:spPr/>
        <p:txBody>
          <a:bodyPr/>
          <a:lstStyle/>
          <a:p>
            <a:r>
              <a:rPr lang="pt-BR" dirty="0"/>
              <a:t>Disco Virtual </a:t>
            </a:r>
            <a:r>
              <a:rPr lang="pt-BR" dirty="0" err="1"/>
              <a:t>Machine</a:t>
            </a:r>
            <a:endParaRPr lang="pt-BR" dirty="0"/>
          </a:p>
        </p:txBody>
      </p:sp>
      <p:pic>
        <p:nvPicPr>
          <p:cNvPr id="4" name="Imagem 3">
            <a:extLst>
              <a:ext uri="{FF2B5EF4-FFF2-40B4-BE49-F238E27FC236}">
                <a16:creationId xmlns:a16="http://schemas.microsoft.com/office/drawing/2014/main" id="{1ED021F7-4FFB-4C1B-ACB8-CFC4B3ECF7A8}"/>
              </a:ext>
            </a:extLst>
          </p:cNvPr>
          <p:cNvPicPr>
            <a:picLocks noChangeAspect="1"/>
          </p:cNvPicPr>
          <p:nvPr/>
        </p:nvPicPr>
        <p:blipFill>
          <a:blip r:embed="rId2"/>
          <a:stretch>
            <a:fillRect/>
          </a:stretch>
        </p:blipFill>
        <p:spPr>
          <a:xfrm>
            <a:off x="0" y="1319916"/>
            <a:ext cx="7721600" cy="3962205"/>
          </a:xfrm>
          <a:prstGeom prst="rect">
            <a:avLst/>
          </a:prstGeom>
        </p:spPr>
      </p:pic>
      <p:sp>
        <p:nvSpPr>
          <p:cNvPr id="5" name="Retângulo 4">
            <a:extLst>
              <a:ext uri="{FF2B5EF4-FFF2-40B4-BE49-F238E27FC236}">
                <a16:creationId xmlns:a16="http://schemas.microsoft.com/office/drawing/2014/main" id="{0AFEF921-FAF1-4E07-AA72-3CE506E200E7}"/>
              </a:ext>
            </a:extLst>
          </p:cNvPr>
          <p:cNvSpPr/>
          <p:nvPr/>
        </p:nvSpPr>
        <p:spPr>
          <a:xfrm>
            <a:off x="3916783" y="2540408"/>
            <a:ext cx="3023533" cy="59834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Adiciona novo Disco na Máquina Virtual</a:t>
            </a:r>
          </a:p>
        </p:txBody>
      </p:sp>
      <p:sp>
        <p:nvSpPr>
          <p:cNvPr id="6" name="Elipse 5">
            <a:extLst>
              <a:ext uri="{FF2B5EF4-FFF2-40B4-BE49-F238E27FC236}">
                <a16:creationId xmlns:a16="http://schemas.microsoft.com/office/drawing/2014/main" id="{4D2F6D13-033C-4C58-93AC-4BF0A02C1640}"/>
              </a:ext>
            </a:extLst>
          </p:cNvPr>
          <p:cNvSpPr/>
          <p:nvPr/>
        </p:nvSpPr>
        <p:spPr>
          <a:xfrm>
            <a:off x="2082800" y="4813878"/>
            <a:ext cx="2225040" cy="546099"/>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 name="Conector de Seta Reta 6">
            <a:extLst>
              <a:ext uri="{FF2B5EF4-FFF2-40B4-BE49-F238E27FC236}">
                <a16:creationId xmlns:a16="http://schemas.microsoft.com/office/drawing/2014/main" id="{9F2D9463-16A7-4149-9AF0-6EDCDC0E0D31}"/>
              </a:ext>
            </a:extLst>
          </p:cNvPr>
          <p:cNvCxnSpPr>
            <a:cxnSpLocks/>
            <a:stCxn id="5" idx="2"/>
            <a:endCxn id="6" idx="6"/>
          </p:cNvCxnSpPr>
          <p:nvPr/>
        </p:nvCxnSpPr>
        <p:spPr>
          <a:xfrm flipH="1">
            <a:off x="4307840" y="3138755"/>
            <a:ext cx="1120710" cy="1948173"/>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8" name="Retângulo 7">
            <a:extLst>
              <a:ext uri="{FF2B5EF4-FFF2-40B4-BE49-F238E27FC236}">
                <a16:creationId xmlns:a16="http://schemas.microsoft.com/office/drawing/2014/main" id="{7B35E1D4-3B22-46B0-BFD6-B8E872C01500}"/>
              </a:ext>
            </a:extLst>
          </p:cNvPr>
          <p:cNvSpPr/>
          <p:nvPr/>
        </p:nvSpPr>
        <p:spPr>
          <a:xfrm>
            <a:off x="4378025" y="1343714"/>
            <a:ext cx="3023533" cy="59834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Salva alterações no Disco da Máquina Virtual</a:t>
            </a:r>
          </a:p>
        </p:txBody>
      </p:sp>
      <p:sp>
        <p:nvSpPr>
          <p:cNvPr id="9" name="Elipse 8">
            <a:extLst>
              <a:ext uri="{FF2B5EF4-FFF2-40B4-BE49-F238E27FC236}">
                <a16:creationId xmlns:a16="http://schemas.microsoft.com/office/drawing/2014/main" id="{61FCA7C6-E34E-4AB3-9BA9-6C75A7D82D16}"/>
              </a:ext>
            </a:extLst>
          </p:cNvPr>
          <p:cNvSpPr/>
          <p:nvPr/>
        </p:nvSpPr>
        <p:spPr>
          <a:xfrm>
            <a:off x="1981200" y="1727200"/>
            <a:ext cx="924560" cy="547104"/>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 name="Conector de Seta Reta 9">
            <a:extLst>
              <a:ext uri="{FF2B5EF4-FFF2-40B4-BE49-F238E27FC236}">
                <a16:creationId xmlns:a16="http://schemas.microsoft.com/office/drawing/2014/main" id="{62F341E7-69CB-41FC-9E16-BBC63ECF6C1E}"/>
              </a:ext>
            </a:extLst>
          </p:cNvPr>
          <p:cNvCxnSpPr>
            <a:cxnSpLocks/>
            <a:stCxn id="8" idx="1"/>
            <a:endCxn id="9" idx="6"/>
          </p:cNvCxnSpPr>
          <p:nvPr/>
        </p:nvCxnSpPr>
        <p:spPr>
          <a:xfrm flipH="1">
            <a:off x="2905760" y="1642888"/>
            <a:ext cx="1472265" cy="357864"/>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pic>
        <p:nvPicPr>
          <p:cNvPr id="27" name="Imagem 26">
            <a:extLst>
              <a:ext uri="{FF2B5EF4-FFF2-40B4-BE49-F238E27FC236}">
                <a16:creationId xmlns:a16="http://schemas.microsoft.com/office/drawing/2014/main" id="{FCC57C8A-A57B-4B5E-A0E3-9499AA23923B}"/>
              </a:ext>
            </a:extLst>
          </p:cNvPr>
          <p:cNvPicPr>
            <a:picLocks noChangeAspect="1"/>
          </p:cNvPicPr>
          <p:nvPr/>
        </p:nvPicPr>
        <p:blipFill>
          <a:blip r:embed="rId3"/>
          <a:stretch>
            <a:fillRect/>
          </a:stretch>
        </p:blipFill>
        <p:spPr>
          <a:xfrm>
            <a:off x="7653590" y="0"/>
            <a:ext cx="4517558" cy="4978400"/>
          </a:xfrm>
          <a:prstGeom prst="rect">
            <a:avLst/>
          </a:prstGeom>
        </p:spPr>
      </p:pic>
      <p:pic>
        <p:nvPicPr>
          <p:cNvPr id="37" name="Imagem 36">
            <a:extLst>
              <a:ext uri="{FF2B5EF4-FFF2-40B4-BE49-F238E27FC236}">
                <a16:creationId xmlns:a16="http://schemas.microsoft.com/office/drawing/2014/main" id="{8E0FB70A-8460-4736-B15D-131A4ECE575D}"/>
              </a:ext>
            </a:extLst>
          </p:cNvPr>
          <p:cNvPicPr>
            <a:picLocks noChangeAspect="1"/>
          </p:cNvPicPr>
          <p:nvPr/>
        </p:nvPicPr>
        <p:blipFill>
          <a:blip r:embed="rId4"/>
          <a:stretch>
            <a:fillRect/>
          </a:stretch>
        </p:blipFill>
        <p:spPr>
          <a:xfrm>
            <a:off x="4715780" y="4836739"/>
            <a:ext cx="7455368" cy="2021261"/>
          </a:xfrm>
          <a:prstGeom prst="rect">
            <a:avLst/>
          </a:prstGeom>
        </p:spPr>
      </p:pic>
    </p:spTree>
    <p:extLst>
      <p:ext uri="{BB962C8B-B14F-4D97-AF65-F5344CB8AC3E}">
        <p14:creationId xmlns:p14="http://schemas.microsoft.com/office/powerpoint/2010/main" val="37257300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8" name="Picture 6" descr="Resultado de imagem para memória ram">
            <a:extLst>
              <a:ext uri="{FF2B5EF4-FFF2-40B4-BE49-F238E27FC236}">
                <a16:creationId xmlns:a16="http://schemas.microsoft.com/office/drawing/2014/main" id="{E6B97086-1EC2-4A68-A0A0-3C7AB23479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340" y="1453223"/>
            <a:ext cx="2069306" cy="206930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sultado de imagem para processador registradores">
            <a:extLst>
              <a:ext uri="{FF2B5EF4-FFF2-40B4-BE49-F238E27FC236}">
                <a16:creationId xmlns:a16="http://schemas.microsoft.com/office/drawing/2014/main" id="{AF04C95A-9ACB-41EA-BFF5-FA4AFC21F6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9" y="1070572"/>
            <a:ext cx="2325156" cy="174386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3EE687B0-5FF1-4DD2-A425-139503DA80B8}"/>
              </a:ext>
            </a:extLst>
          </p:cNvPr>
          <p:cNvSpPr>
            <a:spLocks noGrp="1"/>
          </p:cNvSpPr>
          <p:nvPr>
            <p:ph type="title"/>
          </p:nvPr>
        </p:nvSpPr>
        <p:spPr>
          <a:xfrm>
            <a:off x="236549" y="225837"/>
            <a:ext cx="10515600" cy="729996"/>
          </a:xfrm>
        </p:spPr>
        <p:txBody>
          <a:bodyPr/>
          <a:lstStyle/>
          <a:p>
            <a:r>
              <a:rPr lang="pt-BR" dirty="0" err="1"/>
              <a:t>Caching</a:t>
            </a:r>
            <a:r>
              <a:rPr lang="pt-BR" dirty="0"/>
              <a:t> - Buffer</a:t>
            </a:r>
          </a:p>
        </p:txBody>
      </p:sp>
      <p:sp>
        <p:nvSpPr>
          <p:cNvPr id="6" name="Retângulo: Cantos Arredondados 5">
            <a:extLst>
              <a:ext uri="{FF2B5EF4-FFF2-40B4-BE49-F238E27FC236}">
                <a16:creationId xmlns:a16="http://schemas.microsoft.com/office/drawing/2014/main" id="{37813EF2-1BB6-4B23-B2EF-72AD14FEF90D}"/>
              </a:ext>
            </a:extLst>
          </p:cNvPr>
          <p:cNvSpPr/>
          <p:nvPr/>
        </p:nvSpPr>
        <p:spPr>
          <a:xfrm>
            <a:off x="170695" y="2092528"/>
            <a:ext cx="2174231" cy="4169993"/>
          </a:xfrm>
          <a:custGeom>
            <a:avLst/>
            <a:gdLst>
              <a:gd name="connsiteX0" fmla="*/ 0 w 7161495"/>
              <a:gd name="connsiteY0" fmla="*/ 136186 h 817100"/>
              <a:gd name="connsiteX1" fmla="*/ 136186 w 7161495"/>
              <a:gd name="connsiteY1" fmla="*/ 0 h 817100"/>
              <a:gd name="connsiteX2" fmla="*/ 7025309 w 7161495"/>
              <a:gd name="connsiteY2" fmla="*/ 0 h 817100"/>
              <a:gd name="connsiteX3" fmla="*/ 7161495 w 7161495"/>
              <a:gd name="connsiteY3" fmla="*/ 136186 h 817100"/>
              <a:gd name="connsiteX4" fmla="*/ 7161495 w 7161495"/>
              <a:gd name="connsiteY4" fmla="*/ 680914 h 817100"/>
              <a:gd name="connsiteX5" fmla="*/ 7025309 w 7161495"/>
              <a:gd name="connsiteY5" fmla="*/ 817100 h 817100"/>
              <a:gd name="connsiteX6" fmla="*/ 136186 w 7161495"/>
              <a:gd name="connsiteY6" fmla="*/ 817100 h 817100"/>
              <a:gd name="connsiteX7" fmla="*/ 0 w 7161495"/>
              <a:gd name="connsiteY7" fmla="*/ 680914 h 817100"/>
              <a:gd name="connsiteX8" fmla="*/ 0 w 7161495"/>
              <a:gd name="connsiteY8" fmla="*/ 136186 h 817100"/>
              <a:gd name="connsiteX0" fmla="*/ 0 w 7161495"/>
              <a:gd name="connsiteY0" fmla="*/ 136186 h 831725"/>
              <a:gd name="connsiteX1" fmla="*/ 136186 w 7161495"/>
              <a:gd name="connsiteY1" fmla="*/ 0 h 831725"/>
              <a:gd name="connsiteX2" fmla="*/ 7025309 w 7161495"/>
              <a:gd name="connsiteY2" fmla="*/ 0 h 831725"/>
              <a:gd name="connsiteX3" fmla="*/ 7161495 w 7161495"/>
              <a:gd name="connsiteY3" fmla="*/ 136186 h 831725"/>
              <a:gd name="connsiteX4" fmla="*/ 7161495 w 7161495"/>
              <a:gd name="connsiteY4" fmla="*/ 680914 h 831725"/>
              <a:gd name="connsiteX5" fmla="*/ 7025309 w 7161495"/>
              <a:gd name="connsiteY5" fmla="*/ 817100 h 831725"/>
              <a:gd name="connsiteX6" fmla="*/ 4673788 w 7161495"/>
              <a:gd name="connsiteY6" fmla="*/ 831725 h 831725"/>
              <a:gd name="connsiteX7" fmla="*/ 136186 w 7161495"/>
              <a:gd name="connsiteY7" fmla="*/ 817100 h 831725"/>
              <a:gd name="connsiteX8" fmla="*/ 0 w 7161495"/>
              <a:gd name="connsiteY8" fmla="*/ 680914 h 831725"/>
              <a:gd name="connsiteX9" fmla="*/ 0 w 7161495"/>
              <a:gd name="connsiteY9" fmla="*/ 136186 h 831725"/>
              <a:gd name="connsiteX0" fmla="*/ 0 w 7161495"/>
              <a:gd name="connsiteY0" fmla="*/ 136186 h 831725"/>
              <a:gd name="connsiteX1" fmla="*/ 136186 w 7161495"/>
              <a:gd name="connsiteY1" fmla="*/ 0 h 831725"/>
              <a:gd name="connsiteX2" fmla="*/ 7025309 w 7161495"/>
              <a:gd name="connsiteY2" fmla="*/ 0 h 831725"/>
              <a:gd name="connsiteX3" fmla="*/ 7161495 w 7161495"/>
              <a:gd name="connsiteY3" fmla="*/ 136186 h 831725"/>
              <a:gd name="connsiteX4" fmla="*/ 7161495 w 7161495"/>
              <a:gd name="connsiteY4" fmla="*/ 680914 h 831725"/>
              <a:gd name="connsiteX5" fmla="*/ 7025309 w 7161495"/>
              <a:gd name="connsiteY5" fmla="*/ 817100 h 831725"/>
              <a:gd name="connsiteX6" fmla="*/ 4673788 w 7161495"/>
              <a:gd name="connsiteY6" fmla="*/ 831725 h 831725"/>
              <a:gd name="connsiteX7" fmla="*/ 1646108 w 7161495"/>
              <a:gd name="connsiteY7" fmla="*/ 831725 h 831725"/>
              <a:gd name="connsiteX8" fmla="*/ 136186 w 7161495"/>
              <a:gd name="connsiteY8" fmla="*/ 817100 h 831725"/>
              <a:gd name="connsiteX9" fmla="*/ 0 w 7161495"/>
              <a:gd name="connsiteY9" fmla="*/ 680914 h 831725"/>
              <a:gd name="connsiteX10" fmla="*/ 0 w 7161495"/>
              <a:gd name="connsiteY10" fmla="*/ 136186 h 831725"/>
              <a:gd name="connsiteX0" fmla="*/ 0 w 7195107"/>
              <a:gd name="connsiteY0" fmla="*/ 136186 h 831725"/>
              <a:gd name="connsiteX1" fmla="*/ 136186 w 7195107"/>
              <a:gd name="connsiteY1" fmla="*/ 0 h 831725"/>
              <a:gd name="connsiteX2" fmla="*/ 7025309 w 7195107"/>
              <a:gd name="connsiteY2" fmla="*/ 0 h 831725"/>
              <a:gd name="connsiteX3" fmla="*/ 7161495 w 7195107"/>
              <a:gd name="connsiteY3" fmla="*/ 136186 h 831725"/>
              <a:gd name="connsiteX4" fmla="*/ 7195107 w 7195107"/>
              <a:gd name="connsiteY4" fmla="*/ 404880 h 831725"/>
              <a:gd name="connsiteX5" fmla="*/ 7161495 w 7195107"/>
              <a:gd name="connsiteY5" fmla="*/ 680914 h 831725"/>
              <a:gd name="connsiteX6" fmla="*/ 7025309 w 7195107"/>
              <a:gd name="connsiteY6" fmla="*/ 817100 h 831725"/>
              <a:gd name="connsiteX7" fmla="*/ 4673788 w 7195107"/>
              <a:gd name="connsiteY7" fmla="*/ 831725 h 831725"/>
              <a:gd name="connsiteX8" fmla="*/ 1646108 w 7195107"/>
              <a:gd name="connsiteY8" fmla="*/ 831725 h 831725"/>
              <a:gd name="connsiteX9" fmla="*/ 136186 w 7195107"/>
              <a:gd name="connsiteY9" fmla="*/ 817100 h 831725"/>
              <a:gd name="connsiteX10" fmla="*/ 0 w 7195107"/>
              <a:gd name="connsiteY10" fmla="*/ 680914 h 831725"/>
              <a:gd name="connsiteX11" fmla="*/ 0 w 7195107"/>
              <a:gd name="connsiteY11" fmla="*/ 136186 h 83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95107" h="831725">
                <a:moveTo>
                  <a:pt x="0" y="136186"/>
                </a:moveTo>
                <a:cubicBezTo>
                  <a:pt x="0" y="60973"/>
                  <a:pt x="60973" y="0"/>
                  <a:pt x="136186" y="0"/>
                </a:cubicBezTo>
                <a:lnTo>
                  <a:pt x="7025309" y="0"/>
                </a:lnTo>
                <a:cubicBezTo>
                  <a:pt x="7100522" y="0"/>
                  <a:pt x="7161495" y="60973"/>
                  <a:pt x="7161495" y="136186"/>
                </a:cubicBezTo>
                <a:lnTo>
                  <a:pt x="7195107" y="404880"/>
                </a:lnTo>
                <a:lnTo>
                  <a:pt x="7161495" y="680914"/>
                </a:lnTo>
                <a:cubicBezTo>
                  <a:pt x="7161495" y="756127"/>
                  <a:pt x="7100522" y="817100"/>
                  <a:pt x="7025309" y="817100"/>
                </a:cubicBezTo>
                <a:lnTo>
                  <a:pt x="4673788" y="831725"/>
                </a:lnTo>
                <a:lnTo>
                  <a:pt x="1646108" y="831725"/>
                </a:lnTo>
                <a:lnTo>
                  <a:pt x="136186" y="817100"/>
                </a:lnTo>
                <a:cubicBezTo>
                  <a:pt x="60973" y="817100"/>
                  <a:pt x="0" y="756127"/>
                  <a:pt x="0" y="680914"/>
                </a:cubicBezTo>
                <a:lnTo>
                  <a:pt x="0" y="136186"/>
                </a:lnTo>
                <a:close/>
              </a:path>
            </a:pathLst>
          </a:cu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800" dirty="0">
                <a:solidFill>
                  <a:schemeClr val="tx1">
                    <a:lumMod val="95000"/>
                    <a:lumOff val="5000"/>
                  </a:schemeClr>
                </a:solidFill>
              </a:rPr>
              <a:t>Processador de Consultas</a:t>
            </a:r>
          </a:p>
        </p:txBody>
      </p:sp>
      <p:cxnSp>
        <p:nvCxnSpPr>
          <p:cNvPr id="9" name="Conector de Seta Reta 8">
            <a:extLst>
              <a:ext uri="{FF2B5EF4-FFF2-40B4-BE49-F238E27FC236}">
                <a16:creationId xmlns:a16="http://schemas.microsoft.com/office/drawing/2014/main" id="{E8E92FB4-94F3-4ACF-9BC6-0BB462836EA5}"/>
              </a:ext>
            </a:extLst>
          </p:cNvPr>
          <p:cNvCxnSpPr>
            <a:cxnSpLocks/>
            <a:stCxn id="67" idx="6"/>
            <a:endCxn id="97" idx="11"/>
          </p:cNvCxnSpPr>
          <p:nvPr/>
        </p:nvCxnSpPr>
        <p:spPr>
          <a:xfrm flipV="1">
            <a:off x="6963350" y="3769360"/>
            <a:ext cx="2536250" cy="14479"/>
          </a:xfrm>
          <a:prstGeom prst="straightConnector1">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Retângulo: Cantos Arredondados 5">
            <a:extLst>
              <a:ext uri="{FF2B5EF4-FFF2-40B4-BE49-F238E27FC236}">
                <a16:creationId xmlns:a16="http://schemas.microsoft.com/office/drawing/2014/main" id="{5D85BFA3-CFF8-48F8-9EB1-5BAC53AA74E3}"/>
              </a:ext>
            </a:extLst>
          </p:cNvPr>
          <p:cNvSpPr/>
          <p:nvPr/>
        </p:nvSpPr>
        <p:spPr>
          <a:xfrm>
            <a:off x="2961007" y="3874735"/>
            <a:ext cx="1483402" cy="526805"/>
          </a:xfrm>
          <a:custGeom>
            <a:avLst/>
            <a:gdLst>
              <a:gd name="connsiteX0" fmla="*/ 0 w 7161495"/>
              <a:gd name="connsiteY0" fmla="*/ 136186 h 817100"/>
              <a:gd name="connsiteX1" fmla="*/ 136186 w 7161495"/>
              <a:gd name="connsiteY1" fmla="*/ 0 h 817100"/>
              <a:gd name="connsiteX2" fmla="*/ 7025309 w 7161495"/>
              <a:gd name="connsiteY2" fmla="*/ 0 h 817100"/>
              <a:gd name="connsiteX3" fmla="*/ 7161495 w 7161495"/>
              <a:gd name="connsiteY3" fmla="*/ 136186 h 817100"/>
              <a:gd name="connsiteX4" fmla="*/ 7161495 w 7161495"/>
              <a:gd name="connsiteY4" fmla="*/ 680914 h 817100"/>
              <a:gd name="connsiteX5" fmla="*/ 7025309 w 7161495"/>
              <a:gd name="connsiteY5" fmla="*/ 817100 h 817100"/>
              <a:gd name="connsiteX6" fmla="*/ 136186 w 7161495"/>
              <a:gd name="connsiteY6" fmla="*/ 817100 h 817100"/>
              <a:gd name="connsiteX7" fmla="*/ 0 w 7161495"/>
              <a:gd name="connsiteY7" fmla="*/ 680914 h 817100"/>
              <a:gd name="connsiteX8" fmla="*/ 0 w 7161495"/>
              <a:gd name="connsiteY8" fmla="*/ 136186 h 817100"/>
              <a:gd name="connsiteX0" fmla="*/ 0 w 7161495"/>
              <a:gd name="connsiteY0" fmla="*/ 136186 h 831725"/>
              <a:gd name="connsiteX1" fmla="*/ 136186 w 7161495"/>
              <a:gd name="connsiteY1" fmla="*/ 0 h 831725"/>
              <a:gd name="connsiteX2" fmla="*/ 7025309 w 7161495"/>
              <a:gd name="connsiteY2" fmla="*/ 0 h 831725"/>
              <a:gd name="connsiteX3" fmla="*/ 7161495 w 7161495"/>
              <a:gd name="connsiteY3" fmla="*/ 136186 h 831725"/>
              <a:gd name="connsiteX4" fmla="*/ 7161495 w 7161495"/>
              <a:gd name="connsiteY4" fmla="*/ 680914 h 831725"/>
              <a:gd name="connsiteX5" fmla="*/ 7025309 w 7161495"/>
              <a:gd name="connsiteY5" fmla="*/ 817100 h 831725"/>
              <a:gd name="connsiteX6" fmla="*/ 4673788 w 7161495"/>
              <a:gd name="connsiteY6" fmla="*/ 831725 h 831725"/>
              <a:gd name="connsiteX7" fmla="*/ 136186 w 7161495"/>
              <a:gd name="connsiteY7" fmla="*/ 817100 h 831725"/>
              <a:gd name="connsiteX8" fmla="*/ 0 w 7161495"/>
              <a:gd name="connsiteY8" fmla="*/ 680914 h 831725"/>
              <a:gd name="connsiteX9" fmla="*/ 0 w 7161495"/>
              <a:gd name="connsiteY9" fmla="*/ 136186 h 831725"/>
              <a:gd name="connsiteX0" fmla="*/ 0 w 7161495"/>
              <a:gd name="connsiteY0" fmla="*/ 137582 h 833121"/>
              <a:gd name="connsiteX1" fmla="*/ 136186 w 7161495"/>
              <a:gd name="connsiteY1" fmla="*/ 1396 h 833121"/>
              <a:gd name="connsiteX2" fmla="*/ 4511229 w 7161495"/>
              <a:gd name="connsiteY2" fmla="*/ 0 h 833121"/>
              <a:gd name="connsiteX3" fmla="*/ 7025309 w 7161495"/>
              <a:gd name="connsiteY3" fmla="*/ 1396 h 833121"/>
              <a:gd name="connsiteX4" fmla="*/ 7161495 w 7161495"/>
              <a:gd name="connsiteY4" fmla="*/ 137582 h 833121"/>
              <a:gd name="connsiteX5" fmla="*/ 7161495 w 7161495"/>
              <a:gd name="connsiteY5" fmla="*/ 682310 h 833121"/>
              <a:gd name="connsiteX6" fmla="*/ 7025309 w 7161495"/>
              <a:gd name="connsiteY6" fmla="*/ 818496 h 833121"/>
              <a:gd name="connsiteX7" fmla="*/ 4673788 w 7161495"/>
              <a:gd name="connsiteY7" fmla="*/ 833121 h 833121"/>
              <a:gd name="connsiteX8" fmla="*/ 136186 w 7161495"/>
              <a:gd name="connsiteY8" fmla="*/ 818496 h 833121"/>
              <a:gd name="connsiteX9" fmla="*/ 0 w 7161495"/>
              <a:gd name="connsiteY9" fmla="*/ 682310 h 833121"/>
              <a:gd name="connsiteX10" fmla="*/ 0 w 7161495"/>
              <a:gd name="connsiteY10" fmla="*/ 137582 h 833121"/>
              <a:gd name="connsiteX0" fmla="*/ 0 w 7161495"/>
              <a:gd name="connsiteY0" fmla="*/ 137582 h 833121"/>
              <a:gd name="connsiteX1" fmla="*/ 136186 w 7161495"/>
              <a:gd name="connsiteY1" fmla="*/ 1396 h 833121"/>
              <a:gd name="connsiteX2" fmla="*/ 1473389 w 7161495"/>
              <a:gd name="connsiteY2" fmla="*/ 0 h 833121"/>
              <a:gd name="connsiteX3" fmla="*/ 4511229 w 7161495"/>
              <a:gd name="connsiteY3" fmla="*/ 0 h 833121"/>
              <a:gd name="connsiteX4" fmla="*/ 7025309 w 7161495"/>
              <a:gd name="connsiteY4" fmla="*/ 1396 h 833121"/>
              <a:gd name="connsiteX5" fmla="*/ 7161495 w 7161495"/>
              <a:gd name="connsiteY5" fmla="*/ 137582 h 833121"/>
              <a:gd name="connsiteX6" fmla="*/ 7161495 w 7161495"/>
              <a:gd name="connsiteY6" fmla="*/ 682310 h 833121"/>
              <a:gd name="connsiteX7" fmla="*/ 7025309 w 7161495"/>
              <a:gd name="connsiteY7" fmla="*/ 818496 h 833121"/>
              <a:gd name="connsiteX8" fmla="*/ 4673788 w 7161495"/>
              <a:gd name="connsiteY8" fmla="*/ 833121 h 833121"/>
              <a:gd name="connsiteX9" fmla="*/ 136186 w 7161495"/>
              <a:gd name="connsiteY9" fmla="*/ 818496 h 833121"/>
              <a:gd name="connsiteX10" fmla="*/ 0 w 7161495"/>
              <a:gd name="connsiteY10" fmla="*/ 682310 h 833121"/>
              <a:gd name="connsiteX11" fmla="*/ 0 w 7161495"/>
              <a:gd name="connsiteY11" fmla="*/ 137582 h 833121"/>
              <a:gd name="connsiteX0" fmla="*/ 0 w 7161495"/>
              <a:gd name="connsiteY0" fmla="*/ 137582 h 833121"/>
              <a:gd name="connsiteX1" fmla="*/ 136186 w 7161495"/>
              <a:gd name="connsiteY1" fmla="*/ 1396 h 833121"/>
              <a:gd name="connsiteX2" fmla="*/ 1473389 w 7161495"/>
              <a:gd name="connsiteY2" fmla="*/ 0 h 833121"/>
              <a:gd name="connsiteX3" fmla="*/ 4511229 w 7161495"/>
              <a:gd name="connsiteY3" fmla="*/ 0 h 833121"/>
              <a:gd name="connsiteX4" fmla="*/ 7025309 w 7161495"/>
              <a:gd name="connsiteY4" fmla="*/ 1396 h 833121"/>
              <a:gd name="connsiteX5" fmla="*/ 7161495 w 7161495"/>
              <a:gd name="connsiteY5" fmla="*/ 137582 h 833121"/>
              <a:gd name="connsiteX6" fmla="*/ 7161495 w 7161495"/>
              <a:gd name="connsiteY6" fmla="*/ 682310 h 833121"/>
              <a:gd name="connsiteX7" fmla="*/ 7025309 w 7161495"/>
              <a:gd name="connsiteY7" fmla="*/ 818496 h 833121"/>
              <a:gd name="connsiteX8" fmla="*/ 4673788 w 7161495"/>
              <a:gd name="connsiteY8" fmla="*/ 833121 h 833121"/>
              <a:gd name="connsiteX9" fmla="*/ 1493709 w 7161495"/>
              <a:gd name="connsiteY9" fmla="*/ 822960 h 833121"/>
              <a:gd name="connsiteX10" fmla="*/ 136186 w 7161495"/>
              <a:gd name="connsiteY10" fmla="*/ 818496 h 833121"/>
              <a:gd name="connsiteX11" fmla="*/ 0 w 7161495"/>
              <a:gd name="connsiteY11" fmla="*/ 682310 h 833121"/>
              <a:gd name="connsiteX12" fmla="*/ 0 w 7161495"/>
              <a:gd name="connsiteY12" fmla="*/ 137582 h 833121"/>
              <a:gd name="connsiteX0" fmla="*/ 48618 w 7210113"/>
              <a:gd name="connsiteY0" fmla="*/ 137582 h 833121"/>
              <a:gd name="connsiteX1" fmla="*/ 184804 w 7210113"/>
              <a:gd name="connsiteY1" fmla="*/ 1396 h 833121"/>
              <a:gd name="connsiteX2" fmla="*/ 1522007 w 7210113"/>
              <a:gd name="connsiteY2" fmla="*/ 0 h 833121"/>
              <a:gd name="connsiteX3" fmla="*/ 4559847 w 7210113"/>
              <a:gd name="connsiteY3" fmla="*/ 0 h 833121"/>
              <a:gd name="connsiteX4" fmla="*/ 7073927 w 7210113"/>
              <a:gd name="connsiteY4" fmla="*/ 1396 h 833121"/>
              <a:gd name="connsiteX5" fmla="*/ 7210113 w 7210113"/>
              <a:gd name="connsiteY5" fmla="*/ 137582 h 833121"/>
              <a:gd name="connsiteX6" fmla="*/ 7210113 w 7210113"/>
              <a:gd name="connsiteY6" fmla="*/ 682310 h 833121"/>
              <a:gd name="connsiteX7" fmla="*/ 7073927 w 7210113"/>
              <a:gd name="connsiteY7" fmla="*/ 818496 h 833121"/>
              <a:gd name="connsiteX8" fmla="*/ 4722406 w 7210113"/>
              <a:gd name="connsiteY8" fmla="*/ 833121 h 833121"/>
              <a:gd name="connsiteX9" fmla="*/ 1542327 w 7210113"/>
              <a:gd name="connsiteY9" fmla="*/ 822960 h 833121"/>
              <a:gd name="connsiteX10" fmla="*/ 184804 w 7210113"/>
              <a:gd name="connsiteY10" fmla="*/ 818496 h 833121"/>
              <a:gd name="connsiteX11" fmla="*/ 48618 w 7210113"/>
              <a:gd name="connsiteY11" fmla="*/ 682310 h 833121"/>
              <a:gd name="connsiteX12" fmla="*/ 0 w 7210113"/>
              <a:gd name="connsiteY12" fmla="*/ 400279 h 833121"/>
              <a:gd name="connsiteX13" fmla="*/ 48618 w 7210113"/>
              <a:gd name="connsiteY13" fmla="*/ 137582 h 833121"/>
              <a:gd name="connsiteX0" fmla="*/ 48618 w 7232199"/>
              <a:gd name="connsiteY0" fmla="*/ 137582 h 833121"/>
              <a:gd name="connsiteX1" fmla="*/ 184804 w 7232199"/>
              <a:gd name="connsiteY1" fmla="*/ 1396 h 833121"/>
              <a:gd name="connsiteX2" fmla="*/ 1522007 w 7232199"/>
              <a:gd name="connsiteY2" fmla="*/ 0 h 833121"/>
              <a:gd name="connsiteX3" fmla="*/ 4559847 w 7232199"/>
              <a:gd name="connsiteY3" fmla="*/ 0 h 833121"/>
              <a:gd name="connsiteX4" fmla="*/ 7073927 w 7232199"/>
              <a:gd name="connsiteY4" fmla="*/ 1396 h 833121"/>
              <a:gd name="connsiteX5" fmla="*/ 7210113 w 7232199"/>
              <a:gd name="connsiteY5" fmla="*/ 137582 h 833121"/>
              <a:gd name="connsiteX6" fmla="*/ 7232199 w 7232199"/>
              <a:gd name="connsiteY6" fmla="*/ 396469 h 833121"/>
              <a:gd name="connsiteX7" fmla="*/ 7210113 w 7232199"/>
              <a:gd name="connsiteY7" fmla="*/ 682310 h 833121"/>
              <a:gd name="connsiteX8" fmla="*/ 7073927 w 7232199"/>
              <a:gd name="connsiteY8" fmla="*/ 818496 h 833121"/>
              <a:gd name="connsiteX9" fmla="*/ 4722406 w 7232199"/>
              <a:gd name="connsiteY9" fmla="*/ 833121 h 833121"/>
              <a:gd name="connsiteX10" fmla="*/ 1542327 w 7232199"/>
              <a:gd name="connsiteY10" fmla="*/ 822960 h 833121"/>
              <a:gd name="connsiteX11" fmla="*/ 184804 w 7232199"/>
              <a:gd name="connsiteY11" fmla="*/ 818496 h 833121"/>
              <a:gd name="connsiteX12" fmla="*/ 48618 w 7232199"/>
              <a:gd name="connsiteY12" fmla="*/ 682310 h 833121"/>
              <a:gd name="connsiteX13" fmla="*/ 0 w 7232199"/>
              <a:gd name="connsiteY13" fmla="*/ 400279 h 833121"/>
              <a:gd name="connsiteX14" fmla="*/ 48618 w 7232199"/>
              <a:gd name="connsiteY14" fmla="*/ 137582 h 833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32199" h="833121">
                <a:moveTo>
                  <a:pt x="48618" y="137582"/>
                </a:moveTo>
                <a:cubicBezTo>
                  <a:pt x="48618" y="62369"/>
                  <a:pt x="109591" y="1396"/>
                  <a:pt x="184804" y="1396"/>
                </a:cubicBezTo>
                <a:lnTo>
                  <a:pt x="1522007" y="0"/>
                </a:lnTo>
                <a:lnTo>
                  <a:pt x="4559847" y="0"/>
                </a:lnTo>
                <a:lnTo>
                  <a:pt x="7073927" y="1396"/>
                </a:lnTo>
                <a:cubicBezTo>
                  <a:pt x="7149140" y="1396"/>
                  <a:pt x="7210113" y="62369"/>
                  <a:pt x="7210113" y="137582"/>
                </a:cubicBezTo>
                <a:lnTo>
                  <a:pt x="7232199" y="396469"/>
                </a:lnTo>
                <a:lnTo>
                  <a:pt x="7210113" y="682310"/>
                </a:lnTo>
                <a:cubicBezTo>
                  <a:pt x="7210113" y="757523"/>
                  <a:pt x="7149140" y="818496"/>
                  <a:pt x="7073927" y="818496"/>
                </a:cubicBezTo>
                <a:lnTo>
                  <a:pt x="4722406" y="833121"/>
                </a:lnTo>
                <a:lnTo>
                  <a:pt x="1542327" y="822960"/>
                </a:lnTo>
                <a:lnTo>
                  <a:pt x="184804" y="818496"/>
                </a:lnTo>
                <a:cubicBezTo>
                  <a:pt x="109591" y="818496"/>
                  <a:pt x="48618" y="757523"/>
                  <a:pt x="48618" y="682310"/>
                </a:cubicBezTo>
                <a:lnTo>
                  <a:pt x="0" y="400279"/>
                </a:lnTo>
                <a:lnTo>
                  <a:pt x="48618" y="137582"/>
                </a:lnTo>
                <a:close/>
              </a:path>
            </a:pathLst>
          </a:cu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800" dirty="0">
                <a:solidFill>
                  <a:schemeClr val="tx1">
                    <a:lumMod val="95000"/>
                    <a:lumOff val="5000"/>
                  </a:schemeClr>
                </a:solidFill>
              </a:rPr>
              <a:t>Cache </a:t>
            </a:r>
          </a:p>
        </p:txBody>
      </p:sp>
      <p:cxnSp>
        <p:nvCxnSpPr>
          <p:cNvPr id="27" name="Conector de Seta Reta 26">
            <a:extLst>
              <a:ext uri="{FF2B5EF4-FFF2-40B4-BE49-F238E27FC236}">
                <a16:creationId xmlns:a16="http://schemas.microsoft.com/office/drawing/2014/main" id="{78BE0EAD-51AF-44E7-83B8-8D619B346761}"/>
              </a:ext>
            </a:extLst>
          </p:cNvPr>
          <p:cNvCxnSpPr>
            <a:cxnSpLocks/>
            <a:stCxn id="25" idx="13"/>
            <a:endCxn id="6" idx="4"/>
          </p:cNvCxnSpPr>
          <p:nvPr/>
        </p:nvCxnSpPr>
        <p:spPr>
          <a:xfrm flipH="1" flipV="1">
            <a:off x="2344926" y="4122462"/>
            <a:ext cx="616081" cy="5380"/>
          </a:xfrm>
          <a:prstGeom prst="straightConnector1">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31">
            <a:extLst>
              <a:ext uri="{FF2B5EF4-FFF2-40B4-BE49-F238E27FC236}">
                <a16:creationId xmlns:a16="http://schemas.microsoft.com/office/drawing/2014/main" id="{EF01EA92-14FA-42D0-99BC-58B7855B00C1}"/>
              </a:ext>
            </a:extLst>
          </p:cNvPr>
          <p:cNvCxnSpPr>
            <a:cxnSpLocks/>
          </p:cNvCxnSpPr>
          <p:nvPr/>
        </p:nvCxnSpPr>
        <p:spPr>
          <a:xfrm flipV="1">
            <a:off x="14645431" y="5977688"/>
            <a:ext cx="0" cy="859354"/>
          </a:xfrm>
          <a:prstGeom prst="straightConnector1">
            <a:avLst/>
          </a:prstGeom>
          <a:ln w="79375">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Conector de Seta Reta 35">
            <a:extLst>
              <a:ext uri="{FF2B5EF4-FFF2-40B4-BE49-F238E27FC236}">
                <a16:creationId xmlns:a16="http://schemas.microsoft.com/office/drawing/2014/main" id="{2C5898A4-A667-49D2-8D10-4BAB8B50CA11}"/>
              </a:ext>
            </a:extLst>
          </p:cNvPr>
          <p:cNvCxnSpPr>
            <a:cxnSpLocks/>
            <a:endCxn id="25" idx="6"/>
          </p:cNvCxnSpPr>
          <p:nvPr/>
        </p:nvCxnSpPr>
        <p:spPr>
          <a:xfrm flipH="1">
            <a:off x="4444409" y="4122462"/>
            <a:ext cx="611552" cy="2971"/>
          </a:xfrm>
          <a:prstGeom prst="straightConnector1">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CaixaDeTexto 42">
            <a:extLst>
              <a:ext uri="{FF2B5EF4-FFF2-40B4-BE49-F238E27FC236}">
                <a16:creationId xmlns:a16="http://schemas.microsoft.com/office/drawing/2014/main" id="{43482F80-F4BE-4D65-8A26-AD99A2C73A10}"/>
              </a:ext>
            </a:extLst>
          </p:cNvPr>
          <p:cNvSpPr txBox="1"/>
          <p:nvPr/>
        </p:nvSpPr>
        <p:spPr>
          <a:xfrm>
            <a:off x="3344155" y="1937425"/>
            <a:ext cx="1095724" cy="369332"/>
          </a:xfrm>
          <a:prstGeom prst="rect">
            <a:avLst/>
          </a:prstGeom>
          <a:solidFill>
            <a:schemeClr val="accent2">
              <a:lumMod val="75000"/>
            </a:schemeClr>
          </a:solidFill>
          <a:ln w="57150">
            <a:solidFill>
              <a:schemeClr val="accent1"/>
            </a:solidFill>
          </a:ln>
        </p:spPr>
        <p:txBody>
          <a:bodyPr wrap="square" rtlCol="0">
            <a:spAutoFit/>
          </a:bodyPr>
          <a:lstStyle/>
          <a:p>
            <a:pPr algn="ctr"/>
            <a:r>
              <a:rPr lang="pt-BR" dirty="0">
                <a:solidFill>
                  <a:schemeClr val="bg1"/>
                </a:solidFill>
              </a:rPr>
              <a:t>SRAM</a:t>
            </a:r>
          </a:p>
        </p:txBody>
      </p:sp>
      <p:cxnSp>
        <p:nvCxnSpPr>
          <p:cNvPr id="44" name="Conector reto 43">
            <a:extLst>
              <a:ext uri="{FF2B5EF4-FFF2-40B4-BE49-F238E27FC236}">
                <a16:creationId xmlns:a16="http://schemas.microsoft.com/office/drawing/2014/main" id="{9232A022-293D-4770-AA1A-21C140E2B3ED}"/>
              </a:ext>
            </a:extLst>
          </p:cNvPr>
          <p:cNvCxnSpPr>
            <a:cxnSpLocks/>
            <a:stCxn id="25" idx="3"/>
            <a:endCxn id="43" idx="2"/>
          </p:cNvCxnSpPr>
          <p:nvPr/>
        </p:nvCxnSpPr>
        <p:spPr>
          <a:xfrm flipH="1" flipV="1">
            <a:off x="3892017" y="2306757"/>
            <a:ext cx="4264" cy="1567978"/>
          </a:xfrm>
          <a:prstGeom prst="line">
            <a:avLst/>
          </a:prstGeom>
          <a:ln w="47625">
            <a:headEnd type="oval"/>
            <a:tailEnd type="oval"/>
          </a:ln>
        </p:spPr>
        <p:style>
          <a:lnRef idx="1">
            <a:schemeClr val="accent1"/>
          </a:lnRef>
          <a:fillRef idx="0">
            <a:schemeClr val="accent1"/>
          </a:fillRef>
          <a:effectRef idx="0">
            <a:schemeClr val="accent1"/>
          </a:effectRef>
          <a:fontRef idx="minor">
            <a:schemeClr val="tx1"/>
          </a:fontRef>
        </p:style>
      </p:cxnSp>
      <p:sp>
        <p:nvSpPr>
          <p:cNvPr id="47" name="CaixaDeTexto 46">
            <a:extLst>
              <a:ext uri="{FF2B5EF4-FFF2-40B4-BE49-F238E27FC236}">
                <a16:creationId xmlns:a16="http://schemas.microsoft.com/office/drawing/2014/main" id="{F14D9301-C8A1-4C4A-9628-D2FD3FF80C35}"/>
              </a:ext>
            </a:extLst>
          </p:cNvPr>
          <p:cNvSpPr txBox="1"/>
          <p:nvPr/>
        </p:nvSpPr>
        <p:spPr>
          <a:xfrm>
            <a:off x="8529775" y="1362668"/>
            <a:ext cx="1095724" cy="1200329"/>
          </a:xfrm>
          <a:prstGeom prst="rect">
            <a:avLst/>
          </a:prstGeom>
          <a:solidFill>
            <a:schemeClr val="accent2">
              <a:lumMod val="75000"/>
            </a:schemeClr>
          </a:solidFill>
          <a:ln w="57150">
            <a:solidFill>
              <a:schemeClr val="accent1"/>
            </a:solidFill>
          </a:ln>
        </p:spPr>
        <p:txBody>
          <a:bodyPr wrap="square" rtlCol="0">
            <a:spAutoFit/>
          </a:bodyPr>
          <a:lstStyle/>
          <a:p>
            <a:r>
              <a:rPr lang="pt-BR" dirty="0">
                <a:solidFill>
                  <a:schemeClr val="bg1"/>
                </a:solidFill>
              </a:rPr>
              <a:t>Cache</a:t>
            </a:r>
          </a:p>
          <a:p>
            <a:r>
              <a:rPr lang="pt-BR" dirty="0">
                <a:solidFill>
                  <a:schemeClr val="bg1"/>
                </a:solidFill>
              </a:rPr>
              <a:t> de Disco</a:t>
            </a:r>
          </a:p>
          <a:p>
            <a:r>
              <a:rPr lang="pt-BR" dirty="0">
                <a:solidFill>
                  <a:schemeClr val="bg1"/>
                </a:solidFill>
              </a:rPr>
              <a:t>Expande Disco</a:t>
            </a:r>
          </a:p>
        </p:txBody>
      </p:sp>
      <p:cxnSp>
        <p:nvCxnSpPr>
          <p:cNvPr id="48" name="Conector reto 47">
            <a:extLst>
              <a:ext uri="{FF2B5EF4-FFF2-40B4-BE49-F238E27FC236}">
                <a16:creationId xmlns:a16="http://schemas.microsoft.com/office/drawing/2014/main" id="{82147D32-264F-4E7B-8D03-DCBE0ED6C5DA}"/>
              </a:ext>
            </a:extLst>
          </p:cNvPr>
          <p:cNvCxnSpPr>
            <a:cxnSpLocks/>
            <a:endCxn id="47" idx="2"/>
          </p:cNvCxnSpPr>
          <p:nvPr/>
        </p:nvCxnSpPr>
        <p:spPr>
          <a:xfrm flipV="1">
            <a:off x="9077637" y="2562997"/>
            <a:ext cx="0" cy="1206363"/>
          </a:xfrm>
          <a:prstGeom prst="line">
            <a:avLst/>
          </a:prstGeom>
          <a:ln w="47625">
            <a:headEnd type="oval"/>
            <a:tailEnd type="oval"/>
          </a:ln>
        </p:spPr>
        <p:style>
          <a:lnRef idx="1">
            <a:schemeClr val="accent1"/>
          </a:lnRef>
          <a:fillRef idx="0">
            <a:schemeClr val="accent1"/>
          </a:fillRef>
          <a:effectRef idx="0">
            <a:schemeClr val="accent1"/>
          </a:effectRef>
          <a:fontRef idx="minor">
            <a:schemeClr val="tx1"/>
          </a:fontRef>
        </p:style>
      </p:cxnSp>
      <p:sp>
        <p:nvSpPr>
          <p:cNvPr id="53" name="CaixaDeTexto 52">
            <a:extLst>
              <a:ext uri="{FF2B5EF4-FFF2-40B4-BE49-F238E27FC236}">
                <a16:creationId xmlns:a16="http://schemas.microsoft.com/office/drawing/2014/main" id="{7BADEF78-C8E0-42BD-9480-82ECCFE4235B}"/>
              </a:ext>
            </a:extLst>
          </p:cNvPr>
          <p:cNvSpPr txBox="1"/>
          <p:nvPr/>
        </p:nvSpPr>
        <p:spPr>
          <a:xfrm>
            <a:off x="7182115" y="3990297"/>
            <a:ext cx="2164074" cy="369332"/>
          </a:xfrm>
          <a:prstGeom prst="rect">
            <a:avLst/>
          </a:prstGeom>
          <a:solidFill>
            <a:schemeClr val="accent2">
              <a:lumMod val="75000"/>
            </a:schemeClr>
          </a:solidFill>
          <a:ln w="57150">
            <a:solidFill>
              <a:schemeClr val="accent1"/>
            </a:solidFill>
          </a:ln>
        </p:spPr>
        <p:txBody>
          <a:bodyPr wrap="square" rtlCol="0">
            <a:spAutoFit/>
          </a:bodyPr>
          <a:lstStyle/>
          <a:p>
            <a:r>
              <a:rPr lang="pt-BR" dirty="0">
                <a:solidFill>
                  <a:schemeClr val="bg1"/>
                </a:solidFill>
              </a:rPr>
              <a:t>Mapeamento Direto</a:t>
            </a:r>
          </a:p>
        </p:txBody>
      </p:sp>
      <p:pic>
        <p:nvPicPr>
          <p:cNvPr id="55" name="Imagem 54">
            <a:extLst>
              <a:ext uri="{FF2B5EF4-FFF2-40B4-BE49-F238E27FC236}">
                <a16:creationId xmlns:a16="http://schemas.microsoft.com/office/drawing/2014/main" id="{EE74ED91-570F-4802-AC13-542E1C30CC6B}"/>
              </a:ext>
            </a:extLst>
          </p:cNvPr>
          <p:cNvPicPr>
            <a:picLocks noChangeAspect="1"/>
          </p:cNvPicPr>
          <p:nvPr/>
        </p:nvPicPr>
        <p:blipFill>
          <a:blip r:embed="rId4"/>
          <a:stretch>
            <a:fillRect/>
          </a:stretch>
        </p:blipFill>
        <p:spPr>
          <a:xfrm>
            <a:off x="6850844" y="4433955"/>
            <a:ext cx="2637564" cy="2322758"/>
          </a:xfrm>
          <a:prstGeom prst="rect">
            <a:avLst/>
          </a:prstGeom>
        </p:spPr>
      </p:pic>
      <p:sp>
        <p:nvSpPr>
          <p:cNvPr id="58" name="CaixaDeTexto 57">
            <a:extLst>
              <a:ext uri="{FF2B5EF4-FFF2-40B4-BE49-F238E27FC236}">
                <a16:creationId xmlns:a16="http://schemas.microsoft.com/office/drawing/2014/main" id="{1B2606F5-7BD6-4934-B136-26B57D10F74A}"/>
              </a:ext>
            </a:extLst>
          </p:cNvPr>
          <p:cNvSpPr txBox="1"/>
          <p:nvPr/>
        </p:nvSpPr>
        <p:spPr>
          <a:xfrm>
            <a:off x="5699756" y="5850002"/>
            <a:ext cx="2419567" cy="923330"/>
          </a:xfrm>
          <a:prstGeom prst="rect">
            <a:avLst/>
          </a:prstGeom>
          <a:solidFill>
            <a:schemeClr val="accent2">
              <a:lumMod val="75000"/>
            </a:schemeClr>
          </a:solidFill>
          <a:ln w="57150">
            <a:solidFill>
              <a:schemeClr val="accent1"/>
            </a:solidFill>
          </a:ln>
        </p:spPr>
        <p:txBody>
          <a:bodyPr wrap="square" rtlCol="0">
            <a:spAutoFit/>
          </a:bodyPr>
          <a:lstStyle/>
          <a:p>
            <a:r>
              <a:rPr lang="pt-BR" dirty="0">
                <a:solidFill>
                  <a:schemeClr val="bg1"/>
                </a:solidFill>
              </a:rPr>
              <a:t>Outros Caches</a:t>
            </a:r>
          </a:p>
          <a:p>
            <a:pPr marL="285750" indent="-285750">
              <a:buFont typeface="Arial" panose="020B0604020202020204" pitchFamily="34" charset="0"/>
              <a:buChar char="•"/>
            </a:pPr>
            <a:r>
              <a:rPr lang="pt-BR" dirty="0">
                <a:solidFill>
                  <a:schemeClr val="bg1"/>
                </a:solidFill>
              </a:rPr>
              <a:t>Set Associatividade</a:t>
            </a:r>
          </a:p>
          <a:p>
            <a:pPr marL="285750" indent="-285750">
              <a:buFont typeface="Arial" panose="020B0604020202020204" pitchFamily="34" charset="0"/>
              <a:buChar char="•"/>
            </a:pPr>
            <a:r>
              <a:rPr lang="pt-BR" dirty="0">
                <a:solidFill>
                  <a:schemeClr val="bg1"/>
                </a:solidFill>
              </a:rPr>
              <a:t>Full Associatividade</a:t>
            </a:r>
          </a:p>
        </p:txBody>
      </p:sp>
      <p:sp>
        <p:nvSpPr>
          <p:cNvPr id="67" name="Retângulo: Cantos Arredondados 5">
            <a:extLst>
              <a:ext uri="{FF2B5EF4-FFF2-40B4-BE49-F238E27FC236}">
                <a16:creationId xmlns:a16="http://schemas.microsoft.com/office/drawing/2014/main" id="{E9A852CC-0AC3-422E-B324-91597D33EC04}"/>
              </a:ext>
            </a:extLst>
          </p:cNvPr>
          <p:cNvSpPr/>
          <p:nvPr/>
        </p:nvSpPr>
        <p:spPr>
          <a:xfrm>
            <a:off x="5055961" y="2814439"/>
            <a:ext cx="1916831" cy="2069306"/>
          </a:xfrm>
          <a:custGeom>
            <a:avLst/>
            <a:gdLst>
              <a:gd name="connsiteX0" fmla="*/ 0 w 7161495"/>
              <a:gd name="connsiteY0" fmla="*/ 136186 h 817100"/>
              <a:gd name="connsiteX1" fmla="*/ 136186 w 7161495"/>
              <a:gd name="connsiteY1" fmla="*/ 0 h 817100"/>
              <a:gd name="connsiteX2" fmla="*/ 7025309 w 7161495"/>
              <a:gd name="connsiteY2" fmla="*/ 0 h 817100"/>
              <a:gd name="connsiteX3" fmla="*/ 7161495 w 7161495"/>
              <a:gd name="connsiteY3" fmla="*/ 136186 h 817100"/>
              <a:gd name="connsiteX4" fmla="*/ 7161495 w 7161495"/>
              <a:gd name="connsiteY4" fmla="*/ 680914 h 817100"/>
              <a:gd name="connsiteX5" fmla="*/ 7025309 w 7161495"/>
              <a:gd name="connsiteY5" fmla="*/ 817100 h 817100"/>
              <a:gd name="connsiteX6" fmla="*/ 136186 w 7161495"/>
              <a:gd name="connsiteY6" fmla="*/ 817100 h 817100"/>
              <a:gd name="connsiteX7" fmla="*/ 0 w 7161495"/>
              <a:gd name="connsiteY7" fmla="*/ 680914 h 817100"/>
              <a:gd name="connsiteX8" fmla="*/ 0 w 7161495"/>
              <a:gd name="connsiteY8" fmla="*/ 136186 h 817100"/>
              <a:gd name="connsiteX0" fmla="*/ 0 w 7161495"/>
              <a:gd name="connsiteY0" fmla="*/ 136186 h 831725"/>
              <a:gd name="connsiteX1" fmla="*/ 136186 w 7161495"/>
              <a:gd name="connsiteY1" fmla="*/ 0 h 831725"/>
              <a:gd name="connsiteX2" fmla="*/ 7025309 w 7161495"/>
              <a:gd name="connsiteY2" fmla="*/ 0 h 831725"/>
              <a:gd name="connsiteX3" fmla="*/ 7161495 w 7161495"/>
              <a:gd name="connsiteY3" fmla="*/ 136186 h 831725"/>
              <a:gd name="connsiteX4" fmla="*/ 7161495 w 7161495"/>
              <a:gd name="connsiteY4" fmla="*/ 680914 h 831725"/>
              <a:gd name="connsiteX5" fmla="*/ 7025309 w 7161495"/>
              <a:gd name="connsiteY5" fmla="*/ 817100 h 831725"/>
              <a:gd name="connsiteX6" fmla="*/ 4673788 w 7161495"/>
              <a:gd name="connsiteY6" fmla="*/ 831725 h 831725"/>
              <a:gd name="connsiteX7" fmla="*/ 136186 w 7161495"/>
              <a:gd name="connsiteY7" fmla="*/ 817100 h 831725"/>
              <a:gd name="connsiteX8" fmla="*/ 0 w 7161495"/>
              <a:gd name="connsiteY8" fmla="*/ 680914 h 831725"/>
              <a:gd name="connsiteX9" fmla="*/ 0 w 7161495"/>
              <a:gd name="connsiteY9" fmla="*/ 136186 h 831725"/>
              <a:gd name="connsiteX0" fmla="*/ 0 w 7161495"/>
              <a:gd name="connsiteY0" fmla="*/ 136186 h 831725"/>
              <a:gd name="connsiteX1" fmla="*/ 136186 w 7161495"/>
              <a:gd name="connsiteY1" fmla="*/ 0 h 831725"/>
              <a:gd name="connsiteX2" fmla="*/ 4511228 w 7161495"/>
              <a:gd name="connsiteY2" fmla="*/ 2227 h 831725"/>
              <a:gd name="connsiteX3" fmla="*/ 7025309 w 7161495"/>
              <a:gd name="connsiteY3" fmla="*/ 0 h 831725"/>
              <a:gd name="connsiteX4" fmla="*/ 7161495 w 7161495"/>
              <a:gd name="connsiteY4" fmla="*/ 136186 h 831725"/>
              <a:gd name="connsiteX5" fmla="*/ 7161495 w 7161495"/>
              <a:gd name="connsiteY5" fmla="*/ 680914 h 831725"/>
              <a:gd name="connsiteX6" fmla="*/ 7025309 w 7161495"/>
              <a:gd name="connsiteY6" fmla="*/ 817100 h 831725"/>
              <a:gd name="connsiteX7" fmla="*/ 4673788 w 7161495"/>
              <a:gd name="connsiteY7" fmla="*/ 831725 h 831725"/>
              <a:gd name="connsiteX8" fmla="*/ 136186 w 7161495"/>
              <a:gd name="connsiteY8" fmla="*/ 817100 h 831725"/>
              <a:gd name="connsiteX9" fmla="*/ 0 w 7161495"/>
              <a:gd name="connsiteY9" fmla="*/ 680914 h 831725"/>
              <a:gd name="connsiteX10" fmla="*/ 0 w 7161495"/>
              <a:gd name="connsiteY10" fmla="*/ 136186 h 831725"/>
              <a:gd name="connsiteX0" fmla="*/ 0 w 7161495"/>
              <a:gd name="connsiteY0" fmla="*/ 136186 h 831725"/>
              <a:gd name="connsiteX1" fmla="*/ 136186 w 7161495"/>
              <a:gd name="connsiteY1" fmla="*/ 0 h 831725"/>
              <a:gd name="connsiteX2" fmla="*/ 1503868 w 7161495"/>
              <a:gd name="connsiteY2" fmla="*/ 2227 h 831725"/>
              <a:gd name="connsiteX3" fmla="*/ 4511228 w 7161495"/>
              <a:gd name="connsiteY3" fmla="*/ 2227 h 831725"/>
              <a:gd name="connsiteX4" fmla="*/ 7025309 w 7161495"/>
              <a:gd name="connsiteY4" fmla="*/ 0 h 831725"/>
              <a:gd name="connsiteX5" fmla="*/ 7161495 w 7161495"/>
              <a:gd name="connsiteY5" fmla="*/ 136186 h 831725"/>
              <a:gd name="connsiteX6" fmla="*/ 7161495 w 7161495"/>
              <a:gd name="connsiteY6" fmla="*/ 680914 h 831725"/>
              <a:gd name="connsiteX7" fmla="*/ 7025309 w 7161495"/>
              <a:gd name="connsiteY7" fmla="*/ 817100 h 831725"/>
              <a:gd name="connsiteX8" fmla="*/ 4673788 w 7161495"/>
              <a:gd name="connsiteY8" fmla="*/ 831725 h 831725"/>
              <a:gd name="connsiteX9" fmla="*/ 136186 w 7161495"/>
              <a:gd name="connsiteY9" fmla="*/ 817100 h 831725"/>
              <a:gd name="connsiteX10" fmla="*/ 0 w 7161495"/>
              <a:gd name="connsiteY10" fmla="*/ 680914 h 831725"/>
              <a:gd name="connsiteX11" fmla="*/ 0 w 7161495"/>
              <a:gd name="connsiteY11" fmla="*/ 136186 h 831725"/>
              <a:gd name="connsiteX0" fmla="*/ 0 w 7161495"/>
              <a:gd name="connsiteY0" fmla="*/ 136186 h 831725"/>
              <a:gd name="connsiteX1" fmla="*/ 136186 w 7161495"/>
              <a:gd name="connsiteY1" fmla="*/ 0 h 831725"/>
              <a:gd name="connsiteX2" fmla="*/ 1503868 w 7161495"/>
              <a:gd name="connsiteY2" fmla="*/ 2227 h 831725"/>
              <a:gd name="connsiteX3" fmla="*/ 4511228 w 7161495"/>
              <a:gd name="connsiteY3" fmla="*/ 2227 h 831725"/>
              <a:gd name="connsiteX4" fmla="*/ 7025309 w 7161495"/>
              <a:gd name="connsiteY4" fmla="*/ 0 h 831725"/>
              <a:gd name="connsiteX5" fmla="*/ 7161495 w 7161495"/>
              <a:gd name="connsiteY5" fmla="*/ 136186 h 831725"/>
              <a:gd name="connsiteX6" fmla="*/ 7126219 w 7161495"/>
              <a:gd name="connsiteY6" fmla="*/ 389635 h 831725"/>
              <a:gd name="connsiteX7" fmla="*/ 7161495 w 7161495"/>
              <a:gd name="connsiteY7" fmla="*/ 680914 h 831725"/>
              <a:gd name="connsiteX8" fmla="*/ 7025309 w 7161495"/>
              <a:gd name="connsiteY8" fmla="*/ 817100 h 831725"/>
              <a:gd name="connsiteX9" fmla="*/ 4673788 w 7161495"/>
              <a:gd name="connsiteY9" fmla="*/ 831725 h 831725"/>
              <a:gd name="connsiteX10" fmla="*/ 136186 w 7161495"/>
              <a:gd name="connsiteY10" fmla="*/ 817100 h 831725"/>
              <a:gd name="connsiteX11" fmla="*/ 0 w 7161495"/>
              <a:gd name="connsiteY11" fmla="*/ 680914 h 831725"/>
              <a:gd name="connsiteX12" fmla="*/ 0 w 7161495"/>
              <a:gd name="connsiteY12" fmla="*/ 136186 h 83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61495" h="831725">
                <a:moveTo>
                  <a:pt x="0" y="136186"/>
                </a:moveTo>
                <a:cubicBezTo>
                  <a:pt x="0" y="60973"/>
                  <a:pt x="60973" y="0"/>
                  <a:pt x="136186" y="0"/>
                </a:cubicBezTo>
                <a:lnTo>
                  <a:pt x="1503868" y="2227"/>
                </a:lnTo>
                <a:lnTo>
                  <a:pt x="4511228" y="2227"/>
                </a:lnTo>
                <a:lnTo>
                  <a:pt x="7025309" y="0"/>
                </a:lnTo>
                <a:cubicBezTo>
                  <a:pt x="7100522" y="0"/>
                  <a:pt x="7161495" y="60973"/>
                  <a:pt x="7161495" y="136186"/>
                </a:cubicBezTo>
                <a:lnTo>
                  <a:pt x="7126219" y="389635"/>
                </a:lnTo>
                <a:lnTo>
                  <a:pt x="7161495" y="680914"/>
                </a:lnTo>
                <a:cubicBezTo>
                  <a:pt x="7161495" y="756127"/>
                  <a:pt x="7100522" y="817100"/>
                  <a:pt x="7025309" y="817100"/>
                </a:cubicBezTo>
                <a:lnTo>
                  <a:pt x="4673788" y="831725"/>
                </a:lnTo>
                <a:lnTo>
                  <a:pt x="136186" y="817100"/>
                </a:lnTo>
                <a:cubicBezTo>
                  <a:pt x="60973" y="817100"/>
                  <a:pt x="0" y="756127"/>
                  <a:pt x="0" y="680914"/>
                </a:cubicBezTo>
                <a:lnTo>
                  <a:pt x="0" y="136186"/>
                </a:lnTo>
                <a:close/>
              </a:path>
            </a:pathLst>
          </a:cu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800" dirty="0">
                <a:solidFill>
                  <a:schemeClr val="tx1">
                    <a:lumMod val="95000"/>
                    <a:lumOff val="5000"/>
                  </a:schemeClr>
                </a:solidFill>
              </a:rPr>
              <a:t>RAM</a:t>
            </a:r>
          </a:p>
          <a:p>
            <a:pPr algn="ctr"/>
            <a:endParaRPr lang="pt-BR" sz="2800" dirty="0">
              <a:solidFill>
                <a:schemeClr val="tx1">
                  <a:lumMod val="95000"/>
                  <a:lumOff val="5000"/>
                </a:schemeClr>
              </a:solidFill>
            </a:endParaRPr>
          </a:p>
          <a:p>
            <a:pPr algn="ctr"/>
            <a:r>
              <a:rPr lang="pt-BR" sz="2800" dirty="0">
                <a:solidFill>
                  <a:schemeClr val="tx1">
                    <a:lumMod val="95000"/>
                    <a:lumOff val="5000"/>
                  </a:schemeClr>
                </a:solidFill>
              </a:rPr>
              <a:t>DRAM</a:t>
            </a:r>
          </a:p>
        </p:txBody>
      </p:sp>
      <p:sp>
        <p:nvSpPr>
          <p:cNvPr id="68" name="Retângulo: Cantos Arredondados 5">
            <a:extLst>
              <a:ext uri="{FF2B5EF4-FFF2-40B4-BE49-F238E27FC236}">
                <a16:creationId xmlns:a16="http://schemas.microsoft.com/office/drawing/2014/main" id="{9E6A6AFE-70E6-44EB-9724-B5933772361C}"/>
              </a:ext>
            </a:extLst>
          </p:cNvPr>
          <p:cNvSpPr/>
          <p:nvPr/>
        </p:nvSpPr>
        <p:spPr>
          <a:xfrm>
            <a:off x="236549" y="3029487"/>
            <a:ext cx="2020535" cy="509355"/>
          </a:xfrm>
          <a:custGeom>
            <a:avLst/>
            <a:gdLst>
              <a:gd name="connsiteX0" fmla="*/ 0 w 7161495"/>
              <a:gd name="connsiteY0" fmla="*/ 136186 h 817100"/>
              <a:gd name="connsiteX1" fmla="*/ 136186 w 7161495"/>
              <a:gd name="connsiteY1" fmla="*/ 0 h 817100"/>
              <a:gd name="connsiteX2" fmla="*/ 7025309 w 7161495"/>
              <a:gd name="connsiteY2" fmla="*/ 0 h 817100"/>
              <a:gd name="connsiteX3" fmla="*/ 7161495 w 7161495"/>
              <a:gd name="connsiteY3" fmla="*/ 136186 h 817100"/>
              <a:gd name="connsiteX4" fmla="*/ 7161495 w 7161495"/>
              <a:gd name="connsiteY4" fmla="*/ 680914 h 817100"/>
              <a:gd name="connsiteX5" fmla="*/ 7025309 w 7161495"/>
              <a:gd name="connsiteY5" fmla="*/ 817100 h 817100"/>
              <a:gd name="connsiteX6" fmla="*/ 136186 w 7161495"/>
              <a:gd name="connsiteY6" fmla="*/ 817100 h 817100"/>
              <a:gd name="connsiteX7" fmla="*/ 0 w 7161495"/>
              <a:gd name="connsiteY7" fmla="*/ 680914 h 817100"/>
              <a:gd name="connsiteX8" fmla="*/ 0 w 7161495"/>
              <a:gd name="connsiteY8" fmla="*/ 136186 h 817100"/>
              <a:gd name="connsiteX0" fmla="*/ 0 w 7161495"/>
              <a:gd name="connsiteY0" fmla="*/ 136186 h 831725"/>
              <a:gd name="connsiteX1" fmla="*/ 136186 w 7161495"/>
              <a:gd name="connsiteY1" fmla="*/ 0 h 831725"/>
              <a:gd name="connsiteX2" fmla="*/ 7025309 w 7161495"/>
              <a:gd name="connsiteY2" fmla="*/ 0 h 831725"/>
              <a:gd name="connsiteX3" fmla="*/ 7161495 w 7161495"/>
              <a:gd name="connsiteY3" fmla="*/ 136186 h 831725"/>
              <a:gd name="connsiteX4" fmla="*/ 7161495 w 7161495"/>
              <a:gd name="connsiteY4" fmla="*/ 680914 h 831725"/>
              <a:gd name="connsiteX5" fmla="*/ 7025309 w 7161495"/>
              <a:gd name="connsiteY5" fmla="*/ 817100 h 831725"/>
              <a:gd name="connsiteX6" fmla="*/ 4673788 w 7161495"/>
              <a:gd name="connsiteY6" fmla="*/ 831725 h 831725"/>
              <a:gd name="connsiteX7" fmla="*/ 136186 w 7161495"/>
              <a:gd name="connsiteY7" fmla="*/ 817100 h 831725"/>
              <a:gd name="connsiteX8" fmla="*/ 0 w 7161495"/>
              <a:gd name="connsiteY8" fmla="*/ 680914 h 831725"/>
              <a:gd name="connsiteX9" fmla="*/ 0 w 7161495"/>
              <a:gd name="connsiteY9" fmla="*/ 136186 h 831725"/>
              <a:gd name="connsiteX0" fmla="*/ 0 w 7161495"/>
              <a:gd name="connsiteY0" fmla="*/ 136186 h 831725"/>
              <a:gd name="connsiteX1" fmla="*/ 136186 w 7161495"/>
              <a:gd name="connsiteY1" fmla="*/ 0 h 831725"/>
              <a:gd name="connsiteX2" fmla="*/ 4511228 w 7161495"/>
              <a:gd name="connsiteY2" fmla="*/ 2227 h 831725"/>
              <a:gd name="connsiteX3" fmla="*/ 7025309 w 7161495"/>
              <a:gd name="connsiteY3" fmla="*/ 0 h 831725"/>
              <a:gd name="connsiteX4" fmla="*/ 7161495 w 7161495"/>
              <a:gd name="connsiteY4" fmla="*/ 136186 h 831725"/>
              <a:gd name="connsiteX5" fmla="*/ 7161495 w 7161495"/>
              <a:gd name="connsiteY5" fmla="*/ 680914 h 831725"/>
              <a:gd name="connsiteX6" fmla="*/ 7025309 w 7161495"/>
              <a:gd name="connsiteY6" fmla="*/ 817100 h 831725"/>
              <a:gd name="connsiteX7" fmla="*/ 4673788 w 7161495"/>
              <a:gd name="connsiteY7" fmla="*/ 831725 h 831725"/>
              <a:gd name="connsiteX8" fmla="*/ 136186 w 7161495"/>
              <a:gd name="connsiteY8" fmla="*/ 817100 h 831725"/>
              <a:gd name="connsiteX9" fmla="*/ 0 w 7161495"/>
              <a:gd name="connsiteY9" fmla="*/ 680914 h 831725"/>
              <a:gd name="connsiteX10" fmla="*/ 0 w 7161495"/>
              <a:gd name="connsiteY10" fmla="*/ 136186 h 831725"/>
              <a:gd name="connsiteX0" fmla="*/ 0 w 7161495"/>
              <a:gd name="connsiteY0" fmla="*/ 136186 h 831725"/>
              <a:gd name="connsiteX1" fmla="*/ 136186 w 7161495"/>
              <a:gd name="connsiteY1" fmla="*/ 0 h 831725"/>
              <a:gd name="connsiteX2" fmla="*/ 1503868 w 7161495"/>
              <a:gd name="connsiteY2" fmla="*/ 2227 h 831725"/>
              <a:gd name="connsiteX3" fmla="*/ 4511228 w 7161495"/>
              <a:gd name="connsiteY3" fmla="*/ 2227 h 831725"/>
              <a:gd name="connsiteX4" fmla="*/ 7025309 w 7161495"/>
              <a:gd name="connsiteY4" fmla="*/ 0 h 831725"/>
              <a:gd name="connsiteX5" fmla="*/ 7161495 w 7161495"/>
              <a:gd name="connsiteY5" fmla="*/ 136186 h 831725"/>
              <a:gd name="connsiteX6" fmla="*/ 7161495 w 7161495"/>
              <a:gd name="connsiteY6" fmla="*/ 680914 h 831725"/>
              <a:gd name="connsiteX7" fmla="*/ 7025309 w 7161495"/>
              <a:gd name="connsiteY7" fmla="*/ 817100 h 831725"/>
              <a:gd name="connsiteX8" fmla="*/ 4673788 w 7161495"/>
              <a:gd name="connsiteY8" fmla="*/ 831725 h 831725"/>
              <a:gd name="connsiteX9" fmla="*/ 136186 w 7161495"/>
              <a:gd name="connsiteY9" fmla="*/ 817100 h 831725"/>
              <a:gd name="connsiteX10" fmla="*/ 0 w 7161495"/>
              <a:gd name="connsiteY10" fmla="*/ 680914 h 831725"/>
              <a:gd name="connsiteX11" fmla="*/ 0 w 7161495"/>
              <a:gd name="connsiteY11" fmla="*/ 136186 h 83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61495" h="831725">
                <a:moveTo>
                  <a:pt x="0" y="136186"/>
                </a:moveTo>
                <a:cubicBezTo>
                  <a:pt x="0" y="60973"/>
                  <a:pt x="60973" y="0"/>
                  <a:pt x="136186" y="0"/>
                </a:cubicBezTo>
                <a:lnTo>
                  <a:pt x="1503868" y="2227"/>
                </a:lnTo>
                <a:lnTo>
                  <a:pt x="4511228" y="2227"/>
                </a:lnTo>
                <a:lnTo>
                  <a:pt x="7025309" y="0"/>
                </a:lnTo>
                <a:cubicBezTo>
                  <a:pt x="7100522" y="0"/>
                  <a:pt x="7161495" y="60973"/>
                  <a:pt x="7161495" y="136186"/>
                </a:cubicBezTo>
                <a:lnTo>
                  <a:pt x="7161495" y="680914"/>
                </a:lnTo>
                <a:cubicBezTo>
                  <a:pt x="7161495" y="756127"/>
                  <a:pt x="7100522" y="817100"/>
                  <a:pt x="7025309" y="817100"/>
                </a:cubicBezTo>
                <a:lnTo>
                  <a:pt x="4673788" y="831725"/>
                </a:lnTo>
                <a:lnTo>
                  <a:pt x="136186" y="817100"/>
                </a:lnTo>
                <a:cubicBezTo>
                  <a:pt x="60973" y="817100"/>
                  <a:pt x="0" y="756127"/>
                  <a:pt x="0" y="680914"/>
                </a:cubicBezTo>
                <a:lnTo>
                  <a:pt x="0" y="136186"/>
                </a:lnTo>
                <a:close/>
              </a:path>
            </a:pathLst>
          </a:cu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dirty="0">
                <a:solidFill>
                  <a:schemeClr val="tx1">
                    <a:lumMod val="95000"/>
                    <a:lumOff val="5000"/>
                  </a:schemeClr>
                </a:solidFill>
              </a:rPr>
              <a:t>ULA</a:t>
            </a:r>
          </a:p>
        </p:txBody>
      </p:sp>
      <p:sp>
        <p:nvSpPr>
          <p:cNvPr id="69" name="Retângulo: Cantos Arredondados 5">
            <a:extLst>
              <a:ext uri="{FF2B5EF4-FFF2-40B4-BE49-F238E27FC236}">
                <a16:creationId xmlns:a16="http://schemas.microsoft.com/office/drawing/2014/main" id="{70C5810D-10F0-4969-9943-DCE9525144CC}"/>
              </a:ext>
            </a:extLst>
          </p:cNvPr>
          <p:cNvSpPr/>
          <p:nvPr/>
        </p:nvSpPr>
        <p:spPr>
          <a:xfrm>
            <a:off x="224487" y="3593749"/>
            <a:ext cx="2020535" cy="561972"/>
          </a:xfrm>
          <a:custGeom>
            <a:avLst/>
            <a:gdLst>
              <a:gd name="connsiteX0" fmla="*/ 0 w 7161495"/>
              <a:gd name="connsiteY0" fmla="*/ 136186 h 817100"/>
              <a:gd name="connsiteX1" fmla="*/ 136186 w 7161495"/>
              <a:gd name="connsiteY1" fmla="*/ 0 h 817100"/>
              <a:gd name="connsiteX2" fmla="*/ 7025309 w 7161495"/>
              <a:gd name="connsiteY2" fmla="*/ 0 h 817100"/>
              <a:gd name="connsiteX3" fmla="*/ 7161495 w 7161495"/>
              <a:gd name="connsiteY3" fmla="*/ 136186 h 817100"/>
              <a:gd name="connsiteX4" fmla="*/ 7161495 w 7161495"/>
              <a:gd name="connsiteY4" fmla="*/ 680914 h 817100"/>
              <a:gd name="connsiteX5" fmla="*/ 7025309 w 7161495"/>
              <a:gd name="connsiteY5" fmla="*/ 817100 h 817100"/>
              <a:gd name="connsiteX6" fmla="*/ 136186 w 7161495"/>
              <a:gd name="connsiteY6" fmla="*/ 817100 h 817100"/>
              <a:gd name="connsiteX7" fmla="*/ 0 w 7161495"/>
              <a:gd name="connsiteY7" fmla="*/ 680914 h 817100"/>
              <a:gd name="connsiteX8" fmla="*/ 0 w 7161495"/>
              <a:gd name="connsiteY8" fmla="*/ 136186 h 817100"/>
              <a:gd name="connsiteX0" fmla="*/ 0 w 7161495"/>
              <a:gd name="connsiteY0" fmla="*/ 136186 h 831725"/>
              <a:gd name="connsiteX1" fmla="*/ 136186 w 7161495"/>
              <a:gd name="connsiteY1" fmla="*/ 0 h 831725"/>
              <a:gd name="connsiteX2" fmla="*/ 7025309 w 7161495"/>
              <a:gd name="connsiteY2" fmla="*/ 0 h 831725"/>
              <a:gd name="connsiteX3" fmla="*/ 7161495 w 7161495"/>
              <a:gd name="connsiteY3" fmla="*/ 136186 h 831725"/>
              <a:gd name="connsiteX4" fmla="*/ 7161495 w 7161495"/>
              <a:gd name="connsiteY4" fmla="*/ 680914 h 831725"/>
              <a:gd name="connsiteX5" fmla="*/ 7025309 w 7161495"/>
              <a:gd name="connsiteY5" fmla="*/ 817100 h 831725"/>
              <a:gd name="connsiteX6" fmla="*/ 4673788 w 7161495"/>
              <a:gd name="connsiteY6" fmla="*/ 831725 h 831725"/>
              <a:gd name="connsiteX7" fmla="*/ 136186 w 7161495"/>
              <a:gd name="connsiteY7" fmla="*/ 817100 h 831725"/>
              <a:gd name="connsiteX8" fmla="*/ 0 w 7161495"/>
              <a:gd name="connsiteY8" fmla="*/ 680914 h 831725"/>
              <a:gd name="connsiteX9" fmla="*/ 0 w 7161495"/>
              <a:gd name="connsiteY9" fmla="*/ 136186 h 831725"/>
              <a:gd name="connsiteX0" fmla="*/ 0 w 7161495"/>
              <a:gd name="connsiteY0" fmla="*/ 136186 h 831725"/>
              <a:gd name="connsiteX1" fmla="*/ 136186 w 7161495"/>
              <a:gd name="connsiteY1" fmla="*/ 0 h 831725"/>
              <a:gd name="connsiteX2" fmla="*/ 4511228 w 7161495"/>
              <a:gd name="connsiteY2" fmla="*/ 2227 h 831725"/>
              <a:gd name="connsiteX3" fmla="*/ 7025309 w 7161495"/>
              <a:gd name="connsiteY3" fmla="*/ 0 h 831725"/>
              <a:gd name="connsiteX4" fmla="*/ 7161495 w 7161495"/>
              <a:gd name="connsiteY4" fmla="*/ 136186 h 831725"/>
              <a:gd name="connsiteX5" fmla="*/ 7161495 w 7161495"/>
              <a:gd name="connsiteY5" fmla="*/ 680914 h 831725"/>
              <a:gd name="connsiteX6" fmla="*/ 7025309 w 7161495"/>
              <a:gd name="connsiteY6" fmla="*/ 817100 h 831725"/>
              <a:gd name="connsiteX7" fmla="*/ 4673788 w 7161495"/>
              <a:gd name="connsiteY7" fmla="*/ 831725 h 831725"/>
              <a:gd name="connsiteX8" fmla="*/ 136186 w 7161495"/>
              <a:gd name="connsiteY8" fmla="*/ 817100 h 831725"/>
              <a:gd name="connsiteX9" fmla="*/ 0 w 7161495"/>
              <a:gd name="connsiteY9" fmla="*/ 680914 h 831725"/>
              <a:gd name="connsiteX10" fmla="*/ 0 w 7161495"/>
              <a:gd name="connsiteY10" fmla="*/ 136186 h 831725"/>
              <a:gd name="connsiteX0" fmla="*/ 0 w 7161495"/>
              <a:gd name="connsiteY0" fmla="*/ 136186 h 831725"/>
              <a:gd name="connsiteX1" fmla="*/ 136186 w 7161495"/>
              <a:gd name="connsiteY1" fmla="*/ 0 h 831725"/>
              <a:gd name="connsiteX2" fmla="*/ 1503868 w 7161495"/>
              <a:gd name="connsiteY2" fmla="*/ 2227 h 831725"/>
              <a:gd name="connsiteX3" fmla="*/ 4511228 w 7161495"/>
              <a:gd name="connsiteY3" fmla="*/ 2227 h 831725"/>
              <a:gd name="connsiteX4" fmla="*/ 7025309 w 7161495"/>
              <a:gd name="connsiteY4" fmla="*/ 0 h 831725"/>
              <a:gd name="connsiteX5" fmla="*/ 7161495 w 7161495"/>
              <a:gd name="connsiteY5" fmla="*/ 136186 h 831725"/>
              <a:gd name="connsiteX6" fmla="*/ 7161495 w 7161495"/>
              <a:gd name="connsiteY6" fmla="*/ 680914 h 831725"/>
              <a:gd name="connsiteX7" fmla="*/ 7025309 w 7161495"/>
              <a:gd name="connsiteY7" fmla="*/ 817100 h 831725"/>
              <a:gd name="connsiteX8" fmla="*/ 4673788 w 7161495"/>
              <a:gd name="connsiteY8" fmla="*/ 831725 h 831725"/>
              <a:gd name="connsiteX9" fmla="*/ 136186 w 7161495"/>
              <a:gd name="connsiteY9" fmla="*/ 817100 h 831725"/>
              <a:gd name="connsiteX10" fmla="*/ 0 w 7161495"/>
              <a:gd name="connsiteY10" fmla="*/ 680914 h 831725"/>
              <a:gd name="connsiteX11" fmla="*/ 0 w 7161495"/>
              <a:gd name="connsiteY11" fmla="*/ 136186 h 83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61495" h="831725">
                <a:moveTo>
                  <a:pt x="0" y="136186"/>
                </a:moveTo>
                <a:cubicBezTo>
                  <a:pt x="0" y="60973"/>
                  <a:pt x="60973" y="0"/>
                  <a:pt x="136186" y="0"/>
                </a:cubicBezTo>
                <a:lnTo>
                  <a:pt x="1503868" y="2227"/>
                </a:lnTo>
                <a:lnTo>
                  <a:pt x="4511228" y="2227"/>
                </a:lnTo>
                <a:lnTo>
                  <a:pt x="7025309" y="0"/>
                </a:lnTo>
                <a:cubicBezTo>
                  <a:pt x="7100522" y="0"/>
                  <a:pt x="7161495" y="60973"/>
                  <a:pt x="7161495" y="136186"/>
                </a:cubicBezTo>
                <a:lnTo>
                  <a:pt x="7161495" y="680914"/>
                </a:lnTo>
                <a:cubicBezTo>
                  <a:pt x="7161495" y="756127"/>
                  <a:pt x="7100522" y="817100"/>
                  <a:pt x="7025309" y="817100"/>
                </a:cubicBezTo>
                <a:lnTo>
                  <a:pt x="4673788" y="831725"/>
                </a:lnTo>
                <a:lnTo>
                  <a:pt x="136186" y="817100"/>
                </a:lnTo>
                <a:cubicBezTo>
                  <a:pt x="60973" y="817100"/>
                  <a:pt x="0" y="756127"/>
                  <a:pt x="0" y="680914"/>
                </a:cubicBezTo>
                <a:lnTo>
                  <a:pt x="0" y="136186"/>
                </a:lnTo>
                <a:close/>
              </a:path>
            </a:pathLst>
          </a:cu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dirty="0">
                <a:solidFill>
                  <a:schemeClr val="tx1">
                    <a:lumMod val="95000"/>
                    <a:lumOff val="5000"/>
                  </a:schemeClr>
                </a:solidFill>
              </a:rPr>
              <a:t>UC</a:t>
            </a:r>
          </a:p>
        </p:txBody>
      </p:sp>
      <p:sp>
        <p:nvSpPr>
          <p:cNvPr id="70" name="Retângulo: Cantos Arredondados 5">
            <a:extLst>
              <a:ext uri="{FF2B5EF4-FFF2-40B4-BE49-F238E27FC236}">
                <a16:creationId xmlns:a16="http://schemas.microsoft.com/office/drawing/2014/main" id="{FE08384D-83A5-48A6-A4BD-40D7B658FA49}"/>
              </a:ext>
            </a:extLst>
          </p:cNvPr>
          <p:cNvSpPr/>
          <p:nvPr/>
        </p:nvSpPr>
        <p:spPr>
          <a:xfrm>
            <a:off x="224487" y="4225670"/>
            <a:ext cx="2020535" cy="561972"/>
          </a:xfrm>
          <a:custGeom>
            <a:avLst/>
            <a:gdLst>
              <a:gd name="connsiteX0" fmla="*/ 0 w 7161495"/>
              <a:gd name="connsiteY0" fmla="*/ 136186 h 817100"/>
              <a:gd name="connsiteX1" fmla="*/ 136186 w 7161495"/>
              <a:gd name="connsiteY1" fmla="*/ 0 h 817100"/>
              <a:gd name="connsiteX2" fmla="*/ 7025309 w 7161495"/>
              <a:gd name="connsiteY2" fmla="*/ 0 h 817100"/>
              <a:gd name="connsiteX3" fmla="*/ 7161495 w 7161495"/>
              <a:gd name="connsiteY3" fmla="*/ 136186 h 817100"/>
              <a:gd name="connsiteX4" fmla="*/ 7161495 w 7161495"/>
              <a:gd name="connsiteY4" fmla="*/ 680914 h 817100"/>
              <a:gd name="connsiteX5" fmla="*/ 7025309 w 7161495"/>
              <a:gd name="connsiteY5" fmla="*/ 817100 h 817100"/>
              <a:gd name="connsiteX6" fmla="*/ 136186 w 7161495"/>
              <a:gd name="connsiteY6" fmla="*/ 817100 h 817100"/>
              <a:gd name="connsiteX7" fmla="*/ 0 w 7161495"/>
              <a:gd name="connsiteY7" fmla="*/ 680914 h 817100"/>
              <a:gd name="connsiteX8" fmla="*/ 0 w 7161495"/>
              <a:gd name="connsiteY8" fmla="*/ 136186 h 817100"/>
              <a:gd name="connsiteX0" fmla="*/ 0 w 7161495"/>
              <a:gd name="connsiteY0" fmla="*/ 136186 h 831725"/>
              <a:gd name="connsiteX1" fmla="*/ 136186 w 7161495"/>
              <a:gd name="connsiteY1" fmla="*/ 0 h 831725"/>
              <a:gd name="connsiteX2" fmla="*/ 7025309 w 7161495"/>
              <a:gd name="connsiteY2" fmla="*/ 0 h 831725"/>
              <a:gd name="connsiteX3" fmla="*/ 7161495 w 7161495"/>
              <a:gd name="connsiteY3" fmla="*/ 136186 h 831725"/>
              <a:gd name="connsiteX4" fmla="*/ 7161495 w 7161495"/>
              <a:gd name="connsiteY4" fmla="*/ 680914 h 831725"/>
              <a:gd name="connsiteX5" fmla="*/ 7025309 w 7161495"/>
              <a:gd name="connsiteY5" fmla="*/ 817100 h 831725"/>
              <a:gd name="connsiteX6" fmla="*/ 4673788 w 7161495"/>
              <a:gd name="connsiteY6" fmla="*/ 831725 h 831725"/>
              <a:gd name="connsiteX7" fmla="*/ 136186 w 7161495"/>
              <a:gd name="connsiteY7" fmla="*/ 817100 h 831725"/>
              <a:gd name="connsiteX8" fmla="*/ 0 w 7161495"/>
              <a:gd name="connsiteY8" fmla="*/ 680914 h 831725"/>
              <a:gd name="connsiteX9" fmla="*/ 0 w 7161495"/>
              <a:gd name="connsiteY9" fmla="*/ 136186 h 831725"/>
              <a:gd name="connsiteX0" fmla="*/ 0 w 7161495"/>
              <a:gd name="connsiteY0" fmla="*/ 136186 h 831725"/>
              <a:gd name="connsiteX1" fmla="*/ 136186 w 7161495"/>
              <a:gd name="connsiteY1" fmla="*/ 0 h 831725"/>
              <a:gd name="connsiteX2" fmla="*/ 4511228 w 7161495"/>
              <a:gd name="connsiteY2" fmla="*/ 2227 h 831725"/>
              <a:gd name="connsiteX3" fmla="*/ 7025309 w 7161495"/>
              <a:gd name="connsiteY3" fmla="*/ 0 h 831725"/>
              <a:gd name="connsiteX4" fmla="*/ 7161495 w 7161495"/>
              <a:gd name="connsiteY4" fmla="*/ 136186 h 831725"/>
              <a:gd name="connsiteX5" fmla="*/ 7161495 w 7161495"/>
              <a:gd name="connsiteY5" fmla="*/ 680914 h 831725"/>
              <a:gd name="connsiteX6" fmla="*/ 7025309 w 7161495"/>
              <a:gd name="connsiteY6" fmla="*/ 817100 h 831725"/>
              <a:gd name="connsiteX7" fmla="*/ 4673788 w 7161495"/>
              <a:gd name="connsiteY7" fmla="*/ 831725 h 831725"/>
              <a:gd name="connsiteX8" fmla="*/ 136186 w 7161495"/>
              <a:gd name="connsiteY8" fmla="*/ 817100 h 831725"/>
              <a:gd name="connsiteX9" fmla="*/ 0 w 7161495"/>
              <a:gd name="connsiteY9" fmla="*/ 680914 h 831725"/>
              <a:gd name="connsiteX10" fmla="*/ 0 w 7161495"/>
              <a:gd name="connsiteY10" fmla="*/ 136186 h 831725"/>
              <a:gd name="connsiteX0" fmla="*/ 0 w 7161495"/>
              <a:gd name="connsiteY0" fmla="*/ 136186 h 831725"/>
              <a:gd name="connsiteX1" fmla="*/ 136186 w 7161495"/>
              <a:gd name="connsiteY1" fmla="*/ 0 h 831725"/>
              <a:gd name="connsiteX2" fmla="*/ 1503868 w 7161495"/>
              <a:gd name="connsiteY2" fmla="*/ 2227 h 831725"/>
              <a:gd name="connsiteX3" fmla="*/ 4511228 w 7161495"/>
              <a:gd name="connsiteY3" fmla="*/ 2227 h 831725"/>
              <a:gd name="connsiteX4" fmla="*/ 7025309 w 7161495"/>
              <a:gd name="connsiteY4" fmla="*/ 0 h 831725"/>
              <a:gd name="connsiteX5" fmla="*/ 7161495 w 7161495"/>
              <a:gd name="connsiteY5" fmla="*/ 136186 h 831725"/>
              <a:gd name="connsiteX6" fmla="*/ 7161495 w 7161495"/>
              <a:gd name="connsiteY6" fmla="*/ 680914 h 831725"/>
              <a:gd name="connsiteX7" fmla="*/ 7025309 w 7161495"/>
              <a:gd name="connsiteY7" fmla="*/ 817100 h 831725"/>
              <a:gd name="connsiteX8" fmla="*/ 4673788 w 7161495"/>
              <a:gd name="connsiteY8" fmla="*/ 831725 h 831725"/>
              <a:gd name="connsiteX9" fmla="*/ 136186 w 7161495"/>
              <a:gd name="connsiteY9" fmla="*/ 817100 h 831725"/>
              <a:gd name="connsiteX10" fmla="*/ 0 w 7161495"/>
              <a:gd name="connsiteY10" fmla="*/ 680914 h 831725"/>
              <a:gd name="connsiteX11" fmla="*/ 0 w 7161495"/>
              <a:gd name="connsiteY11" fmla="*/ 136186 h 83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61495" h="831725">
                <a:moveTo>
                  <a:pt x="0" y="136186"/>
                </a:moveTo>
                <a:cubicBezTo>
                  <a:pt x="0" y="60973"/>
                  <a:pt x="60973" y="0"/>
                  <a:pt x="136186" y="0"/>
                </a:cubicBezTo>
                <a:lnTo>
                  <a:pt x="1503868" y="2227"/>
                </a:lnTo>
                <a:lnTo>
                  <a:pt x="4511228" y="2227"/>
                </a:lnTo>
                <a:lnTo>
                  <a:pt x="7025309" y="0"/>
                </a:lnTo>
                <a:cubicBezTo>
                  <a:pt x="7100522" y="0"/>
                  <a:pt x="7161495" y="60973"/>
                  <a:pt x="7161495" y="136186"/>
                </a:cubicBezTo>
                <a:lnTo>
                  <a:pt x="7161495" y="680914"/>
                </a:lnTo>
                <a:cubicBezTo>
                  <a:pt x="7161495" y="756127"/>
                  <a:pt x="7100522" y="817100"/>
                  <a:pt x="7025309" y="817100"/>
                </a:cubicBezTo>
                <a:lnTo>
                  <a:pt x="4673788" y="831725"/>
                </a:lnTo>
                <a:lnTo>
                  <a:pt x="136186" y="817100"/>
                </a:lnTo>
                <a:cubicBezTo>
                  <a:pt x="60973" y="817100"/>
                  <a:pt x="0" y="756127"/>
                  <a:pt x="0" y="680914"/>
                </a:cubicBezTo>
                <a:lnTo>
                  <a:pt x="0" y="136186"/>
                </a:lnTo>
                <a:close/>
              </a:path>
            </a:pathLst>
          </a:cu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dirty="0">
                <a:solidFill>
                  <a:schemeClr val="tx1">
                    <a:lumMod val="95000"/>
                    <a:lumOff val="5000"/>
                  </a:schemeClr>
                </a:solidFill>
              </a:rPr>
              <a:t>Registradores</a:t>
            </a:r>
          </a:p>
        </p:txBody>
      </p:sp>
      <p:sp>
        <p:nvSpPr>
          <p:cNvPr id="71" name="Retângulo: Cantos Arredondados 5">
            <a:extLst>
              <a:ext uri="{FF2B5EF4-FFF2-40B4-BE49-F238E27FC236}">
                <a16:creationId xmlns:a16="http://schemas.microsoft.com/office/drawing/2014/main" id="{589C0457-7FE0-45F4-B28B-5B5A02EA8C5C}"/>
              </a:ext>
            </a:extLst>
          </p:cNvPr>
          <p:cNvSpPr/>
          <p:nvPr/>
        </p:nvSpPr>
        <p:spPr>
          <a:xfrm>
            <a:off x="224487" y="4827287"/>
            <a:ext cx="2020535" cy="561972"/>
          </a:xfrm>
          <a:custGeom>
            <a:avLst/>
            <a:gdLst>
              <a:gd name="connsiteX0" fmla="*/ 0 w 7161495"/>
              <a:gd name="connsiteY0" fmla="*/ 136186 h 817100"/>
              <a:gd name="connsiteX1" fmla="*/ 136186 w 7161495"/>
              <a:gd name="connsiteY1" fmla="*/ 0 h 817100"/>
              <a:gd name="connsiteX2" fmla="*/ 7025309 w 7161495"/>
              <a:gd name="connsiteY2" fmla="*/ 0 h 817100"/>
              <a:gd name="connsiteX3" fmla="*/ 7161495 w 7161495"/>
              <a:gd name="connsiteY3" fmla="*/ 136186 h 817100"/>
              <a:gd name="connsiteX4" fmla="*/ 7161495 w 7161495"/>
              <a:gd name="connsiteY4" fmla="*/ 680914 h 817100"/>
              <a:gd name="connsiteX5" fmla="*/ 7025309 w 7161495"/>
              <a:gd name="connsiteY5" fmla="*/ 817100 h 817100"/>
              <a:gd name="connsiteX6" fmla="*/ 136186 w 7161495"/>
              <a:gd name="connsiteY6" fmla="*/ 817100 h 817100"/>
              <a:gd name="connsiteX7" fmla="*/ 0 w 7161495"/>
              <a:gd name="connsiteY7" fmla="*/ 680914 h 817100"/>
              <a:gd name="connsiteX8" fmla="*/ 0 w 7161495"/>
              <a:gd name="connsiteY8" fmla="*/ 136186 h 817100"/>
              <a:gd name="connsiteX0" fmla="*/ 0 w 7161495"/>
              <a:gd name="connsiteY0" fmla="*/ 136186 h 831725"/>
              <a:gd name="connsiteX1" fmla="*/ 136186 w 7161495"/>
              <a:gd name="connsiteY1" fmla="*/ 0 h 831725"/>
              <a:gd name="connsiteX2" fmla="*/ 7025309 w 7161495"/>
              <a:gd name="connsiteY2" fmla="*/ 0 h 831725"/>
              <a:gd name="connsiteX3" fmla="*/ 7161495 w 7161495"/>
              <a:gd name="connsiteY3" fmla="*/ 136186 h 831725"/>
              <a:gd name="connsiteX4" fmla="*/ 7161495 w 7161495"/>
              <a:gd name="connsiteY4" fmla="*/ 680914 h 831725"/>
              <a:gd name="connsiteX5" fmla="*/ 7025309 w 7161495"/>
              <a:gd name="connsiteY5" fmla="*/ 817100 h 831725"/>
              <a:gd name="connsiteX6" fmla="*/ 4673788 w 7161495"/>
              <a:gd name="connsiteY6" fmla="*/ 831725 h 831725"/>
              <a:gd name="connsiteX7" fmla="*/ 136186 w 7161495"/>
              <a:gd name="connsiteY7" fmla="*/ 817100 h 831725"/>
              <a:gd name="connsiteX8" fmla="*/ 0 w 7161495"/>
              <a:gd name="connsiteY8" fmla="*/ 680914 h 831725"/>
              <a:gd name="connsiteX9" fmla="*/ 0 w 7161495"/>
              <a:gd name="connsiteY9" fmla="*/ 136186 h 831725"/>
              <a:gd name="connsiteX0" fmla="*/ 0 w 7161495"/>
              <a:gd name="connsiteY0" fmla="*/ 136186 h 831725"/>
              <a:gd name="connsiteX1" fmla="*/ 136186 w 7161495"/>
              <a:gd name="connsiteY1" fmla="*/ 0 h 831725"/>
              <a:gd name="connsiteX2" fmla="*/ 4511228 w 7161495"/>
              <a:gd name="connsiteY2" fmla="*/ 2227 h 831725"/>
              <a:gd name="connsiteX3" fmla="*/ 7025309 w 7161495"/>
              <a:gd name="connsiteY3" fmla="*/ 0 h 831725"/>
              <a:gd name="connsiteX4" fmla="*/ 7161495 w 7161495"/>
              <a:gd name="connsiteY4" fmla="*/ 136186 h 831725"/>
              <a:gd name="connsiteX5" fmla="*/ 7161495 w 7161495"/>
              <a:gd name="connsiteY5" fmla="*/ 680914 h 831725"/>
              <a:gd name="connsiteX6" fmla="*/ 7025309 w 7161495"/>
              <a:gd name="connsiteY6" fmla="*/ 817100 h 831725"/>
              <a:gd name="connsiteX7" fmla="*/ 4673788 w 7161495"/>
              <a:gd name="connsiteY7" fmla="*/ 831725 h 831725"/>
              <a:gd name="connsiteX8" fmla="*/ 136186 w 7161495"/>
              <a:gd name="connsiteY8" fmla="*/ 817100 h 831725"/>
              <a:gd name="connsiteX9" fmla="*/ 0 w 7161495"/>
              <a:gd name="connsiteY9" fmla="*/ 680914 h 831725"/>
              <a:gd name="connsiteX10" fmla="*/ 0 w 7161495"/>
              <a:gd name="connsiteY10" fmla="*/ 136186 h 831725"/>
              <a:gd name="connsiteX0" fmla="*/ 0 w 7161495"/>
              <a:gd name="connsiteY0" fmla="*/ 136186 h 831725"/>
              <a:gd name="connsiteX1" fmla="*/ 136186 w 7161495"/>
              <a:gd name="connsiteY1" fmla="*/ 0 h 831725"/>
              <a:gd name="connsiteX2" fmla="*/ 1503868 w 7161495"/>
              <a:gd name="connsiteY2" fmla="*/ 2227 h 831725"/>
              <a:gd name="connsiteX3" fmla="*/ 4511228 w 7161495"/>
              <a:gd name="connsiteY3" fmla="*/ 2227 h 831725"/>
              <a:gd name="connsiteX4" fmla="*/ 7025309 w 7161495"/>
              <a:gd name="connsiteY4" fmla="*/ 0 h 831725"/>
              <a:gd name="connsiteX5" fmla="*/ 7161495 w 7161495"/>
              <a:gd name="connsiteY5" fmla="*/ 136186 h 831725"/>
              <a:gd name="connsiteX6" fmla="*/ 7161495 w 7161495"/>
              <a:gd name="connsiteY6" fmla="*/ 680914 h 831725"/>
              <a:gd name="connsiteX7" fmla="*/ 7025309 w 7161495"/>
              <a:gd name="connsiteY7" fmla="*/ 817100 h 831725"/>
              <a:gd name="connsiteX8" fmla="*/ 4673788 w 7161495"/>
              <a:gd name="connsiteY8" fmla="*/ 831725 h 831725"/>
              <a:gd name="connsiteX9" fmla="*/ 136186 w 7161495"/>
              <a:gd name="connsiteY9" fmla="*/ 817100 h 831725"/>
              <a:gd name="connsiteX10" fmla="*/ 0 w 7161495"/>
              <a:gd name="connsiteY10" fmla="*/ 680914 h 831725"/>
              <a:gd name="connsiteX11" fmla="*/ 0 w 7161495"/>
              <a:gd name="connsiteY11" fmla="*/ 136186 h 83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61495" h="831725">
                <a:moveTo>
                  <a:pt x="0" y="136186"/>
                </a:moveTo>
                <a:cubicBezTo>
                  <a:pt x="0" y="60973"/>
                  <a:pt x="60973" y="0"/>
                  <a:pt x="136186" y="0"/>
                </a:cubicBezTo>
                <a:lnTo>
                  <a:pt x="1503868" y="2227"/>
                </a:lnTo>
                <a:lnTo>
                  <a:pt x="4511228" y="2227"/>
                </a:lnTo>
                <a:lnTo>
                  <a:pt x="7025309" y="0"/>
                </a:lnTo>
                <a:cubicBezTo>
                  <a:pt x="7100522" y="0"/>
                  <a:pt x="7161495" y="60973"/>
                  <a:pt x="7161495" y="136186"/>
                </a:cubicBezTo>
                <a:lnTo>
                  <a:pt x="7161495" y="680914"/>
                </a:lnTo>
                <a:cubicBezTo>
                  <a:pt x="7161495" y="756127"/>
                  <a:pt x="7100522" y="817100"/>
                  <a:pt x="7025309" y="817100"/>
                </a:cubicBezTo>
                <a:lnTo>
                  <a:pt x="4673788" y="831725"/>
                </a:lnTo>
                <a:lnTo>
                  <a:pt x="136186" y="817100"/>
                </a:lnTo>
                <a:cubicBezTo>
                  <a:pt x="60973" y="817100"/>
                  <a:pt x="0" y="756127"/>
                  <a:pt x="0" y="680914"/>
                </a:cubicBezTo>
                <a:lnTo>
                  <a:pt x="0" y="136186"/>
                </a:lnTo>
                <a:close/>
              </a:path>
            </a:pathLst>
          </a:cu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dirty="0">
                <a:solidFill>
                  <a:schemeClr val="tx1">
                    <a:lumMod val="95000"/>
                    <a:lumOff val="5000"/>
                  </a:schemeClr>
                </a:solidFill>
              </a:rPr>
              <a:t>Cache</a:t>
            </a:r>
          </a:p>
        </p:txBody>
      </p:sp>
      <p:sp>
        <p:nvSpPr>
          <p:cNvPr id="72" name="Retângulo: Cantos Arredondados 5">
            <a:extLst>
              <a:ext uri="{FF2B5EF4-FFF2-40B4-BE49-F238E27FC236}">
                <a16:creationId xmlns:a16="http://schemas.microsoft.com/office/drawing/2014/main" id="{F3DDD0CC-AFBA-44A1-8FCB-0FE6B0BD9E6F}"/>
              </a:ext>
            </a:extLst>
          </p:cNvPr>
          <p:cNvSpPr/>
          <p:nvPr/>
        </p:nvSpPr>
        <p:spPr>
          <a:xfrm>
            <a:off x="224487" y="5429484"/>
            <a:ext cx="2020535" cy="561972"/>
          </a:xfrm>
          <a:custGeom>
            <a:avLst/>
            <a:gdLst>
              <a:gd name="connsiteX0" fmla="*/ 0 w 7161495"/>
              <a:gd name="connsiteY0" fmla="*/ 136186 h 817100"/>
              <a:gd name="connsiteX1" fmla="*/ 136186 w 7161495"/>
              <a:gd name="connsiteY1" fmla="*/ 0 h 817100"/>
              <a:gd name="connsiteX2" fmla="*/ 7025309 w 7161495"/>
              <a:gd name="connsiteY2" fmla="*/ 0 h 817100"/>
              <a:gd name="connsiteX3" fmla="*/ 7161495 w 7161495"/>
              <a:gd name="connsiteY3" fmla="*/ 136186 h 817100"/>
              <a:gd name="connsiteX4" fmla="*/ 7161495 w 7161495"/>
              <a:gd name="connsiteY4" fmla="*/ 680914 h 817100"/>
              <a:gd name="connsiteX5" fmla="*/ 7025309 w 7161495"/>
              <a:gd name="connsiteY5" fmla="*/ 817100 h 817100"/>
              <a:gd name="connsiteX6" fmla="*/ 136186 w 7161495"/>
              <a:gd name="connsiteY6" fmla="*/ 817100 h 817100"/>
              <a:gd name="connsiteX7" fmla="*/ 0 w 7161495"/>
              <a:gd name="connsiteY7" fmla="*/ 680914 h 817100"/>
              <a:gd name="connsiteX8" fmla="*/ 0 w 7161495"/>
              <a:gd name="connsiteY8" fmla="*/ 136186 h 817100"/>
              <a:gd name="connsiteX0" fmla="*/ 0 w 7161495"/>
              <a:gd name="connsiteY0" fmla="*/ 136186 h 831725"/>
              <a:gd name="connsiteX1" fmla="*/ 136186 w 7161495"/>
              <a:gd name="connsiteY1" fmla="*/ 0 h 831725"/>
              <a:gd name="connsiteX2" fmla="*/ 7025309 w 7161495"/>
              <a:gd name="connsiteY2" fmla="*/ 0 h 831725"/>
              <a:gd name="connsiteX3" fmla="*/ 7161495 w 7161495"/>
              <a:gd name="connsiteY3" fmla="*/ 136186 h 831725"/>
              <a:gd name="connsiteX4" fmla="*/ 7161495 w 7161495"/>
              <a:gd name="connsiteY4" fmla="*/ 680914 h 831725"/>
              <a:gd name="connsiteX5" fmla="*/ 7025309 w 7161495"/>
              <a:gd name="connsiteY5" fmla="*/ 817100 h 831725"/>
              <a:gd name="connsiteX6" fmla="*/ 4673788 w 7161495"/>
              <a:gd name="connsiteY6" fmla="*/ 831725 h 831725"/>
              <a:gd name="connsiteX7" fmla="*/ 136186 w 7161495"/>
              <a:gd name="connsiteY7" fmla="*/ 817100 h 831725"/>
              <a:gd name="connsiteX8" fmla="*/ 0 w 7161495"/>
              <a:gd name="connsiteY8" fmla="*/ 680914 h 831725"/>
              <a:gd name="connsiteX9" fmla="*/ 0 w 7161495"/>
              <a:gd name="connsiteY9" fmla="*/ 136186 h 831725"/>
              <a:gd name="connsiteX0" fmla="*/ 0 w 7161495"/>
              <a:gd name="connsiteY0" fmla="*/ 136186 h 831725"/>
              <a:gd name="connsiteX1" fmla="*/ 136186 w 7161495"/>
              <a:gd name="connsiteY1" fmla="*/ 0 h 831725"/>
              <a:gd name="connsiteX2" fmla="*/ 4511228 w 7161495"/>
              <a:gd name="connsiteY2" fmla="*/ 2227 h 831725"/>
              <a:gd name="connsiteX3" fmla="*/ 7025309 w 7161495"/>
              <a:gd name="connsiteY3" fmla="*/ 0 h 831725"/>
              <a:gd name="connsiteX4" fmla="*/ 7161495 w 7161495"/>
              <a:gd name="connsiteY4" fmla="*/ 136186 h 831725"/>
              <a:gd name="connsiteX5" fmla="*/ 7161495 w 7161495"/>
              <a:gd name="connsiteY5" fmla="*/ 680914 h 831725"/>
              <a:gd name="connsiteX6" fmla="*/ 7025309 w 7161495"/>
              <a:gd name="connsiteY6" fmla="*/ 817100 h 831725"/>
              <a:gd name="connsiteX7" fmla="*/ 4673788 w 7161495"/>
              <a:gd name="connsiteY7" fmla="*/ 831725 h 831725"/>
              <a:gd name="connsiteX8" fmla="*/ 136186 w 7161495"/>
              <a:gd name="connsiteY8" fmla="*/ 817100 h 831725"/>
              <a:gd name="connsiteX9" fmla="*/ 0 w 7161495"/>
              <a:gd name="connsiteY9" fmla="*/ 680914 h 831725"/>
              <a:gd name="connsiteX10" fmla="*/ 0 w 7161495"/>
              <a:gd name="connsiteY10" fmla="*/ 136186 h 831725"/>
              <a:gd name="connsiteX0" fmla="*/ 0 w 7161495"/>
              <a:gd name="connsiteY0" fmla="*/ 136186 h 831725"/>
              <a:gd name="connsiteX1" fmla="*/ 136186 w 7161495"/>
              <a:gd name="connsiteY1" fmla="*/ 0 h 831725"/>
              <a:gd name="connsiteX2" fmla="*/ 1503868 w 7161495"/>
              <a:gd name="connsiteY2" fmla="*/ 2227 h 831725"/>
              <a:gd name="connsiteX3" fmla="*/ 4511228 w 7161495"/>
              <a:gd name="connsiteY3" fmla="*/ 2227 h 831725"/>
              <a:gd name="connsiteX4" fmla="*/ 7025309 w 7161495"/>
              <a:gd name="connsiteY4" fmla="*/ 0 h 831725"/>
              <a:gd name="connsiteX5" fmla="*/ 7161495 w 7161495"/>
              <a:gd name="connsiteY5" fmla="*/ 136186 h 831725"/>
              <a:gd name="connsiteX6" fmla="*/ 7161495 w 7161495"/>
              <a:gd name="connsiteY6" fmla="*/ 680914 h 831725"/>
              <a:gd name="connsiteX7" fmla="*/ 7025309 w 7161495"/>
              <a:gd name="connsiteY7" fmla="*/ 817100 h 831725"/>
              <a:gd name="connsiteX8" fmla="*/ 4673788 w 7161495"/>
              <a:gd name="connsiteY8" fmla="*/ 831725 h 831725"/>
              <a:gd name="connsiteX9" fmla="*/ 136186 w 7161495"/>
              <a:gd name="connsiteY9" fmla="*/ 817100 h 831725"/>
              <a:gd name="connsiteX10" fmla="*/ 0 w 7161495"/>
              <a:gd name="connsiteY10" fmla="*/ 680914 h 831725"/>
              <a:gd name="connsiteX11" fmla="*/ 0 w 7161495"/>
              <a:gd name="connsiteY11" fmla="*/ 136186 h 83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61495" h="831725">
                <a:moveTo>
                  <a:pt x="0" y="136186"/>
                </a:moveTo>
                <a:cubicBezTo>
                  <a:pt x="0" y="60973"/>
                  <a:pt x="60973" y="0"/>
                  <a:pt x="136186" y="0"/>
                </a:cubicBezTo>
                <a:lnTo>
                  <a:pt x="1503868" y="2227"/>
                </a:lnTo>
                <a:lnTo>
                  <a:pt x="4511228" y="2227"/>
                </a:lnTo>
                <a:lnTo>
                  <a:pt x="7025309" y="0"/>
                </a:lnTo>
                <a:cubicBezTo>
                  <a:pt x="7100522" y="0"/>
                  <a:pt x="7161495" y="60973"/>
                  <a:pt x="7161495" y="136186"/>
                </a:cubicBezTo>
                <a:lnTo>
                  <a:pt x="7161495" y="680914"/>
                </a:lnTo>
                <a:cubicBezTo>
                  <a:pt x="7161495" y="756127"/>
                  <a:pt x="7100522" y="817100"/>
                  <a:pt x="7025309" y="817100"/>
                </a:cubicBezTo>
                <a:lnTo>
                  <a:pt x="4673788" y="831725"/>
                </a:lnTo>
                <a:lnTo>
                  <a:pt x="136186" y="817100"/>
                </a:lnTo>
                <a:cubicBezTo>
                  <a:pt x="60973" y="817100"/>
                  <a:pt x="0" y="756127"/>
                  <a:pt x="0" y="680914"/>
                </a:cubicBezTo>
                <a:lnTo>
                  <a:pt x="0" y="136186"/>
                </a:lnTo>
                <a:close/>
              </a:path>
            </a:pathLst>
          </a:cu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dirty="0">
                <a:solidFill>
                  <a:schemeClr val="tx1">
                    <a:lumMod val="95000"/>
                    <a:lumOff val="5000"/>
                  </a:schemeClr>
                </a:solidFill>
              </a:rPr>
              <a:t>Cache</a:t>
            </a:r>
          </a:p>
        </p:txBody>
      </p:sp>
      <p:pic>
        <p:nvPicPr>
          <p:cNvPr id="1049" name="Picture 8" descr="Resultado de imagem para disco armazenamento">
            <a:extLst>
              <a:ext uri="{FF2B5EF4-FFF2-40B4-BE49-F238E27FC236}">
                <a16:creationId xmlns:a16="http://schemas.microsoft.com/office/drawing/2014/main" id="{782F8C6C-D779-4226-B624-D3B02997AF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51811" y="1619454"/>
            <a:ext cx="2086974" cy="1653049"/>
          </a:xfrm>
          <a:prstGeom prst="rect">
            <a:avLst/>
          </a:prstGeom>
          <a:noFill/>
          <a:extLst>
            <a:ext uri="{909E8E84-426E-40DD-AFC4-6F175D3DCCD1}">
              <a14:hiddenFill xmlns:a14="http://schemas.microsoft.com/office/drawing/2010/main">
                <a:solidFill>
                  <a:srgbClr val="FFFFFF"/>
                </a:solidFill>
              </a14:hiddenFill>
            </a:ext>
          </a:extLst>
        </p:spPr>
      </p:pic>
      <p:sp>
        <p:nvSpPr>
          <p:cNvPr id="97" name="Retângulo: Cantos Arredondados 5">
            <a:extLst>
              <a:ext uri="{FF2B5EF4-FFF2-40B4-BE49-F238E27FC236}">
                <a16:creationId xmlns:a16="http://schemas.microsoft.com/office/drawing/2014/main" id="{918B34F2-9953-4316-9164-98BAC449004E}"/>
              </a:ext>
            </a:extLst>
          </p:cNvPr>
          <p:cNvSpPr/>
          <p:nvPr/>
        </p:nvSpPr>
        <p:spPr>
          <a:xfrm>
            <a:off x="9499186" y="2663985"/>
            <a:ext cx="2592224" cy="3172992"/>
          </a:xfrm>
          <a:custGeom>
            <a:avLst/>
            <a:gdLst>
              <a:gd name="connsiteX0" fmla="*/ 0 w 7161495"/>
              <a:gd name="connsiteY0" fmla="*/ 136186 h 817100"/>
              <a:gd name="connsiteX1" fmla="*/ 136186 w 7161495"/>
              <a:gd name="connsiteY1" fmla="*/ 0 h 817100"/>
              <a:gd name="connsiteX2" fmla="*/ 7025309 w 7161495"/>
              <a:gd name="connsiteY2" fmla="*/ 0 h 817100"/>
              <a:gd name="connsiteX3" fmla="*/ 7161495 w 7161495"/>
              <a:gd name="connsiteY3" fmla="*/ 136186 h 817100"/>
              <a:gd name="connsiteX4" fmla="*/ 7161495 w 7161495"/>
              <a:gd name="connsiteY4" fmla="*/ 680914 h 817100"/>
              <a:gd name="connsiteX5" fmla="*/ 7025309 w 7161495"/>
              <a:gd name="connsiteY5" fmla="*/ 817100 h 817100"/>
              <a:gd name="connsiteX6" fmla="*/ 136186 w 7161495"/>
              <a:gd name="connsiteY6" fmla="*/ 817100 h 817100"/>
              <a:gd name="connsiteX7" fmla="*/ 0 w 7161495"/>
              <a:gd name="connsiteY7" fmla="*/ 680914 h 817100"/>
              <a:gd name="connsiteX8" fmla="*/ 0 w 7161495"/>
              <a:gd name="connsiteY8" fmla="*/ 136186 h 817100"/>
              <a:gd name="connsiteX0" fmla="*/ 0 w 7161495"/>
              <a:gd name="connsiteY0" fmla="*/ 136186 h 831725"/>
              <a:gd name="connsiteX1" fmla="*/ 136186 w 7161495"/>
              <a:gd name="connsiteY1" fmla="*/ 0 h 831725"/>
              <a:gd name="connsiteX2" fmla="*/ 7025309 w 7161495"/>
              <a:gd name="connsiteY2" fmla="*/ 0 h 831725"/>
              <a:gd name="connsiteX3" fmla="*/ 7161495 w 7161495"/>
              <a:gd name="connsiteY3" fmla="*/ 136186 h 831725"/>
              <a:gd name="connsiteX4" fmla="*/ 7161495 w 7161495"/>
              <a:gd name="connsiteY4" fmla="*/ 680914 h 831725"/>
              <a:gd name="connsiteX5" fmla="*/ 7025309 w 7161495"/>
              <a:gd name="connsiteY5" fmla="*/ 817100 h 831725"/>
              <a:gd name="connsiteX6" fmla="*/ 4673788 w 7161495"/>
              <a:gd name="connsiteY6" fmla="*/ 831725 h 831725"/>
              <a:gd name="connsiteX7" fmla="*/ 136186 w 7161495"/>
              <a:gd name="connsiteY7" fmla="*/ 817100 h 831725"/>
              <a:gd name="connsiteX8" fmla="*/ 0 w 7161495"/>
              <a:gd name="connsiteY8" fmla="*/ 680914 h 831725"/>
              <a:gd name="connsiteX9" fmla="*/ 0 w 7161495"/>
              <a:gd name="connsiteY9" fmla="*/ 136186 h 831725"/>
              <a:gd name="connsiteX0" fmla="*/ 0 w 7161495"/>
              <a:gd name="connsiteY0" fmla="*/ 136186 h 831725"/>
              <a:gd name="connsiteX1" fmla="*/ 136186 w 7161495"/>
              <a:gd name="connsiteY1" fmla="*/ 0 h 831725"/>
              <a:gd name="connsiteX2" fmla="*/ 4511228 w 7161495"/>
              <a:gd name="connsiteY2" fmla="*/ 2227 h 831725"/>
              <a:gd name="connsiteX3" fmla="*/ 7025309 w 7161495"/>
              <a:gd name="connsiteY3" fmla="*/ 0 h 831725"/>
              <a:gd name="connsiteX4" fmla="*/ 7161495 w 7161495"/>
              <a:gd name="connsiteY4" fmla="*/ 136186 h 831725"/>
              <a:gd name="connsiteX5" fmla="*/ 7161495 w 7161495"/>
              <a:gd name="connsiteY5" fmla="*/ 680914 h 831725"/>
              <a:gd name="connsiteX6" fmla="*/ 7025309 w 7161495"/>
              <a:gd name="connsiteY6" fmla="*/ 817100 h 831725"/>
              <a:gd name="connsiteX7" fmla="*/ 4673788 w 7161495"/>
              <a:gd name="connsiteY7" fmla="*/ 831725 h 831725"/>
              <a:gd name="connsiteX8" fmla="*/ 136186 w 7161495"/>
              <a:gd name="connsiteY8" fmla="*/ 817100 h 831725"/>
              <a:gd name="connsiteX9" fmla="*/ 0 w 7161495"/>
              <a:gd name="connsiteY9" fmla="*/ 680914 h 831725"/>
              <a:gd name="connsiteX10" fmla="*/ 0 w 7161495"/>
              <a:gd name="connsiteY10" fmla="*/ 136186 h 831725"/>
              <a:gd name="connsiteX0" fmla="*/ 0 w 7161495"/>
              <a:gd name="connsiteY0" fmla="*/ 136186 h 831725"/>
              <a:gd name="connsiteX1" fmla="*/ 136186 w 7161495"/>
              <a:gd name="connsiteY1" fmla="*/ 0 h 831725"/>
              <a:gd name="connsiteX2" fmla="*/ 1503868 w 7161495"/>
              <a:gd name="connsiteY2" fmla="*/ 2227 h 831725"/>
              <a:gd name="connsiteX3" fmla="*/ 4511228 w 7161495"/>
              <a:gd name="connsiteY3" fmla="*/ 2227 h 831725"/>
              <a:gd name="connsiteX4" fmla="*/ 7025309 w 7161495"/>
              <a:gd name="connsiteY4" fmla="*/ 0 h 831725"/>
              <a:gd name="connsiteX5" fmla="*/ 7161495 w 7161495"/>
              <a:gd name="connsiteY5" fmla="*/ 136186 h 831725"/>
              <a:gd name="connsiteX6" fmla="*/ 7161495 w 7161495"/>
              <a:gd name="connsiteY6" fmla="*/ 680914 h 831725"/>
              <a:gd name="connsiteX7" fmla="*/ 7025309 w 7161495"/>
              <a:gd name="connsiteY7" fmla="*/ 817100 h 831725"/>
              <a:gd name="connsiteX8" fmla="*/ 4673788 w 7161495"/>
              <a:gd name="connsiteY8" fmla="*/ 831725 h 831725"/>
              <a:gd name="connsiteX9" fmla="*/ 136186 w 7161495"/>
              <a:gd name="connsiteY9" fmla="*/ 817100 h 831725"/>
              <a:gd name="connsiteX10" fmla="*/ 0 w 7161495"/>
              <a:gd name="connsiteY10" fmla="*/ 680914 h 831725"/>
              <a:gd name="connsiteX11" fmla="*/ 0 w 7161495"/>
              <a:gd name="connsiteY11" fmla="*/ 136186 h 831725"/>
              <a:gd name="connsiteX0" fmla="*/ 0 w 7161495"/>
              <a:gd name="connsiteY0" fmla="*/ 136186 h 831725"/>
              <a:gd name="connsiteX1" fmla="*/ 136186 w 7161495"/>
              <a:gd name="connsiteY1" fmla="*/ 0 h 831725"/>
              <a:gd name="connsiteX2" fmla="*/ 1503868 w 7161495"/>
              <a:gd name="connsiteY2" fmla="*/ 2227 h 831725"/>
              <a:gd name="connsiteX3" fmla="*/ 4511228 w 7161495"/>
              <a:gd name="connsiteY3" fmla="*/ 2227 h 831725"/>
              <a:gd name="connsiteX4" fmla="*/ 7025309 w 7161495"/>
              <a:gd name="connsiteY4" fmla="*/ 0 h 831725"/>
              <a:gd name="connsiteX5" fmla="*/ 7161495 w 7161495"/>
              <a:gd name="connsiteY5" fmla="*/ 136186 h 831725"/>
              <a:gd name="connsiteX6" fmla="*/ 7161495 w 7161495"/>
              <a:gd name="connsiteY6" fmla="*/ 680914 h 831725"/>
              <a:gd name="connsiteX7" fmla="*/ 7025309 w 7161495"/>
              <a:gd name="connsiteY7" fmla="*/ 817100 h 831725"/>
              <a:gd name="connsiteX8" fmla="*/ 4673788 w 7161495"/>
              <a:gd name="connsiteY8" fmla="*/ 831725 h 831725"/>
              <a:gd name="connsiteX9" fmla="*/ 136186 w 7161495"/>
              <a:gd name="connsiteY9" fmla="*/ 817100 h 831725"/>
              <a:gd name="connsiteX10" fmla="*/ 0 w 7161495"/>
              <a:gd name="connsiteY10" fmla="*/ 680914 h 831725"/>
              <a:gd name="connsiteX11" fmla="*/ 1144 w 7161495"/>
              <a:gd name="connsiteY11" fmla="*/ 289748 h 831725"/>
              <a:gd name="connsiteX12" fmla="*/ 0 w 7161495"/>
              <a:gd name="connsiteY12" fmla="*/ 136186 h 83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61495" h="831725">
                <a:moveTo>
                  <a:pt x="0" y="136186"/>
                </a:moveTo>
                <a:cubicBezTo>
                  <a:pt x="0" y="60973"/>
                  <a:pt x="60973" y="0"/>
                  <a:pt x="136186" y="0"/>
                </a:cubicBezTo>
                <a:lnTo>
                  <a:pt x="1503868" y="2227"/>
                </a:lnTo>
                <a:lnTo>
                  <a:pt x="4511228" y="2227"/>
                </a:lnTo>
                <a:lnTo>
                  <a:pt x="7025309" y="0"/>
                </a:lnTo>
                <a:cubicBezTo>
                  <a:pt x="7100522" y="0"/>
                  <a:pt x="7161495" y="60973"/>
                  <a:pt x="7161495" y="136186"/>
                </a:cubicBezTo>
                <a:lnTo>
                  <a:pt x="7161495" y="680914"/>
                </a:lnTo>
                <a:cubicBezTo>
                  <a:pt x="7161495" y="756127"/>
                  <a:pt x="7100522" y="817100"/>
                  <a:pt x="7025309" y="817100"/>
                </a:cubicBezTo>
                <a:lnTo>
                  <a:pt x="4673788" y="831725"/>
                </a:lnTo>
                <a:lnTo>
                  <a:pt x="136186" y="817100"/>
                </a:lnTo>
                <a:cubicBezTo>
                  <a:pt x="60973" y="817100"/>
                  <a:pt x="0" y="756127"/>
                  <a:pt x="0" y="680914"/>
                </a:cubicBezTo>
                <a:cubicBezTo>
                  <a:pt x="381" y="550525"/>
                  <a:pt x="763" y="420137"/>
                  <a:pt x="1144" y="289748"/>
                </a:cubicBezTo>
                <a:cubicBezTo>
                  <a:pt x="763" y="238561"/>
                  <a:pt x="381" y="187373"/>
                  <a:pt x="0" y="136186"/>
                </a:cubicBezTo>
                <a:close/>
              </a:path>
            </a:pathLst>
          </a:cu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800" dirty="0">
                <a:solidFill>
                  <a:schemeClr val="tx1">
                    <a:lumMod val="95000"/>
                    <a:lumOff val="5000"/>
                  </a:schemeClr>
                </a:solidFill>
              </a:rPr>
              <a:t>Armazenamento</a:t>
            </a:r>
          </a:p>
        </p:txBody>
      </p:sp>
      <p:cxnSp>
        <p:nvCxnSpPr>
          <p:cNvPr id="115" name="Conector de Seta Reta 114">
            <a:extLst>
              <a:ext uri="{FF2B5EF4-FFF2-40B4-BE49-F238E27FC236}">
                <a16:creationId xmlns:a16="http://schemas.microsoft.com/office/drawing/2014/main" id="{15B3C997-99C4-4C23-85F1-65D06769A9DE}"/>
              </a:ext>
            </a:extLst>
          </p:cNvPr>
          <p:cNvCxnSpPr>
            <a:cxnSpLocks/>
            <a:stCxn id="67" idx="5"/>
            <a:endCxn id="97" idx="0"/>
          </p:cNvCxnSpPr>
          <p:nvPr/>
        </p:nvCxnSpPr>
        <p:spPr>
          <a:xfrm>
            <a:off x="6972792" y="3153266"/>
            <a:ext cx="2526394" cy="30262"/>
          </a:xfrm>
          <a:prstGeom prst="straightConnector1">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21" name="CaixaDeTexto 120">
            <a:extLst>
              <a:ext uri="{FF2B5EF4-FFF2-40B4-BE49-F238E27FC236}">
                <a16:creationId xmlns:a16="http://schemas.microsoft.com/office/drawing/2014/main" id="{566C2D18-DDF5-4966-AA0D-B70CAC7181D6}"/>
              </a:ext>
            </a:extLst>
          </p:cNvPr>
          <p:cNvSpPr txBox="1"/>
          <p:nvPr/>
        </p:nvSpPr>
        <p:spPr>
          <a:xfrm>
            <a:off x="7262044" y="1362668"/>
            <a:ext cx="1095724" cy="1200329"/>
          </a:xfrm>
          <a:prstGeom prst="rect">
            <a:avLst/>
          </a:prstGeom>
          <a:solidFill>
            <a:schemeClr val="accent2">
              <a:lumMod val="75000"/>
            </a:schemeClr>
          </a:solidFill>
          <a:ln w="57150">
            <a:solidFill>
              <a:schemeClr val="accent1"/>
            </a:solidFill>
          </a:ln>
        </p:spPr>
        <p:txBody>
          <a:bodyPr wrap="square" rtlCol="0">
            <a:spAutoFit/>
          </a:bodyPr>
          <a:lstStyle/>
          <a:p>
            <a:r>
              <a:rPr lang="pt-BR" dirty="0">
                <a:solidFill>
                  <a:schemeClr val="bg1"/>
                </a:solidFill>
              </a:rPr>
              <a:t>Buffer Swap</a:t>
            </a:r>
          </a:p>
          <a:p>
            <a:r>
              <a:rPr lang="pt-BR" dirty="0">
                <a:solidFill>
                  <a:schemeClr val="bg1"/>
                </a:solidFill>
              </a:rPr>
              <a:t>Expande</a:t>
            </a:r>
          </a:p>
          <a:p>
            <a:r>
              <a:rPr lang="pt-BR" dirty="0">
                <a:solidFill>
                  <a:schemeClr val="bg1"/>
                </a:solidFill>
              </a:rPr>
              <a:t>Memória</a:t>
            </a:r>
          </a:p>
        </p:txBody>
      </p:sp>
      <p:cxnSp>
        <p:nvCxnSpPr>
          <p:cNvPr id="122" name="Conector reto 121">
            <a:extLst>
              <a:ext uri="{FF2B5EF4-FFF2-40B4-BE49-F238E27FC236}">
                <a16:creationId xmlns:a16="http://schemas.microsoft.com/office/drawing/2014/main" id="{7CF6B051-4585-44F3-8FB2-361605C2729B}"/>
              </a:ext>
            </a:extLst>
          </p:cNvPr>
          <p:cNvCxnSpPr>
            <a:cxnSpLocks/>
            <a:endCxn id="121" idx="2"/>
          </p:cNvCxnSpPr>
          <p:nvPr/>
        </p:nvCxnSpPr>
        <p:spPr>
          <a:xfrm flipV="1">
            <a:off x="7809906" y="2562997"/>
            <a:ext cx="0" cy="561261"/>
          </a:xfrm>
          <a:prstGeom prst="line">
            <a:avLst/>
          </a:prstGeom>
          <a:ln w="47625">
            <a:headEnd type="oval"/>
            <a:tailEnd type="oval"/>
          </a:ln>
        </p:spPr>
        <p:style>
          <a:lnRef idx="1">
            <a:schemeClr val="accent1"/>
          </a:lnRef>
          <a:fillRef idx="0">
            <a:schemeClr val="accent1"/>
          </a:fillRef>
          <a:effectRef idx="0">
            <a:schemeClr val="accent1"/>
          </a:effectRef>
          <a:fontRef idx="minor">
            <a:schemeClr val="tx1"/>
          </a:fontRef>
        </p:style>
      </p:cxnSp>
      <p:sp>
        <p:nvSpPr>
          <p:cNvPr id="128" name="Retângulo: Cantos Arredondados 5">
            <a:extLst>
              <a:ext uri="{FF2B5EF4-FFF2-40B4-BE49-F238E27FC236}">
                <a16:creationId xmlns:a16="http://schemas.microsoft.com/office/drawing/2014/main" id="{1DC7EB9C-0F3A-4448-B59C-9A609774A17D}"/>
              </a:ext>
            </a:extLst>
          </p:cNvPr>
          <p:cNvSpPr/>
          <p:nvPr/>
        </p:nvSpPr>
        <p:spPr>
          <a:xfrm>
            <a:off x="9683827" y="3215482"/>
            <a:ext cx="2254586" cy="718766"/>
          </a:xfrm>
          <a:custGeom>
            <a:avLst/>
            <a:gdLst>
              <a:gd name="connsiteX0" fmla="*/ 0 w 7161495"/>
              <a:gd name="connsiteY0" fmla="*/ 136186 h 817100"/>
              <a:gd name="connsiteX1" fmla="*/ 136186 w 7161495"/>
              <a:gd name="connsiteY1" fmla="*/ 0 h 817100"/>
              <a:gd name="connsiteX2" fmla="*/ 7025309 w 7161495"/>
              <a:gd name="connsiteY2" fmla="*/ 0 h 817100"/>
              <a:gd name="connsiteX3" fmla="*/ 7161495 w 7161495"/>
              <a:gd name="connsiteY3" fmla="*/ 136186 h 817100"/>
              <a:gd name="connsiteX4" fmla="*/ 7161495 w 7161495"/>
              <a:gd name="connsiteY4" fmla="*/ 680914 h 817100"/>
              <a:gd name="connsiteX5" fmla="*/ 7025309 w 7161495"/>
              <a:gd name="connsiteY5" fmla="*/ 817100 h 817100"/>
              <a:gd name="connsiteX6" fmla="*/ 136186 w 7161495"/>
              <a:gd name="connsiteY6" fmla="*/ 817100 h 817100"/>
              <a:gd name="connsiteX7" fmla="*/ 0 w 7161495"/>
              <a:gd name="connsiteY7" fmla="*/ 680914 h 817100"/>
              <a:gd name="connsiteX8" fmla="*/ 0 w 7161495"/>
              <a:gd name="connsiteY8" fmla="*/ 136186 h 817100"/>
              <a:gd name="connsiteX0" fmla="*/ 0 w 7161495"/>
              <a:gd name="connsiteY0" fmla="*/ 136186 h 831725"/>
              <a:gd name="connsiteX1" fmla="*/ 136186 w 7161495"/>
              <a:gd name="connsiteY1" fmla="*/ 0 h 831725"/>
              <a:gd name="connsiteX2" fmla="*/ 7025309 w 7161495"/>
              <a:gd name="connsiteY2" fmla="*/ 0 h 831725"/>
              <a:gd name="connsiteX3" fmla="*/ 7161495 w 7161495"/>
              <a:gd name="connsiteY3" fmla="*/ 136186 h 831725"/>
              <a:gd name="connsiteX4" fmla="*/ 7161495 w 7161495"/>
              <a:gd name="connsiteY4" fmla="*/ 680914 h 831725"/>
              <a:gd name="connsiteX5" fmla="*/ 7025309 w 7161495"/>
              <a:gd name="connsiteY5" fmla="*/ 817100 h 831725"/>
              <a:gd name="connsiteX6" fmla="*/ 4673788 w 7161495"/>
              <a:gd name="connsiteY6" fmla="*/ 831725 h 831725"/>
              <a:gd name="connsiteX7" fmla="*/ 136186 w 7161495"/>
              <a:gd name="connsiteY7" fmla="*/ 817100 h 831725"/>
              <a:gd name="connsiteX8" fmla="*/ 0 w 7161495"/>
              <a:gd name="connsiteY8" fmla="*/ 680914 h 831725"/>
              <a:gd name="connsiteX9" fmla="*/ 0 w 7161495"/>
              <a:gd name="connsiteY9" fmla="*/ 136186 h 831725"/>
              <a:gd name="connsiteX0" fmla="*/ 0 w 7161495"/>
              <a:gd name="connsiteY0" fmla="*/ 136186 h 831725"/>
              <a:gd name="connsiteX1" fmla="*/ 136186 w 7161495"/>
              <a:gd name="connsiteY1" fmla="*/ 0 h 831725"/>
              <a:gd name="connsiteX2" fmla="*/ 4511228 w 7161495"/>
              <a:gd name="connsiteY2" fmla="*/ 2227 h 831725"/>
              <a:gd name="connsiteX3" fmla="*/ 7025309 w 7161495"/>
              <a:gd name="connsiteY3" fmla="*/ 0 h 831725"/>
              <a:gd name="connsiteX4" fmla="*/ 7161495 w 7161495"/>
              <a:gd name="connsiteY4" fmla="*/ 136186 h 831725"/>
              <a:gd name="connsiteX5" fmla="*/ 7161495 w 7161495"/>
              <a:gd name="connsiteY5" fmla="*/ 680914 h 831725"/>
              <a:gd name="connsiteX6" fmla="*/ 7025309 w 7161495"/>
              <a:gd name="connsiteY6" fmla="*/ 817100 h 831725"/>
              <a:gd name="connsiteX7" fmla="*/ 4673788 w 7161495"/>
              <a:gd name="connsiteY7" fmla="*/ 831725 h 831725"/>
              <a:gd name="connsiteX8" fmla="*/ 136186 w 7161495"/>
              <a:gd name="connsiteY8" fmla="*/ 817100 h 831725"/>
              <a:gd name="connsiteX9" fmla="*/ 0 w 7161495"/>
              <a:gd name="connsiteY9" fmla="*/ 680914 h 831725"/>
              <a:gd name="connsiteX10" fmla="*/ 0 w 7161495"/>
              <a:gd name="connsiteY10" fmla="*/ 136186 h 831725"/>
              <a:gd name="connsiteX0" fmla="*/ 0 w 7161495"/>
              <a:gd name="connsiteY0" fmla="*/ 136186 h 831725"/>
              <a:gd name="connsiteX1" fmla="*/ 136186 w 7161495"/>
              <a:gd name="connsiteY1" fmla="*/ 0 h 831725"/>
              <a:gd name="connsiteX2" fmla="*/ 1503868 w 7161495"/>
              <a:gd name="connsiteY2" fmla="*/ 2227 h 831725"/>
              <a:gd name="connsiteX3" fmla="*/ 4511228 w 7161495"/>
              <a:gd name="connsiteY3" fmla="*/ 2227 h 831725"/>
              <a:gd name="connsiteX4" fmla="*/ 7025309 w 7161495"/>
              <a:gd name="connsiteY4" fmla="*/ 0 h 831725"/>
              <a:gd name="connsiteX5" fmla="*/ 7161495 w 7161495"/>
              <a:gd name="connsiteY5" fmla="*/ 136186 h 831725"/>
              <a:gd name="connsiteX6" fmla="*/ 7161495 w 7161495"/>
              <a:gd name="connsiteY6" fmla="*/ 680914 h 831725"/>
              <a:gd name="connsiteX7" fmla="*/ 7025309 w 7161495"/>
              <a:gd name="connsiteY7" fmla="*/ 817100 h 831725"/>
              <a:gd name="connsiteX8" fmla="*/ 4673788 w 7161495"/>
              <a:gd name="connsiteY8" fmla="*/ 831725 h 831725"/>
              <a:gd name="connsiteX9" fmla="*/ 136186 w 7161495"/>
              <a:gd name="connsiteY9" fmla="*/ 817100 h 831725"/>
              <a:gd name="connsiteX10" fmla="*/ 0 w 7161495"/>
              <a:gd name="connsiteY10" fmla="*/ 680914 h 831725"/>
              <a:gd name="connsiteX11" fmla="*/ 0 w 7161495"/>
              <a:gd name="connsiteY11" fmla="*/ 136186 h 83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61495" h="831725">
                <a:moveTo>
                  <a:pt x="0" y="136186"/>
                </a:moveTo>
                <a:cubicBezTo>
                  <a:pt x="0" y="60973"/>
                  <a:pt x="60973" y="0"/>
                  <a:pt x="136186" y="0"/>
                </a:cubicBezTo>
                <a:lnTo>
                  <a:pt x="1503868" y="2227"/>
                </a:lnTo>
                <a:lnTo>
                  <a:pt x="4511228" y="2227"/>
                </a:lnTo>
                <a:lnTo>
                  <a:pt x="7025309" y="0"/>
                </a:lnTo>
                <a:cubicBezTo>
                  <a:pt x="7100522" y="0"/>
                  <a:pt x="7161495" y="60973"/>
                  <a:pt x="7161495" y="136186"/>
                </a:cubicBezTo>
                <a:lnTo>
                  <a:pt x="7161495" y="680914"/>
                </a:lnTo>
                <a:cubicBezTo>
                  <a:pt x="7161495" y="756127"/>
                  <a:pt x="7100522" y="817100"/>
                  <a:pt x="7025309" y="817100"/>
                </a:cubicBezTo>
                <a:lnTo>
                  <a:pt x="4673788" y="831725"/>
                </a:lnTo>
                <a:lnTo>
                  <a:pt x="136186" y="817100"/>
                </a:lnTo>
                <a:cubicBezTo>
                  <a:pt x="60973" y="817100"/>
                  <a:pt x="0" y="756127"/>
                  <a:pt x="0" y="680914"/>
                </a:cubicBezTo>
                <a:lnTo>
                  <a:pt x="0" y="136186"/>
                </a:lnTo>
                <a:close/>
              </a:path>
            </a:pathLst>
          </a:cu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dirty="0">
                <a:solidFill>
                  <a:schemeClr val="tx1">
                    <a:lumMod val="95000"/>
                    <a:lumOff val="5000"/>
                  </a:schemeClr>
                </a:solidFill>
              </a:rPr>
              <a:t>Cache</a:t>
            </a:r>
          </a:p>
        </p:txBody>
      </p:sp>
      <p:sp>
        <p:nvSpPr>
          <p:cNvPr id="129" name="Retângulo: Cantos Arredondados 5">
            <a:extLst>
              <a:ext uri="{FF2B5EF4-FFF2-40B4-BE49-F238E27FC236}">
                <a16:creationId xmlns:a16="http://schemas.microsoft.com/office/drawing/2014/main" id="{C4A9DAA4-BC81-41FF-BBE8-216B825ACEAD}"/>
              </a:ext>
            </a:extLst>
          </p:cNvPr>
          <p:cNvSpPr/>
          <p:nvPr/>
        </p:nvSpPr>
        <p:spPr>
          <a:xfrm>
            <a:off x="9683827" y="4088910"/>
            <a:ext cx="2254586" cy="1621560"/>
          </a:xfrm>
          <a:custGeom>
            <a:avLst/>
            <a:gdLst>
              <a:gd name="connsiteX0" fmla="*/ 0 w 7161495"/>
              <a:gd name="connsiteY0" fmla="*/ 136186 h 817100"/>
              <a:gd name="connsiteX1" fmla="*/ 136186 w 7161495"/>
              <a:gd name="connsiteY1" fmla="*/ 0 h 817100"/>
              <a:gd name="connsiteX2" fmla="*/ 7025309 w 7161495"/>
              <a:gd name="connsiteY2" fmla="*/ 0 h 817100"/>
              <a:gd name="connsiteX3" fmla="*/ 7161495 w 7161495"/>
              <a:gd name="connsiteY3" fmla="*/ 136186 h 817100"/>
              <a:gd name="connsiteX4" fmla="*/ 7161495 w 7161495"/>
              <a:gd name="connsiteY4" fmla="*/ 680914 h 817100"/>
              <a:gd name="connsiteX5" fmla="*/ 7025309 w 7161495"/>
              <a:gd name="connsiteY5" fmla="*/ 817100 h 817100"/>
              <a:gd name="connsiteX6" fmla="*/ 136186 w 7161495"/>
              <a:gd name="connsiteY6" fmla="*/ 817100 h 817100"/>
              <a:gd name="connsiteX7" fmla="*/ 0 w 7161495"/>
              <a:gd name="connsiteY7" fmla="*/ 680914 h 817100"/>
              <a:gd name="connsiteX8" fmla="*/ 0 w 7161495"/>
              <a:gd name="connsiteY8" fmla="*/ 136186 h 817100"/>
              <a:gd name="connsiteX0" fmla="*/ 0 w 7161495"/>
              <a:gd name="connsiteY0" fmla="*/ 136186 h 831725"/>
              <a:gd name="connsiteX1" fmla="*/ 136186 w 7161495"/>
              <a:gd name="connsiteY1" fmla="*/ 0 h 831725"/>
              <a:gd name="connsiteX2" fmla="*/ 7025309 w 7161495"/>
              <a:gd name="connsiteY2" fmla="*/ 0 h 831725"/>
              <a:gd name="connsiteX3" fmla="*/ 7161495 w 7161495"/>
              <a:gd name="connsiteY3" fmla="*/ 136186 h 831725"/>
              <a:gd name="connsiteX4" fmla="*/ 7161495 w 7161495"/>
              <a:gd name="connsiteY4" fmla="*/ 680914 h 831725"/>
              <a:gd name="connsiteX5" fmla="*/ 7025309 w 7161495"/>
              <a:gd name="connsiteY5" fmla="*/ 817100 h 831725"/>
              <a:gd name="connsiteX6" fmla="*/ 4673788 w 7161495"/>
              <a:gd name="connsiteY6" fmla="*/ 831725 h 831725"/>
              <a:gd name="connsiteX7" fmla="*/ 136186 w 7161495"/>
              <a:gd name="connsiteY7" fmla="*/ 817100 h 831725"/>
              <a:gd name="connsiteX8" fmla="*/ 0 w 7161495"/>
              <a:gd name="connsiteY8" fmla="*/ 680914 h 831725"/>
              <a:gd name="connsiteX9" fmla="*/ 0 w 7161495"/>
              <a:gd name="connsiteY9" fmla="*/ 136186 h 831725"/>
              <a:gd name="connsiteX0" fmla="*/ 0 w 7161495"/>
              <a:gd name="connsiteY0" fmla="*/ 136186 h 831725"/>
              <a:gd name="connsiteX1" fmla="*/ 136186 w 7161495"/>
              <a:gd name="connsiteY1" fmla="*/ 0 h 831725"/>
              <a:gd name="connsiteX2" fmla="*/ 4511228 w 7161495"/>
              <a:gd name="connsiteY2" fmla="*/ 2227 h 831725"/>
              <a:gd name="connsiteX3" fmla="*/ 7025309 w 7161495"/>
              <a:gd name="connsiteY3" fmla="*/ 0 h 831725"/>
              <a:gd name="connsiteX4" fmla="*/ 7161495 w 7161495"/>
              <a:gd name="connsiteY4" fmla="*/ 136186 h 831725"/>
              <a:gd name="connsiteX5" fmla="*/ 7161495 w 7161495"/>
              <a:gd name="connsiteY5" fmla="*/ 680914 h 831725"/>
              <a:gd name="connsiteX6" fmla="*/ 7025309 w 7161495"/>
              <a:gd name="connsiteY6" fmla="*/ 817100 h 831725"/>
              <a:gd name="connsiteX7" fmla="*/ 4673788 w 7161495"/>
              <a:gd name="connsiteY7" fmla="*/ 831725 h 831725"/>
              <a:gd name="connsiteX8" fmla="*/ 136186 w 7161495"/>
              <a:gd name="connsiteY8" fmla="*/ 817100 h 831725"/>
              <a:gd name="connsiteX9" fmla="*/ 0 w 7161495"/>
              <a:gd name="connsiteY9" fmla="*/ 680914 h 831725"/>
              <a:gd name="connsiteX10" fmla="*/ 0 w 7161495"/>
              <a:gd name="connsiteY10" fmla="*/ 136186 h 831725"/>
              <a:gd name="connsiteX0" fmla="*/ 0 w 7161495"/>
              <a:gd name="connsiteY0" fmla="*/ 136186 h 831725"/>
              <a:gd name="connsiteX1" fmla="*/ 136186 w 7161495"/>
              <a:gd name="connsiteY1" fmla="*/ 0 h 831725"/>
              <a:gd name="connsiteX2" fmla="*/ 1503868 w 7161495"/>
              <a:gd name="connsiteY2" fmla="*/ 2227 h 831725"/>
              <a:gd name="connsiteX3" fmla="*/ 4511228 w 7161495"/>
              <a:gd name="connsiteY3" fmla="*/ 2227 h 831725"/>
              <a:gd name="connsiteX4" fmla="*/ 7025309 w 7161495"/>
              <a:gd name="connsiteY4" fmla="*/ 0 h 831725"/>
              <a:gd name="connsiteX5" fmla="*/ 7161495 w 7161495"/>
              <a:gd name="connsiteY5" fmla="*/ 136186 h 831725"/>
              <a:gd name="connsiteX6" fmla="*/ 7161495 w 7161495"/>
              <a:gd name="connsiteY6" fmla="*/ 680914 h 831725"/>
              <a:gd name="connsiteX7" fmla="*/ 7025309 w 7161495"/>
              <a:gd name="connsiteY7" fmla="*/ 817100 h 831725"/>
              <a:gd name="connsiteX8" fmla="*/ 4673788 w 7161495"/>
              <a:gd name="connsiteY8" fmla="*/ 831725 h 831725"/>
              <a:gd name="connsiteX9" fmla="*/ 136186 w 7161495"/>
              <a:gd name="connsiteY9" fmla="*/ 817100 h 831725"/>
              <a:gd name="connsiteX10" fmla="*/ 0 w 7161495"/>
              <a:gd name="connsiteY10" fmla="*/ 680914 h 831725"/>
              <a:gd name="connsiteX11" fmla="*/ 0 w 7161495"/>
              <a:gd name="connsiteY11" fmla="*/ 136186 h 83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61495" h="831725">
                <a:moveTo>
                  <a:pt x="0" y="136186"/>
                </a:moveTo>
                <a:cubicBezTo>
                  <a:pt x="0" y="60973"/>
                  <a:pt x="60973" y="0"/>
                  <a:pt x="136186" y="0"/>
                </a:cubicBezTo>
                <a:lnTo>
                  <a:pt x="1503868" y="2227"/>
                </a:lnTo>
                <a:lnTo>
                  <a:pt x="4511228" y="2227"/>
                </a:lnTo>
                <a:lnTo>
                  <a:pt x="7025309" y="0"/>
                </a:lnTo>
                <a:cubicBezTo>
                  <a:pt x="7100522" y="0"/>
                  <a:pt x="7161495" y="60973"/>
                  <a:pt x="7161495" y="136186"/>
                </a:cubicBezTo>
                <a:lnTo>
                  <a:pt x="7161495" y="680914"/>
                </a:lnTo>
                <a:cubicBezTo>
                  <a:pt x="7161495" y="756127"/>
                  <a:pt x="7100522" y="817100"/>
                  <a:pt x="7025309" y="817100"/>
                </a:cubicBezTo>
                <a:lnTo>
                  <a:pt x="4673788" y="831725"/>
                </a:lnTo>
                <a:lnTo>
                  <a:pt x="136186" y="817100"/>
                </a:lnTo>
                <a:cubicBezTo>
                  <a:pt x="60973" y="817100"/>
                  <a:pt x="0" y="756127"/>
                  <a:pt x="0" y="680914"/>
                </a:cubicBezTo>
                <a:lnTo>
                  <a:pt x="0" y="136186"/>
                </a:lnTo>
                <a:close/>
              </a:path>
            </a:pathLst>
          </a:cu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dirty="0">
                <a:solidFill>
                  <a:schemeClr val="tx1">
                    <a:lumMod val="95000"/>
                    <a:lumOff val="5000"/>
                  </a:schemeClr>
                </a:solidFill>
              </a:rPr>
              <a:t>Dados</a:t>
            </a:r>
          </a:p>
        </p:txBody>
      </p:sp>
    </p:spTree>
    <p:extLst>
      <p:ext uri="{BB962C8B-B14F-4D97-AF65-F5344CB8AC3E}">
        <p14:creationId xmlns:p14="http://schemas.microsoft.com/office/powerpoint/2010/main" val="29382788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E687B0-5FF1-4DD2-A425-139503DA80B8}"/>
              </a:ext>
            </a:extLst>
          </p:cNvPr>
          <p:cNvSpPr>
            <a:spLocks noGrp="1"/>
          </p:cNvSpPr>
          <p:nvPr>
            <p:ph type="title"/>
          </p:nvPr>
        </p:nvSpPr>
        <p:spPr/>
        <p:txBody>
          <a:bodyPr/>
          <a:lstStyle/>
          <a:p>
            <a:r>
              <a:rPr lang="pt-BR" dirty="0"/>
              <a:t>Virtual </a:t>
            </a:r>
            <a:r>
              <a:rPr lang="pt-BR" dirty="0" err="1"/>
              <a:t>Machine</a:t>
            </a:r>
            <a:r>
              <a:rPr lang="pt-BR" dirty="0"/>
              <a:t> - Disk </a:t>
            </a:r>
            <a:r>
              <a:rPr lang="pt-BR" dirty="0" err="1"/>
              <a:t>Caching</a:t>
            </a:r>
            <a:endParaRPr lang="pt-BR" dirty="0"/>
          </a:p>
        </p:txBody>
      </p:sp>
      <p:sp>
        <p:nvSpPr>
          <p:cNvPr id="3" name="Espaço Reservado para Conteúdo 2">
            <a:extLst>
              <a:ext uri="{FF2B5EF4-FFF2-40B4-BE49-F238E27FC236}">
                <a16:creationId xmlns:a16="http://schemas.microsoft.com/office/drawing/2014/main" id="{9FDA6CA7-D446-4A1D-A35E-C5D99085BEB4}"/>
              </a:ext>
            </a:extLst>
          </p:cNvPr>
          <p:cNvSpPr>
            <a:spLocks noGrp="1"/>
          </p:cNvSpPr>
          <p:nvPr>
            <p:ph idx="1"/>
          </p:nvPr>
        </p:nvSpPr>
        <p:spPr/>
        <p:txBody>
          <a:bodyPr>
            <a:normAutofit fontScale="92500"/>
          </a:bodyPr>
          <a:lstStyle/>
          <a:p>
            <a:r>
              <a:rPr lang="pt-BR" dirty="0"/>
              <a:t>Cache é um componente especializado que armazena dados (normalmente na memória) para que eles possam ser acessados mais rapidamente.</a:t>
            </a:r>
          </a:p>
          <a:p>
            <a:r>
              <a:rPr lang="pt-BR" dirty="0"/>
              <a:t>O </a:t>
            </a:r>
            <a:r>
              <a:rPr lang="pt-BR" b="1" dirty="0"/>
              <a:t>cache de leitura</a:t>
            </a:r>
            <a:r>
              <a:rPr lang="pt-BR" dirty="0"/>
              <a:t> tenta acelerar a </a:t>
            </a:r>
            <a:r>
              <a:rPr lang="pt-BR" i="1" dirty="0"/>
              <a:t>recuperação</a:t>
            </a:r>
            <a:r>
              <a:rPr lang="pt-BR" dirty="0"/>
              <a:t> de dados.</a:t>
            </a:r>
          </a:p>
          <a:p>
            <a:pPr lvl="1"/>
            <a:r>
              <a:rPr lang="pt-BR" dirty="0"/>
              <a:t>Os dados já foram lidos e existem no cache.</a:t>
            </a:r>
          </a:p>
          <a:p>
            <a:pPr lvl="1"/>
            <a:r>
              <a:rPr lang="pt-BR" dirty="0"/>
              <a:t>O cache é grande o suficiente para conter todos os dados.</a:t>
            </a:r>
          </a:p>
          <a:p>
            <a:pPr lvl="1"/>
            <a:r>
              <a:rPr lang="pt-BR" dirty="0"/>
              <a:t>Cache de leitura (</a:t>
            </a:r>
            <a:r>
              <a:rPr lang="pt-BR" i="1" dirty="0"/>
              <a:t>previsibilidade</a:t>
            </a:r>
            <a:r>
              <a:rPr lang="pt-BR" dirty="0"/>
              <a:t> da fila de leitura) como um conjunto de leituras sequenciais. Quando os dados são pulverizados o cache trará pouco ou nenhum benefício e ainda poderá reduzir o desempenho do disco.</a:t>
            </a:r>
          </a:p>
          <a:p>
            <a:r>
              <a:rPr lang="pt-BR" dirty="0"/>
              <a:t>O</a:t>
            </a:r>
            <a:r>
              <a:rPr lang="pt-BR" b="1" dirty="0"/>
              <a:t> cache de gravação</a:t>
            </a:r>
            <a:r>
              <a:rPr lang="pt-BR" dirty="0"/>
              <a:t> tenta acelerar a </a:t>
            </a:r>
            <a:r>
              <a:rPr lang="pt-BR" i="1" dirty="0"/>
              <a:t>gravação dados</a:t>
            </a:r>
            <a:r>
              <a:rPr lang="pt-BR" dirty="0"/>
              <a:t> no armazenamento persistente. Esse mecanismo pode ser um possível ponto de falha. Alguns aplicativos gerenciam seu próprio cache.</a:t>
            </a:r>
          </a:p>
          <a:p>
            <a:endParaRPr lang="pt-BR" dirty="0"/>
          </a:p>
          <a:p>
            <a:endParaRPr lang="pt-BR" dirty="0"/>
          </a:p>
          <a:p>
            <a:pPr lvl="1"/>
            <a:endParaRPr lang="pt-BR" dirty="0"/>
          </a:p>
        </p:txBody>
      </p:sp>
    </p:spTree>
    <p:extLst>
      <p:ext uri="{BB962C8B-B14F-4D97-AF65-F5344CB8AC3E}">
        <p14:creationId xmlns:p14="http://schemas.microsoft.com/office/powerpoint/2010/main" val="5292871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E687B0-5FF1-4DD2-A425-139503DA80B8}"/>
              </a:ext>
            </a:extLst>
          </p:cNvPr>
          <p:cNvSpPr>
            <a:spLocks noGrp="1"/>
          </p:cNvSpPr>
          <p:nvPr>
            <p:ph type="title"/>
          </p:nvPr>
        </p:nvSpPr>
        <p:spPr/>
        <p:txBody>
          <a:bodyPr/>
          <a:lstStyle/>
          <a:p>
            <a:r>
              <a:rPr lang="pt-BR" dirty="0"/>
              <a:t>Disk </a:t>
            </a:r>
            <a:r>
              <a:rPr lang="pt-BR" dirty="0" err="1"/>
              <a:t>Caching</a:t>
            </a:r>
            <a:r>
              <a:rPr lang="pt-BR" dirty="0"/>
              <a:t> – Opções – Máquinas Virtuais</a:t>
            </a:r>
          </a:p>
        </p:txBody>
      </p:sp>
      <p:sp>
        <p:nvSpPr>
          <p:cNvPr id="3" name="Espaço Reservado para Conteúdo 2">
            <a:extLst>
              <a:ext uri="{FF2B5EF4-FFF2-40B4-BE49-F238E27FC236}">
                <a16:creationId xmlns:a16="http://schemas.microsoft.com/office/drawing/2014/main" id="{9FDA6CA7-D446-4A1D-A35E-C5D99085BEB4}"/>
              </a:ext>
            </a:extLst>
          </p:cNvPr>
          <p:cNvSpPr>
            <a:spLocks noGrp="1"/>
          </p:cNvSpPr>
          <p:nvPr>
            <p:ph idx="1"/>
          </p:nvPr>
        </p:nvSpPr>
        <p:spPr>
          <a:xfrm>
            <a:off x="635000" y="1429385"/>
            <a:ext cx="10515600" cy="4351338"/>
          </a:xfrm>
        </p:spPr>
        <p:txBody>
          <a:bodyPr>
            <a:normAutofit/>
          </a:bodyPr>
          <a:lstStyle/>
          <a:p>
            <a:r>
              <a:rPr lang="pt-BR" dirty="0"/>
              <a:t>Há três opções comuns para o cache de disco de VM:</a:t>
            </a:r>
          </a:p>
          <a:p>
            <a:pPr lvl="1"/>
            <a:r>
              <a:rPr lang="pt-BR" b="1" dirty="0"/>
              <a:t>Leitura/gravação</a:t>
            </a:r>
            <a:r>
              <a:rPr lang="pt-BR" dirty="0"/>
              <a:t> – cache </a:t>
            </a:r>
            <a:r>
              <a:rPr lang="pt-BR" dirty="0" err="1"/>
              <a:t>write-back</a:t>
            </a:r>
            <a:r>
              <a:rPr lang="pt-BR" dirty="0"/>
              <a:t>. Use essa opção somente se o aplicativo manipular corretamente a gravação de dados armazenados em cache em discos persistentes quando necessário.</a:t>
            </a:r>
          </a:p>
          <a:p>
            <a:pPr lvl="2"/>
            <a:r>
              <a:rPr lang="pt-BR" dirty="0" err="1"/>
              <a:t>Latencia</a:t>
            </a:r>
            <a:r>
              <a:rPr lang="pt-BR" dirty="0"/>
              <a:t> Aumenta, IOPS </a:t>
            </a:r>
            <a:r>
              <a:rPr lang="pt-BR" dirty="0" err="1"/>
              <a:t>Diminiu</a:t>
            </a:r>
            <a:r>
              <a:rPr lang="pt-BR" dirty="0"/>
              <a:t>.</a:t>
            </a:r>
          </a:p>
          <a:p>
            <a:pPr lvl="1"/>
            <a:r>
              <a:rPr lang="pt-BR" b="1" dirty="0"/>
              <a:t>Somente leitura</a:t>
            </a:r>
            <a:r>
              <a:rPr lang="pt-BR" dirty="0"/>
              <a:t> – as leituras são executadas do cache</a:t>
            </a:r>
          </a:p>
          <a:p>
            <a:pPr lvl="2"/>
            <a:r>
              <a:rPr lang="pt-BR" dirty="0" err="1"/>
              <a:t>Latencia</a:t>
            </a:r>
            <a:r>
              <a:rPr lang="pt-BR" dirty="0"/>
              <a:t> Diminui, IOPS </a:t>
            </a:r>
            <a:r>
              <a:rPr lang="pt-BR" dirty="0" err="1"/>
              <a:t>Autenta</a:t>
            </a:r>
            <a:r>
              <a:rPr lang="pt-BR" dirty="0"/>
              <a:t>.</a:t>
            </a:r>
          </a:p>
          <a:p>
            <a:pPr lvl="1"/>
            <a:r>
              <a:rPr lang="pt-BR" b="1" dirty="0"/>
              <a:t>Nenhum</a:t>
            </a:r>
            <a:r>
              <a:rPr lang="pt-BR" dirty="0"/>
              <a:t> – sem cache. Selecione essa opção para discos somente gravação e de gravação intensa. Os arquivos de log são um bom candidato porque são operações de gravação intensa.</a:t>
            </a:r>
          </a:p>
          <a:p>
            <a:endParaRPr lang="pt-BR" dirty="0"/>
          </a:p>
          <a:p>
            <a:endParaRPr lang="pt-BR" dirty="0"/>
          </a:p>
          <a:p>
            <a:pPr lvl="1"/>
            <a:endParaRPr lang="pt-BR" dirty="0"/>
          </a:p>
        </p:txBody>
      </p:sp>
    </p:spTree>
    <p:extLst>
      <p:ext uri="{BB962C8B-B14F-4D97-AF65-F5344CB8AC3E}">
        <p14:creationId xmlns:p14="http://schemas.microsoft.com/office/powerpoint/2010/main" val="24418815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E687B0-5FF1-4DD2-A425-139503DA80B8}"/>
              </a:ext>
            </a:extLst>
          </p:cNvPr>
          <p:cNvSpPr>
            <a:spLocks noGrp="1"/>
          </p:cNvSpPr>
          <p:nvPr>
            <p:ph type="title"/>
          </p:nvPr>
        </p:nvSpPr>
        <p:spPr/>
        <p:txBody>
          <a:bodyPr/>
          <a:lstStyle/>
          <a:p>
            <a:r>
              <a:rPr lang="pt-BR" dirty="0"/>
              <a:t>Virtual </a:t>
            </a:r>
            <a:r>
              <a:rPr lang="pt-BR" dirty="0" err="1"/>
              <a:t>Machine</a:t>
            </a:r>
            <a:r>
              <a:rPr lang="pt-BR" dirty="0"/>
              <a:t> - Disk </a:t>
            </a:r>
            <a:r>
              <a:rPr lang="pt-BR" dirty="0" err="1"/>
              <a:t>Caching</a:t>
            </a:r>
            <a:endParaRPr lang="pt-BR" dirty="0"/>
          </a:p>
        </p:txBody>
      </p:sp>
      <p:pic>
        <p:nvPicPr>
          <p:cNvPr id="6" name="Imagem 5">
            <a:extLst>
              <a:ext uri="{FF2B5EF4-FFF2-40B4-BE49-F238E27FC236}">
                <a16:creationId xmlns:a16="http://schemas.microsoft.com/office/drawing/2014/main" id="{3301E4D0-9FA1-406B-874C-BB86BF410E89}"/>
              </a:ext>
            </a:extLst>
          </p:cNvPr>
          <p:cNvPicPr>
            <a:picLocks noChangeAspect="1"/>
          </p:cNvPicPr>
          <p:nvPr/>
        </p:nvPicPr>
        <p:blipFill>
          <a:blip r:embed="rId2"/>
          <a:stretch>
            <a:fillRect/>
          </a:stretch>
        </p:blipFill>
        <p:spPr>
          <a:xfrm>
            <a:off x="-4499" y="1257113"/>
            <a:ext cx="9496567" cy="4099934"/>
          </a:xfrm>
          <a:prstGeom prst="rect">
            <a:avLst/>
          </a:prstGeom>
        </p:spPr>
      </p:pic>
      <p:sp>
        <p:nvSpPr>
          <p:cNvPr id="7" name="Retângulo 6">
            <a:extLst>
              <a:ext uri="{FF2B5EF4-FFF2-40B4-BE49-F238E27FC236}">
                <a16:creationId xmlns:a16="http://schemas.microsoft.com/office/drawing/2014/main" id="{074602E6-8D00-44DD-A9D6-66C6C9B9108D}"/>
              </a:ext>
            </a:extLst>
          </p:cNvPr>
          <p:cNvSpPr/>
          <p:nvPr/>
        </p:nvSpPr>
        <p:spPr>
          <a:xfrm>
            <a:off x="5913120" y="1798320"/>
            <a:ext cx="1854198"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err="1">
                <a:solidFill>
                  <a:schemeClr val="tx1"/>
                </a:solidFill>
              </a:rPr>
              <a:t>Caching</a:t>
            </a:r>
            <a:r>
              <a:rPr lang="pt-BR" sz="2000" b="1" dirty="0">
                <a:solidFill>
                  <a:schemeClr val="tx1"/>
                </a:solidFill>
              </a:rPr>
              <a:t> Disk</a:t>
            </a:r>
          </a:p>
        </p:txBody>
      </p:sp>
      <p:sp>
        <p:nvSpPr>
          <p:cNvPr id="8" name="Elipse 7">
            <a:extLst>
              <a:ext uri="{FF2B5EF4-FFF2-40B4-BE49-F238E27FC236}">
                <a16:creationId xmlns:a16="http://schemas.microsoft.com/office/drawing/2014/main" id="{BA57324A-AE0B-4666-B0E8-7F2902875B87}"/>
              </a:ext>
            </a:extLst>
          </p:cNvPr>
          <p:cNvSpPr/>
          <p:nvPr/>
        </p:nvSpPr>
        <p:spPr>
          <a:xfrm>
            <a:off x="8178800" y="3429000"/>
            <a:ext cx="924560" cy="826504"/>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9" name="Conector de Seta Reta 8">
            <a:extLst>
              <a:ext uri="{FF2B5EF4-FFF2-40B4-BE49-F238E27FC236}">
                <a16:creationId xmlns:a16="http://schemas.microsoft.com/office/drawing/2014/main" id="{E4450CAF-709E-4033-9A34-1C7B2DEF41F6}"/>
              </a:ext>
            </a:extLst>
          </p:cNvPr>
          <p:cNvCxnSpPr>
            <a:cxnSpLocks/>
            <a:stCxn id="7" idx="2"/>
            <a:endCxn id="8" idx="0"/>
          </p:cNvCxnSpPr>
          <p:nvPr/>
        </p:nvCxnSpPr>
        <p:spPr>
          <a:xfrm>
            <a:off x="6840219" y="2450061"/>
            <a:ext cx="1800861" cy="978939"/>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8B2F4676-F333-4B3A-B5DD-2EA166C040C7}"/>
              </a:ext>
            </a:extLst>
          </p:cNvPr>
          <p:cNvSpPr/>
          <p:nvPr/>
        </p:nvSpPr>
        <p:spPr>
          <a:xfrm>
            <a:off x="8618308" y="4459782"/>
            <a:ext cx="924560" cy="826504"/>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6" name="Conector de Seta Reta 15">
            <a:extLst>
              <a:ext uri="{FF2B5EF4-FFF2-40B4-BE49-F238E27FC236}">
                <a16:creationId xmlns:a16="http://schemas.microsoft.com/office/drawing/2014/main" id="{B4043908-B418-4510-A08C-D70F8DA91DE9}"/>
              </a:ext>
            </a:extLst>
          </p:cNvPr>
          <p:cNvCxnSpPr>
            <a:cxnSpLocks/>
            <a:stCxn id="7" idx="2"/>
            <a:endCxn id="15" idx="2"/>
          </p:cNvCxnSpPr>
          <p:nvPr/>
        </p:nvCxnSpPr>
        <p:spPr>
          <a:xfrm>
            <a:off x="6840219" y="2450061"/>
            <a:ext cx="1778089" cy="2422973"/>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22" name="Retângulo 21">
            <a:extLst>
              <a:ext uri="{FF2B5EF4-FFF2-40B4-BE49-F238E27FC236}">
                <a16:creationId xmlns:a16="http://schemas.microsoft.com/office/drawing/2014/main" id="{1031B548-F60E-4544-8C67-254F1DB2D3DC}"/>
              </a:ext>
            </a:extLst>
          </p:cNvPr>
          <p:cNvSpPr/>
          <p:nvPr/>
        </p:nvSpPr>
        <p:spPr>
          <a:xfrm>
            <a:off x="680720" y="4634545"/>
            <a:ext cx="1854198"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Editar </a:t>
            </a:r>
            <a:r>
              <a:rPr lang="pt-BR" sz="2000" b="1" dirty="0" err="1">
                <a:solidFill>
                  <a:schemeClr val="tx1"/>
                </a:solidFill>
              </a:rPr>
              <a:t>Caching</a:t>
            </a:r>
            <a:endParaRPr lang="pt-BR" sz="2000" b="1" dirty="0">
              <a:solidFill>
                <a:schemeClr val="tx1"/>
              </a:solidFill>
            </a:endParaRPr>
          </a:p>
        </p:txBody>
      </p:sp>
      <p:sp>
        <p:nvSpPr>
          <p:cNvPr id="23" name="Elipse 22">
            <a:extLst>
              <a:ext uri="{FF2B5EF4-FFF2-40B4-BE49-F238E27FC236}">
                <a16:creationId xmlns:a16="http://schemas.microsoft.com/office/drawing/2014/main" id="{5B1C7D40-E6FA-4615-A408-B10BC11D072F}"/>
              </a:ext>
            </a:extLst>
          </p:cNvPr>
          <p:cNvSpPr/>
          <p:nvPr/>
        </p:nvSpPr>
        <p:spPr>
          <a:xfrm>
            <a:off x="1930400" y="1839863"/>
            <a:ext cx="924560" cy="383592"/>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4" name="Conector de Seta Reta 23">
            <a:extLst>
              <a:ext uri="{FF2B5EF4-FFF2-40B4-BE49-F238E27FC236}">
                <a16:creationId xmlns:a16="http://schemas.microsoft.com/office/drawing/2014/main" id="{231132A3-9323-4737-B555-9CFB6B614045}"/>
              </a:ext>
            </a:extLst>
          </p:cNvPr>
          <p:cNvCxnSpPr>
            <a:cxnSpLocks/>
            <a:stCxn id="22" idx="0"/>
            <a:endCxn id="23" idx="4"/>
          </p:cNvCxnSpPr>
          <p:nvPr/>
        </p:nvCxnSpPr>
        <p:spPr>
          <a:xfrm flipV="1">
            <a:off x="1607819" y="2223455"/>
            <a:ext cx="784861" cy="2411090"/>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22082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83545E-7840-435A-ADDF-B0B0369C36E9}"/>
              </a:ext>
            </a:extLst>
          </p:cNvPr>
          <p:cNvSpPr>
            <a:spLocks noGrp="1"/>
          </p:cNvSpPr>
          <p:nvPr>
            <p:ph type="title"/>
          </p:nvPr>
        </p:nvSpPr>
        <p:spPr>
          <a:xfrm>
            <a:off x="2370667" y="2187743"/>
            <a:ext cx="8886613" cy="2482515"/>
          </a:xfrm>
        </p:spPr>
        <p:txBody>
          <a:bodyPr vert="horz" lIns="91440" tIns="45720" rIns="91440" bIns="45720" rtlCol="0" anchor="ctr">
            <a:normAutofit/>
          </a:bodyPr>
          <a:lstStyle/>
          <a:p>
            <a:r>
              <a:rPr lang="pt-BR" sz="6000" kern="1200" dirty="0" err="1">
                <a:solidFill>
                  <a:schemeClr val="tx1"/>
                </a:solidFill>
                <a:latin typeface="+mj-lt"/>
                <a:ea typeface="+mj-ea"/>
                <a:cs typeface="+mj-cs"/>
              </a:rPr>
              <a:t>Scalonamento</a:t>
            </a:r>
            <a:r>
              <a:rPr lang="pt-BR" sz="6000" kern="1200" dirty="0">
                <a:solidFill>
                  <a:schemeClr val="tx1"/>
                </a:solidFill>
                <a:latin typeface="+mj-lt"/>
                <a:ea typeface="+mj-ea"/>
                <a:cs typeface="+mj-cs"/>
              </a:rPr>
              <a:t> de Máquinas Virtuais</a:t>
            </a:r>
            <a:endParaRPr lang="en-US" sz="6000" kern="1200" dirty="0">
              <a:solidFill>
                <a:schemeClr val="tx1"/>
              </a:solidFill>
              <a:latin typeface="+mj-lt"/>
              <a:ea typeface="+mj-ea"/>
              <a:cs typeface="+mj-cs"/>
            </a:endParaRPr>
          </a:p>
        </p:txBody>
      </p:sp>
      <p:pic>
        <p:nvPicPr>
          <p:cNvPr id="6" name="Graphic 5">
            <a:extLst>
              <a:ext uri="{FF2B5EF4-FFF2-40B4-BE49-F238E27FC236}">
                <a16:creationId xmlns:a16="http://schemas.microsoft.com/office/drawing/2014/main" id="{052314E5-8253-48A5-859B-129F94E805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1" y="2743201"/>
            <a:ext cx="1371600" cy="1371600"/>
          </a:xfrm>
          <a:prstGeom prst="rect">
            <a:avLst/>
          </a:prstGeom>
        </p:spPr>
      </p:pic>
    </p:spTree>
    <p:extLst>
      <p:ext uri="{BB962C8B-B14F-4D97-AF65-F5344CB8AC3E}">
        <p14:creationId xmlns:p14="http://schemas.microsoft.com/office/powerpoint/2010/main" val="24696021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F79D4B-5454-4D6B-AAAF-9D5B26C2AA3C}"/>
              </a:ext>
            </a:extLst>
          </p:cNvPr>
          <p:cNvSpPr>
            <a:spLocks noGrp="1"/>
          </p:cNvSpPr>
          <p:nvPr>
            <p:ph type="title"/>
          </p:nvPr>
        </p:nvSpPr>
        <p:spPr/>
        <p:txBody>
          <a:bodyPr/>
          <a:lstStyle/>
          <a:p>
            <a:r>
              <a:rPr lang="pt-BR" dirty="0" err="1"/>
              <a:t>Scaling</a:t>
            </a:r>
            <a:r>
              <a:rPr lang="pt-BR" dirty="0"/>
              <a:t> Set</a:t>
            </a:r>
          </a:p>
        </p:txBody>
      </p:sp>
      <p:sp>
        <p:nvSpPr>
          <p:cNvPr id="3" name="Espaço Reservado para Conteúdo 2">
            <a:extLst>
              <a:ext uri="{FF2B5EF4-FFF2-40B4-BE49-F238E27FC236}">
                <a16:creationId xmlns:a16="http://schemas.microsoft.com/office/drawing/2014/main" id="{A485F020-68AA-4285-8571-250768BAB79E}"/>
              </a:ext>
            </a:extLst>
          </p:cNvPr>
          <p:cNvSpPr>
            <a:spLocks noGrp="1"/>
          </p:cNvSpPr>
          <p:nvPr>
            <p:ph idx="1"/>
          </p:nvPr>
        </p:nvSpPr>
        <p:spPr/>
        <p:txBody>
          <a:bodyPr/>
          <a:lstStyle/>
          <a:p>
            <a:r>
              <a:rPr lang="pt-BR" dirty="0"/>
              <a:t>Conjuntos de dimensionamento de máquinas virtuais do Azure lhe permitem criar e gerenciar um grupo de </a:t>
            </a:r>
            <a:r>
              <a:rPr lang="pt-BR" dirty="0" err="1"/>
              <a:t>VMs</a:t>
            </a:r>
            <a:r>
              <a:rPr lang="pt-BR" dirty="0"/>
              <a:t> idênticas, com balanceamento de carga e dimensionamento automático.</a:t>
            </a:r>
          </a:p>
          <a:p>
            <a:r>
              <a:rPr lang="pt-BR" dirty="0"/>
              <a:t>Os conjuntos de dimensionamento são criados a partir de máquinas virtuais. Com conjuntos de dimensionamento, as camadas de automação e gerenciamento são fornecidas para executar e dimensionar seus aplicativos</a:t>
            </a:r>
          </a:p>
        </p:txBody>
      </p:sp>
    </p:spTree>
    <p:extLst>
      <p:ext uri="{BB962C8B-B14F-4D97-AF65-F5344CB8AC3E}">
        <p14:creationId xmlns:p14="http://schemas.microsoft.com/office/powerpoint/2010/main" val="14048842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419CA8-D9B1-46B4-BDCC-BE45ADAD8331}"/>
              </a:ext>
            </a:extLst>
          </p:cNvPr>
          <p:cNvSpPr>
            <a:spLocks noGrp="1"/>
          </p:cNvSpPr>
          <p:nvPr>
            <p:ph type="title"/>
          </p:nvPr>
        </p:nvSpPr>
        <p:spPr/>
        <p:txBody>
          <a:bodyPr/>
          <a:lstStyle/>
          <a:p>
            <a:r>
              <a:rPr lang="pt-BR" dirty="0"/>
              <a:t>Network – Máquinas Virtuais</a:t>
            </a:r>
          </a:p>
        </p:txBody>
      </p:sp>
      <p:pic>
        <p:nvPicPr>
          <p:cNvPr id="4" name="Imagem 3">
            <a:extLst>
              <a:ext uri="{FF2B5EF4-FFF2-40B4-BE49-F238E27FC236}">
                <a16:creationId xmlns:a16="http://schemas.microsoft.com/office/drawing/2014/main" id="{763FDD24-A570-472E-BEB6-1C494EB8AE47}"/>
              </a:ext>
            </a:extLst>
          </p:cNvPr>
          <p:cNvPicPr>
            <a:picLocks noChangeAspect="1"/>
          </p:cNvPicPr>
          <p:nvPr/>
        </p:nvPicPr>
        <p:blipFill>
          <a:blip r:embed="rId2"/>
          <a:stretch>
            <a:fillRect/>
          </a:stretch>
        </p:blipFill>
        <p:spPr>
          <a:xfrm>
            <a:off x="325120" y="1281333"/>
            <a:ext cx="10194286" cy="4763868"/>
          </a:xfrm>
          <a:prstGeom prst="rect">
            <a:avLst/>
          </a:prstGeom>
        </p:spPr>
      </p:pic>
    </p:spTree>
    <p:extLst>
      <p:ext uri="{BB962C8B-B14F-4D97-AF65-F5344CB8AC3E}">
        <p14:creationId xmlns:p14="http://schemas.microsoft.com/office/powerpoint/2010/main" val="38385008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419CA8-D9B1-46B4-BDCC-BE45ADAD8331}"/>
              </a:ext>
            </a:extLst>
          </p:cNvPr>
          <p:cNvSpPr>
            <a:spLocks noGrp="1"/>
          </p:cNvSpPr>
          <p:nvPr>
            <p:ph type="title"/>
          </p:nvPr>
        </p:nvSpPr>
        <p:spPr/>
        <p:txBody>
          <a:bodyPr/>
          <a:lstStyle/>
          <a:p>
            <a:r>
              <a:rPr lang="pt-BR" dirty="0"/>
              <a:t>Network – Máquinas Virtuais</a:t>
            </a:r>
          </a:p>
        </p:txBody>
      </p:sp>
      <p:pic>
        <p:nvPicPr>
          <p:cNvPr id="3" name="Imagem 2">
            <a:extLst>
              <a:ext uri="{FF2B5EF4-FFF2-40B4-BE49-F238E27FC236}">
                <a16:creationId xmlns:a16="http://schemas.microsoft.com/office/drawing/2014/main" id="{EDC07451-7D95-4612-BFDB-7EFE05EF5BE8}"/>
              </a:ext>
            </a:extLst>
          </p:cNvPr>
          <p:cNvPicPr>
            <a:picLocks noChangeAspect="1"/>
          </p:cNvPicPr>
          <p:nvPr/>
        </p:nvPicPr>
        <p:blipFill>
          <a:blip r:embed="rId2"/>
          <a:stretch>
            <a:fillRect/>
          </a:stretch>
        </p:blipFill>
        <p:spPr>
          <a:xfrm>
            <a:off x="649813" y="1209040"/>
            <a:ext cx="9855627" cy="5552656"/>
          </a:xfrm>
          <a:prstGeom prst="rect">
            <a:avLst/>
          </a:prstGeom>
        </p:spPr>
      </p:pic>
    </p:spTree>
    <p:extLst>
      <p:ext uri="{BB962C8B-B14F-4D97-AF65-F5344CB8AC3E}">
        <p14:creationId xmlns:p14="http://schemas.microsoft.com/office/powerpoint/2010/main" val="10072237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F79D4B-5454-4D6B-AAAF-9D5B26C2AA3C}"/>
              </a:ext>
            </a:extLst>
          </p:cNvPr>
          <p:cNvSpPr>
            <a:spLocks noGrp="1"/>
          </p:cNvSpPr>
          <p:nvPr>
            <p:ph type="title"/>
          </p:nvPr>
        </p:nvSpPr>
        <p:spPr>
          <a:xfrm>
            <a:off x="838200" y="365125"/>
            <a:ext cx="10515600" cy="701675"/>
          </a:xfrm>
        </p:spPr>
        <p:txBody>
          <a:bodyPr/>
          <a:lstStyle/>
          <a:p>
            <a:r>
              <a:rPr lang="pt-BR" dirty="0" err="1"/>
              <a:t>Availability</a:t>
            </a:r>
            <a:r>
              <a:rPr lang="pt-BR" dirty="0"/>
              <a:t> Set</a:t>
            </a:r>
          </a:p>
        </p:txBody>
      </p:sp>
      <p:pic>
        <p:nvPicPr>
          <p:cNvPr id="6" name="Imagem 5">
            <a:extLst>
              <a:ext uri="{FF2B5EF4-FFF2-40B4-BE49-F238E27FC236}">
                <a16:creationId xmlns:a16="http://schemas.microsoft.com/office/drawing/2014/main" id="{092AB82E-5725-4AD2-A998-31ADFF501244}"/>
              </a:ext>
            </a:extLst>
          </p:cNvPr>
          <p:cNvPicPr>
            <a:picLocks noChangeAspect="1"/>
          </p:cNvPicPr>
          <p:nvPr/>
        </p:nvPicPr>
        <p:blipFill>
          <a:blip r:embed="rId2"/>
          <a:stretch>
            <a:fillRect/>
          </a:stretch>
        </p:blipFill>
        <p:spPr>
          <a:xfrm>
            <a:off x="0" y="1159858"/>
            <a:ext cx="12009120" cy="5557941"/>
          </a:xfrm>
          <a:prstGeom prst="rect">
            <a:avLst/>
          </a:prstGeom>
        </p:spPr>
      </p:pic>
      <p:sp>
        <p:nvSpPr>
          <p:cNvPr id="7" name="Retângulo 6">
            <a:extLst>
              <a:ext uri="{FF2B5EF4-FFF2-40B4-BE49-F238E27FC236}">
                <a16:creationId xmlns:a16="http://schemas.microsoft.com/office/drawing/2014/main" id="{6D3A9F5D-33BA-4DBC-9B11-AC158744471E}"/>
              </a:ext>
            </a:extLst>
          </p:cNvPr>
          <p:cNvSpPr/>
          <p:nvPr/>
        </p:nvSpPr>
        <p:spPr>
          <a:xfrm>
            <a:off x="9977120" y="2777259"/>
            <a:ext cx="1854198"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err="1">
                <a:solidFill>
                  <a:schemeClr val="tx1"/>
                </a:solidFill>
              </a:rPr>
              <a:t>Hacks</a:t>
            </a:r>
            <a:endParaRPr lang="pt-BR" sz="2000" b="1" dirty="0">
              <a:solidFill>
                <a:schemeClr val="tx1"/>
              </a:solidFill>
            </a:endParaRPr>
          </a:p>
        </p:txBody>
      </p:sp>
      <p:sp>
        <p:nvSpPr>
          <p:cNvPr id="8" name="Elipse 7">
            <a:extLst>
              <a:ext uri="{FF2B5EF4-FFF2-40B4-BE49-F238E27FC236}">
                <a16:creationId xmlns:a16="http://schemas.microsoft.com/office/drawing/2014/main" id="{47AE5865-620E-4B86-943E-A385CA80D54A}"/>
              </a:ext>
            </a:extLst>
          </p:cNvPr>
          <p:cNvSpPr/>
          <p:nvPr/>
        </p:nvSpPr>
        <p:spPr>
          <a:xfrm flipV="1">
            <a:off x="8361680" y="4214815"/>
            <a:ext cx="1320800" cy="553804"/>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9" name="Conector de Seta Reta 8">
            <a:extLst>
              <a:ext uri="{FF2B5EF4-FFF2-40B4-BE49-F238E27FC236}">
                <a16:creationId xmlns:a16="http://schemas.microsoft.com/office/drawing/2014/main" id="{210DDAE1-F9B5-49D2-9E57-D074E7C632CF}"/>
              </a:ext>
            </a:extLst>
          </p:cNvPr>
          <p:cNvCxnSpPr>
            <a:cxnSpLocks/>
            <a:stCxn id="7" idx="1"/>
            <a:endCxn id="8" idx="4"/>
          </p:cNvCxnSpPr>
          <p:nvPr/>
        </p:nvCxnSpPr>
        <p:spPr>
          <a:xfrm flipH="1">
            <a:off x="9022080" y="3103130"/>
            <a:ext cx="955040" cy="1111685"/>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4" name="Retângulo 13">
            <a:extLst>
              <a:ext uri="{FF2B5EF4-FFF2-40B4-BE49-F238E27FC236}">
                <a16:creationId xmlns:a16="http://schemas.microsoft.com/office/drawing/2014/main" id="{2EE927CA-02A8-4493-AE56-162138D7455C}"/>
              </a:ext>
            </a:extLst>
          </p:cNvPr>
          <p:cNvSpPr/>
          <p:nvPr/>
        </p:nvSpPr>
        <p:spPr>
          <a:xfrm>
            <a:off x="9918701" y="4318246"/>
            <a:ext cx="1854198"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Servidores</a:t>
            </a:r>
          </a:p>
        </p:txBody>
      </p:sp>
      <p:sp>
        <p:nvSpPr>
          <p:cNvPr id="15" name="Elipse 14">
            <a:extLst>
              <a:ext uri="{FF2B5EF4-FFF2-40B4-BE49-F238E27FC236}">
                <a16:creationId xmlns:a16="http://schemas.microsoft.com/office/drawing/2014/main" id="{85845344-26D2-4F9B-972A-B6BB9A48DA05}"/>
              </a:ext>
            </a:extLst>
          </p:cNvPr>
          <p:cNvSpPr/>
          <p:nvPr/>
        </p:nvSpPr>
        <p:spPr>
          <a:xfrm flipV="1">
            <a:off x="8280400" y="5421240"/>
            <a:ext cx="1320800" cy="553804"/>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6" name="Conector de Seta Reta 15">
            <a:extLst>
              <a:ext uri="{FF2B5EF4-FFF2-40B4-BE49-F238E27FC236}">
                <a16:creationId xmlns:a16="http://schemas.microsoft.com/office/drawing/2014/main" id="{E3624C2B-AB1C-4E31-8DE6-D08934DA3FB5}"/>
              </a:ext>
            </a:extLst>
          </p:cNvPr>
          <p:cNvCxnSpPr>
            <a:cxnSpLocks/>
            <a:stCxn id="14" idx="1"/>
            <a:endCxn id="15" idx="4"/>
          </p:cNvCxnSpPr>
          <p:nvPr/>
        </p:nvCxnSpPr>
        <p:spPr>
          <a:xfrm flipH="1">
            <a:off x="8940800" y="4644117"/>
            <a:ext cx="977901" cy="777123"/>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7" name="Retângulo 16">
            <a:extLst>
              <a:ext uri="{FF2B5EF4-FFF2-40B4-BE49-F238E27FC236}">
                <a16:creationId xmlns:a16="http://schemas.microsoft.com/office/drawing/2014/main" id="{8285C91C-260B-4CF9-B831-431F8C72C08D}"/>
              </a:ext>
            </a:extLst>
          </p:cNvPr>
          <p:cNvSpPr/>
          <p:nvPr/>
        </p:nvSpPr>
        <p:spPr>
          <a:xfrm>
            <a:off x="8798560" y="5984616"/>
            <a:ext cx="3032758"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Gerenciamento dos Discos Automática ou manual</a:t>
            </a:r>
          </a:p>
        </p:txBody>
      </p:sp>
      <p:sp>
        <p:nvSpPr>
          <p:cNvPr id="18" name="Elipse 17">
            <a:extLst>
              <a:ext uri="{FF2B5EF4-FFF2-40B4-BE49-F238E27FC236}">
                <a16:creationId xmlns:a16="http://schemas.microsoft.com/office/drawing/2014/main" id="{FB0B7035-3206-46C9-B1D7-6395492D2DC4}"/>
              </a:ext>
            </a:extLst>
          </p:cNvPr>
          <p:cNvSpPr/>
          <p:nvPr/>
        </p:nvSpPr>
        <p:spPr>
          <a:xfrm flipV="1">
            <a:off x="4419600" y="5865356"/>
            <a:ext cx="2489200" cy="553804"/>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9" name="Conector de Seta Reta 18">
            <a:extLst>
              <a:ext uri="{FF2B5EF4-FFF2-40B4-BE49-F238E27FC236}">
                <a16:creationId xmlns:a16="http://schemas.microsoft.com/office/drawing/2014/main" id="{953255BA-111E-46FF-BE3C-EF7D1CF54025}"/>
              </a:ext>
            </a:extLst>
          </p:cNvPr>
          <p:cNvCxnSpPr>
            <a:cxnSpLocks/>
            <a:stCxn id="17" idx="1"/>
            <a:endCxn id="18" idx="6"/>
          </p:cNvCxnSpPr>
          <p:nvPr/>
        </p:nvCxnSpPr>
        <p:spPr>
          <a:xfrm flipH="1" flipV="1">
            <a:off x="6908800" y="6142258"/>
            <a:ext cx="1889760" cy="168229"/>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81235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A4FF4FFD-8272-4194-AEC4-806005B972B7}"/>
              </a:ext>
            </a:extLst>
          </p:cNvPr>
          <p:cNvPicPr>
            <a:picLocks noChangeAspect="1"/>
          </p:cNvPicPr>
          <p:nvPr/>
        </p:nvPicPr>
        <p:blipFill>
          <a:blip r:embed="rId2"/>
          <a:stretch>
            <a:fillRect/>
          </a:stretch>
        </p:blipFill>
        <p:spPr>
          <a:xfrm>
            <a:off x="252963" y="1142355"/>
            <a:ext cx="8073503" cy="5336104"/>
          </a:xfrm>
          <a:prstGeom prst="rect">
            <a:avLst/>
          </a:prstGeom>
        </p:spPr>
      </p:pic>
      <p:sp>
        <p:nvSpPr>
          <p:cNvPr id="2" name="Título 1">
            <a:extLst>
              <a:ext uri="{FF2B5EF4-FFF2-40B4-BE49-F238E27FC236}">
                <a16:creationId xmlns:a16="http://schemas.microsoft.com/office/drawing/2014/main" id="{0CF79D4B-5454-4D6B-AAAF-9D5B26C2AA3C}"/>
              </a:ext>
            </a:extLst>
          </p:cNvPr>
          <p:cNvSpPr>
            <a:spLocks noGrp="1"/>
          </p:cNvSpPr>
          <p:nvPr>
            <p:ph type="title"/>
          </p:nvPr>
        </p:nvSpPr>
        <p:spPr>
          <a:xfrm>
            <a:off x="838200" y="365125"/>
            <a:ext cx="10515600" cy="701675"/>
          </a:xfrm>
        </p:spPr>
        <p:txBody>
          <a:bodyPr/>
          <a:lstStyle/>
          <a:p>
            <a:r>
              <a:rPr lang="pt-BR" dirty="0"/>
              <a:t>Máquina Virtual - </a:t>
            </a:r>
            <a:r>
              <a:rPr lang="pt-BR" dirty="0" err="1"/>
              <a:t>Availability</a:t>
            </a:r>
            <a:r>
              <a:rPr lang="pt-BR" dirty="0"/>
              <a:t> Set</a:t>
            </a:r>
          </a:p>
        </p:txBody>
      </p:sp>
      <p:sp>
        <p:nvSpPr>
          <p:cNvPr id="7" name="Retângulo 6">
            <a:extLst>
              <a:ext uri="{FF2B5EF4-FFF2-40B4-BE49-F238E27FC236}">
                <a16:creationId xmlns:a16="http://schemas.microsoft.com/office/drawing/2014/main" id="{6D3A9F5D-33BA-4DBC-9B11-AC158744471E}"/>
              </a:ext>
            </a:extLst>
          </p:cNvPr>
          <p:cNvSpPr/>
          <p:nvPr/>
        </p:nvSpPr>
        <p:spPr>
          <a:xfrm>
            <a:off x="9977120" y="2777259"/>
            <a:ext cx="1854198"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Seleciona Disponibilidade</a:t>
            </a:r>
          </a:p>
        </p:txBody>
      </p:sp>
      <p:sp>
        <p:nvSpPr>
          <p:cNvPr id="8" name="Elipse 7">
            <a:extLst>
              <a:ext uri="{FF2B5EF4-FFF2-40B4-BE49-F238E27FC236}">
                <a16:creationId xmlns:a16="http://schemas.microsoft.com/office/drawing/2014/main" id="{47AE5865-620E-4B86-943E-A385CA80D54A}"/>
              </a:ext>
            </a:extLst>
          </p:cNvPr>
          <p:cNvSpPr/>
          <p:nvPr/>
        </p:nvSpPr>
        <p:spPr>
          <a:xfrm flipV="1">
            <a:off x="2623474" y="3546837"/>
            <a:ext cx="3332480" cy="553804"/>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9" name="Conector de Seta Reta 8">
            <a:extLst>
              <a:ext uri="{FF2B5EF4-FFF2-40B4-BE49-F238E27FC236}">
                <a16:creationId xmlns:a16="http://schemas.microsoft.com/office/drawing/2014/main" id="{210DDAE1-F9B5-49D2-9E57-D074E7C632CF}"/>
              </a:ext>
            </a:extLst>
          </p:cNvPr>
          <p:cNvCxnSpPr>
            <a:cxnSpLocks/>
            <a:stCxn id="7" idx="1"/>
            <a:endCxn id="8" idx="6"/>
          </p:cNvCxnSpPr>
          <p:nvPr/>
        </p:nvCxnSpPr>
        <p:spPr>
          <a:xfrm flipH="1">
            <a:off x="5955954" y="3103130"/>
            <a:ext cx="4021166" cy="720609"/>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4" name="Retângulo 13">
            <a:extLst>
              <a:ext uri="{FF2B5EF4-FFF2-40B4-BE49-F238E27FC236}">
                <a16:creationId xmlns:a16="http://schemas.microsoft.com/office/drawing/2014/main" id="{2EE927CA-02A8-4493-AE56-162138D7455C}"/>
              </a:ext>
            </a:extLst>
          </p:cNvPr>
          <p:cNvSpPr/>
          <p:nvPr/>
        </p:nvSpPr>
        <p:spPr>
          <a:xfrm>
            <a:off x="9703493" y="5257296"/>
            <a:ext cx="1854198"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Seleciona as regras</a:t>
            </a:r>
          </a:p>
        </p:txBody>
      </p:sp>
      <p:sp>
        <p:nvSpPr>
          <p:cNvPr id="15" name="Elipse 14">
            <a:extLst>
              <a:ext uri="{FF2B5EF4-FFF2-40B4-BE49-F238E27FC236}">
                <a16:creationId xmlns:a16="http://schemas.microsoft.com/office/drawing/2014/main" id="{85845344-26D2-4F9B-972A-B6BB9A48DA05}"/>
              </a:ext>
            </a:extLst>
          </p:cNvPr>
          <p:cNvSpPr/>
          <p:nvPr/>
        </p:nvSpPr>
        <p:spPr>
          <a:xfrm flipV="1">
            <a:off x="3116234" y="4031590"/>
            <a:ext cx="2346960" cy="553803"/>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6" name="Conector de Seta Reta 15">
            <a:extLst>
              <a:ext uri="{FF2B5EF4-FFF2-40B4-BE49-F238E27FC236}">
                <a16:creationId xmlns:a16="http://schemas.microsoft.com/office/drawing/2014/main" id="{E3624C2B-AB1C-4E31-8DE6-D08934DA3FB5}"/>
              </a:ext>
            </a:extLst>
          </p:cNvPr>
          <p:cNvCxnSpPr>
            <a:cxnSpLocks/>
            <a:stCxn id="14" idx="1"/>
            <a:endCxn id="15" idx="6"/>
          </p:cNvCxnSpPr>
          <p:nvPr/>
        </p:nvCxnSpPr>
        <p:spPr>
          <a:xfrm flipH="1" flipV="1">
            <a:off x="5463194" y="4308491"/>
            <a:ext cx="4240299" cy="1274676"/>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05482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19D2825E-A98B-4DDD-88C5-5DE2785F496F}"/>
              </a:ext>
            </a:extLst>
          </p:cNvPr>
          <p:cNvPicPr>
            <a:picLocks noChangeAspect="1"/>
          </p:cNvPicPr>
          <p:nvPr/>
        </p:nvPicPr>
        <p:blipFill>
          <a:blip r:embed="rId2"/>
          <a:stretch>
            <a:fillRect/>
          </a:stretch>
        </p:blipFill>
        <p:spPr>
          <a:xfrm>
            <a:off x="0" y="1068671"/>
            <a:ext cx="11923821" cy="5789329"/>
          </a:xfrm>
          <a:prstGeom prst="rect">
            <a:avLst/>
          </a:prstGeom>
        </p:spPr>
      </p:pic>
      <p:sp>
        <p:nvSpPr>
          <p:cNvPr id="2" name="Título 1">
            <a:extLst>
              <a:ext uri="{FF2B5EF4-FFF2-40B4-BE49-F238E27FC236}">
                <a16:creationId xmlns:a16="http://schemas.microsoft.com/office/drawing/2014/main" id="{0CF79D4B-5454-4D6B-AAAF-9D5B26C2AA3C}"/>
              </a:ext>
            </a:extLst>
          </p:cNvPr>
          <p:cNvSpPr>
            <a:spLocks noGrp="1"/>
          </p:cNvSpPr>
          <p:nvPr>
            <p:ph type="title"/>
          </p:nvPr>
        </p:nvSpPr>
        <p:spPr>
          <a:xfrm>
            <a:off x="838200" y="365125"/>
            <a:ext cx="10515600" cy="701675"/>
          </a:xfrm>
        </p:spPr>
        <p:txBody>
          <a:bodyPr/>
          <a:lstStyle/>
          <a:p>
            <a:r>
              <a:rPr lang="pt-BR" dirty="0"/>
              <a:t>Máquina Virtual - </a:t>
            </a:r>
            <a:r>
              <a:rPr lang="pt-BR" dirty="0" err="1"/>
              <a:t>Availability</a:t>
            </a:r>
            <a:r>
              <a:rPr lang="pt-BR" dirty="0"/>
              <a:t> Set</a:t>
            </a:r>
          </a:p>
        </p:txBody>
      </p:sp>
      <p:sp>
        <p:nvSpPr>
          <p:cNvPr id="7" name="Retângulo 6">
            <a:extLst>
              <a:ext uri="{FF2B5EF4-FFF2-40B4-BE49-F238E27FC236}">
                <a16:creationId xmlns:a16="http://schemas.microsoft.com/office/drawing/2014/main" id="{6D3A9F5D-33BA-4DBC-9B11-AC158744471E}"/>
              </a:ext>
            </a:extLst>
          </p:cNvPr>
          <p:cNvSpPr/>
          <p:nvPr/>
        </p:nvSpPr>
        <p:spPr>
          <a:xfrm>
            <a:off x="5595027" y="1525253"/>
            <a:ext cx="1854198"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Máquinas Virtuais</a:t>
            </a:r>
          </a:p>
        </p:txBody>
      </p:sp>
      <p:sp>
        <p:nvSpPr>
          <p:cNvPr id="8" name="Elipse 7">
            <a:extLst>
              <a:ext uri="{FF2B5EF4-FFF2-40B4-BE49-F238E27FC236}">
                <a16:creationId xmlns:a16="http://schemas.microsoft.com/office/drawing/2014/main" id="{47AE5865-620E-4B86-943E-A385CA80D54A}"/>
              </a:ext>
            </a:extLst>
          </p:cNvPr>
          <p:cNvSpPr/>
          <p:nvPr/>
        </p:nvSpPr>
        <p:spPr>
          <a:xfrm flipV="1">
            <a:off x="2623474" y="4897119"/>
            <a:ext cx="3332480" cy="979903"/>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9" name="Conector de Seta Reta 8">
            <a:extLst>
              <a:ext uri="{FF2B5EF4-FFF2-40B4-BE49-F238E27FC236}">
                <a16:creationId xmlns:a16="http://schemas.microsoft.com/office/drawing/2014/main" id="{210DDAE1-F9B5-49D2-9E57-D074E7C632CF}"/>
              </a:ext>
            </a:extLst>
          </p:cNvPr>
          <p:cNvCxnSpPr>
            <a:cxnSpLocks/>
            <a:stCxn id="7" idx="2"/>
          </p:cNvCxnSpPr>
          <p:nvPr/>
        </p:nvCxnSpPr>
        <p:spPr>
          <a:xfrm flipH="1">
            <a:off x="5512492" y="2176994"/>
            <a:ext cx="1009634" cy="2846755"/>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4" name="Retângulo 13">
            <a:extLst>
              <a:ext uri="{FF2B5EF4-FFF2-40B4-BE49-F238E27FC236}">
                <a16:creationId xmlns:a16="http://schemas.microsoft.com/office/drawing/2014/main" id="{2EE927CA-02A8-4493-AE56-162138D7455C}"/>
              </a:ext>
            </a:extLst>
          </p:cNvPr>
          <p:cNvSpPr/>
          <p:nvPr/>
        </p:nvSpPr>
        <p:spPr>
          <a:xfrm>
            <a:off x="3667759" y="5998976"/>
            <a:ext cx="1844731"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Racks Diferentes</a:t>
            </a:r>
          </a:p>
        </p:txBody>
      </p:sp>
      <p:sp>
        <p:nvSpPr>
          <p:cNvPr id="15" name="Elipse 14">
            <a:extLst>
              <a:ext uri="{FF2B5EF4-FFF2-40B4-BE49-F238E27FC236}">
                <a16:creationId xmlns:a16="http://schemas.microsoft.com/office/drawing/2014/main" id="{85845344-26D2-4F9B-972A-B6BB9A48DA05}"/>
              </a:ext>
            </a:extLst>
          </p:cNvPr>
          <p:cNvSpPr/>
          <p:nvPr/>
        </p:nvSpPr>
        <p:spPr>
          <a:xfrm flipV="1">
            <a:off x="7396480" y="4541518"/>
            <a:ext cx="923763" cy="1335505"/>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6" name="Conector de Seta Reta 15">
            <a:extLst>
              <a:ext uri="{FF2B5EF4-FFF2-40B4-BE49-F238E27FC236}">
                <a16:creationId xmlns:a16="http://schemas.microsoft.com/office/drawing/2014/main" id="{E3624C2B-AB1C-4E31-8DE6-D08934DA3FB5}"/>
              </a:ext>
            </a:extLst>
          </p:cNvPr>
          <p:cNvCxnSpPr>
            <a:cxnSpLocks/>
            <a:endCxn id="15" idx="1"/>
          </p:cNvCxnSpPr>
          <p:nvPr/>
        </p:nvCxnSpPr>
        <p:spPr>
          <a:xfrm flipV="1">
            <a:off x="5512490" y="5681443"/>
            <a:ext cx="2019272" cy="658402"/>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7" name="Retângulo 16">
            <a:extLst>
              <a:ext uri="{FF2B5EF4-FFF2-40B4-BE49-F238E27FC236}">
                <a16:creationId xmlns:a16="http://schemas.microsoft.com/office/drawing/2014/main" id="{D820E3F3-CD5F-40A6-9C8E-D972766D4244}"/>
              </a:ext>
            </a:extLst>
          </p:cNvPr>
          <p:cNvSpPr/>
          <p:nvPr/>
        </p:nvSpPr>
        <p:spPr>
          <a:xfrm>
            <a:off x="7966537" y="6018840"/>
            <a:ext cx="1698809"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Servidores Diferentes</a:t>
            </a:r>
          </a:p>
        </p:txBody>
      </p:sp>
      <p:sp>
        <p:nvSpPr>
          <p:cNvPr id="18" name="Elipse 17">
            <a:extLst>
              <a:ext uri="{FF2B5EF4-FFF2-40B4-BE49-F238E27FC236}">
                <a16:creationId xmlns:a16="http://schemas.microsoft.com/office/drawing/2014/main" id="{BEB9D2D6-0505-4FA1-8A49-CD0D622C0F7C}"/>
              </a:ext>
            </a:extLst>
          </p:cNvPr>
          <p:cNvSpPr/>
          <p:nvPr/>
        </p:nvSpPr>
        <p:spPr>
          <a:xfrm flipV="1">
            <a:off x="9845040" y="4541520"/>
            <a:ext cx="660400" cy="1564640"/>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9" name="Conector de Seta Reta 18">
            <a:extLst>
              <a:ext uri="{FF2B5EF4-FFF2-40B4-BE49-F238E27FC236}">
                <a16:creationId xmlns:a16="http://schemas.microsoft.com/office/drawing/2014/main" id="{B07FFDC5-0C78-4350-A520-77F5E26D2C6B}"/>
              </a:ext>
            </a:extLst>
          </p:cNvPr>
          <p:cNvCxnSpPr>
            <a:cxnSpLocks/>
            <a:stCxn id="17" idx="3"/>
            <a:endCxn id="18" idx="1"/>
          </p:cNvCxnSpPr>
          <p:nvPr/>
        </p:nvCxnSpPr>
        <p:spPr>
          <a:xfrm flipV="1">
            <a:off x="9665346" y="5877024"/>
            <a:ext cx="276407" cy="467687"/>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976417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F2A1F4-4FD8-4A71-92F2-6CF099F73474}"/>
              </a:ext>
            </a:extLst>
          </p:cNvPr>
          <p:cNvSpPr>
            <a:spLocks noGrp="1"/>
          </p:cNvSpPr>
          <p:nvPr>
            <p:ph type="title"/>
          </p:nvPr>
        </p:nvSpPr>
        <p:spPr/>
        <p:txBody>
          <a:bodyPr/>
          <a:lstStyle/>
          <a:p>
            <a:r>
              <a:rPr lang="pt-BR" dirty="0" err="1"/>
              <a:t>Scaling</a:t>
            </a:r>
            <a:r>
              <a:rPr lang="pt-BR" dirty="0"/>
              <a:t> Set </a:t>
            </a:r>
          </a:p>
        </p:txBody>
      </p:sp>
      <p:pic>
        <p:nvPicPr>
          <p:cNvPr id="5" name="Imagem 4">
            <a:extLst>
              <a:ext uri="{FF2B5EF4-FFF2-40B4-BE49-F238E27FC236}">
                <a16:creationId xmlns:a16="http://schemas.microsoft.com/office/drawing/2014/main" id="{57918CB8-93C3-4EB2-A437-49CE5BF7B2F4}"/>
              </a:ext>
            </a:extLst>
          </p:cNvPr>
          <p:cNvPicPr>
            <a:picLocks noChangeAspect="1"/>
          </p:cNvPicPr>
          <p:nvPr/>
        </p:nvPicPr>
        <p:blipFill>
          <a:blip r:embed="rId2"/>
          <a:stretch>
            <a:fillRect/>
          </a:stretch>
        </p:blipFill>
        <p:spPr>
          <a:xfrm>
            <a:off x="9650448" y="3516705"/>
            <a:ext cx="555435" cy="453235"/>
          </a:xfrm>
          <a:prstGeom prst="rect">
            <a:avLst/>
          </a:prstGeom>
        </p:spPr>
      </p:pic>
      <p:pic>
        <p:nvPicPr>
          <p:cNvPr id="6" name="Imagem 5">
            <a:extLst>
              <a:ext uri="{FF2B5EF4-FFF2-40B4-BE49-F238E27FC236}">
                <a16:creationId xmlns:a16="http://schemas.microsoft.com/office/drawing/2014/main" id="{782DDDF3-F635-4F46-B7EB-D994BE70B67A}"/>
              </a:ext>
            </a:extLst>
          </p:cNvPr>
          <p:cNvPicPr>
            <a:picLocks noChangeAspect="1"/>
          </p:cNvPicPr>
          <p:nvPr/>
        </p:nvPicPr>
        <p:blipFill>
          <a:blip r:embed="rId2"/>
          <a:stretch>
            <a:fillRect/>
          </a:stretch>
        </p:blipFill>
        <p:spPr>
          <a:xfrm>
            <a:off x="8670302" y="3501184"/>
            <a:ext cx="555435" cy="453235"/>
          </a:xfrm>
          <a:prstGeom prst="rect">
            <a:avLst/>
          </a:prstGeom>
        </p:spPr>
      </p:pic>
      <p:pic>
        <p:nvPicPr>
          <p:cNvPr id="7" name="Imagem 6">
            <a:extLst>
              <a:ext uri="{FF2B5EF4-FFF2-40B4-BE49-F238E27FC236}">
                <a16:creationId xmlns:a16="http://schemas.microsoft.com/office/drawing/2014/main" id="{6BD2D74F-F718-441C-9E10-245673B858ED}"/>
              </a:ext>
            </a:extLst>
          </p:cNvPr>
          <p:cNvPicPr>
            <a:picLocks noChangeAspect="1"/>
          </p:cNvPicPr>
          <p:nvPr/>
        </p:nvPicPr>
        <p:blipFill>
          <a:blip r:embed="rId2"/>
          <a:stretch>
            <a:fillRect/>
          </a:stretch>
        </p:blipFill>
        <p:spPr>
          <a:xfrm>
            <a:off x="7719709" y="3516706"/>
            <a:ext cx="555435" cy="453235"/>
          </a:xfrm>
          <a:prstGeom prst="rect">
            <a:avLst/>
          </a:prstGeom>
          <a:ln>
            <a:noFill/>
          </a:ln>
        </p:spPr>
      </p:pic>
      <p:pic>
        <p:nvPicPr>
          <p:cNvPr id="8" name="Imagem 7">
            <a:extLst>
              <a:ext uri="{FF2B5EF4-FFF2-40B4-BE49-F238E27FC236}">
                <a16:creationId xmlns:a16="http://schemas.microsoft.com/office/drawing/2014/main" id="{471BC1EB-D3A7-450C-9C94-6B7F0B3066A0}"/>
              </a:ext>
            </a:extLst>
          </p:cNvPr>
          <p:cNvPicPr>
            <a:picLocks noChangeAspect="1"/>
          </p:cNvPicPr>
          <p:nvPr/>
        </p:nvPicPr>
        <p:blipFill>
          <a:blip r:embed="rId3"/>
          <a:stretch>
            <a:fillRect/>
          </a:stretch>
        </p:blipFill>
        <p:spPr>
          <a:xfrm>
            <a:off x="8684610" y="2229786"/>
            <a:ext cx="564323" cy="386583"/>
          </a:xfrm>
          <a:prstGeom prst="rect">
            <a:avLst/>
          </a:prstGeom>
        </p:spPr>
      </p:pic>
      <p:cxnSp>
        <p:nvCxnSpPr>
          <p:cNvPr id="9" name="Conector de Seta Reta 8">
            <a:extLst>
              <a:ext uri="{FF2B5EF4-FFF2-40B4-BE49-F238E27FC236}">
                <a16:creationId xmlns:a16="http://schemas.microsoft.com/office/drawing/2014/main" id="{B9CDB671-0435-4E49-A4E0-BE4BA63AB535}"/>
              </a:ext>
            </a:extLst>
          </p:cNvPr>
          <p:cNvCxnSpPr>
            <a:cxnSpLocks/>
            <a:stCxn id="8" idx="2"/>
            <a:endCxn id="7" idx="0"/>
          </p:cNvCxnSpPr>
          <p:nvPr/>
        </p:nvCxnSpPr>
        <p:spPr>
          <a:xfrm flipH="1">
            <a:off x="7997427" y="2616369"/>
            <a:ext cx="969345" cy="900337"/>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0" name="Conector de Seta Reta 9">
            <a:extLst>
              <a:ext uri="{FF2B5EF4-FFF2-40B4-BE49-F238E27FC236}">
                <a16:creationId xmlns:a16="http://schemas.microsoft.com/office/drawing/2014/main" id="{87D6D4F6-99DD-4135-BC38-7989420698B4}"/>
              </a:ext>
            </a:extLst>
          </p:cNvPr>
          <p:cNvCxnSpPr>
            <a:cxnSpLocks/>
            <a:stCxn id="8" idx="2"/>
            <a:endCxn id="6" idx="0"/>
          </p:cNvCxnSpPr>
          <p:nvPr/>
        </p:nvCxnSpPr>
        <p:spPr>
          <a:xfrm flipH="1">
            <a:off x="8948020" y="2616369"/>
            <a:ext cx="18752" cy="884815"/>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1" name="Conector de Seta Reta 10">
            <a:extLst>
              <a:ext uri="{FF2B5EF4-FFF2-40B4-BE49-F238E27FC236}">
                <a16:creationId xmlns:a16="http://schemas.microsoft.com/office/drawing/2014/main" id="{1BBD99C4-791C-4FFD-8735-E81EC1EF0B54}"/>
              </a:ext>
            </a:extLst>
          </p:cNvPr>
          <p:cNvCxnSpPr>
            <a:cxnSpLocks/>
            <a:stCxn id="8" idx="2"/>
            <a:endCxn id="5" idx="0"/>
          </p:cNvCxnSpPr>
          <p:nvPr/>
        </p:nvCxnSpPr>
        <p:spPr>
          <a:xfrm>
            <a:off x="8966772" y="2616369"/>
            <a:ext cx="961394" cy="900336"/>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3" name="Conector de Seta Reta 12">
            <a:extLst>
              <a:ext uri="{FF2B5EF4-FFF2-40B4-BE49-F238E27FC236}">
                <a16:creationId xmlns:a16="http://schemas.microsoft.com/office/drawing/2014/main" id="{F69EAB45-62F3-4899-870D-D24864B2CD32}"/>
              </a:ext>
            </a:extLst>
          </p:cNvPr>
          <p:cNvCxnSpPr>
            <a:cxnSpLocks/>
            <a:stCxn id="6" idx="2"/>
            <a:endCxn id="20" idx="0"/>
          </p:cNvCxnSpPr>
          <p:nvPr/>
        </p:nvCxnSpPr>
        <p:spPr>
          <a:xfrm flipH="1">
            <a:off x="8947687" y="3954419"/>
            <a:ext cx="333" cy="1050168"/>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4" name="Conector de Seta Reta 13">
            <a:extLst>
              <a:ext uri="{FF2B5EF4-FFF2-40B4-BE49-F238E27FC236}">
                <a16:creationId xmlns:a16="http://schemas.microsoft.com/office/drawing/2014/main" id="{86CFF1DB-AD76-4560-AFB5-CE2EB4FFBAF1}"/>
              </a:ext>
            </a:extLst>
          </p:cNvPr>
          <p:cNvCxnSpPr>
            <a:cxnSpLocks/>
            <a:stCxn id="5" idx="2"/>
            <a:endCxn id="20" idx="0"/>
          </p:cNvCxnSpPr>
          <p:nvPr/>
        </p:nvCxnSpPr>
        <p:spPr>
          <a:xfrm flipH="1">
            <a:off x="8947687" y="3969940"/>
            <a:ext cx="980479" cy="1034647"/>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14">
            <a:extLst>
              <a:ext uri="{FF2B5EF4-FFF2-40B4-BE49-F238E27FC236}">
                <a16:creationId xmlns:a16="http://schemas.microsoft.com/office/drawing/2014/main" id="{B1634FCB-CB98-4711-9D57-E02AC7D235FE}"/>
              </a:ext>
            </a:extLst>
          </p:cNvPr>
          <p:cNvCxnSpPr>
            <a:cxnSpLocks/>
            <a:stCxn id="7" idx="2"/>
            <a:endCxn id="20" idx="0"/>
          </p:cNvCxnSpPr>
          <p:nvPr/>
        </p:nvCxnSpPr>
        <p:spPr>
          <a:xfrm>
            <a:off x="7997427" y="3969941"/>
            <a:ext cx="950260" cy="1034646"/>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16" name="Retângulo: Cantos Arredondados 15">
            <a:extLst>
              <a:ext uri="{FF2B5EF4-FFF2-40B4-BE49-F238E27FC236}">
                <a16:creationId xmlns:a16="http://schemas.microsoft.com/office/drawing/2014/main" id="{1671DFE5-DCDB-4B68-9FF3-243F7C1B086B}"/>
              </a:ext>
            </a:extLst>
          </p:cNvPr>
          <p:cNvSpPr/>
          <p:nvPr/>
        </p:nvSpPr>
        <p:spPr>
          <a:xfrm>
            <a:off x="7376160" y="3211688"/>
            <a:ext cx="3349611" cy="923889"/>
          </a:xfrm>
          <a:custGeom>
            <a:avLst/>
            <a:gdLst>
              <a:gd name="connsiteX0" fmla="*/ 0 w 3339451"/>
              <a:gd name="connsiteY0" fmla="*/ 153985 h 923889"/>
              <a:gd name="connsiteX1" fmla="*/ 153985 w 3339451"/>
              <a:gd name="connsiteY1" fmla="*/ 0 h 923889"/>
              <a:gd name="connsiteX2" fmla="*/ 3185466 w 3339451"/>
              <a:gd name="connsiteY2" fmla="*/ 0 h 923889"/>
              <a:gd name="connsiteX3" fmla="*/ 3339451 w 3339451"/>
              <a:gd name="connsiteY3" fmla="*/ 153985 h 923889"/>
              <a:gd name="connsiteX4" fmla="*/ 3339451 w 3339451"/>
              <a:gd name="connsiteY4" fmla="*/ 769904 h 923889"/>
              <a:gd name="connsiteX5" fmla="*/ 3185466 w 3339451"/>
              <a:gd name="connsiteY5" fmla="*/ 923889 h 923889"/>
              <a:gd name="connsiteX6" fmla="*/ 153985 w 3339451"/>
              <a:gd name="connsiteY6" fmla="*/ 923889 h 923889"/>
              <a:gd name="connsiteX7" fmla="*/ 0 w 3339451"/>
              <a:gd name="connsiteY7" fmla="*/ 769904 h 923889"/>
              <a:gd name="connsiteX8" fmla="*/ 0 w 3339451"/>
              <a:gd name="connsiteY8" fmla="*/ 153985 h 923889"/>
              <a:gd name="connsiteX0" fmla="*/ 10160 w 3349611"/>
              <a:gd name="connsiteY0" fmla="*/ 153985 h 923889"/>
              <a:gd name="connsiteX1" fmla="*/ 164145 w 3349611"/>
              <a:gd name="connsiteY1" fmla="*/ 0 h 923889"/>
              <a:gd name="connsiteX2" fmla="*/ 3195626 w 3349611"/>
              <a:gd name="connsiteY2" fmla="*/ 0 h 923889"/>
              <a:gd name="connsiteX3" fmla="*/ 3349611 w 3349611"/>
              <a:gd name="connsiteY3" fmla="*/ 153985 h 923889"/>
              <a:gd name="connsiteX4" fmla="*/ 3349611 w 3349611"/>
              <a:gd name="connsiteY4" fmla="*/ 769904 h 923889"/>
              <a:gd name="connsiteX5" fmla="*/ 3195626 w 3349611"/>
              <a:gd name="connsiteY5" fmla="*/ 923889 h 923889"/>
              <a:gd name="connsiteX6" fmla="*/ 164145 w 3349611"/>
              <a:gd name="connsiteY6" fmla="*/ 923889 h 923889"/>
              <a:gd name="connsiteX7" fmla="*/ 10160 w 3349611"/>
              <a:gd name="connsiteY7" fmla="*/ 769904 h 923889"/>
              <a:gd name="connsiteX8" fmla="*/ 0 w 3349611"/>
              <a:gd name="connsiteY8" fmla="*/ 313832 h 923889"/>
              <a:gd name="connsiteX9" fmla="*/ 10160 w 3349611"/>
              <a:gd name="connsiteY9" fmla="*/ 153985 h 923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49611" h="923889">
                <a:moveTo>
                  <a:pt x="10160" y="153985"/>
                </a:moveTo>
                <a:cubicBezTo>
                  <a:pt x="10160" y="68941"/>
                  <a:pt x="79101" y="0"/>
                  <a:pt x="164145" y="0"/>
                </a:cubicBezTo>
                <a:lnTo>
                  <a:pt x="3195626" y="0"/>
                </a:lnTo>
                <a:cubicBezTo>
                  <a:pt x="3280670" y="0"/>
                  <a:pt x="3349611" y="68941"/>
                  <a:pt x="3349611" y="153985"/>
                </a:cubicBezTo>
                <a:lnTo>
                  <a:pt x="3349611" y="769904"/>
                </a:lnTo>
                <a:cubicBezTo>
                  <a:pt x="3349611" y="854948"/>
                  <a:pt x="3280670" y="923889"/>
                  <a:pt x="3195626" y="923889"/>
                </a:cubicBezTo>
                <a:lnTo>
                  <a:pt x="164145" y="923889"/>
                </a:lnTo>
                <a:cubicBezTo>
                  <a:pt x="79101" y="923889"/>
                  <a:pt x="10160" y="854948"/>
                  <a:pt x="10160" y="769904"/>
                </a:cubicBezTo>
                <a:lnTo>
                  <a:pt x="0" y="313832"/>
                </a:lnTo>
                <a:lnTo>
                  <a:pt x="10160" y="153985"/>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a:r>
              <a:rPr lang="pt-BR" sz="1400" dirty="0">
                <a:ln>
                  <a:solidFill>
                    <a:schemeClr val="accent1">
                      <a:shade val="50000"/>
                    </a:schemeClr>
                  </a:solidFill>
                </a:ln>
                <a:solidFill>
                  <a:schemeClr val="tx1"/>
                </a:solidFill>
              </a:rPr>
              <a:t>Servidores</a:t>
            </a:r>
          </a:p>
        </p:txBody>
      </p:sp>
      <p:pic>
        <p:nvPicPr>
          <p:cNvPr id="20" name="Imagem 19">
            <a:extLst>
              <a:ext uri="{FF2B5EF4-FFF2-40B4-BE49-F238E27FC236}">
                <a16:creationId xmlns:a16="http://schemas.microsoft.com/office/drawing/2014/main" id="{A557CE78-0EE5-4257-9CD1-3E9E51998B27}"/>
              </a:ext>
            </a:extLst>
          </p:cNvPr>
          <p:cNvPicPr>
            <a:picLocks noChangeAspect="1"/>
          </p:cNvPicPr>
          <p:nvPr/>
        </p:nvPicPr>
        <p:blipFill>
          <a:blip r:embed="rId4"/>
          <a:stretch>
            <a:fillRect/>
          </a:stretch>
        </p:blipFill>
        <p:spPr>
          <a:xfrm>
            <a:off x="8474945" y="5004587"/>
            <a:ext cx="945484" cy="1246794"/>
          </a:xfrm>
          <a:prstGeom prst="rect">
            <a:avLst/>
          </a:prstGeom>
        </p:spPr>
      </p:pic>
      <p:pic>
        <p:nvPicPr>
          <p:cNvPr id="25" name="Gráfico 24" descr="Programa">
            <a:extLst>
              <a:ext uri="{FF2B5EF4-FFF2-40B4-BE49-F238E27FC236}">
                <a16:creationId xmlns:a16="http://schemas.microsoft.com/office/drawing/2014/main" id="{CBF30540-4884-43DB-8DAD-AE327CC859C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032226" y="545306"/>
            <a:ext cx="965200" cy="965200"/>
          </a:xfrm>
          <a:prstGeom prst="rect">
            <a:avLst/>
          </a:prstGeom>
        </p:spPr>
      </p:pic>
      <p:pic>
        <p:nvPicPr>
          <p:cNvPr id="26" name="Gráfico 25" descr="Programa">
            <a:extLst>
              <a:ext uri="{FF2B5EF4-FFF2-40B4-BE49-F238E27FC236}">
                <a16:creationId xmlns:a16="http://schemas.microsoft.com/office/drawing/2014/main" id="{089A5584-95E1-4860-BA8F-B4A08EDB8A5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72557" y="525223"/>
            <a:ext cx="965200" cy="965200"/>
          </a:xfrm>
          <a:prstGeom prst="rect">
            <a:avLst/>
          </a:prstGeom>
        </p:spPr>
      </p:pic>
      <p:pic>
        <p:nvPicPr>
          <p:cNvPr id="27" name="Gráfico 26" descr="Programa">
            <a:extLst>
              <a:ext uri="{FF2B5EF4-FFF2-40B4-BE49-F238E27FC236}">
                <a16:creationId xmlns:a16="http://schemas.microsoft.com/office/drawing/2014/main" id="{DC2A21FA-1E6F-44C8-B37D-4126BF9CA4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67731" y="512437"/>
            <a:ext cx="965200" cy="965200"/>
          </a:xfrm>
          <a:prstGeom prst="rect">
            <a:avLst/>
          </a:prstGeom>
        </p:spPr>
      </p:pic>
      <p:cxnSp>
        <p:nvCxnSpPr>
          <p:cNvPr id="29" name="Conector de Seta Reta 28">
            <a:extLst>
              <a:ext uri="{FF2B5EF4-FFF2-40B4-BE49-F238E27FC236}">
                <a16:creationId xmlns:a16="http://schemas.microsoft.com/office/drawing/2014/main" id="{E3FB535B-42FD-41ED-A7C9-74331C06B38E}"/>
              </a:ext>
            </a:extLst>
          </p:cNvPr>
          <p:cNvCxnSpPr>
            <a:cxnSpLocks/>
            <a:stCxn id="25" idx="2"/>
            <a:endCxn id="8" idx="1"/>
          </p:cNvCxnSpPr>
          <p:nvPr/>
        </p:nvCxnSpPr>
        <p:spPr>
          <a:xfrm>
            <a:off x="7514826" y="1510506"/>
            <a:ext cx="1169784" cy="912572"/>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31" name="Conector de Seta Reta 30">
            <a:extLst>
              <a:ext uri="{FF2B5EF4-FFF2-40B4-BE49-F238E27FC236}">
                <a16:creationId xmlns:a16="http://schemas.microsoft.com/office/drawing/2014/main" id="{77D4C3A9-79BA-438D-BA8A-AA7631041FA6}"/>
              </a:ext>
            </a:extLst>
          </p:cNvPr>
          <p:cNvCxnSpPr>
            <a:cxnSpLocks/>
            <a:stCxn id="26" idx="2"/>
            <a:endCxn id="8" idx="0"/>
          </p:cNvCxnSpPr>
          <p:nvPr/>
        </p:nvCxnSpPr>
        <p:spPr>
          <a:xfrm>
            <a:off x="8955157" y="1490423"/>
            <a:ext cx="11615" cy="739363"/>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33" name="Conector de Seta Reta 32">
            <a:extLst>
              <a:ext uri="{FF2B5EF4-FFF2-40B4-BE49-F238E27FC236}">
                <a16:creationId xmlns:a16="http://schemas.microsoft.com/office/drawing/2014/main" id="{CBD0FF79-1D30-4608-9A0E-0D3B3449EF2E}"/>
              </a:ext>
            </a:extLst>
          </p:cNvPr>
          <p:cNvCxnSpPr>
            <a:cxnSpLocks/>
            <a:stCxn id="27" idx="2"/>
            <a:endCxn id="8" idx="3"/>
          </p:cNvCxnSpPr>
          <p:nvPr/>
        </p:nvCxnSpPr>
        <p:spPr>
          <a:xfrm flipH="1">
            <a:off x="9248933" y="1477637"/>
            <a:ext cx="1301398" cy="945441"/>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40" name="Retângulo 39">
            <a:extLst>
              <a:ext uri="{FF2B5EF4-FFF2-40B4-BE49-F238E27FC236}">
                <a16:creationId xmlns:a16="http://schemas.microsoft.com/office/drawing/2014/main" id="{D7B476AA-BC3F-4D44-9387-90FD1FF544BF}"/>
              </a:ext>
            </a:extLst>
          </p:cNvPr>
          <p:cNvSpPr/>
          <p:nvPr/>
        </p:nvSpPr>
        <p:spPr>
          <a:xfrm>
            <a:off x="1081583" y="5004587"/>
            <a:ext cx="2717800" cy="91257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Liga Desliga conforme média de CPU - AVG</a:t>
            </a:r>
          </a:p>
        </p:txBody>
      </p:sp>
      <p:sp>
        <p:nvSpPr>
          <p:cNvPr id="41" name="Retângulo 40">
            <a:extLst>
              <a:ext uri="{FF2B5EF4-FFF2-40B4-BE49-F238E27FC236}">
                <a16:creationId xmlns:a16="http://schemas.microsoft.com/office/drawing/2014/main" id="{2E475737-D3ED-4B80-A07D-53406D158362}"/>
              </a:ext>
            </a:extLst>
          </p:cNvPr>
          <p:cNvSpPr/>
          <p:nvPr/>
        </p:nvSpPr>
        <p:spPr>
          <a:xfrm>
            <a:off x="904934" y="2379854"/>
            <a:ext cx="2717800" cy="91257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Auto – </a:t>
            </a:r>
            <a:r>
              <a:rPr lang="pt-BR" sz="2000" b="1" dirty="0" err="1">
                <a:solidFill>
                  <a:schemeClr val="tx1"/>
                </a:solidFill>
              </a:rPr>
              <a:t>Scale</a:t>
            </a:r>
            <a:endParaRPr lang="pt-BR" sz="2000" b="1" dirty="0">
              <a:solidFill>
                <a:schemeClr val="tx1"/>
              </a:solidFill>
            </a:endParaRPr>
          </a:p>
          <a:p>
            <a:pPr algn="ctr"/>
            <a:r>
              <a:rPr lang="pt-BR" sz="2000" b="1" dirty="0">
                <a:solidFill>
                  <a:schemeClr val="tx1"/>
                </a:solidFill>
              </a:rPr>
              <a:t>Mínimo e máximo de servidores ligados</a:t>
            </a:r>
          </a:p>
        </p:txBody>
      </p:sp>
      <p:cxnSp>
        <p:nvCxnSpPr>
          <p:cNvPr id="42" name="Conector de Seta Reta 41">
            <a:extLst>
              <a:ext uri="{FF2B5EF4-FFF2-40B4-BE49-F238E27FC236}">
                <a16:creationId xmlns:a16="http://schemas.microsoft.com/office/drawing/2014/main" id="{9F58E0AC-934D-4AE8-9A41-B868A370A733}"/>
              </a:ext>
            </a:extLst>
          </p:cNvPr>
          <p:cNvCxnSpPr>
            <a:cxnSpLocks/>
            <a:stCxn id="41" idx="3"/>
            <a:endCxn id="16" idx="0"/>
          </p:cNvCxnSpPr>
          <p:nvPr/>
        </p:nvCxnSpPr>
        <p:spPr>
          <a:xfrm>
            <a:off x="3622734" y="2836140"/>
            <a:ext cx="3763586" cy="529533"/>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45" name="Conector de Seta Reta 44">
            <a:extLst>
              <a:ext uri="{FF2B5EF4-FFF2-40B4-BE49-F238E27FC236}">
                <a16:creationId xmlns:a16="http://schemas.microsoft.com/office/drawing/2014/main" id="{5924708F-CF5B-4B60-8DBA-9477BD9F105A}"/>
              </a:ext>
            </a:extLst>
          </p:cNvPr>
          <p:cNvCxnSpPr>
            <a:cxnSpLocks/>
            <a:stCxn id="40" idx="3"/>
            <a:endCxn id="16" idx="7"/>
          </p:cNvCxnSpPr>
          <p:nvPr/>
        </p:nvCxnSpPr>
        <p:spPr>
          <a:xfrm flipV="1">
            <a:off x="3799383" y="3981592"/>
            <a:ext cx="3586937" cy="1479281"/>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173503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A462AD-DB7B-41EB-A5FF-2BACD3F4EE28}"/>
              </a:ext>
            </a:extLst>
          </p:cNvPr>
          <p:cNvSpPr>
            <a:spLocks noGrp="1"/>
          </p:cNvSpPr>
          <p:nvPr>
            <p:ph type="title"/>
          </p:nvPr>
        </p:nvSpPr>
        <p:spPr>
          <a:xfrm>
            <a:off x="128270" y="183832"/>
            <a:ext cx="10515600" cy="671195"/>
          </a:xfrm>
        </p:spPr>
        <p:txBody>
          <a:bodyPr>
            <a:normAutofit fontScale="90000"/>
          </a:bodyPr>
          <a:lstStyle/>
          <a:p>
            <a:r>
              <a:rPr lang="pt-BR" b="1" dirty="0"/>
              <a:t>Virtual </a:t>
            </a:r>
            <a:r>
              <a:rPr lang="pt-BR" b="1" dirty="0" err="1"/>
              <a:t>machine</a:t>
            </a:r>
            <a:r>
              <a:rPr lang="pt-BR" b="1" dirty="0"/>
              <a:t> </a:t>
            </a:r>
            <a:r>
              <a:rPr lang="pt-BR" b="1" dirty="0" err="1"/>
              <a:t>scale</a:t>
            </a:r>
            <a:r>
              <a:rPr lang="pt-BR" b="1" dirty="0"/>
              <a:t> sets</a:t>
            </a:r>
            <a:endParaRPr lang="pt-BR" dirty="0"/>
          </a:p>
        </p:txBody>
      </p:sp>
      <p:pic>
        <p:nvPicPr>
          <p:cNvPr id="4" name="Imagem 3">
            <a:extLst>
              <a:ext uri="{FF2B5EF4-FFF2-40B4-BE49-F238E27FC236}">
                <a16:creationId xmlns:a16="http://schemas.microsoft.com/office/drawing/2014/main" id="{FCBF8522-A769-46E0-A94A-79D715E13CEC}"/>
              </a:ext>
            </a:extLst>
          </p:cNvPr>
          <p:cNvPicPr>
            <a:picLocks noChangeAspect="1"/>
          </p:cNvPicPr>
          <p:nvPr/>
        </p:nvPicPr>
        <p:blipFill>
          <a:blip r:embed="rId2"/>
          <a:stretch>
            <a:fillRect/>
          </a:stretch>
        </p:blipFill>
        <p:spPr>
          <a:xfrm>
            <a:off x="128270" y="730568"/>
            <a:ext cx="5368290" cy="3575764"/>
          </a:xfrm>
          <a:prstGeom prst="rect">
            <a:avLst/>
          </a:prstGeom>
        </p:spPr>
      </p:pic>
      <p:pic>
        <p:nvPicPr>
          <p:cNvPr id="5" name="Imagem 4">
            <a:extLst>
              <a:ext uri="{FF2B5EF4-FFF2-40B4-BE49-F238E27FC236}">
                <a16:creationId xmlns:a16="http://schemas.microsoft.com/office/drawing/2014/main" id="{D466F7CC-75F3-46C7-984B-EC463492CF2D}"/>
              </a:ext>
            </a:extLst>
          </p:cNvPr>
          <p:cNvPicPr>
            <a:picLocks noChangeAspect="1"/>
          </p:cNvPicPr>
          <p:nvPr/>
        </p:nvPicPr>
        <p:blipFill>
          <a:blip r:embed="rId3"/>
          <a:stretch>
            <a:fillRect/>
          </a:stretch>
        </p:blipFill>
        <p:spPr>
          <a:xfrm>
            <a:off x="975360" y="3906386"/>
            <a:ext cx="5120640" cy="2951614"/>
          </a:xfrm>
          <a:prstGeom prst="rect">
            <a:avLst/>
          </a:prstGeom>
        </p:spPr>
      </p:pic>
      <p:pic>
        <p:nvPicPr>
          <p:cNvPr id="6" name="Imagem 5">
            <a:extLst>
              <a:ext uri="{FF2B5EF4-FFF2-40B4-BE49-F238E27FC236}">
                <a16:creationId xmlns:a16="http://schemas.microsoft.com/office/drawing/2014/main" id="{BEFE38B2-7ED2-4F5F-90D3-185EEE98B7B2}"/>
              </a:ext>
            </a:extLst>
          </p:cNvPr>
          <p:cNvPicPr>
            <a:picLocks noChangeAspect="1"/>
          </p:cNvPicPr>
          <p:nvPr/>
        </p:nvPicPr>
        <p:blipFill>
          <a:blip r:embed="rId4"/>
          <a:stretch>
            <a:fillRect/>
          </a:stretch>
        </p:blipFill>
        <p:spPr>
          <a:xfrm>
            <a:off x="6096000" y="0"/>
            <a:ext cx="5252542" cy="3429000"/>
          </a:xfrm>
          <a:prstGeom prst="rect">
            <a:avLst/>
          </a:prstGeom>
        </p:spPr>
      </p:pic>
      <p:sp>
        <p:nvSpPr>
          <p:cNvPr id="7" name="Retângulo 6">
            <a:extLst>
              <a:ext uri="{FF2B5EF4-FFF2-40B4-BE49-F238E27FC236}">
                <a16:creationId xmlns:a16="http://schemas.microsoft.com/office/drawing/2014/main" id="{C17E2C61-DB11-4128-9C81-D591F63FB623}"/>
              </a:ext>
            </a:extLst>
          </p:cNvPr>
          <p:cNvSpPr/>
          <p:nvPr/>
        </p:nvSpPr>
        <p:spPr>
          <a:xfrm>
            <a:off x="6320213" y="4390116"/>
            <a:ext cx="1854198"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Quantidade de </a:t>
            </a:r>
            <a:r>
              <a:rPr lang="pt-BR" sz="2000" b="1" dirty="0" err="1">
                <a:solidFill>
                  <a:schemeClr val="tx1"/>
                </a:solidFill>
              </a:rPr>
              <a:t>VMs</a:t>
            </a:r>
            <a:r>
              <a:rPr lang="pt-BR" sz="2000" b="1" dirty="0">
                <a:solidFill>
                  <a:schemeClr val="tx1"/>
                </a:solidFill>
              </a:rPr>
              <a:t> </a:t>
            </a:r>
          </a:p>
        </p:txBody>
      </p:sp>
      <p:sp>
        <p:nvSpPr>
          <p:cNvPr id="8" name="Elipse 7">
            <a:extLst>
              <a:ext uri="{FF2B5EF4-FFF2-40B4-BE49-F238E27FC236}">
                <a16:creationId xmlns:a16="http://schemas.microsoft.com/office/drawing/2014/main" id="{E5D56E12-E7FF-4E04-9591-DE7B2E4BEF31}"/>
              </a:ext>
            </a:extLst>
          </p:cNvPr>
          <p:cNvSpPr/>
          <p:nvPr/>
        </p:nvSpPr>
        <p:spPr>
          <a:xfrm flipV="1">
            <a:off x="1754794" y="4496656"/>
            <a:ext cx="2346960" cy="553803"/>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9" name="Conector de Seta Reta 8">
            <a:extLst>
              <a:ext uri="{FF2B5EF4-FFF2-40B4-BE49-F238E27FC236}">
                <a16:creationId xmlns:a16="http://schemas.microsoft.com/office/drawing/2014/main" id="{87448A63-00AB-405E-93A9-CF4515ECC90E}"/>
              </a:ext>
            </a:extLst>
          </p:cNvPr>
          <p:cNvCxnSpPr>
            <a:cxnSpLocks/>
            <a:stCxn id="7" idx="1"/>
            <a:endCxn id="8" idx="6"/>
          </p:cNvCxnSpPr>
          <p:nvPr/>
        </p:nvCxnSpPr>
        <p:spPr>
          <a:xfrm flipH="1">
            <a:off x="4101754" y="4715987"/>
            <a:ext cx="2218459" cy="57570"/>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1" name="Retângulo 10">
            <a:extLst>
              <a:ext uri="{FF2B5EF4-FFF2-40B4-BE49-F238E27FC236}">
                <a16:creationId xmlns:a16="http://schemas.microsoft.com/office/drawing/2014/main" id="{7299DCE8-1134-47EC-AC1A-C22D0388BE97}"/>
              </a:ext>
            </a:extLst>
          </p:cNvPr>
          <p:cNvSpPr/>
          <p:nvPr/>
        </p:nvSpPr>
        <p:spPr>
          <a:xfrm>
            <a:off x="6346304" y="5122277"/>
            <a:ext cx="1854198"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Quando liga nova </a:t>
            </a:r>
            <a:r>
              <a:rPr lang="pt-BR" sz="2000" b="1" dirty="0" err="1">
                <a:solidFill>
                  <a:schemeClr val="tx1"/>
                </a:solidFill>
              </a:rPr>
              <a:t>VMs</a:t>
            </a:r>
            <a:r>
              <a:rPr lang="pt-BR" sz="2000" b="1" dirty="0">
                <a:solidFill>
                  <a:schemeClr val="tx1"/>
                </a:solidFill>
              </a:rPr>
              <a:t> </a:t>
            </a:r>
          </a:p>
        </p:txBody>
      </p:sp>
      <p:sp>
        <p:nvSpPr>
          <p:cNvPr id="12" name="Elipse 11">
            <a:extLst>
              <a:ext uri="{FF2B5EF4-FFF2-40B4-BE49-F238E27FC236}">
                <a16:creationId xmlns:a16="http://schemas.microsoft.com/office/drawing/2014/main" id="{D94F236C-121E-4227-9E84-02EA626B0C31}"/>
              </a:ext>
            </a:extLst>
          </p:cNvPr>
          <p:cNvSpPr/>
          <p:nvPr/>
        </p:nvSpPr>
        <p:spPr>
          <a:xfrm flipV="1">
            <a:off x="1751908" y="5246097"/>
            <a:ext cx="2346960" cy="553803"/>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3" name="Conector de Seta Reta 12">
            <a:extLst>
              <a:ext uri="{FF2B5EF4-FFF2-40B4-BE49-F238E27FC236}">
                <a16:creationId xmlns:a16="http://schemas.microsoft.com/office/drawing/2014/main" id="{797C1EEE-B4AF-4FFA-8AB6-2E849934D49B}"/>
              </a:ext>
            </a:extLst>
          </p:cNvPr>
          <p:cNvCxnSpPr>
            <a:cxnSpLocks/>
            <a:stCxn id="11" idx="1"/>
            <a:endCxn id="12" idx="6"/>
          </p:cNvCxnSpPr>
          <p:nvPr/>
        </p:nvCxnSpPr>
        <p:spPr>
          <a:xfrm flipH="1">
            <a:off x="4098868" y="5448148"/>
            <a:ext cx="2247436" cy="74850"/>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4" name="Retângulo 13">
            <a:extLst>
              <a:ext uri="{FF2B5EF4-FFF2-40B4-BE49-F238E27FC236}">
                <a16:creationId xmlns:a16="http://schemas.microsoft.com/office/drawing/2014/main" id="{814FFC37-72F6-4013-B213-BA0ADBA167FE}"/>
              </a:ext>
            </a:extLst>
          </p:cNvPr>
          <p:cNvSpPr/>
          <p:nvPr/>
        </p:nvSpPr>
        <p:spPr>
          <a:xfrm>
            <a:off x="6498704" y="5883684"/>
            <a:ext cx="1854198"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Quando desliga </a:t>
            </a:r>
            <a:r>
              <a:rPr lang="pt-BR" sz="2000" b="1" dirty="0" err="1">
                <a:solidFill>
                  <a:schemeClr val="tx1"/>
                </a:solidFill>
              </a:rPr>
              <a:t>VMs</a:t>
            </a:r>
            <a:endParaRPr lang="pt-BR" sz="2000" b="1" dirty="0">
              <a:solidFill>
                <a:schemeClr val="tx1"/>
              </a:solidFill>
            </a:endParaRPr>
          </a:p>
        </p:txBody>
      </p:sp>
      <p:sp>
        <p:nvSpPr>
          <p:cNvPr id="15" name="Elipse 14">
            <a:extLst>
              <a:ext uri="{FF2B5EF4-FFF2-40B4-BE49-F238E27FC236}">
                <a16:creationId xmlns:a16="http://schemas.microsoft.com/office/drawing/2014/main" id="{8E0B0AC8-1DFD-461F-A0AB-E357456FAC0A}"/>
              </a:ext>
            </a:extLst>
          </p:cNvPr>
          <p:cNvSpPr/>
          <p:nvPr/>
        </p:nvSpPr>
        <p:spPr>
          <a:xfrm flipV="1">
            <a:off x="1933285" y="5990224"/>
            <a:ext cx="2346960" cy="553803"/>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6" name="Conector de Seta Reta 15">
            <a:extLst>
              <a:ext uri="{FF2B5EF4-FFF2-40B4-BE49-F238E27FC236}">
                <a16:creationId xmlns:a16="http://schemas.microsoft.com/office/drawing/2014/main" id="{0FFECEA0-4A64-402E-B613-5480E9CB8070}"/>
              </a:ext>
            </a:extLst>
          </p:cNvPr>
          <p:cNvCxnSpPr>
            <a:cxnSpLocks/>
            <a:stCxn id="14" idx="1"/>
            <a:endCxn id="15" idx="6"/>
          </p:cNvCxnSpPr>
          <p:nvPr/>
        </p:nvCxnSpPr>
        <p:spPr>
          <a:xfrm flipH="1">
            <a:off x="4280245" y="6209555"/>
            <a:ext cx="2218459" cy="57570"/>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9" name="Retângulo 18">
            <a:extLst>
              <a:ext uri="{FF2B5EF4-FFF2-40B4-BE49-F238E27FC236}">
                <a16:creationId xmlns:a16="http://schemas.microsoft.com/office/drawing/2014/main" id="{BEB9BDF8-276D-4875-ACA3-49BC790CE481}"/>
              </a:ext>
            </a:extLst>
          </p:cNvPr>
          <p:cNvSpPr/>
          <p:nvPr/>
        </p:nvSpPr>
        <p:spPr>
          <a:xfrm>
            <a:off x="6208453" y="3558033"/>
            <a:ext cx="1854198"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Disponibilidade em Zonas</a:t>
            </a:r>
          </a:p>
        </p:txBody>
      </p:sp>
      <p:sp>
        <p:nvSpPr>
          <p:cNvPr id="20" name="Elipse 19">
            <a:extLst>
              <a:ext uri="{FF2B5EF4-FFF2-40B4-BE49-F238E27FC236}">
                <a16:creationId xmlns:a16="http://schemas.microsoft.com/office/drawing/2014/main" id="{53E59967-7A57-41EC-9C60-CF8EAAF205C0}"/>
              </a:ext>
            </a:extLst>
          </p:cNvPr>
          <p:cNvSpPr/>
          <p:nvPr/>
        </p:nvSpPr>
        <p:spPr>
          <a:xfrm flipV="1">
            <a:off x="1188720" y="3216293"/>
            <a:ext cx="2346960" cy="277817"/>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1" name="Conector de Seta Reta 20">
            <a:extLst>
              <a:ext uri="{FF2B5EF4-FFF2-40B4-BE49-F238E27FC236}">
                <a16:creationId xmlns:a16="http://schemas.microsoft.com/office/drawing/2014/main" id="{217688C4-C6D2-449E-B92D-4B1D868DA59D}"/>
              </a:ext>
            </a:extLst>
          </p:cNvPr>
          <p:cNvCxnSpPr>
            <a:cxnSpLocks/>
            <a:stCxn id="19" idx="1"/>
            <a:endCxn id="20" idx="6"/>
          </p:cNvCxnSpPr>
          <p:nvPr/>
        </p:nvCxnSpPr>
        <p:spPr>
          <a:xfrm flipH="1" flipV="1">
            <a:off x="3535680" y="3355201"/>
            <a:ext cx="2672773" cy="528703"/>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27" name="Retângulo 26">
            <a:extLst>
              <a:ext uri="{FF2B5EF4-FFF2-40B4-BE49-F238E27FC236}">
                <a16:creationId xmlns:a16="http://schemas.microsoft.com/office/drawing/2014/main" id="{7D5053F4-863D-4EC6-8446-85CA397A6192}"/>
              </a:ext>
            </a:extLst>
          </p:cNvPr>
          <p:cNvSpPr/>
          <p:nvPr/>
        </p:nvSpPr>
        <p:spPr>
          <a:xfrm>
            <a:off x="8821074" y="3738375"/>
            <a:ext cx="1854198"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Tipo de Balanceamento</a:t>
            </a:r>
          </a:p>
        </p:txBody>
      </p:sp>
      <p:sp>
        <p:nvSpPr>
          <p:cNvPr id="28" name="Elipse 27">
            <a:extLst>
              <a:ext uri="{FF2B5EF4-FFF2-40B4-BE49-F238E27FC236}">
                <a16:creationId xmlns:a16="http://schemas.microsoft.com/office/drawing/2014/main" id="{EAE0B6C3-9DBA-4448-A6B2-AE4FC6B8C42C}"/>
              </a:ext>
            </a:extLst>
          </p:cNvPr>
          <p:cNvSpPr/>
          <p:nvPr/>
        </p:nvSpPr>
        <p:spPr>
          <a:xfrm flipV="1">
            <a:off x="7647594" y="795894"/>
            <a:ext cx="2346960" cy="494426"/>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9" name="Conector de Seta Reta 28">
            <a:extLst>
              <a:ext uri="{FF2B5EF4-FFF2-40B4-BE49-F238E27FC236}">
                <a16:creationId xmlns:a16="http://schemas.microsoft.com/office/drawing/2014/main" id="{C23FFD09-C59F-4A04-A695-F310C6B797D1}"/>
              </a:ext>
            </a:extLst>
          </p:cNvPr>
          <p:cNvCxnSpPr>
            <a:cxnSpLocks/>
            <a:stCxn id="27" idx="0"/>
            <a:endCxn id="28" idx="0"/>
          </p:cNvCxnSpPr>
          <p:nvPr/>
        </p:nvCxnSpPr>
        <p:spPr>
          <a:xfrm flipH="1" flipV="1">
            <a:off x="8821074" y="1290320"/>
            <a:ext cx="927099" cy="2448055"/>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04302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A462AD-DB7B-41EB-A5FF-2BACD3F4EE28}"/>
              </a:ext>
            </a:extLst>
          </p:cNvPr>
          <p:cNvSpPr>
            <a:spLocks noGrp="1"/>
          </p:cNvSpPr>
          <p:nvPr>
            <p:ph type="title"/>
          </p:nvPr>
        </p:nvSpPr>
        <p:spPr>
          <a:xfrm>
            <a:off x="128270" y="183832"/>
            <a:ext cx="10515600" cy="671195"/>
          </a:xfrm>
        </p:spPr>
        <p:txBody>
          <a:bodyPr>
            <a:normAutofit fontScale="90000"/>
          </a:bodyPr>
          <a:lstStyle/>
          <a:p>
            <a:r>
              <a:rPr lang="pt-BR" b="1" dirty="0"/>
              <a:t>Virtual </a:t>
            </a:r>
            <a:r>
              <a:rPr lang="pt-BR" b="1" dirty="0" err="1"/>
              <a:t>machine</a:t>
            </a:r>
            <a:r>
              <a:rPr lang="pt-BR" b="1" dirty="0"/>
              <a:t> </a:t>
            </a:r>
            <a:r>
              <a:rPr lang="pt-BR" b="1" dirty="0" err="1"/>
              <a:t>scale</a:t>
            </a:r>
            <a:r>
              <a:rPr lang="pt-BR" b="1" dirty="0"/>
              <a:t> sets</a:t>
            </a:r>
            <a:endParaRPr lang="pt-BR" dirty="0"/>
          </a:p>
        </p:txBody>
      </p:sp>
      <p:pic>
        <p:nvPicPr>
          <p:cNvPr id="3" name="Imagem 2">
            <a:extLst>
              <a:ext uri="{FF2B5EF4-FFF2-40B4-BE49-F238E27FC236}">
                <a16:creationId xmlns:a16="http://schemas.microsoft.com/office/drawing/2014/main" id="{0E4EA8EB-459B-4E65-890F-691E345AF4C0}"/>
              </a:ext>
            </a:extLst>
          </p:cNvPr>
          <p:cNvPicPr>
            <a:picLocks noChangeAspect="1"/>
          </p:cNvPicPr>
          <p:nvPr/>
        </p:nvPicPr>
        <p:blipFill>
          <a:blip r:embed="rId2"/>
          <a:stretch>
            <a:fillRect/>
          </a:stretch>
        </p:blipFill>
        <p:spPr>
          <a:xfrm>
            <a:off x="314960" y="984860"/>
            <a:ext cx="5699760" cy="1529487"/>
          </a:xfrm>
          <a:prstGeom prst="rect">
            <a:avLst/>
          </a:prstGeom>
        </p:spPr>
      </p:pic>
      <p:pic>
        <p:nvPicPr>
          <p:cNvPr id="10" name="Imagem 9">
            <a:extLst>
              <a:ext uri="{FF2B5EF4-FFF2-40B4-BE49-F238E27FC236}">
                <a16:creationId xmlns:a16="http://schemas.microsoft.com/office/drawing/2014/main" id="{C512DA3C-B818-4DE7-9D0C-D8DCAF16AC16}"/>
              </a:ext>
            </a:extLst>
          </p:cNvPr>
          <p:cNvPicPr>
            <a:picLocks noChangeAspect="1"/>
          </p:cNvPicPr>
          <p:nvPr/>
        </p:nvPicPr>
        <p:blipFill>
          <a:blip r:embed="rId3"/>
          <a:stretch>
            <a:fillRect/>
          </a:stretch>
        </p:blipFill>
        <p:spPr>
          <a:xfrm>
            <a:off x="150256" y="2559873"/>
            <a:ext cx="5876056" cy="3901887"/>
          </a:xfrm>
          <a:prstGeom prst="rect">
            <a:avLst/>
          </a:prstGeom>
        </p:spPr>
      </p:pic>
      <p:pic>
        <p:nvPicPr>
          <p:cNvPr id="17" name="Imagem 16">
            <a:extLst>
              <a:ext uri="{FF2B5EF4-FFF2-40B4-BE49-F238E27FC236}">
                <a16:creationId xmlns:a16="http://schemas.microsoft.com/office/drawing/2014/main" id="{9466D684-B95E-439B-96C1-D8BB3A2CBC03}"/>
              </a:ext>
            </a:extLst>
          </p:cNvPr>
          <p:cNvPicPr>
            <a:picLocks noChangeAspect="1"/>
          </p:cNvPicPr>
          <p:nvPr/>
        </p:nvPicPr>
        <p:blipFill>
          <a:blip r:embed="rId4"/>
          <a:stretch>
            <a:fillRect/>
          </a:stretch>
        </p:blipFill>
        <p:spPr>
          <a:xfrm>
            <a:off x="6084408" y="183832"/>
            <a:ext cx="6096000" cy="2050642"/>
          </a:xfrm>
          <a:prstGeom prst="rect">
            <a:avLst/>
          </a:prstGeom>
        </p:spPr>
      </p:pic>
      <p:pic>
        <p:nvPicPr>
          <p:cNvPr id="18" name="Imagem 17">
            <a:extLst>
              <a:ext uri="{FF2B5EF4-FFF2-40B4-BE49-F238E27FC236}">
                <a16:creationId xmlns:a16="http://schemas.microsoft.com/office/drawing/2014/main" id="{8AEC5F2A-D000-4F96-94F1-DD394ED5CD3C}"/>
              </a:ext>
            </a:extLst>
          </p:cNvPr>
          <p:cNvPicPr>
            <a:picLocks noChangeAspect="1"/>
          </p:cNvPicPr>
          <p:nvPr/>
        </p:nvPicPr>
        <p:blipFill>
          <a:blip r:embed="rId5"/>
          <a:stretch>
            <a:fillRect/>
          </a:stretch>
        </p:blipFill>
        <p:spPr>
          <a:xfrm>
            <a:off x="6096000" y="2553860"/>
            <a:ext cx="6096000" cy="2289428"/>
          </a:xfrm>
          <a:prstGeom prst="rect">
            <a:avLst/>
          </a:prstGeom>
        </p:spPr>
      </p:pic>
      <p:pic>
        <p:nvPicPr>
          <p:cNvPr id="4" name="Imagem 3">
            <a:extLst>
              <a:ext uri="{FF2B5EF4-FFF2-40B4-BE49-F238E27FC236}">
                <a16:creationId xmlns:a16="http://schemas.microsoft.com/office/drawing/2014/main" id="{1D51BD1C-08B4-4F9F-ADA7-7BA3B4EE8C99}"/>
              </a:ext>
            </a:extLst>
          </p:cNvPr>
          <p:cNvPicPr>
            <a:picLocks noChangeAspect="1"/>
          </p:cNvPicPr>
          <p:nvPr/>
        </p:nvPicPr>
        <p:blipFill>
          <a:blip r:embed="rId6"/>
          <a:stretch>
            <a:fillRect/>
          </a:stretch>
        </p:blipFill>
        <p:spPr>
          <a:xfrm>
            <a:off x="6096000" y="5224768"/>
            <a:ext cx="6084408" cy="1449400"/>
          </a:xfrm>
          <a:prstGeom prst="rect">
            <a:avLst/>
          </a:prstGeom>
        </p:spPr>
      </p:pic>
    </p:spTree>
    <p:extLst>
      <p:ext uri="{BB962C8B-B14F-4D97-AF65-F5344CB8AC3E}">
        <p14:creationId xmlns:p14="http://schemas.microsoft.com/office/powerpoint/2010/main" val="17920256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83545E-7840-435A-ADDF-B0B0369C36E9}"/>
              </a:ext>
            </a:extLst>
          </p:cNvPr>
          <p:cNvSpPr>
            <a:spLocks noGrp="1"/>
          </p:cNvSpPr>
          <p:nvPr>
            <p:ph type="title"/>
          </p:nvPr>
        </p:nvSpPr>
        <p:spPr>
          <a:xfrm>
            <a:off x="2370667" y="2187743"/>
            <a:ext cx="7789333" cy="2482515"/>
          </a:xfrm>
        </p:spPr>
        <p:txBody>
          <a:bodyPr vert="horz" lIns="91440" tIns="45720" rIns="91440" bIns="45720" rtlCol="0" anchor="ctr">
            <a:normAutofit/>
          </a:bodyPr>
          <a:lstStyle/>
          <a:p>
            <a:r>
              <a:rPr lang="pt-BR" sz="6000" kern="1200" dirty="0">
                <a:solidFill>
                  <a:schemeClr val="tx1"/>
                </a:solidFill>
                <a:latin typeface="+mj-lt"/>
                <a:ea typeface="+mj-ea"/>
                <a:cs typeface="+mj-cs"/>
              </a:rPr>
              <a:t>Redes Virtuais</a:t>
            </a:r>
            <a:endParaRPr lang="en-US" sz="6000" kern="1200" dirty="0">
              <a:solidFill>
                <a:schemeClr val="tx1"/>
              </a:solidFill>
              <a:latin typeface="+mj-lt"/>
              <a:ea typeface="+mj-ea"/>
              <a:cs typeface="+mj-cs"/>
            </a:endParaRPr>
          </a:p>
        </p:txBody>
      </p:sp>
      <p:pic>
        <p:nvPicPr>
          <p:cNvPr id="6" name="Graphic 5">
            <a:extLst>
              <a:ext uri="{FF2B5EF4-FFF2-40B4-BE49-F238E27FC236}">
                <a16:creationId xmlns:a16="http://schemas.microsoft.com/office/drawing/2014/main" id="{052314E5-8253-48A5-859B-129F94E805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1" y="2743201"/>
            <a:ext cx="1371600" cy="1371600"/>
          </a:xfrm>
          <a:prstGeom prst="rect">
            <a:avLst/>
          </a:prstGeom>
        </p:spPr>
      </p:pic>
    </p:spTree>
    <p:extLst>
      <p:ext uri="{BB962C8B-B14F-4D97-AF65-F5344CB8AC3E}">
        <p14:creationId xmlns:p14="http://schemas.microsoft.com/office/powerpoint/2010/main" val="30502699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2239F2-D3FA-47FA-9F04-B6151DFD70E4}"/>
              </a:ext>
            </a:extLst>
          </p:cNvPr>
          <p:cNvSpPr>
            <a:spLocks noGrp="1"/>
          </p:cNvSpPr>
          <p:nvPr>
            <p:ph type="title"/>
          </p:nvPr>
        </p:nvSpPr>
        <p:spPr>
          <a:xfrm>
            <a:off x="648929" y="629266"/>
            <a:ext cx="5127031" cy="1676603"/>
          </a:xfrm>
        </p:spPr>
        <p:txBody>
          <a:bodyPr>
            <a:normAutofit/>
          </a:bodyPr>
          <a:lstStyle/>
          <a:p>
            <a:r>
              <a:rPr lang="pt-BR" dirty="0"/>
              <a:t>VNET – Virtual Networking</a:t>
            </a:r>
          </a:p>
        </p:txBody>
      </p:sp>
      <p:sp>
        <p:nvSpPr>
          <p:cNvPr id="1030" name="Content Placeholder 1029">
            <a:extLst>
              <a:ext uri="{FF2B5EF4-FFF2-40B4-BE49-F238E27FC236}">
                <a16:creationId xmlns:a16="http://schemas.microsoft.com/office/drawing/2014/main" id="{24C57F4C-5405-476E-9059-A8FCA8FDBD5F}"/>
              </a:ext>
            </a:extLst>
          </p:cNvPr>
          <p:cNvSpPr>
            <a:spLocks noGrp="1"/>
          </p:cNvSpPr>
          <p:nvPr>
            <p:ph idx="1"/>
          </p:nvPr>
        </p:nvSpPr>
        <p:spPr>
          <a:xfrm>
            <a:off x="648930" y="2438400"/>
            <a:ext cx="5127029" cy="3785419"/>
          </a:xfrm>
        </p:spPr>
        <p:txBody>
          <a:bodyPr>
            <a:normAutofit/>
          </a:bodyPr>
          <a:lstStyle/>
          <a:p>
            <a:r>
              <a:rPr lang="pt-BR" sz="2100" dirty="0"/>
              <a:t>A Rede Virtual do Azure (</a:t>
            </a:r>
            <a:r>
              <a:rPr lang="pt-BR" sz="2100" dirty="0" err="1"/>
              <a:t>VNet</a:t>
            </a:r>
            <a:r>
              <a:rPr lang="pt-BR" sz="2100" dirty="0"/>
              <a:t>) é o bloco de construção fundamental de sua rede privada. Ela permite vários tipos de recursos do Azure, como:</a:t>
            </a:r>
          </a:p>
          <a:p>
            <a:r>
              <a:rPr lang="pt-BR" sz="2000" dirty="0"/>
              <a:t>Interfaces de rede</a:t>
            </a:r>
          </a:p>
          <a:p>
            <a:r>
              <a:rPr lang="pt-BR" sz="2000" dirty="0"/>
              <a:t>Endereços IP</a:t>
            </a:r>
          </a:p>
          <a:p>
            <a:r>
              <a:rPr lang="pt-BR" sz="2000" dirty="0"/>
              <a:t>Rede virtual e </a:t>
            </a:r>
            <a:r>
              <a:rPr lang="pt-BR" sz="2000" dirty="0" err="1"/>
              <a:t>sub-redes</a:t>
            </a:r>
            <a:endParaRPr lang="pt-BR" sz="2000" dirty="0"/>
          </a:p>
          <a:p>
            <a:r>
              <a:rPr lang="pt-BR" sz="2000" dirty="0"/>
              <a:t>Grupos de segurança de rede</a:t>
            </a:r>
          </a:p>
          <a:p>
            <a:r>
              <a:rPr lang="pt-BR" sz="2000" dirty="0"/>
              <a:t>Balanceadores de carga</a:t>
            </a:r>
          </a:p>
          <a:p>
            <a:endParaRPr lang="en-US" sz="2000" dirty="0"/>
          </a:p>
        </p:txBody>
      </p:sp>
      <p:pic>
        <p:nvPicPr>
          <p:cNvPr id="1028" name="Picture 4" descr="rede virtual do Azure">
            <a:extLst>
              <a:ext uri="{FF2B5EF4-FFF2-40B4-BE49-F238E27FC236}">
                <a16:creationId xmlns:a16="http://schemas.microsoft.com/office/drawing/2014/main" id="{2FD12ED6-4011-4AC1-83B7-636731E45F1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8" r="-3" b="1690"/>
          <a:stretch/>
        </p:blipFill>
        <p:spPr bwMode="auto">
          <a:xfrm>
            <a:off x="6090612" y="10"/>
            <a:ext cx="6101387" cy="685799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01089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3BB90BAD-97D4-4F31-B534-043BDDD5ECE1}"/>
              </a:ext>
            </a:extLst>
          </p:cNvPr>
          <p:cNvSpPr>
            <a:spLocks noGrp="1"/>
          </p:cNvSpPr>
          <p:nvPr>
            <p:ph type="title"/>
          </p:nvPr>
        </p:nvSpPr>
        <p:spPr>
          <a:xfrm>
            <a:off x="1179226" y="826680"/>
            <a:ext cx="9833548" cy="1325563"/>
          </a:xfrm>
        </p:spPr>
        <p:txBody>
          <a:bodyPr>
            <a:normAutofit/>
          </a:bodyPr>
          <a:lstStyle/>
          <a:p>
            <a:pPr algn="ctr"/>
            <a:r>
              <a:rPr lang="pt-BR" sz="4000">
                <a:solidFill>
                  <a:srgbClr val="FFFFFF"/>
                </a:solidFill>
              </a:rPr>
              <a:t>Conceito VNET</a:t>
            </a:r>
          </a:p>
        </p:txBody>
      </p:sp>
      <p:sp>
        <p:nvSpPr>
          <p:cNvPr id="3" name="Espaço Reservado para Conteúdo 2">
            <a:extLst>
              <a:ext uri="{FF2B5EF4-FFF2-40B4-BE49-F238E27FC236}">
                <a16:creationId xmlns:a16="http://schemas.microsoft.com/office/drawing/2014/main" id="{1406AC12-CDC2-4395-A058-496F9202BC95}"/>
              </a:ext>
            </a:extLst>
          </p:cNvPr>
          <p:cNvSpPr>
            <a:spLocks noGrp="1"/>
          </p:cNvSpPr>
          <p:nvPr>
            <p:ph idx="1"/>
          </p:nvPr>
        </p:nvSpPr>
        <p:spPr>
          <a:xfrm>
            <a:off x="1179226" y="3092970"/>
            <a:ext cx="9833548" cy="2693976"/>
          </a:xfrm>
        </p:spPr>
        <p:txBody>
          <a:bodyPr>
            <a:normAutofit/>
          </a:bodyPr>
          <a:lstStyle/>
          <a:p>
            <a:r>
              <a:rPr lang="pt-BR" sz="2000" b="1">
                <a:solidFill>
                  <a:srgbClr val="000000"/>
                </a:solidFill>
              </a:rPr>
              <a:t>Espaço de endereço:</a:t>
            </a:r>
            <a:r>
              <a:rPr lang="pt-BR" sz="2000">
                <a:solidFill>
                  <a:srgbClr val="000000"/>
                </a:solidFill>
              </a:rPr>
              <a:t> Vnet contem endereço IP públicos e privados.</a:t>
            </a:r>
          </a:p>
          <a:p>
            <a:pPr lvl="1"/>
            <a:r>
              <a:rPr lang="pt-BR" sz="2000">
                <a:solidFill>
                  <a:srgbClr val="000000"/>
                </a:solidFill>
              </a:rPr>
              <a:t>A vnet é limitada pelo bloco de ips privados e personalizados usando a mascara de redes para definir o tamanho (quantidades de máquinas - RFC 1918).</a:t>
            </a:r>
          </a:p>
          <a:p>
            <a:pPr lvl="1"/>
            <a:r>
              <a:rPr lang="pt-BR" sz="2000">
                <a:solidFill>
                  <a:srgbClr val="000000"/>
                </a:solidFill>
              </a:rPr>
              <a:t>O escopo de uma VNET é uma única região/localização.</a:t>
            </a:r>
          </a:p>
          <a:p>
            <a:pPr lvl="1"/>
            <a:r>
              <a:rPr lang="pt-BR" sz="2000">
                <a:solidFill>
                  <a:srgbClr val="000000"/>
                </a:solidFill>
              </a:rPr>
              <a:t>Uma VNET criada em uma assinatura não pode se estender para outra assinatura.</a:t>
            </a:r>
          </a:p>
          <a:p>
            <a:pPr lvl="1"/>
            <a:endParaRPr lang="pt-BR" sz="2000">
              <a:solidFill>
                <a:srgbClr val="000000"/>
              </a:solidFill>
            </a:endParaRPr>
          </a:p>
          <a:p>
            <a:r>
              <a:rPr lang="pt-BR" sz="2000" b="1">
                <a:solidFill>
                  <a:srgbClr val="000000"/>
                </a:solidFill>
              </a:rPr>
              <a:t>Sub-redes:</a:t>
            </a:r>
            <a:r>
              <a:rPr lang="pt-BR" sz="2000">
                <a:solidFill>
                  <a:srgbClr val="000000"/>
                </a:solidFill>
              </a:rPr>
              <a:t> SubNets são blocos de endereços IP públicos e privados, definidos dentro do intervalo da VNET e agrupados por uma nova mascara de rede.</a:t>
            </a:r>
          </a:p>
        </p:txBody>
      </p:sp>
    </p:spTree>
    <p:extLst>
      <p:ext uri="{BB962C8B-B14F-4D97-AF65-F5344CB8AC3E}">
        <p14:creationId xmlns:p14="http://schemas.microsoft.com/office/powerpoint/2010/main" val="38472711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0243B3-3250-4E86-8C9F-65D0F2E9749E}"/>
              </a:ext>
            </a:extLst>
          </p:cNvPr>
          <p:cNvSpPr>
            <a:spLocks noGrp="1"/>
          </p:cNvSpPr>
          <p:nvPr>
            <p:ph type="title"/>
          </p:nvPr>
        </p:nvSpPr>
        <p:spPr>
          <a:xfrm>
            <a:off x="838200" y="365125"/>
            <a:ext cx="10515600" cy="904875"/>
          </a:xfrm>
        </p:spPr>
        <p:txBody>
          <a:bodyPr/>
          <a:lstStyle/>
          <a:p>
            <a:r>
              <a:rPr lang="pt-BR" dirty="0"/>
              <a:t>Virtual Network – VNET e SUBNET</a:t>
            </a:r>
          </a:p>
        </p:txBody>
      </p:sp>
      <p:pic>
        <p:nvPicPr>
          <p:cNvPr id="4" name="Imagem 3">
            <a:extLst>
              <a:ext uri="{FF2B5EF4-FFF2-40B4-BE49-F238E27FC236}">
                <a16:creationId xmlns:a16="http://schemas.microsoft.com/office/drawing/2014/main" id="{69BD5735-6079-49BA-B2D1-3FA550F4ED64}"/>
              </a:ext>
            </a:extLst>
          </p:cNvPr>
          <p:cNvPicPr>
            <a:picLocks noChangeAspect="1"/>
          </p:cNvPicPr>
          <p:nvPr/>
        </p:nvPicPr>
        <p:blipFill>
          <a:blip r:embed="rId2"/>
          <a:stretch>
            <a:fillRect/>
          </a:stretch>
        </p:blipFill>
        <p:spPr>
          <a:xfrm>
            <a:off x="352605" y="1289781"/>
            <a:ext cx="6078675" cy="5203094"/>
          </a:xfrm>
          <a:prstGeom prst="rect">
            <a:avLst/>
          </a:prstGeom>
        </p:spPr>
      </p:pic>
      <p:pic>
        <p:nvPicPr>
          <p:cNvPr id="5" name="Imagem 4">
            <a:extLst>
              <a:ext uri="{FF2B5EF4-FFF2-40B4-BE49-F238E27FC236}">
                <a16:creationId xmlns:a16="http://schemas.microsoft.com/office/drawing/2014/main" id="{B480FC4D-0B24-4E67-874E-EDB9B67BB973}"/>
              </a:ext>
            </a:extLst>
          </p:cNvPr>
          <p:cNvPicPr>
            <a:picLocks noChangeAspect="1"/>
          </p:cNvPicPr>
          <p:nvPr/>
        </p:nvPicPr>
        <p:blipFill>
          <a:blip r:embed="rId3"/>
          <a:stretch>
            <a:fillRect/>
          </a:stretch>
        </p:blipFill>
        <p:spPr>
          <a:xfrm>
            <a:off x="6643868" y="1054148"/>
            <a:ext cx="5487924" cy="2245360"/>
          </a:xfrm>
          <a:prstGeom prst="rect">
            <a:avLst/>
          </a:prstGeom>
        </p:spPr>
      </p:pic>
      <p:pic>
        <p:nvPicPr>
          <p:cNvPr id="7" name="Imagem 6">
            <a:extLst>
              <a:ext uri="{FF2B5EF4-FFF2-40B4-BE49-F238E27FC236}">
                <a16:creationId xmlns:a16="http://schemas.microsoft.com/office/drawing/2014/main" id="{75A9F9FC-1A8D-4F61-ACCC-E192141F03F2}"/>
              </a:ext>
            </a:extLst>
          </p:cNvPr>
          <p:cNvPicPr>
            <a:picLocks noChangeAspect="1"/>
          </p:cNvPicPr>
          <p:nvPr/>
        </p:nvPicPr>
        <p:blipFill>
          <a:blip r:embed="rId4"/>
          <a:stretch>
            <a:fillRect/>
          </a:stretch>
        </p:blipFill>
        <p:spPr>
          <a:xfrm>
            <a:off x="7103344" y="3299508"/>
            <a:ext cx="4570496" cy="3429000"/>
          </a:xfrm>
          <a:prstGeom prst="rect">
            <a:avLst/>
          </a:prstGeom>
        </p:spPr>
      </p:pic>
    </p:spTree>
    <p:extLst>
      <p:ext uri="{BB962C8B-B14F-4D97-AF65-F5344CB8AC3E}">
        <p14:creationId xmlns:p14="http://schemas.microsoft.com/office/powerpoint/2010/main" val="280770311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B90BAD-97D4-4F31-B534-043BDDD5ECE1}"/>
              </a:ext>
            </a:extLst>
          </p:cNvPr>
          <p:cNvSpPr>
            <a:spLocks noGrp="1"/>
          </p:cNvSpPr>
          <p:nvPr>
            <p:ph type="title"/>
          </p:nvPr>
        </p:nvSpPr>
        <p:spPr>
          <a:xfrm>
            <a:off x="838200" y="365125"/>
            <a:ext cx="5998324" cy="1325563"/>
          </a:xfrm>
        </p:spPr>
        <p:txBody>
          <a:bodyPr/>
          <a:lstStyle/>
          <a:p>
            <a:r>
              <a:rPr lang="pt-BR" dirty="0"/>
              <a:t>VNET</a:t>
            </a:r>
          </a:p>
        </p:txBody>
      </p:sp>
      <p:sp>
        <p:nvSpPr>
          <p:cNvPr id="4" name="Retângulo 3">
            <a:extLst>
              <a:ext uri="{FF2B5EF4-FFF2-40B4-BE49-F238E27FC236}">
                <a16:creationId xmlns:a16="http://schemas.microsoft.com/office/drawing/2014/main" id="{520531A5-4221-41B7-ADDE-DFD34DC99F78}"/>
              </a:ext>
            </a:extLst>
          </p:cNvPr>
          <p:cNvSpPr/>
          <p:nvPr/>
        </p:nvSpPr>
        <p:spPr>
          <a:xfrm>
            <a:off x="121920" y="1690688"/>
            <a:ext cx="9154160" cy="4802187"/>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dirty="0" err="1">
                <a:solidFill>
                  <a:schemeClr val="tx1"/>
                </a:solidFill>
              </a:rPr>
              <a:t>Resouce</a:t>
            </a:r>
            <a:r>
              <a:rPr lang="pt-BR" dirty="0">
                <a:solidFill>
                  <a:schemeClr val="tx1"/>
                </a:solidFill>
              </a:rPr>
              <a:t> </a:t>
            </a:r>
            <a:r>
              <a:rPr lang="pt-BR" dirty="0" err="1">
                <a:solidFill>
                  <a:schemeClr val="tx1"/>
                </a:solidFill>
              </a:rPr>
              <a:t>Group</a:t>
            </a:r>
            <a:r>
              <a:rPr lang="pt-BR" dirty="0">
                <a:solidFill>
                  <a:schemeClr val="tx1"/>
                </a:solidFill>
              </a:rPr>
              <a:t> </a:t>
            </a:r>
            <a:r>
              <a:rPr lang="pt-BR" dirty="0" err="1">
                <a:solidFill>
                  <a:schemeClr val="tx1"/>
                </a:solidFill>
              </a:rPr>
              <a:t>NetworkGroup</a:t>
            </a:r>
            <a:endParaRPr lang="pt-BR" dirty="0">
              <a:solidFill>
                <a:schemeClr val="tx1"/>
              </a:solidFill>
            </a:endParaRPr>
          </a:p>
        </p:txBody>
      </p:sp>
      <p:sp>
        <p:nvSpPr>
          <p:cNvPr id="6" name="Retângulo 5">
            <a:extLst>
              <a:ext uri="{FF2B5EF4-FFF2-40B4-BE49-F238E27FC236}">
                <a16:creationId xmlns:a16="http://schemas.microsoft.com/office/drawing/2014/main" id="{B6422769-C5D2-4C95-8DD5-D6BD23EF3654}"/>
              </a:ext>
            </a:extLst>
          </p:cNvPr>
          <p:cNvSpPr/>
          <p:nvPr/>
        </p:nvSpPr>
        <p:spPr>
          <a:xfrm>
            <a:off x="4210918" y="1747960"/>
            <a:ext cx="4912761" cy="458172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dirty="0"/>
              <a:t>VNET (</a:t>
            </a:r>
            <a:r>
              <a:rPr lang="pt-BR" dirty="0" err="1"/>
              <a:t>RedeCloud</a:t>
            </a:r>
            <a:r>
              <a:rPr lang="pt-BR" dirty="0"/>
              <a:t>) – 192.168.0.0/16 – Range (192.168.0.1 - 192.168.255.254) – Broadcast 192.168.255.255</a:t>
            </a:r>
          </a:p>
        </p:txBody>
      </p:sp>
      <p:sp>
        <p:nvSpPr>
          <p:cNvPr id="8" name="Retângulo 7">
            <a:extLst>
              <a:ext uri="{FF2B5EF4-FFF2-40B4-BE49-F238E27FC236}">
                <a16:creationId xmlns:a16="http://schemas.microsoft.com/office/drawing/2014/main" id="{53C5BA8F-EACF-4BEB-976F-123F98392850}"/>
              </a:ext>
            </a:extLst>
          </p:cNvPr>
          <p:cNvSpPr/>
          <p:nvPr/>
        </p:nvSpPr>
        <p:spPr>
          <a:xfrm>
            <a:off x="4479584" y="4685548"/>
            <a:ext cx="3205480" cy="14977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pt-BR" dirty="0" err="1">
                <a:solidFill>
                  <a:schemeClr val="tx1"/>
                </a:solidFill>
              </a:rPr>
              <a:t>Subnet</a:t>
            </a:r>
            <a:r>
              <a:rPr lang="pt-BR" dirty="0">
                <a:solidFill>
                  <a:schemeClr val="tx1"/>
                </a:solidFill>
              </a:rPr>
              <a:t> (</a:t>
            </a:r>
            <a:r>
              <a:rPr lang="pt-BR" dirty="0" err="1">
                <a:solidFill>
                  <a:schemeClr val="tx1"/>
                </a:solidFill>
              </a:rPr>
              <a:t>SubB</a:t>
            </a:r>
            <a:r>
              <a:rPr lang="pt-BR" dirty="0">
                <a:solidFill>
                  <a:schemeClr val="tx1"/>
                </a:solidFill>
              </a:rPr>
              <a:t>) – 192.169.2.0/24</a:t>
            </a:r>
          </a:p>
        </p:txBody>
      </p:sp>
      <p:sp>
        <p:nvSpPr>
          <p:cNvPr id="9" name="Retângulo 8">
            <a:extLst>
              <a:ext uri="{FF2B5EF4-FFF2-40B4-BE49-F238E27FC236}">
                <a16:creationId xmlns:a16="http://schemas.microsoft.com/office/drawing/2014/main" id="{87B9FC38-F7F1-420C-A92E-401F35C16B3F}"/>
              </a:ext>
            </a:extLst>
          </p:cNvPr>
          <p:cNvSpPr/>
          <p:nvPr/>
        </p:nvSpPr>
        <p:spPr>
          <a:xfrm>
            <a:off x="4498340" y="2623343"/>
            <a:ext cx="3205480" cy="149252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dirty="0" err="1">
                <a:solidFill>
                  <a:schemeClr val="tx1"/>
                </a:solidFill>
              </a:rPr>
              <a:t>Subnet</a:t>
            </a:r>
            <a:r>
              <a:rPr lang="pt-BR" dirty="0">
                <a:solidFill>
                  <a:schemeClr val="tx1"/>
                </a:solidFill>
              </a:rPr>
              <a:t> (</a:t>
            </a:r>
            <a:r>
              <a:rPr lang="pt-BR" dirty="0" err="1">
                <a:solidFill>
                  <a:schemeClr val="tx1"/>
                </a:solidFill>
              </a:rPr>
              <a:t>SubA</a:t>
            </a:r>
            <a:r>
              <a:rPr lang="pt-BR" dirty="0">
                <a:solidFill>
                  <a:schemeClr val="tx1"/>
                </a:solidFill>
              </a:rPr>
              <a:t>) – 192.169.1.0/24</a:t>
            </a:r>
          </a:p>
        </p:txBody>
      </p:sp>
      <p:sp>
        <p:nvSpPr>
          <p:cNvPr id="10" name="Retângulo 9">
            <a:extLst>
              <a:ext uri="{FF2B5EF4-FFF2-40B4-BE49-F238E27FC236}">
                <a16:creationId xmlns:a16="http://schemas.microsoft.com/office/drawing/2014/main" id="{1EA87E8C-AF26-4AA9-84E6-99391F840317}"/>
              </a:ext>
            </a:extLst>
          </p:cNvPr>
          <p:cNvSpPr/>
          <p:nvPr/>
        </p:nvSpPr>
        <p:spPr>
          <a:xfrm>
            <a:off x="5920252" y="3114994"/>
            <a:ext cx="1564640" cy="89344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dirty="0">
                <a:solidFill>
                  <a:schemeClr val="bg1"/>
                </a:solidFill>
              </a:rPr>
              <a:t>VM01 192.168.1.4</a:t>
            </a:r>
          </a:p>
          <a:p>
            <a:pPr algn="ctr"/>
            <a:r>
              <a:rPr lang="pt-BR" dirty="0">
                <a:solidFill>
                  <a:schemeClr val="bg1"/>
                </a:solidFill>
              </a:rPr>
              <a:t>40.122.45.163</a:t>
            </a:r>
          </a:p>
        </p:txBody>
      </p:sp>
      <p:sp>
        <p:nvSpPr>
          <p:cNvPr id="12" name="Retângulo 11">
            <a:extLst>
              <a:ext uri="{FF2B5EF4-FFF2-40B4-BE49-F238E27FC236}">
                <a16:creationId xmlns:a16="http://schemas.microsoft.com/office/drawing/2014/main" id="{6AAB900A-C88A-43E5-8F82-1B57E1780B4D}"/>
              </a:ext>
            </a:extLst>
          </p:cNvPr>
          <p:cNvSpPr/>
          <p:nvPr/>
        </p:nvSpPr>
        <p:spPr>
          <a:xfrm>
            <a:off x="5920252" y="4760199"/>
            <a:ext cx="1564640" cy="89344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dirty="0">
                <a:solidFill>
                  <a:schemeClr val="bg1"/>
                </a:solidFill>
              </a:rPr>
              <a:t>VM02 192.168.1.4</a:t>
            </a:r>
          </a:p>
          <a:p>
            <a:pPr algn="ctr"/>
            <a:r>
              <a:rPr lang="pt-BR" dirty="0">
                <a:solidFill>
                  <a:schemeClr val="bg1"/>
                </a:solidFill>
              </a:rPr>
              <a:t>40.122.66.238</a:t>
            </a:r>
          </a:p>
        </p:txBody>
      </p:sp>
      <p:sp>
        <p:nvSpPr>
          <p:cNvPr id="13" name="Seta: de Cima para Baixo 12">
            <a:extLst>
              <a:ext uri="{FF2B5EF4-FFF2-40B4-BE49-F238E27FC236}">
                <a16:creationId xmlns:a16="http://schemas.microsoft.com/office/drawing/2014/main" id="{ABDC06F2-E889-4A48-BCB6-23A265033FB4}"/>
              </a:ext>
            </a:extLst>
          </p:cNvPr>
          <p:cNvSpPr/>
          <p:nvPr/>
        </p:nvSpPr>
        <p:spPr>
          <a:xfrm>
            <a:off x="6529852" y="3985836"/>
            <a:ext cx="345440" cy="751761"/>
          </a:xfrm>
          <a:prstGeom prst="upDownArrow">
            <a:avLst>
              <a:gd name="adj1" fmla="val 32353"/>
              <a:gd name="adj2" fmla="val 50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CaixaDeTexto 13">
            <a:extLst>
              <a:ext uri="{FF2B5EF4-FFF2-40B4-BE49-F238E27FC236}">
                <a16:creationId xmlns:a16="http://schemas.microsoft.com/office/drawing/2014/main" id="{A5C2DC9D-08BA-42C4-AAE3-711A7FC99F4A}"/>
              </a:ext>
            </a:extLst>
          </p:cNvPr>
          <p:cNvSpPr txBox="1"/>
          <p:nvPr/>
        </p:nvSpPr>
        <p:spPr>
          <a:xfrm>
            <a:off x="6813278" y="4056436"/>
            <a:ext cx="1659493" cy="646331"/>
          </a:xfrm>
          <a:prstGeom prst="rect">
            <a:avLst/>
          </a:prstGeom>
          <a:noFill/>
        </p:spPr>
        <p:txBody>
          <a:bodyPr wrap="none" rtlCol="0">
            <a:spAutoFit/>
          </a:bodyPr>
          <a:lstStyle/>
          <a:p>
            <a:r>
              <a:rPr lang="pt-BR" dirty="0">
                <a:solidFill>
                  <a:schemeClr val="bg1">
                    <a:lumMod val="95000"/>
                  </a:schemeClr>
                </a:solidFill>
              </a:rPr>
              <a:t>IP Privado</a:t>
            </a:r>
          </a:p>
          <a:p>
            <a:r>
              <a:rPr lang="pt-BR" dirty="0" err="1">
                <a:solidFill>
                  <a:schemeClr val="bg1">
                    <a:lumMod val="95000"/>
                  </a:schemeClr>
                </a:solidFill>
              </a:rPr>
              <a:t>Implicit</a:t>
            </a:r>
            <a:r>
              <a:rPr lang="pt-BR" dirty="0">
                <a:solidFill>
                  <a:schemeClr val="bg1">
                    <a:lumMod val="95000"/>
                  </a:schemeClr>
                </a:solidFill>
              </a:rPr>
              <a:t> </a:t>
            </a:r>
            <a:r>
              <a:rPr lang="pt-BR" dirty="0" err="1">
                <a:solidFill>
                  <a:schemeClr val="bg1">
                    <a:lumMod val="95000"/>
                  </a:schemeClr>
                </a:solidFill>
              </a:rPr>
              <a:t>Routing</a:t>
            </a:r>
            <a:endParaRPr lang="pt-BR" dirty="0">
              <a:solidFill>
                <a:schemeClr val="bg1">
                  <a:lumMod val="95000"/>
                </a:schemeClr>
              </a:solidFill>
            </a:endParaRPr>
          </a:p>
        </p:txBody>
      </p:sp>
      <p:pic>
        <p:nvPicPr>
          <p:cNvPr id="16" name="Gráfico 15" descr="Sincronizando nuvem">
            <a:extLst>
              <a:ext uri="{FF2B5EF4-FFF2-40B4-BE49-F238E27FC236}">
                <a16:creationId xmlns:a16="http://schemas.microsoft.com/office/drawing/2014/main" id="{0ECDA65C-E149-4E3F-8A74-AC031C7D2E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16404" y="4091781"/>
            <a:ext cx="2454910" cy="2454910"/>
          </a:xfrm>
          <a:prstGeom prst="rect">
            <a:avLst/>
          </a:prstGeom>
        </p:spPr>
      </p:pic>
      <p:pic>
        <p:nvPicPr>
          <p:cNvPr id="19" name="Gráfico 18" descr="Rede social">
            <a:extLst>
              <a:ext uri="{FF2B5EF4-FFF2-40B4-BE49-F238E27FC236}">
                <a16:creationId xmlns:a16="http://schemas.microsoft.com/office/drawing/2014/main" id="{A9A80ABD-500D-41C5-A49E-D10C4430B91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07981" y="2173170"/>
            <a:ext cx="2245042" cy="2245042"/>
          </a:xfrm>
          <a:prstGeom prst="rect">
            <a:avLst/>
          </a:prstGeom>
        </p:spPr>
      </p:pic>
      <p:pic>
        <p:nvPicPr>
          <p:cNvPr id="21" name="Imagem 20">
            <a:extLst>
              <a:ext uri="{FF2B5EF4-FFF2-40B4-BE49-F238E27FC236}">
                <a16:creationId xmlns:a16="http://schemas.microsoft.com/office/drawing/2014/main" id="{38B106C8-FF11-43A9-A67E-144D9E632F79}"/>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0207506" y="505006"/>
            <a:ext cx="1379974" cy="1479369"/>
          </a:xfrm>
          <a:prstGeom prst="rect">
            <a:avLst/>
          </a:prstGeom>
        </p:spPr>
      </p:pic>
      <p:sp>
        <p:nvSpPr>
          <p:cNvPr id="22" name="Seta: de Cima para Baixo 21">
            <a:extLst>
              <a:ext uri="{FF2B5EF4-FFF2-40B4-BE49-F238E27FC236}">
                <a16:creationId xmlns:a16="http://schemas.microsoft.com/office/drawing/2014/main" id="{F5EAF9F8-2C0E-483C-8CDB-8FC7D4F4A567}"/>
              </a:ext>
            </a:extLst>
          </p:cNvPr>
          <p:cNvSpPr/>
          <p:nvPr/>
        </p:nvSpPr>
        <p:spPr>
          <a:xfrm rot="5400000">
            <a:off x="8434599" y="4519786"/>
            <a:ext cx="386953" cy="1814087"/>
          </a:xfrm>
          <a:prstGeom prst="upDownArrow">
            <a:avLst>
              <a:gd name="adj1" fmla="val 32353"/>
              <a:gd name="adj2" fmla="val 50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CaixaDeTexto 22">
            <a:extLst>
              <a:ext uri="{FF2B5EF4-FFF2-40B4-BE49-F238E27FC236}">
                <a16:creationId xmlns:a16="http://schemas.microsoft.com/office/drawing/2014/main" id="{206FE0AF-BED9-461B-B5FC-930829EBD575}"/>
              </a:ext>
            </a:extLst>
          </p:cNvPr>
          <p:cNvSpPr txBox="1"/>
          <p:nvPr/>
        </p:nvSpPr>
        <p:spPr>
          <a:xfrm>
            <a:off x="7624330" y="4998840"/>
            <a:ext cx="1814086" cy="369332"/>
          </a:xfrm>
          <a:prstGeom prst="rect">
            <a:avLst/>
          </a:prstGeom>
          <a:noFill/>
        </p:spPr>
        <p:txBody>
          <a:bodyPr wrap="none" rtlCol="0">
            <a:spAutoFit/>
          </a:bodyPr>
          <a:lstStyle/>
          <a:p>
            <a:r>
              <a:rPr lang="pt-BR" dirty="0">
                <a:solidFill>
                  <a:schemeClr val="bg1">
                    <a:lumMod val="95000"/>
                  </a:schemeClr>
                </a:solidFill>
              </a:rPr>
              <a:t>Internet Gateway</a:t>
            </a:r>
          </a:p>
        </p:txBody>
      </p:sp>
      <p:sp>
        <p:nvSpPr>
          <p:cNvPr id="24" name="Seta: de Cima para Baixo 23">
            <a:extLst>
              <a:ext uri="{FF2B5EF4-FFF2-40B4-BE49-F238E27FC236}">
                <a16:creationId xmlns:a16="http://schemas.microsoft.com/office/drawing/2014/main" id="{805D5319-6C29-41B0-898B-0412E83EDD73}"/>
              </a:ext>
            </a:extLst>
          </p:cNvPr>
          <p:cNvSpPr/>
          <p:nvPr/>
        </p:nvSpPr>
        <p:spPr>
          <a:xfrm rot="5400000">
            <a:off x="8423356" y="2555123"/>
            <a:ext cx="427035" cy="1866109"/>
          </a:xfrm>
          <a:prstGeom prst="upDownArrow">
            <a:avLst>
              <a:gd name="adj1" fmla="val 32353"/>
              <a:gd name="adj2" fmla="val 50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5" name="CaixaDeTexto 24">
            <a:extLst>
              <a:ext uri="{FF2B5EF4-FFF2-40B4-BE49-F238E27FC236}">
                <a16:creationId xmlns:a16="http://schemas.microsoft.com/office/drawing/2014/main" id="{85692F7C-147B-4259-9F97-4977FC99AB6F}"/>
              </a:ext>
            </a:extLst>
          </p:cNvPr>
          <p:cNvSpPr txBox="1"/>
          <p:nvPr/>
        </p:nvSpPr>
        <p:spPr>
          <a:xfrm>
            <a:off x="7657935" y="3049151"/>
            <a:ext cx="1492460" cy="369332"/>
          </a:xfrm>
          <a:prstGeom prst="rect">
            <a:avLst/>
          </a:prstGeom>
          <a:noFill/>
        </p:spPr>
        <p:txBody>
          <a:bodyPr wrap="none" rtlCol="0">
            <a:spAutoFit/>
          </a:bodyPr>
          <a:lstStyle/>
          <a:p>
            <a:r>
              <a:rPr lang="pt-BR" dirty="0" err="1">
                <a:solidFill>
                  <a:schemeClr val="bg1">
                    <a:lumMod val="95000"/>
                  </a:schemeClr>
                </a:solidFill>
              </a:rPr>
              <a:t>Vnet</a:t>
            </a:r>
            <a:r>
              <a:rPr lang="pt-BR" dirty="0">
                <a:solidFill>
                  <a:schemeClr val="bg1">
                    <a:lumMod val="95000"/>
                  </a:schemeClr>
                </a:solidFill>
              </a:rPr>
              <a:t> Gateway</a:t>
            </a:r>
          </a:p>
        </p:txBody>
      </p:sp>
      <p:sp>
        <p:nvSpPr>
          <p:cNvPr id="26" name="Seta: de Cima para Baixo 25">
            <a:extLst>
              <a:ext uri="{FF2B5EF4-FFF2-40B4-BE49-F238E27FC236}">
                <a16:creationId xmlns:a16="http://schemas.microsoft.com/office/drawing/2014/main" id="{7226846B-A293-4901-944F-DFE0F9A64B38}"/>
              </a:ext>
            </a:extLst>
          </p:cNvPr>
          <p:cNvSpPr/>
          <p:nvPr/>
        </p:nvSpPr>
        <p:spPr>
          <a:xfrm rot="3992452">
            <a:off x="8709854" y="1048991"/>
            <a:ext cx="427035" cy="2685987"/>
          </a:xfrm>
          <a:prstGeom prst="upDownArrow">
            <a:avLst>
              <a:gd name="adj1" fmla="val 32353"/>
              <a:gd name="adj2" fmla="val 50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7" name="CaixaDeTexto 26">
            <a:extLst>
              <a:ext uri="{FF2B5EF4-FFF2-40B4-BE49-F238E27FC236}">
                <a16:creationId xmlns:a16="http://schemas.microsoft.com/office/drawing/2014/main" id="{48A44F38-D138-4E4F-9335-887CE6CAFE7C}"/>
              </a:ext>
            </a:extLst>
          </p:cNvPr>
          <p:cNvSpPr txBox="1"/>
          <p:nvPr/>
        </p:nvSpPr>
        <p:spPr>
          <a:xfrm>
            <a:off x="7657935" y="1349416"/>
            <a:ext cx="2560060" cy="369332"/>
          </a:xfrm>
          <a:prstGeom prst="rect">
            <a:avLst/>
          </a:prstGeom>
          <a:noFill/>
        </p:spPr>
        <p:txBody>
          <a:bodyPr wrap="none" rtlCol="0">
            <a:spAutoFit/>
          </a:bodyPr>
          <a:lstStyle/>
          <a:p>
            <a:r>
              <a:rPr lang="pt-BR" dirty="0">
                <a:solidFill>
                  <a:srgbClr val="FF0000"/>
                </a:solidFill>
              </a:rPr>
              <a:t>UDR - </a:t>
            </a:r>
            <a:r>
              <a:rPr lang="pt-BR" dirty="0" err="1">
                <a:solidFill>
                  <a:srgbClr val="FF0000"/>
                </a:solidFill>
              </a:rPr>
              <a:t>User-defined</a:t>
            </a:r>
            <a:r>
              <a:rPr lang="pt-BR" dirty="0">
                <a:solidFill>
                  <a:srgbClr val="FF0000"/>
                </a:solidFill>
              </a:rPr>
              <a:t> </a:t>
            </a:r>
            <a:r>
              <a:rPr lang="pt-BR" dirty="0" err="1">
                <a:solidFill>
                  <a:srgbClr val="FF0000"/>
                </a:solidFill>
              </a:rPr>
              <a:t>route</a:t>
            </a:r>
            <a:endParaRPr lang="pt-BR" dirty="0">
              <a:solidFill>
                <a:srgbClr val="FF0000"/>
              </a:solidFill>
            </a:endParaRPr>
          </a:p>
        </p:txBody>
      </p:sp>
      <p:sp>
        <p:nvSpPr>
          <p:cNvPr id="28" name="Seta: de Cima para Baixo 27">
            <a:extLst>
              <a:ext uri="{FF2B5EF4-FFF2-40B4-BE49-F238E27FC236}">
                <a16:creationId xmlns:a16="http://schemas.microsoft.com/office/drawing/2014/main" id="{85652FF7-F252-4E58-A75D-EEB0FEC18C88}"/>
              </a:ext>
            </a:extLst>
          </p:cNvPr>
          <p:cNvSpPr/>
          <p:nvPr/>
        </p:nvSpPr>
        <p:spPr>
          <a:xfrm>
            <a:off x="11280303" y="2124256"/>
            <a:ext cx="307177" cy="2613341"/>
          </a:xfrm>
          <a:prstGeom prst="upDownArrow">
            <a:avLst>
              <a:gd name="adj1" fmla="val 32353"/>
              <a:gd name="adj2" fmla="val 50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9" name="Retângulo 28">
            <a:extLst>
              <a:ext uri="{FF2B5EF4-FFF2-40B4-BE49-F238E27FC236}">
                <a16:creationId xmlns:a16="http://schemas.microsoft.com/office/drawing/2014/main" id="{B86D9D9E-60BA-4CB6-9829-3039BB192DD1}"/>
              </a:ext>
            </a:extLst>
          </p:cNvPr>
          <p:cNvSpPr/>
          <p:nvPr/>
        </p:nvSpPr>
        <p:spPr>
          <a:xfrm>
            <a:off x="295655" y="1984375"/>
            <a:ext cx="2361225" cy="430371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dirty="0"/>
              <a:t>VNET (RedeCloud2) – 10.0.0.0/16</a:t>
            </a:r>
          </a:p>
        </p:txBody>
      </p:sp>
      <p:sp>
        <p:nvSpPr>
          <p:cNvPr id="31" name="Retângulo 30">
            <a:extLst>
              <a:ext uri="{FF2B5EF4-FFF2-40B4-BE49-F238E27FC236}">
                <a16:creationId xmlns:a16="http://schemas.microsoft.com/office/drawing/2014/main" id="{A3787917-B6B2-4062-8078-73F0414AA2C0}"/>
              </a:ext>
            </a:extLst>
          </p:cNvPr>
          <p:cNvSpPr/>
          <p:nvPr/>
        </p:nvSpPr>
        <p:spPr>
          <a:xfrm>
            <a:off x="375432" y="3561716"/>
            <a:ext cx="2195299" cy="185959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dirty="0" err="1">
                <a:solidFill>
                  <a:schemeClr val="tx1"/>
                </a:solidFill>
              </a:rPr>
              <a:t>Subnet</a:t>
            </a:r>
            <a:r>
              <a:rPr lang="pt-BR" dirty="0">
                <a:solidFill>
                  <a:schemeClr val="tx1"/>
                </a:solidFill>
              </a:rPr>
              <a:t> (</a:t>
            </a:r>
            <a:r>
              <a:rPr lang="pt-BR" dirty="0" err="1">
                <a:solidFill>
                  <a:schemeClr val="tx1"/>
                </a:solidFill>
              </a:rPr>
              <a:t>SubC</a:t>
            </a:r>
            <a:r>
              <a:rPr lang="pt-BR" dirty="0">
                <a:solidFill>
                  <a:schemeClr val="tx1"/>
                </a:solidFill>
              </a:rPr>
              <a:t>) – 10.0.1.0/24</a:t>
            </a:r>
          </a:p>
        </p:txBody>
      </p:sp>
      <p:sp>
        <p:nvSpPr>
          <p:cNvPr id="32" name="Retângulo 31">
            <a:extLst>
              <a:ext uri="{FF2B5EF4-FFF2-40B4-BE49-F238E27FC236}">
                <a16:creationId xmlns:a16="http://schemas.microsoft.com/office/drawing/2014/main" id="{2D1AD726-00BD-442C-8603-DF4FFF0D76E5}"/>
              </a:ext>
            </a:extLst>
          </p:cNvPr>
          <p:cNvSpPr/>
          <p:nvPr/>
        </p:nvSpPr>
        <p:spPr>
          <a:xfrm>
            <a:off x="559112" y="4361716"/>
            <a:ext cx="1660135" cy="89344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dirty="0">
                <a:solidFill>
                  <a:schemeClr val="bg1"/>
                </a:solidFill>
              </a:rPr>
              <a:t>VM03  </a:t>
            </a:r>
          </a:p>
          <a:p>
            <a:pPr algn="ctr"/>
            <a:r>
              <a:rPr lang="pt-BR" dirty="0">
                <a:solidFill>
                  <a:schemeClr val="bg1"/>
                </a:solidFill>
              </a:rPr>
              <a:t>10.0.1.4</a:t>
            </a:r>
          </a:p>
          <a:p>
            <a:pPr algn="ctr"/>
            <a:r>
              <a:rPr lang="pt-BR" dirty="0">
                <a:solidFill>
                  <a:schemeClr val="bg1"/>
                </a:solidFill>
              </a:rPr>
              <a:t>40.122.145.163</a:t>
            </a:r>
          </a:p>
        </p:txBody>
      </p:sp>
      <p:sp>
        <p:nvSpPr>
          <p:cNvPr id="33" name="Seta: de Cima para Baixo 32">
            <a:extLst>
              <a:ext uri="{FF2B5EF4-FFF2-40B4-BE49-F238E27FC236}">
                <a16:creationId xmlns:a16="http://schemas.microsoft.com/office/drawing/2014/main" id="{C86E48A5-6B32-4AA6-86A1-A547D90CDA7E}"/>
              </a:ext>
            </a:extLst>
          </p:cNvPr>
          <p:cNvSpPr/>
          <p:nvPr/>
        </p:nvSpPr>
        <p:spPr>
          <a:xfrm rot="5400000">
            <a:off x="3209916" y="4196486"/>
            <a:ext cx="427035" cy="1494704"/>
          </a:xfrm>
          <a:prstGeom prst="upDownArrow">
            <a:avLst>
              <a:gd name="adj1" fmla="val 32353"/>
              <a:gd name="adj2" fmla="val 50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4" name="CaixaDeTexto 33">
            <a:extLst>
              <a:ext uri="{FF2B5EF4-FFF2-40B4-BE49-F238E27FC236}">
                <a16:creationId xmlns:a16="http://schemas.microsoft.com/office/drawing/2014/main" id="{C6FC9D2E-E8C8-4181-9944-87B5DDC5E64A}"/>
              </a:ext>
            </a:extLst>
          </p:cNvPr>
          <p:cNvSpPr txBox="1"/>
          <p:nvPr/>
        </p:nvSpPr>
        <p:spPr>
          <a:xfrm>
            <a:off x="2676083" y="4404583"/>
            <a:ext cx="1494705" cy="369332"/>
          </a:xfrm>
          <a:prstGeom prst="rect">
            <a:avLst/>
          </a:prstGeom>
          <a:noFill/>
        </p:spPr>
        <p:txBody>
          <a:bodyPr wrap="none" rtlCol="0">
            <a:spAutoFit/>
          </a:bodyPr>
          <a:lstStyle/>
          <a:p>
            <a:r>
              <a:rPr lang="pt-BR" dirty="0" err="1">
                <a:solidFill>
                  <a:schemeClr val="bg1">
                    <a:lumMod val="95000"/>
                  </a:schemeClr>
                </a:solidFill>
              </a:rPr>
              <a:t>Peer</a:t>
            </a:r>
            <a:r>
              <a:rPr lang="pt-BR" dirty="0">
                <a:solidFill>
                  <a:schemeClr val="bg1">
                    <a:lumMod val="95000"/>
                  </a:schemeClr>
                </a:solidFill>
              </a:rPr>
              <a:t> - </a:t>
            </a:r>
            <a:r>
              <a:rPr lang="pt-BR" dirty="0" err="1">
                <a:solidFill>
                  <a:schemeClr val="bg1">
                    <a:lumMod val="95000"/>
                  </a:schemeClr>
                </a:solidFill>
              </a:rPr>
              <a:t>Peering</a:t>
            </a:r>
            <a:endParaRPr lang="pt-BR" dirty="0">
              <a:solidFill>
                <a:schemeClr val="bg1">
                  <a:lumMod val="95000"/>
                </a:schemeClr>
              </a:solidFill>
            </a:endParaRPr>
          </a:p>
        </p:txBody>
      </p:sp>
      <p:pic>
        <p:nvPicPr>
          <p:cNvPr id="38" name="Gráfico 37" descr="Engrenagem única">
            <a:extLst>
              <a:ext uri="{FF2B5EF4-FFF2-40B4-BE49-F238E27FC236}">
                <a16:creationId xmlns:a16="http://schemas.microsoft.com/office/drawing/2014/main" id="{55E3BF0C-D70B-47A8-A01A-D760678A121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11930" y="3464628"/>
            <a:ext cx="291586" cy="291586"/>
          </a:xfrm>
          <a:prstGeom prst="rect">
            <a:avLst/>
          </a:prstGeom>
        </p:spPr>
      </p:pic>
      <p:pic>
        <p:nvPicPr>
          <p:cNvPr id="39" name="Gráfico 38" descr="Engrenagem única">
            <a:extLst>
              <a:ext uri="{FF2B5EF4-FFF2-40B4-BE49-F238E27FC236}">
                <a16:creationId xmlns:a16="http://schemas.microsoft.com/office/drawing/2014/main" id="{9B82064A-5D12-4D65-AFC9-4C2DAE82BB0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81041" y="3400583"/>
            <a:ext cx="291586" cy="291586"/>
          </a:xfrm>
          <a:prstGeom prst="rect">
            <a:avLst/>
          </a:prstGeom>
        </p:spPr>
      </p:pic>
      <p:pic>
        <p:nvPicPr>
          <p:cNvPr id="40" name="Gráfico 39" descr="Engrenagem única">
            <a:extLst>
              <a:ext uri="{FF2B5EF4-FFF2-40B4-BE49-F238E27FC236}">
                <a16:creationId xmlns:a16="http://schemas.microsoft.com/office/drawing/2014/main" id="{6C805E27-2DE9-464E-9FAE-29A135AD7D0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81041" y="5061128"/>
            <a:ext cx="291586" cy="291586"/>
          </a:xfrm>
          <a:prstGeom prst="rect">
            <a:avLst/>
          </a:prstGeom>
        </p:spPr>
      </p:pic>
      <p:pic>
        <p:nvPicPr>
          <p:cNvPr id="41" name="Gráfico 40" descr="Engrenagem única">
            <a:extLst>
              <a:ext uri="{FF2B5EF4-FFF2-40B4-BE49-F238E27FC236}">
                <a16:creationId xmlns:a16="http://schemas.microsoft.com/office/drawing/2014/main" id="{FEA84C2D-EBC4-4FB5-8F61-5DE340D9148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456028" y="3389588"/>
            <a:ext cx="291586" cy="291586"/>
          </a:xfrm>
          <a:prstGeom prst="rect">
            <a:avLst/>
          </a:prstGeom>
        </p:spPr>
      </p:pic>
      <p:pic>
        <p:nvPicPr>
          <p:cNvPr id="42" name="Gráfico 41" descr="Engrenagem única">
            <a:extLst>
              <a:ext uri="{FF2B5EF4-FFF2-40B4-BE49-F238E27FC236}">
                <a16:creationId xmlns:a16="http://schemas.microsoft.com/office/drawing/2014/main" id="{933E9941-3AE0-4F4C-B199-097079FA6A0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395282" y="5057755"/>
            <a:ext cx="291586" cy="291586"/>
          </a:xfrm>
          <a:prstGeom prst="rect">
            <a:avLst/>
          </a:prstGeom>
        </p:spPr>
      </p:pic>
      <p:pic>
        <p:nvPicPr>
          <p:cNvPr id="43" name="Gráfico 42" descr="Engrenagem única">
            <a:extLst>
              <a:ext uri="{FF2B5EF4-FFF2-40B4-BE49-F238E27FC236}">
                <a16:creationId xmlns:a16="http://schemas.microsoft.com/office/drawing/2014/main" id="{EE800265-8145-4E2B-93FE-5920B2E685C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11930" y="4393963"/>
            <a:ext cx="291586" cy="291586"/>
          </a:xfrm>
          <a:prstGeom prst="rect">
            <a:avLst/>
          </a:prstGeom>
        </p:spPr>
      </p:pic>
      <p:cxnSp>
        <p:nvCxnSpPr>
          <p:cNvPr id="45" name="Conector de Seta Reta 44">
            <a:extLst>
              <a:ext uri="{FF2B5EF4-FFF2-40B4-BE49-F238E27FC236}">
                <a16:creationId xmlns:a16="http://schemas.microsoft.com/office/drawing/2014/main" id="{BD870BAC-EB3D-4753-A166-0D6B6246563A}"/>
              </a:ext>
            </a:extLst>
          </p:cNvPr>
          <p:cNvCxnSpPr>
            <a:cxnSpLocks/>
            <a:stCxn id="43" idx="0"/>
            <a:endCxn id="38" idx="2"/>
          </p:cNvCxnSpPr>
          <p:nvPr/>
        </p:nvCxnSpPr>
        <p:spPr>
          <a:xfrm flipV="1">
            <a:off x="2257723" y="3756214"/>
            <a:ext cx="0" cy="637749"/>
          </a:xfrm>
          <a:prstGeom prst="straightConnector1">
            <a:avLst/>
          </a:prstGeom>
          <a:ln w="25400">
            <a:solidFill>
              <a:srgbClr val="CC3399"/>
            </a:solidFill>
            <a:headEnd type="triangle"/>
            <a:tailEnd type="triangle"/>
          </a:ln>
          <a:effectLst>
            <a:outerShdw blurRad="50800" dist="50800" dir="5400000" sx="9000" sy="9000" algn="ctr" rotWithShape="0">
              <a:srgbClr val="FFFF00"/>
            </a:outerShdw>
          </a:effectLst>
        </p:spPr>
        <p:style>
          <a:lnRef idx="1">
            <a:schemeClr val="accent1"/>
          </a:lnRef>
          <a:fillRef idx="0">
            <a:schemeClr val="accent1"/>
          </a:fillRef>
          <a:effectRef idx="0">
            <a:schemeClr val="accent1"/>
          </a:effectRef>
          <a:fontRef idx="minor">
            <a:schemeClr val="tx1"/>
          </a:fontRef>
        </p:style>
      </p:cxnSp>
      <p:cxnSp>
        <p:nvCxnSpPr>
          <p:cNvPr id="48" name="Conector de Seta Reta 47">
            <a:extLst>
              <a:ext uri="{FF2B5EF4-FFF2-40B4-BE49-F238E27FC236}">
                <a16:creationId xmlns:a16="http://schemas.microsoft.com/office/drawing/2014/main" id="{5768D7DA-9CB1-4AAE-BFE9-BD94C778B7D0}"/>
              </a:ext>
            </a:extLst>
          </p:cNvPr>
          <p:cNvCxnSpPr>
            <a:cxnSpLocks/>
            <a:stCxn id="38" idx="0"/>
            <a:endCxn id="94" idx="1"/>
          </p:cNvCxnSpPr>
          <p:nvPr/>
        </p:nvCxnSpPr>
        <p:spPr>
          <a:xfrm flipV="1">
            <a:off x="2257723" y="1341594"/>
            <a:ext cx="1176358" cy="2123034"/>
          </a:xfrm>
          <a:prstGeom prst="straightConnector1">
            <a:avLst/>
          </a:prstGeom>
          <a:ln w="25400">
            <a:solidFill>
              <a:srgbClr val="CC3399"/>
            </a:solidFill>
            <a:headEnd type="triangle"/>
            <a:tailEnd type="triangle"/>
          </a:ln>
          <a:effectLst>
            <a:outerShdw blurRad="50800" dist="50800" dir="5400000" sx="9000" sy="9000" algn="ctr" rotWithShape="0">
              <a:srgbClr val="FFFF00"/>
            </a:outerShdw>
          </a:effectLst>
        </p:spPr>
        <p:style>
          <a:lnRef idx="1">
            <a:schemeClr val="accent1"/>
          </a:lnRef>
          <a:fillRef idx="0">
            <a:schemeClr val="accent1"/>
          </a:fillRef>
          <a:effectRef idx="0">
            <a:schemeClr val="accent1"/>
          </a:effectRef>
          <a:fontRef idx="minor">
            <a:schemeClr val="tx1"/>
          </a:fontRef>
        </p:style>
      </p:cxnSp>
      <p:cxnSp>
        <p:nvCxnSpPr>
          <p:cNvPr id="55" name="Conector de Seta Reta 54">
            <a:extLst>
              <a:ext uri="{FF2B5EF4-FFF2-40B4-BE49-F238E27FC236}">
                <a16:creationId xmlns:a16="http://schemas.microsoft.com/office/drawing/2014/main" id="{FEFCC39C-937A-4FCB-9DAA-9251240033B9}"/>
              </a:ext>
            </a:extLst>
          </p:cNvPr>
          <p:cNvCxnSpPr>
            <a:cxnSpLocks/>
            <a:stCxn id="41" idx="0"/>
            <a:endCxn id="94" idx="3"/>
          </p:cNvCxnSpPr>
          <p:nvPr/>
        </p:nvCxnSpPr>
        <p:spPr>
          <a:xfrm flipH="1" flipV="1">
            <a:off x="3752685" y="1341594"/>
            <a:ext cx="849136" cy="2047994"/>
          </a:xfrm>
          <a:prstGeom prst="straightConnector1">
            <a:avLst/>
          </a:prstGeom>
          <a:ln w="25400">
            <a:solidFill>
              <a:srgbClr val="CC3399"/>
            </a:solidFill>
            <a:headEnd type="triangle"/>
            <a:tailEnd type="triangle"/>
          </a:ln>
          <a:effectLst>
            <a:outerShdw blurRad="50800" dist="50800" dir="5400000" sx="9000" sy="9000" algn="ctr" rotWithShape="0">
              <a:srgbClr val="FFFF00"/>
            </a:outerShdw>
          </a:effectLst>
        </p:spPr>
        <p:style>
          <a:lnRef idx="1">
            <a:schemeClr val="accent1"/>
          </a:lnRef>
          <a:fillRef idx="0">
            <a:schemeClr val="accent1"/>
          </a:fillRef>
          <a:effectRef idx="0">
            <a:schemeClr val="accent1"/>
          </a:effectRef>
          <a:fontRef idx="minor">
            <a:schemeClr val="tx1"/>
          </a:fontRef>
        </p:style>
      </p:cxnSp>
      <p:cxnSp>
        <p:nvCxnSpPr>
          <p:cNvPr id="58" name="Conector de Seta Reta 57">
            <a:extLst>
              <a:ext uri="{FF2B5EF4-FFF2-40B4-BE49-F238E27FC236}">
                <a16:creationId xmlns:a16="http://schemas.microsoft.com/office/drawing/2014/main" id="{86B3F05A-F357-432D-BBAD-08D00D4928F3}"/>
              </a:ext>
            </a:extLst>
          </p:cNvPr>
          <p:cNvCxnSpPr>
            <a:cxnSpLocks/>
            <a:stCxn id="42" idx="0"/>
            <a:endCxn id="94" idx="2"/>
          </p:cNvCxnSpPr>
          <p:nvPr/>
        </p:nvCxnSpPr>
        <p:spPr>
          <a:xfrm flipH="1" flipV="1">
            <a:off x="3593383" y="1375941"/>
            <a:ext cx="947692" cy="3681814"/>
          </a:xfrm>
          <a:prstGeom prst="straightConnector1">
            <a:avLst/>
          </a:prstGeom>
          <a:ln w="25400">
            <a:solidFill>
              <a:srgbClr val="CC3399"/>
            </a:solidFill>
            <a:headEnd type="triangle"/>
            <a:tailEnd type="triangle"/>
          </a:ln>
          <a:effectLst>
            <a:outerShdw blurRad="50800" dist="50800" dir="5400000" sx="9000" sy="9000" algn="ctr" rotWithShape="0">
              <a:srgbClr val="FFFF00"/>
            </a:outerShdw>
          </a:effectLst>
        </p:spPr>
        <p:style>
          <a:lnRef idx="1">
            <a:schemeClr val="accent1"/>
          </a:lnRef>
          <a:fillRef idx="0">
            <a:schemeClr val="accent1"/>
          </a:fillRef>
          <a:effectRef idx="0">
            <a:schemeClr val="accent1"/>
          </a:effectRef>
          <a:fontRef idx="minor">
            <a:schemeClr val="tx1"/>
          </a:fontRef>
        </p:style>
      </p:cxnSp>
      <p:cxnSp>
        <p:nvCxnSpPr>
          <p:cNvPr id="62" name="Conector de Seta Reta 61">
            <a:extLst>
              <a:ext uri="{FF2B5EF4-FFF2-40B4-BE49-F238E27FC236}">
                <a16:creationId xmlns:a16="http://schemas.microsoft.com/office/drawing/2014/main" id="{61613FD3-0EEE-42E0-B376-440A8F1CE6ED}"/>
              </a:ext>
            </a:extLst>
          </p:cNvPr>
          <p:cNvCxnSpPr>
            <a:cxnSpLocks/>
            <a:stCxn id="39" idx="1"/>
            <a:endCxn id="41" idx="3"/>
          </p:cNvCxnSpPr>
          <p:nvPr/>
        </p:nvCxnSpPr>
        <p:spPr>
          <a:xfrm flipH="1" flipV="1">
            <a:off x="4747614" y="3535381"/>
            <a:ext cx="1033427" cy="10995"/>
          </a:xfrm>
          <a:prstGeom prst="straightConnector1">
            <a:avLst/>
          </a:prstGeom>
          <a:ln w="25400">
            <a:solidFill>
              <a:srgbClr val="CC3399"/>
            </a:solidFill>
            <a:headEnd type="triangle"/>
            <a:tailEnd type="triangle"/>
          </a:ln>
          <a:effectLst>
            <a:outerShdw blurRad="50800" dist="50800" dir="5400000" sx="9000" sy="9000" algn="ctr" rotWithShape="0">
              <a:srgbClr val="FFFF00"/>
            </a:outerShdw>
          </a:effectLst>
        </p:spPr>
        <p:style>
          <a:lnRef idx="1">
            <a:schemeClr val="accent1"/>
          </a:lnRef>
          <a:fillRef idx="0">
            <a:schemeClr val="accent1"/>
          </a:fillRef>
          <a:effectRef idx="0">
            <a:schemeClr val="accent1"/>
          </a:effectRef>
          <a:fontRef idx="minor">
            <a:schemeClr val="tx1"/>
          </a:fontRef>
        </p:style>
      </p:cxnSp>
      <p:cxnSp>
        <p:nvCxnSpPr>
          <p:cNvPr id="65" name="Conector de Seta Reta 64">
            <a:extLst>
              <a:ext uri="{FF2B5EF4-FFF2-40B4-BE49-F238E27FC236}">
                <a16:creationId xmlns:a16="http://schemas.microsoft.com/office/drawing/2014/main" id="{4C80AB6B-FD4D-43AB-9320-EFE33B5AAB20}"/>
              </a:ext>
            </a:extLst>
          </p:cNvPr>
          <p:cNvCxnSpPr>
            <a:cxnSpLocks/>
            <a:stCxn id="40" idx="1"/>
            <a:endCxn id="42" idx="3"/>
          </p:cNvCxnSpPr>
          <p:nvPr/>
        </p:nvCxnSpPr>
        <p:spPr>
          <a:xfrm flipH="1" flipV="1">
            <a:off x="4686868" y="5203548"/>
            <a:ext cx="1094173" cy="3373"/>
          </a:xfrm>
          <a:prstGeom prst="straightConnector1">
            <a:avLst/>
          </a:prstGeom>
          <a:ln w="25400">
            <a:solidFill>
              <a:srgbClr val="CC3399"/>
            </a:solidFill>
            <a:headEnd type="triangle"/>
            <a:tailEnd type="triangle"/>
          </a:ln>
          <a:effectLst>
            <a:outerShdw blurRad="50800" dist="50800" dir="5400000" sx="9000" sy="9000" algn="ctr" rotWithShape="0">
              <a:srgbClr val="FFFF00"/>
            </a:outerShdw>
          </a:effectLst>
        </p:spPr>
        <p:style>
          <a:lnRef idx="1">
            <a:schemeClr val="accent1"/>
          </a:lnRef>
          <a:fillRef idx="0">
            <a:schemeClr val="accent1"/>
          </a:fillRef>
          <a:effectRef idx="0">
            <a:schemeClr val="accent1"/>
          </a:effectRef>
          <a:fontRef idx="minor">
            <a:schemeClr val="tx1"/>
          </a:fontRef>
        </p:style>
      </p:cxnSp>
      <p:sp>
        <p:nvSpPr>
          <p:cNvPr id="70" name="CaixaDeTexto 69">
            <a:extLst>
              <a:ext uri="{FF2B5EF4-FFF2-40B4-BE49-F238E27FC236}">
                <a16:creationId xmlns:a16="http://schemas.microsoft.com/office/drawing/2014/main" id="{A7E3180E-F9E0-4C3B-9BF1-523BBB1603C6}"/>
              </a:ext>
            </a:extLst>
          </p:cNvPr>
          <p:cNvSpPr txBox="1"/>
          <p:nvPr/>
        </p:nvSpPr>
        <p:spPr>
          <a:xfrm>
            <a:off x="3964220" y="729211"/>
            <a:ext cx="3348353" cy="369332"/>
          </a:xfrm>
          <a:prstGeom prst="rect">
            <a:avLst/>
          </a:prstGeom>
          <a:noFill/>
        </p:spPr>
        <p:txBody>
          <a:bodyPr wrap="none" rtlCol="0">
            <a:spAutoFit/>
          </a:bodyPr>
          <a:lstStyle/>
          <a:p>
            <a:r>
              <a:rPr lang="pt-BR" dirty="0">
                <a:solidFill>
                  <a:srgbClr val="CC3399"/>
                </a:solidFill>
              </a:rPr>
              <a:t>NSG – Networking Security </a:t>
            </a:r>
            <a:r>
              <a:rPr lang="pt-BR" dirty="0" err="1">
                <a:solidFill>
                  <a:srgbClr val="CC3399"/>
                </a:solidFill>
              </a:rPr>
              <a:t>Group</a:t>
            </a:r>
            <a:endParaRPr lang="pt-BR" dirty="0">
              <a:solidFill>
                <a:srgbClr val="CC3399"/>
              </a:solidFill>
            </a:endParaRPr>
          </a:p>
        </p:txBody>
      </p:sp>
      <p:pic>
        <p:nvPicPr>
          <p:cNvPr id="94" name="Gráfico 93" descr="Fluxograma">
            <a:extLst>
              <a:ext uri="{FF2B5EF4-FFF2-40B4-BE49-F238E27FC236}">
                <a16:creationId xmlns:a16="http://schemas.microsoft.com/office/drawing/2014/main" id="{13AB1C0B-3B00-47EE-86C9-B01D51A770F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34081" y="1307247"/>
            <a:ext cx="318604" cy="68694"/>
          </a:xfrm>
          <a:prstGeom prst="rect">
            <a:avLst/>
          </a:prstGeom>
        </p:spPr>
      </p:pic>
      <p:pic>
        <p:nvPicPr>
          <p:cNvPr id="36" name="Gráfico 35" descr="Trancar">
            <a:extLst>
              <a:ext uri="{FF2B5EF4-FFF2-40B4-BE49-F238E27FC236}">
                <a16:creationId xmlns:a16="http://schemas.microsoft.com/office/drawing/2014/main" id="{CBD5E99E-5C8E-44A3-B57A-D751D932F3A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98361" y="512943"/>
            <a:ext cx="1152000" cy="970385"/>
          </a:xfrm>
          <a:prstGeom prst="rect">
            <a:avLst/>
          </a:prstGeom>
        </p:spPr>
      </p:pic>
    </p:spTree>
    <p:extLst>
      <p:ext uri="{BB962C8B-B14F-4D97-AF65-F5344CB8AC3E}">
        <p14:creationId xmlns:p14="http://schemas.microsoft.com/office/powerpoint/2010/main" val="186078446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F9FF13-CC07-4212-8944-78D8526FE8CA}"/>
              </a:ext>
            </a:extLst>
          </p:cNvPr>
          <p:cNvSpPr>
            <a:spLocks noGrp="1"/>
          </p:cNvSpPr>
          <p:nvPr>
            <p:ph type="title"/>
          </p:nvPr>
        </p:nvSpPr>
        <p:spPr>
          <a:xfrm>
            <a:off x="838200" y="365125"/>
            <a:ext cx="10515600" cy="681355"/>
          </a:xfrm>
        </p:spPr>
        <p:txBody>
          <a:bodyPr>
            <a:normAutofit fontScale="90000"/>
          </a:bodyPr>
          <a:lstStyle/>
          <a:p>
            <a:r>
              <a:rPr lang="pt-BR" dirty="0" err="1"/>
              <a:t>SubNet</a:t>
            </a:r>
            <a:r>
              <a:rPr lang="pt-BR" dirty="0"/>
              <a:t>- Conectividade Rota </a:t>
            </a:r>
            <a:r>
              <a:rPr lang="pt-BR" dirty="0" err="1"/>
              <a:t>Implicita</a:t>
            </a:r>
            <a:endParaRPr lang="pt-BR" dirty="0"/>
          </a:p>
        </p:txBody>
      </p:sp>
      <p:pic>
        <p:nvPicPr>
          <p:cNvPr id="5" name="Imagem 4">
            <a:extLst>
              <a:ext uri="{FF2B5EF4-FFF2-40B4-BE49-F238E27FC236}">
                <a16:creationId xmlns:a16="http://schemas.microsoft.com/office/drawing/2014/main" id="{20B80A70-894D-4853-BEFC-1ED9E2E27E10}"/>
              </a:ext>
            </a:extLst>
          </p:cNvPr>
          <p:cNvPicPr>
            <a:picLocks noChangeAspect="1"/>
          </p:cNvPicPr>
          <p:nvPr/>
        </p:nvPicPr>
        <p:blipFill>
          <a:blip r:embed="rId2"/>
          <a:stretch>
            <a:fillRect/>
          </a:stretch>
        </p:blipFill>
        <p:spPr>
          <a:xfrm>
            <a:off x="1969" y="1127760"/>
            <a:ext cx="12037632" cy="5689237"/>
          </a:xfrm>
          <a:prstGeom prst="rect">
            <a:avLst/>
          </a:prstGeom>
        </p:spPr>
      </p:pic>
    </p:spTree>
    <p:extLst>
      <p:ext uri="{BB962C8B-B14F-4D97-AF65-F5344CB8AC3E}">
        <p14:creationId xmlns:p14="http://schemas.microsoft.com/office/powerpoint/2010/main" val="344213766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0674AC-09AD-4D11-BA83-E60A2D3C473E}"/>
              </a:ext>
            </a:extLst>
          </p:cNvPr>
          <p:cNvSpPr>
            <a:spLocks noGrp="1"/>
          </p:cNvSpPr>
          <p:nvPr>
            <p:ph type="title"/>
          </p:nvPr>
        </p:nvSpPr>
        <p:spPr>
          <a:xfrm>
            <a:off x="162339" y="116648"/>
            <a:ext cx="10515600" cy="767936"/>
          </a:xfrm>
        </p:spPr>
        <p:txBody>
          <a:bodyPr/>
          <a:lstStyle/>
          <a:p>
            <a:r>
              <a:rPr lang="pt-BR" dirty="0" err="1"/>
              <a:t>Route</a:t>
            </a:r>
            <a:r>
              <a:rPr lang="pt-BR" dirty="0"/>
              <a:t> </a:t>
            </a:r>
            <a:r>
              <a:rPr lang="pt-BR" dirty="0" err="1"/>
              <a:t>Tables</a:t>
            </a:r>
            <a:endParaRPr lang="pt-BR" dirty="0"/>
          </a:p>
        </p:txBody>
      </p:sp>
      <p:pic>
        <p:nvPicPr>
          <p:cNvPr id="4" name="Imagem 3">
            <a:extLst>
              <a:ext uri="{FF2B5EF4-FFF2-40B4-BE49-F238E27FC236}">
                <a16:creationId xmlns:a16="http://schemas.microsoft.com/office/drawing/2014/main" id="{B60119D2-6E92-4023-8E04-944D5D5EF7BA}"/>
              </a:ext>
            </a:extLst>
          </p:cNvPr>
          <p:cNvPicPr>
            <a:picLocks noChangeAspect="1"/>
          </p:cNvPicPr>
          <p:nvPr/>
        </p:nvPicPr>
        <p:blipFill>
          <a:blip r:embed="rId2"/>
          <a:stretch>
            <a:fillRect/>
          </a:stretch>
        </p:blipFill>
        <p:spPr>
          <a:xfrm>
            <a:off x="0" y="1308735"/>
            <a:ext cx="4152900" cy="4972050"/>
          </a:xfrm>
          <a:prstGeom prst="rect">
            <a:avLst/>
          </a:prstGeom>
        </p:spPr>
      </p:pic>
      <p:pic>
        <p:nvPicPr>
          <p:cNvPr id="3" name="Imagem 2">
            <a:extLst>
              <a:ext uri="{FF2B5EF4-FFF2-40B4-BE49-F238E27FC236}">
                <a16:creationId xmlns:a16="http://schemas.microsoft.com/office/drawing/2014/main" id="{9A0A98A2-20EA-4BBF-97BF-94A9DCA5BABC}"/>
              </a:ext>
            </a:extLst>
          </p:cNvPr>
          <p:cNvPicPr>
            <a:picLocks noChangeAspect="1"/>
          </p:cNvPicPr>
          <p:nvPr/>
        </p:nvPicPr>
        <p:blipFill>
          <a:blip r:embed="rId3"/>
          <a:stretch>
            <a:fillRect/>
          </a:stretch>
        </p:blipFill>
        <p:spPr>
          <a:xfrm>
            <a:off x="4152900" y="801840"/>
            <a:ext cx="8039100" cy="3606111"/>
          </a:xfrm>
          <a:prstGeom prst="rect">
            <a:avLst/>
          </a:prstGeom>
        </p:spPr>
      </p:pic>
      <p:pic>
        <p:nvPicPr>
          <p:cNvPr id="5" name="Imagem 4">
            <a:extLst>
              <a:ext uri="{FF2B5EF4-FFF2-40B4-BE49-F238E27FC236}">
                <a16:creationId xmlns:a16="http://schemas.microsoft.com/office/drawing/2014/main" id="{B3A8A157-8A64-4E70-8802-25231D60E112}"/>
              </a:ext>
            </a:extLst>
          </p:cNvPr>
          <p:cNvPicPr>
            <a:picLocks noChangeAspect="1"/>
          </p:cNvPicPr>
          <p:nvPr/>
        </p:nvPicPr>
        <p:blipFill>
          <a:blip r:embed="rId4"/>
          <a:stretch>
            <a:fillRect/>
          </a:stretch>
        </p:blipFill>
        <p:spPr>
          <a:xfrm>
            <a:off x="6341748" y="3429000"/>
            <a:ext cx="5614516" cy="3429000"/>
          </a:xfrm>
          <a:prstGeom prst="rect">
            <a:avLst/>
          </a:prstGeom>
        </p:spPr>
      </p:pic>
      <p:sp>
        <p:nvSpPr>
          <p:cNvPr id="9" name="Retângulo 8">
            <a:extLst>
              <a:ext uri="{FF2B5EF4-FFF2-40B4-BE49-F238E27FC236}">
                <a16:creationId xmlns:a16="http://schemas.microsoft.com/office/drawing/2014/main" id="{94CE94E3-F63F-4AAA-8B4F-09599CA4B148}"/>
              </a:ext>
            </a:extLst>
          </p:cNvPr>
          <p:cNvSpPr/>
          <p:nvPr/>
        </p:nvSpPr>
        <p:spPr>
          <a:xfrm>
            <a:off x="162338" y="6089611"/>
            <a:ext cx="2729949"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Criar uma nova tabela de roteamento</a:t>
            </a:r>
          </a:p>
        </p:txBody>
      </p:sp>
      <p:sp>
        <p:nvSpPr>
          <p:cNvPr id="10" name="Elipse 9">
            <a:extLst>
              <a:ext uri="{FF2B5EF4-FFF2-40B4-BE49-F238E27FC236}">
                <a16:creationId xmlns:a16="http://schemas.microsoft.com/office/drawing/2014/main" id="{3CBC1BAF-E40D-4899-88B7-CA1DBDD296CE}"/>
              </a:ext>
            </a:extLst>
          </p:cNvPr>
          <p:cNvSpPr/>
          <p:nvPr/>
        </p:nvSpPr>
        <p:spPr>
          <a:xfrm flipV="1">
            <a:off x="371157" y="1501572"/>
            <a:ext cx="2346960" cy="494426"/>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1" name="Conector de Seta Reta 10">
            <a:extLst>
              <a:ext uri="{FF2B5EF4-FFF2-40B4-BE49-F238E27FC236}">
                <a16:creationId xmlns:a16="http://schemas.microsoft.com/office/drawing/2014/main" id="{7AE18B23-F5FE-4EB3-9425-FB1F3604DDB6}"/>
              </a:ext>
            </a:extLst>
          </p:cNvPr>
          <p:cNvCxnSpPr>
            <a:cxnSpLocks/>
            <a:stCxn id="9" idx="1"/>
            <a:endCxn id="10" idx="1"/>
          </p:cNvCxnSpPr>
          <p:nvPr/>
        </p:nvCxnSpPr>
        <p:spPr>
          <a:xfrm flipV="1">
            <a:off x="162338" y="1923591"/>
            <a:ext cx="552523" cy="4491891"/>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2" name="Retângulo 11">
            <a:extLst>
              <a:ext uri="{FF2B5EF4-FFF2-40B4-BE49-F238E27FC236}">
                <a16:creationId xmlns:a16="http://schemas.microsoft.com/office/drawing/2014/main" id="{2D587818-91C1-4EE3-BBB2-917A4AC6865F}"/>
              </a:ext>
            </a:extLst>
          </p:cNvPr>
          <p:cNvSpPr/>
          <p:nvPr/>
        </p:nvSpPr>
        <p:spPr>
          <a:xfrm>
            <a:off x="4220644" y="4860206"/>
            <a:ext cx="2121104"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Criar um nova rota</a:t>
            </a:r>
          </a:p>
        </p:txBody>
      </p:sp>
      <p:sp>
        <p:nvSpPr>
          <p:cNvPr id="13" name="Elipse 12">
            <a:extLst>
              <a:ext uri="{FF2B5EF4-FFF2-40B4-BE49-F238E27FC236}">
                <a16:creationId xmlns:a16="http://schemas.microsoft.com/office/drawing/2014/main" id="{41E10AA6-5758-41BE-AD9F-8834FC91694E}"/>
              </a:ext>
            </a:extLst>
          </p:cNvPr>
          <p:cNvSpPr/>
          <p:nvPr/>
        </p:nvSpPr>
        <p:spPr>
          <a:xfrm flipV="1">
            <a:off x="5587683" y="1412120"/>
            <a:ext cx="2346960" cy="494426"/>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4" name="Conector de Seta Reta 13">
            <a:extLst>
              <a:ext uri="{FF2B5EF4-FFF2-40B4-BE49-F238E27FC236}">
                <a16:creationId xmlns:a16="http://schemas.microsoft.com/office/drawing/2014/main" id="{CA9B6AF7-70D4-4A02-85E0-DC9FA0C4FB61}"/>
              </a:ext>
            </a:extLst>
          </p:cNvPr>
          <p:cNvCxnSpPr>
            <a:cxnSpLocks/>
            <a:stCxn id="12" idx="0"/>
            <a:endCxn id="13" idx="0"/>
          </p:cNvCxnSpPr>
          <p:nvPr/>
        </p:nvCxnSpPr>
        <p:spPr>
          <a:xfrm flipV="1">
            <a:off x="5281196" y="1906546"/>
            <a:ext cx="1479967" cy="2953660"/>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5" name="Retângulo 14">
            <a:extLst>
              <a:ext uri="{FF2B5EF4-FFF2-40B4-BE49-F238E27FC236}">
                <a16:creationId xmlns:a16="http://schemas.microsoft.com/office/drawing/2014/main" id="{4EC6BDA1-7B6F-47AF-A390-164097EE2FF2}"/>
              </a:ext>
            </a:extLst>
          </p:cNvPr>
          <p:cNvSpPr/>
          <p:nvPr/>
        </p:nvSpPr>
        <p:spPr>
          <a:xfrm>
            <a:off x="10102066" y="6056160"/>
            <a:ext cx="1854198"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Associar tabela e </a:t>
            </a:r>
            <a:r>
              <a:rPr lang="pt-BR" sz="2000" b="1" dirty="0" err="1">
                <a:solidFill>
                  <a:schemeClr val="tx1"/>
                </a:solidFill>
              </a:rPr>
              <a:t>subnet</a:t>
            </a:r>
            <a:endParaRPr lang="pt-BR" sz="2000" b="1" dirty="0">
              <a:solidFill>
                <a:schemeClr val="tx1"/>
              </a:solidFill>
            </a:endParaRPr>
          </a:p>
        </p:txBody>
      </p:sp>
      <p:sp>
        <p:nvSpPr>
          <p:cNvPr id="16" name="Elipse 15">
            <a:extLst>
              <a:ext uri="{FF2B5EF4-FFF2-40B4-BE49-F238E27FC236}">
                <a16:creationId xmlns:a16="http://schemas.microsoft.com/office/drawing/2014/main" id="{19079ED1-476A-48C5-8FC5-5B87967AFA88}"/>
              </a:ext>
            </a:extLst>
          </p:cNvPr>
          <p:cNvSpPr/>
          <p:nvPr/>
        </p:nvSpPr>
        <p:spPr>
          <a:xfrm flipV="1">
            <a:off x="8055099" y="3930174"/>
            <a:ext cx="2346960" cy="494426"/>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7" name="Conector de Seta Reta 16">
            <a:extLst>
              <a:ext uri="{FF2B5EF4-FFF2-40B4-BE49-F238E27FC236}">
                <a16:creationId xmlns:a16="http://schemas.microsoft.com/office/drawing/2014/main" id="{4A3757FC-824E-4E39-80EC-D7AC232FDF8B}"/>
              </a:ext>
            </a:extLst>
          </p:cNvPr>
          <p:cNvCxnSpPr>
            <a:cxnSpLocks/>
            <a:stCxn id="15" idx="0"/>
            <a:endCxn id="16" idx="0"/>
          </p:cNvCxnSpPr>
          <p:nvPr/>
        </p:nvCxnSpPr>
        <p:spPr>
          <a:xfrm flipH="1" flipV="1">
            <a:off x="9228579" y="4424600"/>
            <a:ext cx="1800586" cy="1631560"/>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56710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Imagem 33">
            <a:extLst>
              <a:ext uri="{FF2B5EF4-FFF2-40B4-BE49-F238E27FC236}">
                <a16:creationId xmlns:a16="http://schemas.microsoft.com/office/drawing/2014/main" id="{B57BE060-8A61-4511-ADB1-71213A14D167}"/>
              </a:ext>
            </a:extLst>
          </p:cNvPr>
          <p:cNvPicPr>
            <a:picLocks noChangeAspect="1"/>
          </p:cNvPicPr>
          <p:nvPr/>
        </p:nvPicPr>
        <p:blipFill>
          <a:blip r:embed="rId2"/>
          <a:stretch>
            <a:fillRect/>
          </a:stretch>
        </p:blipFill>
        <p:spPr>
          <a:xfrm>
            <a:off x="125241" y="800158"/>
            <a:ext cx="7449991" cy="4422071"/>
          </a:xfrm>
          <a:prstGeom prst="rect">
            <a:avLst/>
          </a:prstGeom>
        </p:spPr>
      </p:pic>
      <p:pic>
        <p:nvPicPr>
          <p:cNvPr id="18" name="Imagem 17">
            <a:extLst>
              <a:ext uri="{FF2B5EF4-FFF2-40B4-BE49-F238E27FC236}">
                <a16:creationId xmlns:a16="http://schemas.microsoft.com/office/drawing/2014/main" id="{710C2D78-8372-480B-A447-6159BC60E999}"/>
              </a:ext>
            </a:extLst>
          </p:cNvPr>
          <p:cNvPicPr>
            <a:picLocks noChangeAspect="1"/>
          </p:cNvPicPr>
          <p:nvPr/>
        </p:nvPicPr>
        <p:blipFill>
          <a:blip r:embed="rId3"/>
          <a:stretch>
            <a:fillRect/>
          </a:stretch>
        </p:blipFill>
        <p:spPr>
          <a:xfrm>
            <a:off x="7575233" y="0"/>
            <a:ext cx="4610346" cy="6858000"/>
          </a:xfrm>
          <a:prstGeom prst="rect">
            <a:avLst/>
          </a:prstGeom>
        </p:spPr>
      </p:pic>
      <p:sp>
        <p:nvSpPr>
          <p:cNvPr id="2" name="Título 1">
            <a:extLst>
              <a:ext uri="{FF2B5EF4-FFF2-40B4-BE49-F238E27FC236}">
                <a16:creationId xmlns:a16="http://schemas.microsoft.com/office/drawing/2014/main" id="{880674AC-09AD-4D11-BA83-E60A2D3C473E}"/>
              </a:ext>
            </a:extLst>
          </p:cNvPr>
          <p:cNvSpPr>
            <a:spLocks noGrp="1"/>
          </p:cNvSpPr>
          <p:nvPr>
            <p:ph type="title"/>
          </p:nvPr>
        </p:nvSpPr>
        <p:spPr>
          <a:xfrm>
            <a:off x="162339" y="116648"/>
            <a:ext cx="10515600" cy="767936"/>
          </a:xfrm>
        </p:spPr>
        <p:txBody>
          <a:bodyPr/>
          <a:lstStyle/>
          <a:p>
            <a:r>
              <a:rPr lang="pt-BR" dirty="0" err="1"/>
              <a:t>Peer</a:t>
            </a:r>
            <a:endParaRPr lang="pt-BR" dirty="0"/>
          </a:p>
        </p:txBody>
      </p:sp>
      <p:sp>
        <p:nvSpPr>
          <p:cNvPr id="9" name="Retângulo 8">
            <a:extLst>
              <a:ext uri="{FF2B5EF4-FFF2-40B4-BE49-F238E27FC236}">
                <a16:creationId xmlns:a16="http://schemas.microsoft.com/office/drawing/2014/main" id="{94CE94E3-F63F-4AAA-8B4F-09599CA4B148}"/>
              </a:ext>
            </a:extLst>
          </p:cNvPr>
          <p:cNvSpPr/>
          <p:nvPr/>
        </p:nvSpPr>
        <p:spPr>
          <a:xfrm>
            <a:off x="4550403" y="90093"/>
            <a:ext cx="2729949"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Criar uma nova </a:t>
            </a:r>
            <a:r>
              <a:rPr lang="pt-BR" sz="2000" b="1" dirty="0" err="1">
                <a:solidFill>
                  <a:schemeClr val="tx1"/>
                </a:solidFill>
              </a:rPr>
              <a:t>Peering</a:t>
            </a:r>
            <a:endParaRPr lang="pt-BR" sz="2000" b="1" dirty="0">
              <a:solidFill>
                <a:schemeClr val="tx1"/>
              </a:solidFill>
            </a:endParaRPr>
          </a:p>
        </p:txBody>
      </p:sp>
      <p:sp>
        <p:nvSpPr>
          <p:cNvPr id="10" name="Elipse 9">
            <a:extLst>
              <a:ext uri="{FF2B5EF4-FFF2-40B4-BE49-F238E27FC236}">
                <a16:creationId xmlns:a16="http://schemas.microsoft.com/office/drawing/2014/main" id="{3CBC1BAF-E40D-4899-88B7-CA1DBDD296CE}"/>
              </a:ext>
            </a:extLst>
          </p:cNvPr>
          <p:cNvSpPr/>
          <p:nvPr/>
        </p:nvSpPr>
        <p:spPr>
          <a:xfrm flipV="1">
            <a:off x="1655667" y="1383255"/>
            <a:ext cx="1735074" cy="494426"/>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1" name="Conector de Seta Reta 10">
            <a:extLst>
              <a:ext uri="{FF2B5EF4-FFF2-40B4-BE49-F238E27FC236}">
                <a16:creationId xmlns:a16="http://schemas.microsoft.com/office/drawing/2014/main" id="{7AE18B23-F5FE-4EB3-9425-FB1F3604DDB6}"/>
              </a:ext>
            </a:extLst>
          </p:cNvPr>
          <p:cNvCxnSpPr>
            <a:cxnSpLocks/>
            <a:stCxn id="9" idx="1"/>
            <a:endCxn id="10" idx="5"/>
          </p:cNvCxnSpPr>
          <p:nvPr/>
        </p:nvCxnSpPr>
        <p:spPr>
          <a:xfrm flipH="1">
            <a:off x="3136645" y="415964"/>
            <a:ext cx="1413758" cy="1039698"/>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2" name="Retângulo 11">
            <a:extLst>
              <a:ext uri="{FF2B5EF4-FFF2-40B4-BE49-F238E27FC236}">
                <a16:creationId xmlns:a16="http://schemas.microsoft.com/office/drawing/2014/main" id="{2D587818-91C1-4EE3-BBB2-917A4AC6865F}"/>
              </a:ext>
            </a:extLst>
          </p:cNvPr>
          <p:cNvSpPr/>
          <p:nvPr/>
        </p:nvSpPr>
        <p:spPr>
          <a:xfrm>
            <a:off x="188247" y="5395530"/>
            <a:ext cx="3562534" cy="93903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Permite pacotes externos serem redirecionados entre </a:t>
            </a:r>
            <a:r>
              <a:rPr lang="pt-BR" sz="2000" b="1" dirty="0" err="1">
                <a:solidFill>
                  <a:schemeClr val="tx1"/>
                </a:solidFill>
              </a:rPr>
              <a:t>vnets</a:t>
            </a:r>
            <a:endParaRPr lang="pt-BR" sz="2000" b="1" dirty="0">
              <a:solidFill>
                <a:schemeClr val="tx1"/>
              </a:solidFill>
            </a:endParaRPr>
          </a:p>
        </p:txBody>
      </p:sp>
      <p:sp>
        <p:nvSpPr>
          <p:cNvPr id="13" name="Elipse 12">
            <a:extLst>
              <a:ext uri="{FF2B5EF4-FFF2-40B4-BE49-F238E27FC236}">
                <a16:creationId xmlns:a16="http://schemas.microsoft.com/office/drawing/2014/main" id="{41E10AA6-5758-41BE-AD9F-8834FC91694E}"/>
              </a:ext>
            </a:extLst>
          </p:cNvPr>
          <p:cNvSpPr/>
          <p:nvPr/>
        </p:nvSpPr>
        <p:spPr>
          <a:xfrm flipV="1">
            <a:off x="7280352" y="4860204"/>
            <a:ext cx="4268918" cy="1226329"/>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4" name="Conector de Seta Reta 13">
            <a:extLst>
              <a:ext uri="{FF2B5EF4-FFF2-40B4-BE49-F238E27FC236}">
                <a16:creationId xmlns:a16="http://schemas.microsoft.com/office/drawing/2014/main" id="{CA9B6AF7-70D4-4A02-85E0-DC9FA0C4FB61}"/>
              </a:ext>
            </a:extLst>
          </p:cNvPr>
          <p:cNvCxnSpPr>
            <a:cxnSpLocks/>
            <a:stCxn id="12" idx="3"/>
            <a:endCxn id="13" idx="2"/>
          </p:cNvCxnSpPr>
          <p:nvPr/>
        </p:nvCxnSpPr>
        <p:spPr>
          <a:xfrm flipV="1">
            <a:off x="3750781" y="5473368"/>
            <a:ext cx="3529571" cy="391679"/>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
        <p:nvSpPr>
          <p:cNvPr id="15" name="Retângulo 14">
            <a:extLst>
              <a:ext uri="{FF2B5EF4-FFF2-40B4-BE49-F238E27FC236}">
                <a16:creationId xmlns:a16="http://schemas.microsoft.com/office/drawing/2014/main" id="{4EC6BDA1-7B6F-47AF-A390-164097EE2FF2}"/>
              </a:ext>
            </a:extLst>
          </p:cNvPr>
          <p:cNvSpPr/>
          <p:nvPr/>
        </p:nvSpPr>
        <p:spPr>
          <a:xfrm>
            <a:off x="4220644" y="5952774"/>
            <a:ext cx="2416568" cy="6517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chemeClr val="tx1"/>
                </a:solidFill>
              </a:rPr>
              <a:t>Permite compartilhar </a:t>
            </a:r>
            <a:r>
              <a:rPr lang="pt-BR" sz="2000" b="1" dirty="0" err="1">
                <a:solidFill>
                  <a:schemeClr val="tx1"/>
                </a:solidFill>
              </a:rPr>
              <a:t>gatway</a:t>
            </a:r>
            <a:endParaRPr lang="pt-BR" sz="2000" b="1" dirty="0">
              <a:solidFill>
                <a:schemeClr val="tx1"/>
              </a:solidFill>
            </a:endParaRPr>
          </a:p>
        </p:txBody>
      </p:sp>
      <p:sp>
        <p:nvSpPr>
          <p:cNvPr id="16" name="Elipse 15">
            <a:extLst>
              <a:ext uri="{FF2B5EF4-FFF2-40B4-BE49-F238E27FC236}">
                <a16:creationId xmlns:a16="http://schemas.microsoft.com/office/drawing/2014/main" id="{19079ED1-476A-48C5-8FC5-5B87967AFA88}"/>
              </a:ext>
            </a:extLst>
          </p:cNvPr>
          <p:cNvSpPr/>
          <p:nvPr/>
        </p:nvSpPr>
        <p:spPr>
          <a:xfrm flipV="1">
            <a:off x="7451282" y="6086535"/>
            <a:ext cx="2483167" cy="494426"/>
          </a:xfrm>
          <a:prstGeom prst="ellipse">
            <a:avLst/>
          </a:prstGeom>
          <a:noFill/>
          <a:ln w="38100">
            <a:gradFill flip="none" rotWithShape="1">
              <a:gsLst>
                <a:gs pos="0">
                  <a:srgbClr val="0079D6"/>
                </a:gs>
                <a:gs pos="82000">
                  <a:srgbClr val="FF0000"/>
                </a:gs>
                <a:gs pos="100000">
                  <a:schemeClr val="accent5">
                    <a:lumMod val="100000"/>
                  </a:schemeClr>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7" name="Conector de Seta Reta 16">
            <a:extLst>
              <a:ext uri="{FF2B5EF4-FFF2-40B4-BE49-F238E27FC236}">
                <a16:creationId xmlns:a16="http://schemas.microsoft.com/office/drawing/2014/main" id="{4A3757FC-824E-4E39-80EC-D7AC232FDF8B}"/>
              </a:ext>
            </a:extLst>
          </p:cNvPr>
          <p:cNvCxnSpPr>
            <a:cxnSpLocks/>
            <a:stCxn id="15" idx="3"/>
            <a:endCxn id="16" idx="2"/>
          </p:cNvCxnSpPr>
          <p:nvPr/>
        </p:nvCxnSpPr>
        <p:spPr>
          <a:xfrm>
            <a:off x="6637212" y="6278645"/>
            <a:ext cx="814070" cy="55103"/>
          </a:xfrm>
          <a:prstGeom prst="straightConnector1">
            <a:avLst/>
          </a:prstGeom>
          <a:ln w="44450">
            <a:solidFill>
              <a:srgbClr val="FF0000"/>
            </a:solidFill>
            <a:headEnd w="lg" len="lg"/>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7105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915CBC-5867-48B9-9B6C-B8B894221A78}"/>
              </a:ext>
            </a:extLst>
          </p:cNvPr>
          <p:cNvSpPr>
            <a:spLocks noGrp="1"/>
          </p:cNvSpPr>
          <p:nvPr>
            <p:ph type="title"/>
          </p:nvPr>
        </p:nvSpPr>
        <p:spPr/>
        <p:txBody>
          <a:bodyPr/>
          <a:lstStyle/>
          <a:p>
            <a:r>
              <a:rPr lang="pt-BR" dirty="0"/>
              <a:t>Network Security </a:t>
            </a:r>
            <a:r>
              <a:rPr lang="pt-BR" dirty="0" err="1"/>
              <a:t>Group</a:t>
            </a:r>
            <a:endParaRPr lang="pt-BR" dirty="0"/>
          </a:p>
        </p:txBody>
      </p:sp>
      <p:sp>
        <p:nvSpPr>
          <p:cNvPr id="3" name="Espaço Reservado para Conteúdo 2">
            <a:extLst>
              <a:ext uri="{FF2B5EF4-FFF2-40B4-BE49-F238E27FC236}">
                <a16:creationId xmlns:a16="http://schemas.microsoft.com/office/drawing/2014/main" id="{EA7ECAF7-0FD2-44DC-95A1-26536B5529B5}"/>
              </a:ext>
            </a:extLst>
          </p:cNvPr>
          <p:cNvSpPr>
            <a:spLocks noGrp="1"/>
          </p:cNvSpPr>
          <p:nvPr>
            <p:ph idx="1"/>
          </p:nvPr>
        </p:nvSpPr>
        <p:spPr/>
        <p:txBody>
          <a:bodyPr/>
          <a:lstStyle/>
          <a:p>
            <a:r>
              <a:rPr lang="pt-BR" dirty="0"/>
              <a:t>Grupo de segurança de rede é um conjunto de regras de segurança que permitem ou negam o tráfego de rede de entrada ou de saída no Azure.</a:t>
            </a:r>
          </a:p>
        </p:txBody>
      </p:sp>
    </p:spTree>
    <p:extLst>
      <p:ext uri="{BB962C8B-B14F-4D97-AF65-F5344CB8AC3E}">
        <p14:creationId xmlns:p14="http://schemas.microsoft.com/office/powerpoint/2010/main" val="186281734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D4F473-025B-4775-9699-D014D2D5C1B1}"/>
              </a:ext>
            </a:extLst>
          </p:cNvPr>
          <p:cNvSpPr>
            <a:spLocks noGrp="1"/>
          </p:cNvSpPr>
          <p:nvPr>
            <p:ph type="title"/>
          </p:nvPr>
        </p:nvSpPr>
        <p:spPr/>
        <p:txBody>
          <a:bodyPr/>
          <a:lstStyle/>
          <a:p>
            <a:r>
              <a:rPr lang="pt-BR" b="1" dirty="0"/>
              <a:t>Network </a:t>
            </a:r>
            <a:r>
              <a:rPr lang="pt-BR" b="1" dirty="0" err="1"/>
              <a:t>Watcher</a:t>
            </a:r>
            <a:r>
              <a:rPr lang="pt-BR" b="1" dirty="0"/>
              <a:t> </a:t>
            </a:r>
            <a:r>
              <a:rPr lang="pt-BR" dirty="0"/>
              <a:t>- </a:t>
            </a:r>
            <a:r>
              <a:rPr lang="pt-BR" b="1" dirty="0"/>
              <a:t>Observador de Rede</a:t>
            </a:r>
            <a:endParaRPr lang="pt-BR" dirty="0"/>
          </a:p>
        </p:txBody>
      </p:sp>
      <p:sp>
        <p:nvSpPr>
          <p:cNvPr id="3" name="Espaço Reservado para Conteúdo 2">
            <a:extLst>
              <a:ext uri="{FF2B5EF4-FFF2-40B4-BE49-F238E27FC236}">
                <a16:creationId xmlns:a16="http://schemas.microsoft.com/office/drawing/2014/main" id="{92980112-51F2-48FF-BA5E-0A756CA277C9}"/>
              </a:ext>
            </a:extLst>
          </p:cNvPr>
          <p:cNvSpPr>
            <a:spLocks noGrp="1"/>
          </p:cNvSpPr>
          <p:nvPr>
            <p:ph idx="1"/>
          </p:nvPr>
        </p:nvSpPr>
        <p:spPr/>
        <p:txBody>
          <a:bodyPr>
            <a:normAutofit lnSpcReduction="10000"/>
          </a:bodyPr>
          <a:lstStyle/>
          <a:p>
            <a:r>
              <a:rPr lang="pt-BR" dirty="0"/>
              <a:t>Ferramentas para monitorar, diagnosticar, exibir métricas e ativar ou desativar os logs de recursos em uma rede virtual do Azure. </a:t>
            </a:r>
          </a:p>
          <a:p>
            <a:r>
              <a:rPr lang="pt-BR" dirty="0"/>
              <a:t>Monitorar e reparar a integridade da rede de produtos IaaS (infraestrutura como serviço) </a:t>
            </a:r>
          </a:p>
          <a:p>
            <a:pPr lvl="1"/>
            <a:r>
              <a:rPr lang="pt-BR" dirty="0"/>
              <a:t>máquinas virtuais, redes virtuais, gateways de aplicativo, balanceadores de carga, etc. </a:t>
            </a:r>
          </a:p>
          <a:p>
            <a:pPr lvl="1"/>
            <a:r>
              <a:rPr lang="pt-BR" dirty="0"/>
              <a:t>Não se destina e não funcionará para monitoramento de PaaS ou análise da Web.</a:t>
            </a:r>
          </a:p>
          <a:p>
            <a:r>
              <a:rPr lang="pt-BR" dirty="0"/>
              <a:t>Quando criamos ou atualizamos uma Rede Virtual o Observador de Rede é ativado automaticamente na região da sua rede virtual. </a:t>
            </a:r>
          </a:p>
          <a:p>
            <a:pPr lvl="1"/>
            <a:r>
              <a:rPr lang="pt-BR" dirty="0"/>
              <a:t>Não há impacto em seus recursos ou cobranças. </a:t>
            </a:r>
          </a:p>
        </p:txBody>
      </p:sp>
    </p:spTree>
    <p:extLst>
      <p:ext uri="{BB962C8B-B14F-4D97-AF65-F5344CB8AC3E}">
        <p14:creationId xmlns:p14="http://schemas.microsoft.com/office/powerpoint/2010/main" val="12189231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D4F473-025B-4775-9699-D014D2D5C1B1}"/>
              </a:ext>
            </a:extLst>
          </p:cNvPr>
          <p:cNvSpPr>
            <a:spLocks noGrp="1"/>
          </p:cNvSpPr>
          <p:nvPr>
            <p:ph type="title"/>
          </p:nvPr>
        </p:nvSpPr>
        <p:spPr/>
        <p:txBody>
          <a:bodyPr/>
          <a:lstStyle/>
          <a:p>
            <a:r>
              <a:rPr lang="pt-BR" b="1" dirty="0"/>
              <a:t>Network </a:t>
            </a:r>
            <a:r>
              <a:rPr lang="pt-BR" b="1" dirty="0" err="1"/>
              <a:t>Watcher</a:t>
            </a:r>
            <a:r>
              <a:rPr lang="pt-BR" b="1" dirty="0"/>
              <a:t> </a:t>
            </a:r>
            <a:r>
              <a:rPr lang="pt-BR" dirty="0" err="1"/>
              <a:t>Monitoring</a:t>
            </a:r>
            <a:endParaRPr lang="pt-BR" dirty="0"/>
          </a:p>
        </p:txBody>
      </p:sp>
      <p:sp>
        <p:nvSpPr>
          <p:cNvPr id="3" name="Espaço Reservado para Conteúdo 2">
            <a:extLst>
              <a:ext uri="{FF2B5EF4-FFF2-40B4-BE49-F238E27FC236}">
                <a16:creationId xmlns:a16="http://schemas.microsoft.com/office/drawing/2014/main" id="{92980112-51F2-48FF-BA5E-0A756CA277C9}"/>
              </a:ext>
            </a:extLst>
          </p:cNvPr>
          <p:cNvSpPr>
            <a:spLocks noGrp="1"/>
          </p:cNvSpPr>
          <p:nvPr>
            <p:ph idx="1"/>
          </p:nvPr>
        </p:nvSpPr>
        <p:spPr/>
        <p:txBody>
          <a:bodyPr>
            <a:normAutofit fontScale="77500" lnSpcReduction="20000"/>
          </a:bodyPr>
          <a:lstStyle/>
          <a:p>
            <a:r>
              <a:rPr lang="pt-BR" dirty="0"/>
              <a:t>Monitora a comunicação entre uma máquina virtual e um ponto de extremidade</a:t>
            </a:r>
          </a:p>
          <a:p>
            <a:r>
              <a:rPr lang="pt-BR" dirty="0"/>
              <a:t>monitora a comunicação em um intervalo regular </a:t>
            </a:r>
          </a:p>
          <a:p>
            <a:r>
              <a:rPr lang="pt-BR" dirty="0"/>
              <a:t>informa sobre alterações de topologia de rede</a:t>
            </a:r>
          </a:p>
          <a:p>
            <a:r>
              <a:rPr lang="pt-BR" dirty="0"/>
              <a:t>fornece a latência média, mínima e máxima observada ao longo do tempo.</a:t>
            </a:r>
          </a:p>
          <a:p>
            <a:r>
              <a:rPr lang="pt-BR" dirty="0"/>
              <a:t>Acessibilidade, identifica problema de resolução de nome DNS, a CPU, memória ou firewall com o sistema operacional de uma máquina virtual ou o tipo de salto de uma rota personalizado ou regra de segurança para a VM ou </a:t>
            </a:r>
            <a:r>
              <a:rPr lang="pt-BR" dirty="0" err="1"/>
              <a:t>sub-rede</a:t>
            </a:r>
            <a:r>
              <a:rPr lang="pt-BR" dirty="0"/>
              <a:t> de conexão de saída</a:t>
            </a:r>
          </a:p>
          <a:p>
            <a:r>
              <a:rPr lang="pt-BR" dirty="0"/>
              <a:t>Monitora desempenho da rede híbrida baseada na nuvem que ajuda a monitorar, ajuda a monitorar rede para serviços e pontos de extremidade do aplicativo e a monitorar o desempenho do Azure </a:t>
            </a:r>
            <a:r>
              <a:rPr lang="pt-BR" dirty="0" err="1"/>
              <a:t>ExpressRoute</a:t>
            </a:r>
            <a:r>
              <a:rPr lang="pt-BR" dirty="0"/>
              <a:t>. Detecta problemas de tráfego, como </a:t>
            </a:r>
            <a:r>
              <a:rPr lang="pt-BR" dirty="0" err="1"/>
              <a:t>blackholing</a:t>
            </a:r>
            <a:r>
              <a:rPr lang="pt-BR" dirty="0"/>
              <a:t> e erros de roteamento.</a:t>
            </a:r>
          </a:p>
          <a:p>
            <a:r>
              <a:rPr lang="pt-BR" dirty="0"/>
              <a:t>A solução gera alertas e notifica como e quando um limite é ultrapassado para um link de rede.</a:t>
            </a:r>
          </a:p>
        </p:txBody>
      </p:sp>
    </p:spTree>
    <p:extLst>
      <p:ext uri="{BB962C8B-B14F-4D97-AF65-F5344CB8AC3E}">
        <p14:creationId xmlns:p14="http://schemas.microsoft.com/office/powerpoint/2010/main" val="310257210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D4F473-025B-4775-9699-D014D2D5C1B1}"/>
              </a:ext>
            </a:extLst>
          </p:cNvPr>
          <p:cNvSpPr>
            <a:spLocks noGrp="1"/>
          </p:cNvSpPr>
          <p:nvPr>
            <p:ph type="title"/>
          </p:nvPr>
        </p:nvSpPr>
        <p:spPr/>
        <p:txBody>
          <a:bodyPr/>
          <a:lstStyle/>
          <a:p>
            <a:r>
              <a:rPr lang="pt-BR" b="1" dirty="0"/>
              <a:t>Network </a:t>
            </a:r>
            <a:r>
              <a:rPr lang="pt-BR" b="1" dirty="0" err="1"/>
              <a:t>Watcher</a:t>
            </a:r>
            <a:r>
              <a:rPr lang="pt-BR" b="1" dirty="0"/>
              <a:t> </a:t>
            </a:r>
            <a:r>
              <a:rPr lang="pt-BR" dirty="0"/>
              <a:t>- </a:t>
            </a:r>
            <a:r>
              <a:rPr lang="pt-BR" dirty="0" err="1"/>
              <a:t>T</a:t>
            </a:r>
            <a:r>
              <a:rPr lang="pt-BR" i="1" dirty="0" err="1"/>
              <a:t>opology</a:t>
            </a:r>
            <a:r>
              <a:rPr lang="pt-BR" dirty="0"/>
              <a:t> </a:t>
            </a:r>
            <a:r>
              <a:rPr lang="pt-BR" dirty="0" err="1"/>
              <a:t>capability</a:t>
            </a:r>
            <a:endParaRPr lang="pt-BR" dirty="0"/>
          </a:p>
        </p:txBody>
      </p:sp>
      <p:sp>
        <p:nvSpPr>
          <p:cNvPr id="3" name="Espaço Reservado para Conteúdo 2">
            <a:extLst>
              <a:ext uri="{FF2B5EF4-FFF2-40B4-BE49-F238E27FC236}">
                <a16:creationId xmlns:a16="http://schemas.microsoft.com/office/drawing/2014/main" id="{92980112-51F2-48FF-BA5E-0A756CA277C9}"/>
              </a:ext>
            </a:extLst>
          </p:cNvPr>
          <p:cNvSpPr>
            <a:spLocks noGrp="1"/>
          </p:cNvSpPr>
          <p:nvPr>
            <p:ph idx="1"/>
          </p:nvPr>
        </p:nvSpPr>
        <p:spPr/>
        <p:txBody>
          <a:bodyPr>
            <a:normAutofit/>
          </a:bodyPr>
          <a:lstStyle/>
          <a:p>
            <a:r>
              <a:rPr lang="pt-BR" dirty="0"/>
              <a:t>Permite que você gere um diagrama visual dos recursos em uma rede virtual e as relações entre os recursos</a:t>
            </a:r>
          </a:p>
        </p:txBody>
      </p:sp>
    </p:spTree>
    <p:extLst>
      <p:ext uri="{BB962C8B-B14F-4D97-AF65-F5344CB8AC3E}">
        <p14:creationId xmlns:p14="http://schemas.microsoft.com/office/powerpoint/2010/main" val="258855619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F46EB1-F7AF-431F-9D6A-BB6BAF7550BE}"/>
              </a:ext>
            </a:extLst>
          </p:cNvPr>
          <p:cNvSpPr>
            <a:spLocks noGrp="1"/>
          </p:cNvSpPr>
          <p:nvPr>
            <p:ph type="title"/>
          </p:nvPr>
        </p:nvSpPr>
        <p:spPr/>
        <p:txBody>
          <a:bodyPr/>
          <a:lstStyle/>
          <a:p>
            <a:r>
              <a:rPr lang="pt-BR" dirty="0"/>
              <a:t>IP </a:t>
            </a:r>
            <a:r>
              <a:rPr lang="pt-BR" dirty="0" err="1"/>
              <a:t>Flow</a:t>
            </a:r>
            <a:r>
              <a:rPr lang="pt-BR" dirty="0"/>
              <a:t> </a:t>
            </a:r>
            <a:r>
              <a:rPr lang="pt-BR" dirty="0" err="1"/>
              <a:t>Verify</a:t>
            </a:r>
            <a:endParaRPr lang="pt-BR" dirty="0"/>
          </a:p>
        </p:txBody>
      </p:sp>
      <p:sp>
        <p:nvSpPr>
          <p:cNvPr id="3" name="Espaço Reservado para Conteúdo 2">
            <a:extLst>
              <a:ext uri="{FF2B5EF4-FFF2-40B4-BE49-F238E27FC236}">
                <a16:creationId xmlns:a16="http://schemas.microsoft.com/office/drawing/2014/main" id="{D7DA475C-C72A-4DA2-8DB4-6E005B7487D3}"/>
              </a:ext>
            </a:extLst>
          </p:cNvPr>
          <p:cNvSpPr>
            <a:spLocks noGrp="1"/>
          </p:cNvSpPr>
          <p:nvPr>
            <p:ph idx="1"/>
          </p:nvPr>
        </p:nvSpPr>
        <p:spPr/>
        <p:txBody>
          <a:bodyPr/>
          <a:lstStyle/>
          <a:p>
            <a:r>
              <a:rPr lang="pt-BR" dirty="0"/>
              <a:t>Verifica se um pacote tem ou não permissão partindo de uma máquina virtual. </a:t>
            </a:r>
          </a:p>
          <a:p>
            <a:pPr lvl="1"/>
            <a:r>
              <a:rPr lang="pt-BR" dirty="0"/>
              <a:t>Retorna a permissão o grupo de segurança e a regra que negou ou permitiu o pacote.</a:t>
            </a:r>
          </a:p>
        </p:txBody>
      </p:sp>
    </p:spTree>
    <p:extLst>
      <p:ext uri="{BB962C8B-B14F-4D97-AF65-F5344CB8AC3E}">
        <p14:creationId xmlns:p14="http://schemas.microsoft.com/office/powerpoint/2010/main" val="324548475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6CE3EE-1F99-4449-B610-8FC70B298CB2}"/>
              </a:ext>
            </a:extLst>
          </p:cNvPr>
          <p:cNvSpPr>
            <a:spLocks noGrp="1"/>
          </p:cNvSpPr>
          <p:nvPr>
            <p:ph type="title"/>
          </p:nvPr>
        </p:nvSpPr>
        <p:spPr/>
        <p:txBody>
          <a:bodyPr/>
          <a:lstStyle/>
          <a:p>
            <a:r>
              <a:rPr lang="pt-BR" dirty="0"/>
              <a:t>Next Hop</a:t>
            </a:r>
          </a:p>
        </p:txBody>
      </p:sp>
      <p:sp>
        <p:nvSpPr>
          <p:cNvPr id="3" name="Espaço Reservado para Conteúdo 2">
            <a:extLst>
              <a:ext uri="{FF2B5EF4-FFF2-40B4-BE49-F238E27FC236}">
                <a16:creationId xmlns:a16="http://schemas.microsoft.com/office/drawing/2014/main" id="{2BF7803F-34D5-47C0-9DD8-D3903F2C1C77}"/>
              </a:ext>
            </a:extLst>
          </p:cNvPr>
          <p:cNvSpPr>
            <a:spLocks noGrp="1"/>
          </p:cNvSpPr>
          <p:nvPr>
            <p:ph idx="1"/>
          </p:nvPr>
        </p:nvSpPr>
        <p:spPr/>
        <p:txBody>
          <a:bodyPr>
            <a:normAutofit/>
          </a:bodyPr>
          <a:lstStyle/>
          <a:p>
            <a:r>
              <a:rPr lang="pt-BR" dirty="0"/>
              <a:t>Próximo salto obtém o tipo do próximo salto e o endereço IP de um pacote em uma VM e na NIC.</a:t>
            </a:r>
          </a:p>
          <a:p>
            <a:pPr lvl="1"/>
            <a:r>
              <a:rPr lang="pt-BR" dirty="0"/>
              <a:t>Retorna a tabela de rotas associada ao próximo salto.  Internet, </a:t>
            </a:r>
            <a:r>
              <a:rPr lang="pt-BR" dirty="0" err="1"/>
              <a:t>VirtualAppliance</a:t>
            </a:r>
            <a:r>
              <a:rPr lang="pt-BR" dirty="0"/>
              <a:t>, </a:t>
            </a:r>
            <a:r>
              <a:rPr lang="pt-BR" dirty="0" err="1"/>
              <a:t>VirtualNetworkGateway</a:t>
            </a:r>
            <a:r>
              <a:rPr lang="pt-BR" dirty="0"/>
              <a:t>, </a:t>
            </a:r>
            <a:r>
              <a:rPr lang="pt-BR" dirty="0" err="1"/>
              <a:t>VirtualNetwork</a:t>
            </a:r>
            <a:r>
              <a:rPr lang="pt-BR" dirty="0"/>
              <a:t>, </a:t>
            </a:r>
            <a:r>
              <a:rPr lang="pt-BR" dirty="0" err="1"/>
              <a:t>VirtualNetworkPeering</a:t>
            </a:r>
            <a:r>
              <a:rPr lang="pt-BR" dirty="0"/>
              <a:t>, </a:t>
            </a:r>
            <a:r>
              <a:rPr lang="pt-BR" dirty="0" err="1"/>
              <a:t>VirtualNetworkServiceEndpoint</a:t>
            </a:r>
            <a:r>
              <a:rPr lang="pt-BR" dirty="0"/>
              <a:t>, </a:t>
            </a:r>
            <a:r>
              <a:rPr lang="pt-BR" dirty="0" err="1"/>
              <a:t>MicrosoftEdge</a:t>
            </a:r>
            <a:r>
              <a:rPr lang="pt-BR" dirty="0"/>
              <a:t>, Nenhum.</a:t>
            </a:r>
          </a:p>
          <a:p>
            <a:pPr lvl="1"/>
            <a:endParaRPr lang="pt-BR" dirty="0"/>
          </a:p>
        </p:txBody>
      </p:sp>
    </p:spTree>
    <p:extLst>
      <p:ext uri="{BB962C8B-B14F-4D97-AF65-F5344CB8AC3E}">
        <p14:creationId xmlns:p14="http://schemas.microsoft.com/office/powerpoint/2010/main" val="13055294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63C03C-A5FC-4313-989D-5B23477F69BE}"/>
              </a:ext>
            </a:extLst>
          </p:cNvPr>
          <p:cNvSpPr>
            <a:spLocks noGrp="1"/>
          </p:cNvSpPr>
          <p:nvPr>
            <p:ph type="title"/>
          </p:nvPr>
        </p:nvSpPr>
        <p:spPr/>
        <p:txBody>
          <a:bodyPr/>
          <a:lstStyle/>
          <a:p>
            <a:r>
              <a:rPr lang="pt-BR" dirty="0" err="1"/>
              <a:t>Effective</a:t>
            </a:r>
            <a:r>
              <a:rPr lang="pt-BR" dirty="0"/>
              <a:t> </a:t>
            </a:r>
            <a:r>
              <a:rPr lang="pt-BR" dirty="0" err="1"/>
              <a:t>security</a:t>
            </a:r>
            <a:r>
              <a:rPr lang="pt-BR" dirty="0"/>
              <a:t> </a:t>
            </a:r>
            <a:r>
              <a:rPr lang="pt-BR" dirty="0" err="1"/>
              <a:t>rules</a:t>
            </a:r>
            <a:endParaRPr lang="pt-BR" dirty="0"/>
          </a:p>
        </p:txBody>
      </p:sp>
      <p:sp>
        <p:nvSpPr>
          <p:cNvPr id="3" name="Espaço Reservado para Conteúdo 2">
            <a:extLst>
              <a:ext uri="{FF2B5EF4-FFF2-40B4-BE49-F238E27FC236}">
                <a16:creationId xmlns:a16="http://schemas.microsoft.com/office/drawing/2014/main" id="{2173F40E-E9BF-4155-A1C7-FADC7DD69400}"/>
              </a:ext>
            </a:extLst>
          </p:cNvPr>
          <p:cNvSpPr>
            <a:spLocks noGrp="1"/>
          </p:cNvSpPr>
          <p:nvPr>
            <p:ph idx="1"/>
          </p:nvPr>
        </p:nvSpPr>
        <p:spPr/>
        <p:txBody>
          <a:bodyPr/>
          <a:lstStyle/>
          <a:p>
            <a:r>
              <a:rPr lang="pt-BR" i="1" dirty="0"/>
              <a:t>Regras de segurança efetivas, mostra </a:t>
            </a:r>
            <a:r>
              <a:rPr lang="pt-BR" dirty="0"/>
              <a:t>todas as regras de segurança aplicadas à interface de rede, a </a:t>
            </a:r>
            <a:r>
              <a:rPr lang="pt-BR" dirty="0" err="1"/>
              <a:t>sub-rede</a:t>
            </a:r>
            <a:r>
              <a:rPr lang="pt-BR" dirty="0"/>
              <a:t> que interface de rede está e a agregação de ambas. </a:t>
            </a:r>
          </a:p>
        </p:txBody>
      </p:sp>
    </p:spTree>
    <p:extLst>
      <p:ext uri="{BB962C8B-B14F-4D97-AF65-F5344CB8AC3E}">
        <p14:creationId xmlns:p14="http://schemas.microsoft.com/office/powerpoint/2010/main" val="345805626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4E9813-5066-41B7-9A9A-6AA8717AEA62}"/>
              </a:ext>
            </a:extLst>
          </p:cNvPr>
          <p:cNvSpPr>
            <a:spLocks noGrp="1"/>
          </p:cNvSpPr>
          <p:nvPr>
            <p:ph type="title"/>
          </p:nvPr>
        </p:nvSpPr>
        <p:spPr/>
        <p:txBody>
          <a:bodyPr/>
          <a:lstStyle/>
          <a:p>
            <a:r>
              <a:rPr lang="pt-BR" dirty="0" err="1"/>
              <a:t>Packet</a:t>
            </a:r>
            <a:r>
              <a:rPr lang="pt-BR" dirty="0"/>
              <a:t> capture</a:t>
            </a:r>
          </a:p>
        </p:txBody>
      </p:sp>
      <p:sp>
        <p:nvSpPr>
          <p:cNvPr id="3" name="Espaço Reservado para Conteúdo 2">
            <a:extLst>
              <a:ext uri="{FF2B5EF4-FFF2-40B4-BE49-F238E27FC236}">
                <a16:creationId xmlns:a16="http://schemas.microsoft.com/office/drawing/2014/main" id="{A5B4566D-3227-47D9-91D0-D398ED3E4C94}"/>
              </a:ext>
            </a:extLst>
          </p:cNvPr>
          <p:cNvSpPr>
            <a:spLocks noGrp="1"/>
          </p:cNvSpPr>
          <p:nvPr>
            <p:ph idx="1"/>
          </p:nvPr>
        </p:nvSpPr>
        <p:spPr/>
        <p:txBody>
          <a:bodyPr/>
          <a:lstStyle/>
          <a:p>
            <a:r>
              <a:rPr lang="pt-BR" dirty="0"/>
              <a:t>permite que você crie sessões de captura de pacote para controlar o tráfego em uma máquina virtual.</a:t>
            </a:r>
          </a:p>
          <a:p>
            <a:pPr lvl="1"/>
            <a:r>
              <a:rPr lang="pt-BR" dirty="0"/>
              <a:t>dados capturados são armazenados no disco local ou um </a:t>
            </a:r>
            <a:r>
              <a:rPr lang="pt-BR" dirty="0" err="1"/>
              <a:t>blob</a:t>
            </a:r>
            <a:r>
              <a:rPr lang="pt-BR" dirty="0"/>
              <a:t> de armazenamento.</a:t>
            </a:r>
          </a:p>
        </p:txBody>
      </p:sp>
    </p:spTree>
    <p:extLst>
      <p:ext uri="{BB962C8B-B14F-4D97-AF65-F5344CB8AC3E}">
        <p14:creationId xmlns:p14="http://schemas.microsoft.com/office/powerpoint/2010/main" val="310326068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FB6C91-0B49-469D-82B0-FDABF13B6DEF}"/>
              </a:ext>
            </a:extLst>
          </p:cNvPr>
          <p:cNvSpPr>
            <a:spLocks noGrp="1"/>
          </p:cNvSpPr>
          <p:nvPr>
            <p:ph type="title"/>
          </p:nvPr>
        </p:nvSpPr>
        <p:spPr/>
        <p:txBody>
          <a:bodyPr/>
          <a:lstStyle/>
          <a:p>
            <a:r>
              <a:rPr lang="pt-BR" dirty="0"/>
              <a:t>Connection Troubleshoot</a:t>
            </a:r>
          </a:p>
        </p:txBody>
      </p:sp>
      <p:sp>
        <p:nvSpPr>
          <p:cNvPr id="3" name="Espaço Reservado para Conteúdo 2">
            <a:extLst>
              <a:ext uri="{FF2B5EF4-FFF2-40B4-BE49-F238E27FC236}">
                <a16:creationId xmlns:a16="http://schemas.microsoft.com/office/drawing/2014/main" id="{A3232336-3BD8-4EBA-9482-0EA5B36BC005}"/>
              </a:ext>
            </a:extLst>
          </p:cNvPr>
          <p:cNvSpPr>
            <a:spLocks noGrp="1"/>
          </p:cNvSpPr>
          <p:nvPr>
            <p:ph idx="1"/>
          </p:nvPr>
        </p:nvSpPr>
        <p:spPr/>
        <p:txBody>
          <a:bodyPr>
            <a:normAutofit/>
          </a:bodyPr>
          <a:lstStyle/>
          <a:p>
            <a:r>
              <a:rPr lang="pt-BR" dirty="0"/>
              <a:t>Fornece a capacidade de verificar uma conexão TCP direta de uma máquina virtual a uma VM (máquina virtual), FQDN (nome de domínio totalmente qualificado), URI ou endereço IPv4.</a:t>
            </a:r>
          </a:p>
          <a:p>
            <a:pPr lvl="1"/>
            <a:r>
              <a:rPr lang="pt-BR" dirty="0"/>
              <a:t>Os resultados retornados podem fornecer informações sobre se um problema de conectividade é devido a uma plataforma ou um problema de configuração do usuário.</a:t>
            </a:r>
          </a:p>
        </p:txBody>
      </p:sp>
    </p:spTree>
    <p:extLst>
      <p:ext uri="{BB962C8B-B14F-4D97-AF65-F5344CB8AC3E}">
        <p14:creationId xmlns:p14="http://schemas.microsoft.com/office/powerpoint/2010/main" val="331529586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tângulo: Cantos Arredondados 39">
            <a:extLst>
              <a:ext uri="{FF2B5EF4-FFF2-40B4-BE49-F238E27FC236}">
                <a16:creationId xmlns:a16="http://schemas.microsoft.com/office/drawing/2014/main" id="{E236776B-A67D-439A-B038-878745676663}"/>
              </a:ext>
            </a:extLst>
          </p:cNvPr>
          <p:cNvSpPr/>
          <p:nvPr/>
        </p:nvSpPr>
        <p:spPr>
          <a:xfrm>
            <a:off x="304800" y="1425104"/>
            <a:ext cx="4948972" cy="425784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pt-BR" dirty="0">
                <a:solidFill>
                  <a:schemeClr val="tx1">
                    <a:lumMod val="95000"/>
                    <a:lumOff val="5000"/>
                  </a:schemeClr>
                </a:solidFill>
              </a:rPr>
              <a:t>Point </a:t>
            </a:r>
            <a:r>
              <a:rPr lang="pt-BR" dirty="0" err="1">
                <a:solidFill>
                  <a:schemeClr val="tx1">
                    <a:lumMod val="95000"/>
                    <a:lumOff val="5000"/>
                  </a:schemeClr>
                </a:solidFill>
              </a:rPr>
              <a:t>to</a:t>
            </a:r>
            <a:r>
              <a:rPr lang="pt-BR" dirty="0">
                <a:solidFill>
                  <a:schemeClr val="tx1">
                    <a:lumMod val="95000"/>
                    <a:lumOff val="5000"/>
                  </a:schemeClr>
                </a:solidFill>
              </a:rPr>
              <a:t> Site</a:t>
            </a:r>
          </a:p>
          <a:p>
            <a:pPr algn="r"/>
            <a:r>
              <a:rPr lang="pt-BR" dirty="0">
                <a:solidFill>
                  <a:schemeClr val="tx1">
                    <a:lumMod val="95000"/>
                    <a:lumOff val="5000"/>
                  </a:schemeClr>
                </a:solidFill>
              </a:rPr>
              <a:t>Conexão individual</a:t>
            </a:r>
            <a:endParaRPr lang="pt-BR" dirty="0">
              <a:solidFill>
                <a:schemeClr val="tx1"/>
              </a:solidFill>
            </a:endParaRPr>
          </a:p>
        </p:txBody>
      </p:sp>
      <p:pic>
        <p:nvPicPr>
          <p:cNvPr id="29" name="Gráfico 28" descr="Banco de dados">
            <a:extLst>
              <a:ext uri="{FF2B5EF4-FFF2-40B4-BE49-F238E27FC236}">
                <a16:creationId xmlns:a16="http://schemas.microsoft.com/office/drawing/2014/main" id="{312A6648-1A3C-442A-9912-E6F2B29BA3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62249" y="2463005"/>
            <a:ext cx="233799" cy="457838"/>
          </a:xfrm>
          <a:prstGeom prst="rect">
            <a:avLst/>
          </a:prstGeom>
        </p:spPr>
      </p:pic>
      <p:sp>
        <p:nvSpPr>
          <p:cNvPr id="2" name="Título 1">
            <a:extLst>
              <a:ext uri="{FF2B5EF4-FFF2-40B4-BE49-F238E27FC236}">
                <a16:creationId xmlns:a16="http://schemas.microsoft.com/office/drawing/2014/main" id="{861F633B-472E-4D84-9A19-35102146309B}"/>
              </a:ext>
            </a:extLst>
          </p:cNvPr>
          <p:cNvSpPr>
            <a:spLocks noGrp="1"/>
          </p:cNvSpPr>
          <p:nvPr>
            <p:ph type="title"/>
          </p:nvPr>
        </p:nvSpPr>
        <p:spPr>
          <a:xfrm>
            <a:off x="111760" y="365125"/>
            <a:ext cx="11958320" cy="1325563"/>
          </a:xfrm>
        </p:spPr>
        <p:txBody>
          <a:bodyPr/>
          <a:lstStyle/>
          <a:p>
            <a:r>
              <a:rPr lang="pt-BR" dirty="0"/>
              <a:t>Virtual Private Network/Site </a:t>
            </a:r>
            <a:r>
              <a:rPr lang="pt-BR" dirty="0" err="1"/>
              <a:t>to</a:t>
            </a:r>
            <a:r>
              <a:rPr lang="pt-BR" dirty="0"/>
              <a:t> Site/Point </a:t>
            </a:r>
            <a:r>
              <a:rPr lang="pt-BR" dirty="0" err="1"/>
              <a:t>to</a:t>
            </a:r>
            <a:r>
              <a:rPr lang="pt-BR" dirty="0"/>
              <a:t> Site. </a:t>
            </a:r>
          </a:p>
        </p:txBody>
      </p:sp>
      <p:sp>
        <p:nvSpPr>
          <p:cNvPr id="4" name="Retângulo: Cantos Arredondados 3">
            <a:extLst>
              <a:ext uri="{FF2B5EF4-FFF2-40B4-BE49-F238E27FC236}">
                <a16:creationId xmlns:a16="http://schemas.microsoft.com/office/drawing/2014/main" id="{4A10F476-3F47-4183-8573-8D668915C3A3}"/>
              </a:ext>
            </a:extLst>
          </p:cNvPr>
          <p:cNvSpPr/>
          <p:nvPr/>
        </p:nvSpPr>
        <p:spPr>
          <a:xfrm>
            <a:off x="7276195" y="4792561"/>
            <a:ext cx="3230880" cy="1656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pt-BR" dirty="0">
                <a:solidFill>
                  <a:schemeClr val="tx1">
                    <a:lumMod val="95000"/>
                    <a:lumOff val="5000"/>
                  </a:schemeClr>
                </a:solidFill>
              </a:rPr>
              <a:t>Infra Física</a:t>
            </a:r>
            <a:endParaRPr lang="pt-BR" dirty="0">
              <a:solidFill>
                <a:schemeClr val="tx1"/>
              </a:solidFill>
            </a:endParaRPr>
          </a:p>
          <a:p>
            <a:pPr algn="r"/>
            <a:r>
              <a:rPr lang="pt-BR" dirty="0">
                <a:solidFill>
                  <a:schemeClr val="tx1"/>
                </a:solidFill>
              </a:rPr>
              <a:t>Site </a:t>
            </a:r>
            <a:r>
              <a:rPr lang="pt-BR" dirty="0" err="1">
                <a:solidFill>
                  <a:schemeClr val="tx1"/>
                </a:solidFill>
              </a:rPr>
              <a:t>to</a:t>
            </a:r>
            <a:r>
              <a:rPr lang="pt-BR" dirty="0">
                <a:solidFill>
                  <a:schemeClr val="tx1"/>
                </a:solidFill>
              </a:rPr>
              <a:t> Site</a:t>
            </a:r>
          </a:p>
          <a:p>
            <a:pPr algn="r"/>
            <a:r>
              <a:rPr lang="pt-BR" dirty="0">
                <a:solidFill>
                  <a:schemeClr val="tx1"/>
                </a:solidFill>
              </a:rPr>
              <a:t>Escritório Físico</a:t>
            </a:r>
          </a:p>
        </p:txBody>
      </p:sp>
      <p:pic>
        <p:nvPicPr>
          <p:cNvPr id="8" name="Gráfico 7" descr="Servidor">
            <a:extLst>
              <a:ext uri="{FF2B5EF4-FFF2-40B4-BE49-F238E27FC236}">
                <a16:creationId xmlns:a16="http://schemas.microsoft.com/office/drawing/2014/main" id="{5CC258A5-9354-4C75-BF59-693364CEABE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95723" y="4768543"/>
            <a:ext cx="914400" cy="914400"/>
          </a:xfrm>
          <a:prstGeom prst="rect">
            <a:avLst/>
          </a:prstGeom>
        </p:spPr>
      </p:pic>
      <p:pic>
        <p:nvPicPr>
          <p:cNvPr id="10" name="Gráfico 9" descr="Nuvem">
            <a:extLst>
              <a:ext uri="{FF2B5EF4-FFF2-40B4-BE49-F238E27FC236}">
                <a16:creationId xmlns:a16="http://schemas.microsoft.com/office/drawing/2014/main" id="{F95F9837-8725-4A97-967E-5F9CE5809E7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38229" y="1233487"/>
            <a:ext cx="5253771" cy="2459673"/>
          </a:xfrm>
          <a:prstGeom prst="rect">
            <a:avLst/>
          </a:prstGeom>
        </p:spPr>
      </p:pic>
      <p:pic>
        <p:nvPicPr>
          <p:cNvPr id="12" name="Gráfico 11" descr="Engrenagem única">
            <a:extLst>
              <a:ext uri="{FF2B5EF4-FFF2-40B4-BE49-F238E27FC236}">
                <a16:creationId xmlns:a16="http://schemas.microsoft.com/office/drawing/2014/main" id="{B489BAAF-0B7D-498A-BB11-B0CABC15EF4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15109" y="2255506"/>
            <a:ext cx="914400" cy="914400"/>
          </a:xfrm>
          <a:prstGeom prst="rect">
            <a:avLst/>
          </a:prstGeom>
        </p:spPr>
      </p:pic>
      <p:cxnSp>
        <p:nvCxnSpPr>
          <p:cNvPr id="14" name="Conector de Seta Reta 13">
            <a:extLst>
              <a:ext uri="{FF2B5EF4-FFF2-40B4-BE49-F238E27FC236}">
                <a16:creationId xmlns:a16="http://schemas.microsoft.com/office/drawing/2014/main" id="{8206F718-84F6-4EB8-9344-7828378BDCAF}"/>
              </a:ext>
            </a:extLst>
          </p:cNvPr>
          <p:cNvCxnSpPr>
            <a:cxnSpLocks/>
            <a:stCxn id="8" idx="0"/>
            <a:endCxn id="12" idx="2"/>
          </p:cNvCxnSpPr>
          <p:nvPr/>
        </p:nvCxnSpPr>
        <p:spPr>
          <a:xfrm flipV="1">
            <a:off x="7952923" y="3169906"/>
            <a:ext cx="19386" cy="1598637"/>
          </a:xfrm>
          <a:prstGeom prst="straightConnector1">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CaixaDeTexto 14">
            <a:extLst>
              <a:ext uri="{FF2B5EF4-FFF2-40B4-BE49-F238E27FC236}">
                <a16:creationId xmlns:a16="http://schemas.microsoft.com/office/drawing/2014/main" id="{82513DD5-B3BA-45A5-B24A-5590B69FA2FA}"/>
              </a:ext>
            </a:extLst>
          </p:cNvPr>
          <p:cNvSpPr txBox="1"/>
          <p:nvPr/>
        </p:nvSpPr>
        <p:spPr>
          <a:xfrm>
            <a:off x="6489978" y="3465606"/>
            <a:ext cx="1408078" cy="830997"/>
          </a:xfrm>
          <a:prstGeom prst="rect">
            <a:avLst/>
          </a:prstGeom>
          <a:noFill/>
        </p:spPr>
        <p:txBody>
          <a:bodyPr wrap="none" rtlCol="0">
            <a:spAutoFit/>
          </a:bodyPr>
          <a:lstStyle/>
          <a:p>
            <a:r>
              <a:rPr lang="pt-BR" sz="1600" b="1" dirty="0"/>
              <a:t>IPSEC</a:t>
            </a:r>
          </a:p>
          <a:p>
            <a:r>
              <a:rPr lang="pt-BR" sz="1600" b="1" dirty="0" err="1"/>
              <a:t>Cripitografado</a:t>
            </a:r>
            <a:endParaRPr lang="pt-BR" sz="1600" b="1" dirty="0"/>
          </a:p>
          <a:p>
            <a:endParaRPr lang="pt-BR" sz="1600" b="1" dirty="0"/>
          </a:p>
        </p:txBody>
      </p:sp>
      <p:sp>
        <p:nvSpPr>
          <p:cNvPr id="16" name="CaixaDeTexto 15">
            <a:extLst>
              <a:ext uri="{FF2B5EF4-FFF2-40B4-BE49-F238E27FC236}">
                <a16:creationId xmlns:a16="http://schemas.microsoft.com/office/drawing/2014/main" id="{CA6DAF16-ACA3-46D4-A51E-19BA50BD0149}"/>
              </a:ext>
            </a:extLst>
          </p:cNvPr>
          <p:cNvSpPr txBox="1"/>
          <p:nvPr/>
        </p:nvSpPr>
        <p:spPr>
          <a:xfrm>
            <a:off x="7427704" y="5706961"/>
            <a:ext cx="1089209" cy="830997"/>
          </a:xfrm>
          <a:prstGeom prst="rect">
            <a:avLst/>
          </a:prstGeom>
          <a:noFill/>
        </p:spPr>
        <p:txBody>
          <a:bodyPr wrap="none" rtlCol="0">
            <a:spAutoFit/>
          </a:bodyPr>
          <a:lstStyle/>
          <a:p>
            <a:r>
              <a:rPr lang="pt-BR" sz="1600" b="1" dirty="0" err="1"/>
              <a:t>Router</a:t>
            </a:r>
            <a:r>
              <a:rPr lang="pt-BR" sz="1600" b="1" dirty="0"/>
              <a:t> ou </a:t>
            </a:r>
          </a:p>
          <a:p>
            <a:r>
              <a:rPr lang="pt-BR" sz="1600" b="1" dirty="0"/>
              <a:t>Firewall</a:t>
            </a:r>
          </a:p>
          <a:p>
            <a:endParaRPr lang="pt-BR" sz="1600" b="1" dirty="0"/>
          </a:p>
        </p:txBody>
      </p:sp>
      <p:sp>
        <p:nvSpPr>
          <p:cNvPr id="17" name="CaixaDeTexto 16">
            <a:extLst>
              <a:ext uri="{FF2B5EF4-FFF2-40B4-BE49-F238E27FC236}">
                <a16:creationId xmlns:a16="http://schemas.microsoft.com/office/drawing/2014/main" id="{5EC9F8EE-A9DD-4860-9189-6B89639AA7C5}"/>
              </a:ext>
            </a:extLst>
          </p:cNvPr>
          <p:cNvSpPr txBox="1"/>
          <p:nvPr/>
        </p:nvSpPr>
        <p:spPr>
          <a:xfrm>
            <a:off x="8172087" y="2342307"/>
            <a:ext cx="830868" cy="830997"/>
          </a:xfrm>
          <a:prstGeom prst="rect">
            <a:avLst/>
          </a:prstGeom>
          <a:noFill/>
        </p:spPr>
        <p:txBody>
          <a:bodyPr wrap="none" rtlCol="0">
            <a:spAutoFit/>
          </a:bodyPr>
          <a:lstStyle/>
          <a:p>
            <a:r>
              <a:rPr lang="pt-BR" sz="1600" b="1" dirty="0"/>
              <a:t>VPN</a:t>
            </a:r>
          </a:p>
          <a:p>
            <a:r>
              <a:rPr lang="pt-BR" sz="1600" b="1" dirty="0" err="1"/>
              <a:t>Gatway</a:t>
            </a:r>
            <a:endParaRPr lang="pt-BR" sz="1600" b="1" dirty="0"/>
          </a:p>
          <a:p>
            <a:endParaRPr lang="pt-BR" sz="1600" b="1" dirty="0"/>
          </a:p>
        </p:txBody>
      </p:sp>
      <p:cxnSp>
        <p:nvCxnSpPr>
          <p:cNvPr id="22" name="Conector de Seta Reta 21">
            <a:extLst>
              <a:ext uri="{FF2B5EF4-FFF2-40B4-BE49-F238E27FC236}">
                <a16:creationId xmlns:a16="http://schemas.microsoft.com/office/drawing/2014/main" id="{EC3E4958-BCAD-45DA-8090-E5EFDC3EC2D6}"/>
              </a:ext>
            </a:extLst>
          </p:cNvPr>
          <p:cNvCxnSpPr>
            <a:cxnSpLocks/>
            <a:stCxn id="26" idx="3"/>
            <a:endCxn id="29" idx="1"/>
          </p:cNvCxnSpPr>
          <p:nvPr/>
        </p:nvCxnSpPr>
        <p:spPr>
          <a:xfrm flipV="1">
            <a:off x="2293118" y="2691924"/>
            <a:ext cx="5269131" cy="878361"/>
          </a:xfrm>
          <a:prstGeom prst="straightConnector1">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22">
            <a:extLst>
              <a:ext uri="{FF2B5EF4-FFF2-40B4-BE49-F238E27FC236}">
                <a16:creationId xmlns:a16="http://schemas.microsoft.com/office/drawing/2014/main" id="{97F373F5-2C82-416C-9F63-949767C58F86}"/>
              </a:ext>
            </a:extLst>
          </p:cNvPr>
          <p:cNvCxnSpPr>
            <a:cxnSpLocks/>
            <a:stCxn id="27" idx="3"/>
            <a:endCxn id="29" idx="2"/>
          </p:cNvCxnSpPr>
          <p:nvPr/>
        </p:nvCxnSpPr>
        <p:spPr>
          <a:xfrm flipV="1">
            <a:off x="2293118" y="2920843"/>
            <a:ext cx="5386031" cy="1891878"/>
          </a:xfrm>
          <a:prstGeom prst="straightConnector1">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23">
            <a:extLst>
              <a:ext uri="{FF2B5EF4-FFF2-40B4-BE49-F238E27FC236}">
                <a16:creationId xmlns:a16="http://schemas.microsoft.com/office/drawing/2014/main" id="{AF9D7B17-5546-40CB-BBFC-EF60D122F60C}"/>
              </a:ext>
            </a:extLst>
          </p:cNvPr>
          <p:cNvCxnSpPr>
            <a:cxnSpLocks/>
            <a:stCxn id="25" idx="3"/>
            <a:endCxn id="29" idx="0"/>
          </p:cNvCxnSpPr>
          <p:nvPr/>
        </p:nvCxnSpPr>
        <p:spPr>
          <a:xfrm>
            <a:off x="2293118" y="2340130"/>
            <a:ext cx="5386031" cy="122875"/>
          </a:xfrm>
          <a:prstGeom prst="straightConnector1">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5" name="Gráfico 24" descr="Programa">
            <a:extLst>
              <a:ext uri="{FF2B5EF4-FFF2-40B4-BE49-F238E27FC236}">
                <a16:creationId xmlns:a16="http://schemas.microsoft.com/office/drawing/2014/main" id="{A61B2C64-1056-47E9-A980-9FCC546614C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78718" y="1882930"/>
            <a:ext cx="914400" cy="914400"/>
          </a:xfrm>
          <a:prstGeom prst="rect">
            <a:avLst/>
          </a:prstGeom>
        </p:spPr>
      </p:pic>
      <p:pic>
        <p:nvPicPr>
          <p:cNvPr id="26" name="Gráfico 25" descr="Programa">
            <a:extLst>
              <a:ext uri="{FF2B5EF4-FFF2-40B4-BE49-F238E27FC236}">
                <a16:creationId xmlns:a16="http://schemas.microsoft.com/office/drawing/2014/main" id="{8B20418A-08BA-4793-82DD-24F443F0211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78718" y="3113085"/>
            <a:ext cx="914400" cy="914400"/>
          </a:xfrm>
          <a:prstGeom prst="rect">
            <a:avLst/>
          </a:prstGeom>
        </p:spPr>
      </p:pic>
      <p:pic>
        <p:nvPicPr>
          <p:cNvPr id="27" name="Gráfico 26" descr="Programa">
            <a:extLst>
              <a:ext uri="{FF2B5EF4-FFF2-40B4-BE49-F238E27FC236}">
                <a16:creationId xmlns:a16="http://schemas.microsoft.com/office/drawing/2014/main" id="{38FAE1EA-3041-4B8C-9596-FA9291D828C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78718" y="4355521"/>
            <a:ext cx="914400" cy="914400"/>
          </a:xfrm>
          <a:prstGeom prst="rect">
            <a:avLst/>
          </a:prstGeom>
        </p:spPr>
      </p:pic>
    </p:spTree>
    <p:extLst>
      <p:ext uri="{BB962C8B-B14F-4D97-AF65-F5344CB8AC3E}">
        <p14:creationId xmlns:p14="http://schemas.microsoft.com/office/powerpoint/2010/main" val="212369458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Gráfico 27" descr="Banco de dados">
            <a:extLst>
              <a:ext uri="{FF2B5EF4-FFF2-40B4-BE49-F238E27FC236}">
                <a16:creationId xmlns:a16="http://schemas.microsoft.com/office/drawing/2014/main" id="{5FF56F5A-5C6B-4CAF-B56D-C3C5DEE012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63557" y="2702498"/>
            <a:ext cx="233799" cy="457838"/>
          </a:xfrm>
          <a:prstGeom prst="rect">
            <a:avLst/>
          </a:prstGeom>
        </p:spPr>
      </p:pic>
      <p:pic>
        <p:nvPicPr>
          <p:cNvPr id="29" name="Gráfico 28" descr="Banco de dados">
            <a:extLst>
              <a:ext uri="{FF2B5EF4-FFF2-40B4-BE49-F238E27FC236}">
                <a16:creationId xmlns:a16="http://schemas.microsoft.com/office/drawing/2014/main" id="{312A6648-1A3C-442A-9912-E6F2B29BA3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93126" y="2677355"/>
            <a:ext cx="233799" cy="457838"/>
          </a:xfrm>
          <a:prstGeom prst="rect">
            <a:avLst/>
          </a:prstGeom>
        </p:spPr>
      </p:pic>
      <p:sp>
        <p:nvSpPr>
          <p:cNvPr id="2" name="Título 1">
            <a:extLst>
              <a:ext uri="{FF2B5EF4-FFF2-40B4-BE49-F238E27FC236}">
                <a16:creationId xmlns:a16="http://schemas.microsoft.com/office/drawing/2014/main" id="{861F633B-472E-4D84-9A19-35102146309B}"/>
              </a:ext>
            </a:extLst>
          </p:cNvPr>
          <p:cNvSpPr>
            <a:spLocks noGrp="1"/>
          </p:cNvSpPr>
          <p:nvPr>
            <p:ph type="title"/>
          </p:nvPr>
        </p:nvSpPr>
        <p:spPr>
          <a:xfrm>
            <a:off x="111760" y="365125"/>
            <a:ext cx="11958320" cy="1325563"/>
          </a:xfrm>
        </p:spPr>
        <p:txBody>
          <a:bodyPr/>
          <a:lstStyle/>
          <a:p>
            <a:r>
              <a:rPr lang="pt-BR" dirty="0"/>
              <a:t>Express </a:t>
            </a:r>
            <a:r>
              <a:rPr lang="pt-BR" dirty="0" err="1"/>
              <a:t>Route</a:t>
            </a:r>
            <a:r>
              <a:rPr lang="pt-BR" dirty="0"/>
              <a:t> - Point </a:t>
            </a:r>
            <a:r>
              <a:rPr lang="pt-BR" dirty="0" err="1"/>
              <a:t>to</a:t>
            </a:r>
            <a:r>
              <a:rPr lang="pt-BR" dirty="0"/>
              <a:t> Point Ethernet Connection. </a:t>
            </a:r>
          </a:p>
        </p:txBody>
      </p:sp>
      <p:sp>
        <p:nvSpPr>
          <p:cNvPr id="4" name="Retângulo: Cantos Arredondados 3">
            <a:extLst>
              <a:ext uri="{FF2B5EF4-FFF2-40B4-BE49-F238E27FC236}">
                <a16:creationId xmlns:a16="http://schemas.microsoft.com/office/drawing/2014/main" id="{4A10F476-3F47-4183-8573-8D668915C3A3}"/>
              </a:ext>
            </a:extLst>
          </p:cNvPr>
          <p:cNvSpPr/>
          <p:nvPr/>
        </p:nvSpPr>
        <p:spPr>
          <a:xfrm>
            <a:off x="487680" y="2281078"/>
            <a:ext cx="2854960" cy="1656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dirty="0">
                <a:solidFill>
                  <a:schemeClr val="tx1">
                    <a:lumMod val="95000"/>
                    <a:lumOff val="5000"/>
                  </a:schemeClr>
                </a:solidFill>
              </a:rPr>
              <a:t>Infra Física</a:t>
            </a:r>
          </a:p>
          <a:p>
            <a:r>
              <a:rPr lang="pt-BR" dirty="0">
                <a:solidFill>
                  <a:schemeClr val="tx1"/>
                </a:solidFill>
              </a:rPr>
              <a:t>Escritório Físico</a:t>
            </a:r>
          </a:p>
          <a:p>
            <a:endParaRPr lang="pt-BR" dirty="0">
              <a:solidFill>
                <a:schemeClr val="tx1"/>
              </a:solidFill>
            </a:endParaRPr>
          </a:p>
        </p:txBody>
      </p:sp>
      <p:pic>
        <p:nvPicPr>
          <p:cNvPr id="10" name="Gráfico 9" descr="Nuvem">
            <a:extLst>
              <a:ext uri="{FF2B5EF4-FFF2-40B4-BE49-F238E27FC236}">
                <a16:creationId xmlns:a16="http://schemas.microsoft.com/office/drawing/2014/main" id="{F95F9837-8725-4A97-967E-5F9CE5809E7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30926" y="834423"/>
            <a:ext cx="5253771" cy="3389313"/>
          </a:xfrm>
          <a:prstGeom prst="rect">
            <a:avLst/>
          </a:prstGeom>
        </p:spPr>
      </p:pic>
      <p:cxnSp>
        <p:nvCxnSpPr>
          <p:cNvPr id="14" name="Conector de Seta Reta 13">
            <a:extLst>
              <a:ext uri="{FF2B5EF4-FFF2-40B4-BE49-F238E27FC236}">
                <a16:creationId xmlns:a16="http://schemas.microsoft.com/office/drawing/2014/main" id="{8206F718-84F6-4EB8-9344-7828378BDCAF}"/>
              </a:ext>
            </a:extLst>
          </p:cNvPr>
          <p:cNvCxnSpPr>
            <a:cxnSpLocks/>
            <a:stCxn id="28" idx="0"/>
            <a:endCxn id="29" idx="0"/>
          </p:cNvCxnSpPr>
          <p:nvPr/>
        </p:nvCxnSpPr>
        <p:spPr>
          <a:xfrm flipV="1">
            <a:off x="2980457" y="2677355"/>
            <a:ext cx="4229569" cy="25143"/>
          </a:xfrm>
          <a:prstGeom prst="straightConnector1">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7" name="Gráfico 6" descr="Engrenagens">
            <a:extLst>
              <a:ext uri="{FF2B5EF4-FFF2-40B4-BE49-F238E27FC236}">
                <a16:creationId xmlns:a16="http://schemas.microsoft.com/office/drawing/2014/main" id="{26150829-7C25-4A8B-BEB7-10D8EF18004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39597" y="2529080"/>
            <a:ext cx="1408078" cy="1408078"/>
          </a:xfrm>
          <a:prstGeom prst="rect">
            <a:avLst/>
          </a:prstGeom>
        </p:spPr>
      </p:pic>
      <p:cxnSp>
        <p:nvCxnSpPr>
          <p:cNvPr id="30" name="Conector de Seta Reta 29">
            <a:extLst>
              <a:ext uri="{FF2B5EF4-FFF2-40B4-BE49-F238E27FC236}">
                <a16:creationId xmlns:a16="http://schemas.microsoft.com/office/drawing/2014/main" id="{E8BE8A4A-3254-4EA4-B908-F089E726DEBD}"/>
              </a:ext>
            </a:extLst>
          </p:cNvPr>
          <p:cNvCxnSpPr>
            <a:cxnSpLocks/>
            <a:stCxn id="28" idx="2"/>
            <a:endCxn id="29" idx="2"/>
          </p:cNvCxnSpPr>
          <p:nvPr/>
        </p:nvCxnSpPr>
        <p:spPr>
          <a:xfrm flipV="1">
            <a:off x="2980457" y="3135193"/>
            <a:ext cx="4229569" cy="25143"/>
          </a:xfrm>
          <a:prstGeom prst="straightConnector1">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2" name="Gráfico 31" descr="Engrenagens">
            <a:extLst>
              <a:ext uri="{FF2B5EF4-FFF2-40B4-BE49-F238E27FC236}">
                <a16:creationId xmlns:a16="http://schemas.microsoft.com/office/drawing/2014/main" id="{19B3EA7F-F190-4E3F-BFC6-08E2FDA8F57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42808" y="1931000"/>
            <a:ext cx="1408078" cy="1408078"/>
          </a:xfrm>
          <a:prstGeom prst="rect">
            <a:avLst/>
          </a:prstGeom>
        </p:spPr>
      </p:pic>
      <p:sp>
        <p:nvSpPr>
          <p:cNvPr id="37" name="Onda 36">
            <a:extLst>
              <a:ext uri="{FF2B5EF4-FFF2-40B4-BE49-F238E27FC236}">
                <a16:creationId xmlns:a16="http://schemas.microsoft.com/office/drawing/2014/main" id="{36B92E0D-ABE1-452C-A8D8-8ED95F24EE1C}"/>
              </a:ext>
            </a:extLst>
          </p:cNvPr>
          <p:cNvSpPr/>
          <p:nvPr/>
        </p:nvSpPr>
        <p:spPr>
          <a:xfrm>
            <a:off x="4392437" y="5622314"/>
            <a:ext cx="1879600" cy="914400"/>
          </a:xfrm>
          <a:prstGeom prst="wave">
            <a:avLst>
              <a:gd name="adj1" fmla="val 20000"/>
              <a:gd name="adj2" fmla="val -10000"/>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Parceiro ISP</a:t>
            </a:r>
          </a:p>
        </p:txBody>
      </p:sp>
      <p:sp>
        <p:nvSpPr>
          <p:cNvPr id="38" name="CaixaDeTexto 37">
            <a:extLst>
              <a:ext uri="{FF2B5EF4-FFF2-40B4-BE49-F238E27FC236}">
                <a16:creationId xmlns:a16="http://schemas.microsoft.com/office/drawing/2014/main" id="{7D9D0030-335C-4483-ACF6-4DFA40B7A9D9}"/>
              </a:ext>
            </a:extLst>
          </p:cNvPr>
          <p:cNvSpPr txBox="1"/>
          <p:nvPr/>
        </p:nvSpPr>
        <p:spPr>
          <a:xfrm>
            <a:off x="3247675" y="4698984"/>
            <a:ext cx="4372325" cy="923330"/>
          </a:xfrm>
          <a:prstGeom prst="rect">
            <a:avLst/>
          </a:prstGeom>
          <a:solidFill>
            <a:schemeClr val="accent2">
              <a:lumMod val="75000"/>
            </a:schemeClr>
          </a:solidFill>
          <a:ln w="57150">
            <a:solidFill>
              <a:schemeClr val="accent1"/>
            </a:solidFill>
          </a:ln>
        </p:spPr>
        <p:txBody>
          <a:bodyPr wrap="square" rtlCol="0">
            <a:spAutoFit/>
          </a:bodyPr>
          <a:lstStyle/>
          <a:p>
            <a:r>
              <a:rPr lang="pt-BR" dirty="0">
                <a:solidFill>
                  <a:schemeClr val="bg1"/>
                </a:solidFill>
              </a:rPr>
              <a:t>Link Dedicado </a:t>
            </a:r>
            <a:r>
              <a:rPr lang="pt-BR" dirty="0" err="1">
                <a:solidFill>
                  <a:schemeClr val="bg1"/>
                </a:solidFill>
              </a:rPr>
              <a:t>ExpressRoute</a:t>
            </a:r>
            <a:endParaRPr lang="pt-BR" dirty="0">
              <a:solidFill>
                <a:schemeClr val="bg1"/>
              </a:solidFill>
            </a:endParaRPr>
          </a:p>
          <a:p>
            <a:r>
              <a:rPr lang="pt-BR" dirty="0">
                <a:solidFill>
                  <a:schemeClr val="bg1"/>
                </a:solidFill>
              </a:rPr>
              <a:t>Redundância – Primário e Secundário </a:t>
            </a:r>
          </a:p>
          <a:p>
            <a:r>
              <a:rPr lang="pt-BR" dirty="0">
                <a:solidFill>
                  <a:schemeClr val="bg1"/>
                </a:solidFill>
              </a:rPr>
              <a:t>CIR - </a:t>
            </a:r>
            <a:r>
              <a:rPr lang="pt-BR" dirty="0" err="1">
                <a:solidFill>
                  <a:schemeClr val="bg1"/>
                </a:solidFill>
              </a:rPr>
              <a:t>Committed</a:t>
            </a:r>
            <a:r>
              <a:rPr lang="pt-BR" dirty="0">
                <a:solidFill>
                  <a:schemeClr val="bg1"/>
                </a:solidFill>
              </a:rPr>
              <a:t> </a:t>
            </a:r>
            <a:r>
              <a:rPr lang="pt-BR" dirty="0" err="1">
                <a:solidFill>
                  <a:schemeClr val="bg1"/>
                </a:solidFill>
              </a:rPr>
              <a:t>information</a:t>
            </a:r>
            <a:r>
              <a:rPr lang="pt-BR" dirty="0">
                <a:solidFill>
                  <a:schemeClr val="bg1"/>
                </a:solidFill>
              </a:rPr>
              <a:t> rate</a:t>
            </a:r>
          </a:p>
        </p:txBody>
      </p:sp>
      <p:cxnSp>
        <p:nvCxnSpPr>
          <p:cNvPr id="41" name="Conector reto 40">
            <a:extLst>
              <a:ext uri="{FF2B5EF4-FFF2-40B4-BE49-F238E27FC236}">
                <a16:creationId xmlns:a16="http://schemas.microsoft.com/office/drawing/2014/main" id="{C5487748-1594-4C37-9875-2A3C0D2578B5}"/>
              </a:ext>
            </a:extLst>
          </p:cNvPr>
          <p:cNvCxnSpPr>
            <a:cxnSpLocks/>
            <a:endCxn id="38" idx="0"/>
          </p:cNvCxnSpPr>
          <p:nvPr/>
        </p:nvCxnSpPr>
        <p:spPr>
          <a:xfrm flipH="1">
            <a:off x="5433838" y="3233119"/>
            <a:ext cx="458964" cy="1465865"/>
          </a:xfrm>
          <a:prstGeom prst="line">
            <a:avLst/>
          </a:prstGeom>
          <a:ln w="47625">
            <a:headEnd type="oval"/>
            <a:tailEnd type="oval"/>
          </a:ln>
        </p:spPr>
        <p:style>
          <a:lnRef idx="1">
            <a:schemeClr val="accent1"/>
          </a:lnRef>
          <a:fillRef idx="0">
            <a:schemeClr val="accent1"/>
          </a:fillRef>
          <a:effectRef idx="0">
            <a:schemeClr val="accent1"/>
          </a:effectRef>
          <a:fontRef idx="minor">
            <a:schemeClr val="tx1"/>
          </a:fontRef>
        </p:style>
      </p:cxnSp>
      <p:cxnSp>
        <p:nvCxnSpPr>
          <p:cNvPr id="47" name="Conector reto 46">
            <a:extLst>
              <a:ext uri="{FF2B5EF4-FFF2-40B4-BE49-F238E27FC236}">
                <a16:creationId xmlns:a16="http://schemas.microsoft.com/office/drawing/2014/main" id="{81F01DB0-F803-441F-81F4-6F1BA7A71B57}"/>
              </a:ext>
            </a:extLst>
          </p:cNvPr>
          <p:cNvCxnSpPr>
            <a:cxnSpLocks/>
            <a:endCxn id="38" idx="0"/>
          </p:cNvCxnSpPr>
          <p:nvPr/>
        </p:nvCxnSpPr>
        <p:spPr>
          <a:xfrm>
            <a:off x="5016225" y="2744827"/>
            <a:ext cx="417613" cy="1954157"/>
          </a:xfrm>
          <a:prstGeom prst="line">
            <a:avLst/>
          </a:prstGeom>
          <a:ln w="47625">
            <a:headEnd type="ova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25587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Gráfico 27" descr="Banco de dados">
            <a:extLst>
              <a:ext uri="{FF2B5EF4-FFF2-40B4-BE49-F238E27FC236}">
                <a16:creationId xmlns:a16="http://schemas.microsoft.com/office/drawing/2014/main" id="{5FF56F5A-5C6B-4CAF-B56D-C3C5DEE012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74217" y="2715355"/>
            <a:ext cx="233799" cy="457838"/>
          </a:xfrm>
          <a:prstGeom prst="rect">
            <a:avLst/>
          </a:prstGeom>
        </p:spPr>
      </p:pic>
      <p:pic>
        <p:nvPicPr>
          <p:cNvPr id="29" name="Gráfico 28" descr="Banco de dados">
            <a:extLst>
              <a:ext uri="{FF2B5EF4-FFF2-40B4-BE49-F238E27FC236}">
                <a16:creationId xmlns:a16="http://schemas.microsoft.com/office/drawing/2014/main" id="{312A6648-1A3C-442A-9912-E6F2B29BA3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93126" y="2677355"/>
            <a:ext cx="233799" cy="457838"/>
          </a:xfrm>
          <a:prstGeom prst="rect">
            <a:avLst/>
          </a:prstGeom>
        </p:spPr>
      </p:pic>
      <p:sp>
        <p:nvSpPr>
          <p:cNvPr id="2" name="Título 1">
            <a:extLst>
              <a:ext uri="{FF2B5EF4-FFF2-40B4-BE49-F238E27FC236}">
                <a16:creationId xmlns:a16="http://schemas.microsoft.com/office/drawing/2014/main" id="{861F633B-472E-4D84-9A19-35102146309B}"/>
              </a:ext>
            </a:extLst>
          </p:cNvPr>
          <p:cNvSpPr>
            <a:spLocks noGrp="1"/>
          </p:cNvSpPr>
          <p:nvPr>
            <p:ph type="title"/>
          </p:nvPr>
        </p:nvSpPr>
        <p:spPr>
          <a:xfrm>
            <a:off x="111760" y="365125"/>
            <a:ext cx="11958320" cy="1325563"/>
          </a:xfrm>
        </p:spPr>
        <p:txBody>
          <a:bodyPr/>
          <a:lstStyle/>
          <a:p>
            <a:r>
              <a:rPr lang="pt-BR" dirty="0"/>
              <a:t>Express </a:t>
            </a:r>
            <a:r>
              <a:rPr lang="pt-BR" dirty="0" err="1"/>
              <a:t>Route</a:t>
            </a:r>
            <a:r>
              <a:rPr lang="pt-BR" dirty="0"/>
              <a:t> – Cloud </a:t>
            </a:r>
            <a:r>
              <a:rPr lang="pt-BR" dirty="0" err="1"/>
              <a:t>Exchenge</a:t>
            </a:r>
            <a:r>
              <a:rPr lang="pt-BR" dirty="0"/>
              <a:t> </a:t>
            </a:r>
            <a:r>
              <a:rPr lang="pt-BR" dirty="0" err="1"/>
              <a:t>Co-Location</a:t>
            </a:r>
            <a:r>
              <a:rPr lang="pt-BR" dirty="0"/>
              <a:t> </a:t>
            </a:r>
          </a:p>
        </p:txBody>
      </p:sp>
      <p:sp>
        <p:nvSpPr>
          <p:cNvPr id="4" name="Retângulo: Cantos Arredondados 3">
            <a:extLst>
              <a:ext uri="{FF2B5EF4-FFF2-40B4-BE49-F238E27FC236}">
                <a16:creationId xmlns:a16="http://schemas.microsoft.com/office/drawing/2014/main" id="{4A10F476-3F47-4183-8573-8D668915C3A3}"/>
              </a:ext>
            </a:extLst>
          </p:cNvPr>
          <p:cNvSpPr/>
          <p:nvPr/>
        </p:nvSpPr>
        <p:spPr>
          <a:xfrm>
            <a:off x="388176" y="1690688"/>
            <a:ext cx="2854960" cy="1656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dirty="0">
                <a:solidFill>
                  <a:schemeClr val="tx1"/>
                </a:solidFill>
              </a:rPr>
              <a:t>Data Center Físico</a:t>
            </a:r>
          </a:p>
          <a:p>
            <a:endParaRPr lang="pt-BR" dirty="0">
              <a:solidFill>
                <a:schemeClr val="tx1"/>
              </a:solidFill>
            </a:endParaRPr>
          </a:p>
        </p:txBody>
      </p:sp>
      <p:pic>
        <p:nvPicPr>
          <p:cNvPr id="10" name="Gráfico 9" descr="Nuvem">
            <a:extLst>
              <a:ext uri="{FF2B5EF4-FFF2-40B4-BE49-F238E27FC236}">
                <a16:creationId xmlns:a16="http://schemas.microsoft.com/office/drawing/2014/main" id="{F95F9837-8725-4A97-967E-5F9CE5809E7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39260" y="824072"/>
            <a:ext cx="5253771" cy="3389313"/>
          </a:xfrm>
          <a:prstGeom prst="rect">
            <a:avLst/>
          </a:prstGeom>
        </p:spPr>
      </p:pic>
      <p:cxnSp>
        <p:nvCxnSpPr>
          <p:cNvPr id="14" name="Conector de Seta Reta 13">
            <a:extLst>
              <a:ext uri="{FF2B5EF4-FFF2-40B4-BE49-F238E27FC236}">
                <a16:creationId xmlns:a16="http://schemas.microsoft.com/office/drawing/2014/main" id="{8206F718-84F6-4EB8-9344-7828378BDCAF}"/>
              </a:ext>
            </a:extLst>
          </p:cNvPr>
          <p:cNvCxnSpPr>
            <a:cxnSpLocks/>
            <a:stCxn id="28" idx="0"/>
            <a:endCxn id="29" idx="0"/>
          </p:cNvCxnSpPr>
          <p:nvPr/>
        </p:nvCxnSpPr>
        <p:spPr>
          <a:xfrm flipV="1">
            <a:off x="2891117" y="2677355"/>
            <a:ext cx="4318909" cy="38000"/>
          </a:xfrm>
          <a:prstGeom prst="straightConnector1">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7" name="Gráfico 6" descr="Engrenagens">
            <a:extLst>
              <a:ext uri="{FF2B5EF4-FFF2-40B4-BE49-F238E27FC236}">
                <a16:creationId xmlns:a16="http://schemas.microsoft.com/office/drawing/2014/main" id="{26150829-7C25-4A8B-BEB7-10D8EF18004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02228" y="1973316"/>
            <a:ext cx="1408078" cy="1408078"/>
          </a:xfrm>
          <a:prstGeom prst="rect">
            <a:avLst/>
          </a:prstGeom>
        </p:spPr>
      </p:pic>
      <p:pic>
        <p:nvPicPr>
          <p:cNvPr id="32" name="Gráfico 31" descr="Engrenagens">
            <a:extLst>
              <a:ext uri="{FF2B5EF4-FFF2-40B4-BE49-F238E27FC236}">
                <a16:creationId xmlns:a16="http://schemas.microsoft.com/office/drawing/2014/main" id="{19B3EA7F-F190-4E3F-BFC6-08E2FDA8F57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42808" y="1931000"/>
            <a:ext cx="1408078" cy="1408078"/>
          </a:xfrm>
          <a:prstGeom prst="rect">
            <a:avLst/>
          </a:prstGeom>
        </p:spPr>
      </p:pic>
      <p:cxnSp>
        <p:nvCxnSpPr>
          <p:cNvPr id="41" name="Conector reto 40">
            <a:extLst>
              <a:ext uri="{FF2B5EF4-FFF2-40B4-BE49-F238E27FC236}">
                <a16:creationId xmlns:a16="http://schemas.microsoft.com/office/drawing/2014/main" id="{C5487748-1594-4C37-9875-2A3C0D2578B5}"/>
              </a:ext>
            </a:extLst>
          </p:cNvPr>
          <p:cNvCxnSpPr>
            <a:cxnSpLocks/>
            <a:endCxn id="33" idx="0"/>
          </p:cNvCxnSpPr>
          <p:nvPr/>
        </p:nvCxnSpPr>
        <p:spPr>
          <a:xfrm>
            <a:off x="5528223" y="2767885"/>
            <a:ext cx="848169" cy="1650283"/>
          </a:xfrm>
          <a:prstGeom prst="line">
            <a:avLst/>
          </a:prstGeom>
          <a:ln w="47625">
            <a:headEnd type="oval"/>
            <a:tailEnd type="oval"/>
          </a:ln>
        </p:spPr>
        <p:style>
          <a:lnRef idx="1">
            <a:schemeClr val="accent1"/>
          </a:lnRef>
          <a:fillRef idx="0">
            <a:schemeClr val="accent1"/>
          </a:fillRef>
          <a:effectRef idx="0">
            <a:schemeClr val="accent1"/>
          </a:effectRef>
          <a:fontRef idx="minor">
            <a:schemeClr val="tx1"/>
          </a:fontRef>
        </p:style>
      </p:cxnSp>
      <p:cxnSp>
        <p:nvCxnSpPr>
          <p:cNvPr id="47" name="Conector reto 46">
            <a:extLst>
              <a:ext uri="{FF2B5EF4-FFF2-40B4-BE49-F238E27FC236}">
                <a16:creationId xmlns:a16="http://schemas.microsoft.com/office/drawing/2014/main" id="{81F01DB0-F803-441F-81F4-6F1BA7A71B57}"/>
              </a:ext>
            </a:extLst>
          </p:cNvPr>
          <p:cNvCxnSpPr>
            <a:cxnSpLocks/>
            <a:endCxn id="33" idx="1"/>
          </p:cNvCxnSpPr>
          <p:nvPr/>
        </p:nvCxnSpPr>
        <p:spPr>
          <a:xfrm>
            <a:off x="2774216" y="4213385"/>
            <a:ext cx="1416013" cy="666448"/>
          </a:xfrm>
          <a:prstGeom prst="line">
            <a:avLst/>
          </a:prstGeom>
          <a:ln w="47625">
            <a:headEnd type="oval"/>
            <a:tailEnd type="oval"/>
          </a:ln>
        </p:spPr>
        <p:style>
          <a:lnRef idx="1">
            <a:schemeClr val="accent1"/>
          </a:lnRef>
          <a:fillRef idx="0">
            <a:schemeClr val="accent1"/>
          </a:fillRef>
          <a:effectRef idx="0">
            <a:schemeClr val="accent1"/>
          </a:effectRef>
          <a:fontRef idx="minor">
            <a:schemeClr val="tx1"/>
          </a:fontRef>
        </p:style>
      </p:cxnSp>
      <p:pic>
        <p:nvPicPr>
          <p:cNvPr id="15" name="Gráfico 14" descr="Banco de dados">
            <a:extLst>
              <a:ext uri="{FF2B5EF4-FFF2-40B4-BE49-F238E27FC236}">
                <a16:creationId xmlns:a16="http://schemas.microsoft.com/office/drawing/2014/main" id="{F6D4906B-4006-4718-8F3A-C1AB6020359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57317" y="5270621"/>
            <a:ext cx="233799" cy="457838"/>
          </a:xfrm>
          <a:prstGeom prst="rect">
            <a:avLst/>
          </a:prstGeom>
        </p:spPr>
      </p:pic>
      <p:sp>
        <p:nvSpPr>
          <p:cNvPr id="16" name="Retângulo: Cantos Arredondados 15">
            <a:extLst>
              <a:ext uri="{FF2B5EF4-FFF2-40B4-BE49-F238E27FC236}">
                <a16:creationId xmlns:a16="http://schemas.microsoft.com/office/drawing/2014/main" id="{BD34C3C5-DEED-4CB5-BD0A-29173432DCBE}"/>
              </a:ext>
            </a:extLst>
          </p:cNvPr>
          <p:cNvSpPr/>
          <p:nvPr/>
        </p:nvSpPr>
        <p:spPr>
          <a:xfrm>
            <a:off x="456300" y="4887523"/>
            <a:ext cx="2854960" cy="165608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dirty="0">
                <a:solidFill>
                  <a:schemeClr val="tx1"/>
                </a:solidFill>
              </a:rPr>
              <a:t>Escritório Físico</a:t>
            </a:r>
          </a:p>
          <a:p>
            <a:endParaRPr lang="pt-BR" dirty="0">
              <a:solidFill>
                <a:schemeClr val="tx1"/>
              </a:solidFill>
            </a:endParaRPr>
          </a:p>
        </p:txBody>
      </p:sp>
      <p:pic>
        <p:nvPicPr>
          <p:cNvPr id="17" name="Gráfico 16" descr="Engrenagens">
            <a:extLst>
              <a:ext uri="{FF2B5EF4-FFF2-40B4-BE49-F238E27FC236}">
                <a16:creationId xmlns:a16="http://schemas.microsoft.com/office/drawing/2014/main" id="{FE0FA0AD-4E1C-4C16-91AD-A08EAE8525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3182" y="5167963"/>
            <a:ext cx="1408078" cy="1408078"/>
          </a:xfrm>
          <a:prstGeom prst="rect">
            <a:avLst/>
          </a:prstGeom>
        </p:spPr>
      </p:pic>
      <p:cxnSp>
        <p:nvCxnSpPr>
          <p:cNvPr id="30" name="Conector de Seta Reta 29">
            <a:extLst>
              <a:ext uri="{FF2B5EF4-FFF2-40B4-BE49-F238E27FC236}">
                <a16:creationId xmlns:a16="http://schemas.microsoft.com/office/drawing/2014/main" id="{E8BE8A4A-3254-4EA4-B908-F089E726DEBD}"/>
              </a:ext>
            </a:extLst>
          </p:cNvPr>
          <p:cNvCxnSpPr>
            <a:cxnSpLocks/>
            <a:stCxn id="28" idx="1"/>
            <a:endCxn id="15" idx="0"/>
          </p:cNvCxnSpPr>
          <p:nvPr/>
        </p:nvCxnSpPr>
        <p:spPr>
          <a:xfrm>
            <a:off x="2774217" y="2944274"/>
            <a:ext cx="0" cy="2326347"/>
          </a:xfrm>
          <a:prstGeom prst="straightConnector1">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CaixaDeTexto 32">
            <a:extLst>
              <a:ext uri="{FF2B5EF4-FFF2-40B4-BE49-F238E27FC236}">
                <a16:creationId xmlns:a16="http://schemas.microsoft.com/office/drawing/2014/main" id="{0440D496-4241-445D-B5C2-C82CC7128C35}"/>
              </a:ext>
            </a:extLst>
          </p:cNvPr>
          <p:cNvSpPr txBox="1"/>
          <p:nvPr/>
        </p:nvSpPr>
        <p:spPr>
          <a:xfrm>
            <a:off x="4190229" y="4418168"/>
            <a:ext cx="4372325" cy="923330"/>
          </a:xfrm>
          <a:prstGeom prst="rect">
            <a:avLst/>
          </a:prstGeom>
          <a:solidFill>
            <a:schemeClr val="accent2">
              <a:lumMod val="75000"/>
            </a:schemeClr>
          </a:solidFill>
          <a:ln w="57150">
            <a:solidFill>
              <a:schemeClr val="accent1"/>
            </a:solidFill>
          </a:ln>
        </p:spPr>
        <p:txBody>
          <a:bodyPr wrap="square" rtlCol="0">
            <a:spAutoFit/>
          </a:bodyPr>
          <a:lstStyle/>
          <a:p>
            <a:r>
              <a:rPr lang="pt-BR" dirty="0">
                <a:solidFill>
                  <a:schemeClr val="bg1"/>
                </a:solidFill>
              </a:rPr>
              <a:t>Link Dedicado </a:t>
            </a:r>
            <a:r>
              <a:rPr lang="pt-BR" dirty="0" err="1">
                <a:solidFill>
                  <a:schemeClr val="bg1"/>
                </a:solidFill>
              </a:rPr>
              <a:t>ExpressRoute</a:t>
            </a:r>
            <a:endParaRPr lang="pt-BR" dirty="0">
              <a:solidFill>
                <a:schemeClr val="bg1"/>
              </a:solidFill>
            </a:endParaRPr>
          </a:p>
          <a:p>
            <a:r>
              <a:rPr lang="pt-BR" dirty="0">
                <a:solidFill>
                  <a:schemeClr val="bg1"/>
                </a:solidFill>
              </a:rPr>
              <a:t>Redundância – Primário e Secundário </a:t>
            </a:r>
          </a:p>
          <a:p>
            <a:r>
              <a:rPr lang="pt-BR" dirty="0">
                <a:solidFill>
                  <a:schemeClr val="bg1"/>
                </a:solidFill>
              </a:rPr>
              <a:t>CIR - </a:t>
            </a:r>
            <a:r>
              <a:rPr lang="pt-BR" dirty="0" err="1">
                <a:solidFill>
                  <a:schemeClr val="bg1"/>
                </a:solidFill>
              </a:rPr>
              <a:t>Committed</a:t>
            </a:r>
            <a:r>
              <a:rPr lang="pt-BR" dirty="0">
                <a:solidFill>
                  <a:schemeClr val="bg1"/>
                </a:solidFill>
              </a:rPr>
              <a:t> </a:t>
            </a:r>
            <a:r>
              <a:rPr lang="pt-BR" dirty="0" err="1">
                <a:solidFill>
                  <a:schemeClr val="bg1"/>
                </a:solidFill>
              </a:rPr>
              <a:t>information</a:t>
            </a:r>
            <a:r>
              <a:rPr lang="pt-BR" dirty="0">
                <a:solidFill>
                  <a:schemeClr val="bg1"/>
                </a:solidFill>
              </a:rPr>
              <a:t> rate</a:t>
            </a:r>
          </a:p>
        </p:txBody>
      </p:sp>
    </p:spTree>
    <p:extLst>
      <p:ext uri="{BB962C8B-B14F-4D97-AF65-F5344CB8AC3E}">
        <p14:creationId xmlns:p14="http://schemas.microsoft.com/office/powerpoint/2010/main" val="154798178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lipse 4">
            <a:extLst>
              <a:ext uri="{FF2B5EF4-FFF2-40B4-BE49-F238E27FC236}">
                <a16:creationId xmlns:a16="http://schemas.microsoft.com/office/drawing/2014/main" id="{D1E3F1D1-F362-4ED1-81CA-B82DF8745D08}"/>
              </a:ext>
            </a:extLst>
          </p:cNvPr>
          <p:cNvSpPr/>
          <p:nvPr/>
        </p:nvSpPr>
        <p:spPr>
          <a:xfrm>
            <a:off x="1664719" y="1452875"/>
            <a:ext cx="5040000" cy="5040000"/>
          </a:xfrm>
          <a:prstGeom prst="ellipse">
            <a:avLst/>
          </a:prstGeom>
          <a:ln w="47625">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 name="Título 1">
            <a:extLst>
              <a:ext uri="{FF2B5EF4-FFF2-40B4-BE49-F238E27FC236}">
                <a16:creationId xmlns:a16="http://schemas.microsoft.com/office/drawing/2014/main" id="{861F633B-472E-4D84-9A19-35102146309B}"/>
              </a:ext>
            </a:extLst>
          </p:cNvPr>
          <p:cNvSpPr>
            <a:spLocks noGrp="1"/>
          </p:cNvSpPr>
          <p:nvPr>
            <p:ph type="title"/>
          </p:nvPr>
        </p:nvSpPr>
        <p:spPr>
          <a:xfrm>
            <a:off x="78465" y="90317"/>
            <a:ext cx="11958320" cy="1325563"/>
          </a:xfrm>
        </p:spPr>
        <p:txBody>
          <a:bodyPr/>
          <a:lstStyle/>
          <a:p>
            <a:r>
              <a:rPr lang="pt-BR" dirty="0"/>
              <a:t>Express </a:t>
            </a:r>
            <a:r>
              <a:rPr lang="pt-BR" dirty="0" err="1"/>
              <a:t>Route</a:t>
            </a:r>
            <a:r>
              <a:rPr lang="pt-BR" dirty="0"/>
              <a:t> – </a:t>
            </a:r>
            <a:r>
              <a:rPr lang="pt-BR" dirty="0" err="1"/>
              <a:t>Any</a:t>
            </a:r>
            <a:r>
              <a:rPr lang="pt-BR" dirty="0"/>
              <a:t> </a:t>
            </a:r>
            <a:r>
              <a:rPr lang="pt-BR" dirty="0" err="1"/>
              <a:t>to</a:t>
            </a:r>
            <a:r>
              <a:rPr lang="pt-BR" dirty="0"/>
              <a:t> </a:t>
            </a:r>
            <a:r>
              <a:rPr lang="pt-BR" dirty="0" err="1"/>
              <a:t>Any</a:t>
            </a:r>
            <a:r>
              <a:rPr lang="pt-BR" dirty="0"/>
              <a:t> Connection</a:t>
            </a:r>
          </a:p>
        </p:txBody>
      </p:sp>
      <p:pic>
        <p:nvPicPr>
          <p:cNvPr id="10" name="Gráfico 9" descr="Nuvem">
            <a:extLst>
              <a:ext uri="{FF2B5EF4-FFF2-40B4-BE49-F238E27FC236}">
                <a16:creationId xmlns:a16="http://schemas.microsoft.com/office/drawing/2014/main" id="{F95F9837-8725-4A97-967E-5F9CE5809E7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34553" y="2089457"/>
            <a:ext cx="4294732" cy="3389313"/>
          </a:xfrm>
          <a:prstGeom prst="rect">
            <a:avLst/>
          </a:prstGeom>
        </p:spPr>
      </p:pic>
      <p:pic>
        <p:nvPicPr>
          <p:cNvPr id="32" name="Gráfico 31" descr="Engrenagens">
            <a:extLst>
              <a:ext uri="{FF2B5EF4-FFF2-40B4-BE49-F238E27FC236}">
                <a16:creationId xmlns:a16="http://schemas.microsoft.com/office/drawing/2014/main" id="{19B3EA7F-F190-4E3F-BFC6-08E2FDA8F57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48789" y="3268836"/>
            <a:ext cx="1408078" cy="1408078"/>
          </a:xfrm>
          <a:prstGeom prst="rect">
            <a:avLst/>
          </a:prstGeom>
        </p:spPr>
      </p:pic>
      <p:cxnSp>
        <p:nvCxnSpPr>
          <p:cNvPr id="41" name="Conector reto 40">
            <a:extLst>
              <a:ext uri="{FF2B5EF4-FFF2-40B4-BE49-F238E27FC236}">
                <a16:creationId xmlns:a16="http://schemas.microsoft.com/office/drawing/2014/main" id="{C5487748-1594-4C37-9875-2A3C0D2578B5}"/>
              </a:ext>
            </a:extLst>
          </p:cNvPr>
          <p:cNvCxnSpPr>
            <a:cxnSpLocks/>
            <a:stCxn id="18" idx="1"/>
          </p:cNvCxnSpPr>
          <p:nvPr/>
        </p:nvCxnSpPr>
        <p:spPr>
          <a:xfrm flipH="1" flipV="1">
            <a:off x="7762660" y="3972875"/>
            <a:ext cx="403275" cy="1633833"/>
          </a:xfrm>
          <a:prstGeom prst="line">
            <a:avLst/>
          </a:prstGeom>
          <a:ln w="47625">
            <a:headEnd type="oval"/>
            <a:tailEnd type="oval"/>
          </a:ln>
        </p:spPr>
        <p:style>
          <a:lnRef idx="1">
            <a:schemeClr val="accent1"/>
          </a:lnRef>
          <a:fillRef idx="0">
            <a:schemeClr val="accent1"/>
          </a:fillRef>
          <a:effectRef idx="0">
            <a:schemeClr val="accent1"/>
          </a:effectRef>
          <a:fontRef idx="minor">
            <a:schemeClr val="tx1"/>
          </a:fontRef>
        </p:style>
      </p:cxnSp>
      <p:cxnSp>
        <p:nvCxnSpPr>
          <p:cNvPr id="47" name="Conector reto 46">
            <a:extLst>
              <a:ext uri="{FF2B5EF4-FFF2-40B4-BE49-F238E27FC236}">
                <a16:creationId xmlns:a16="http://schemas.microsoft.com/office/drawing/2014/main" id="{81F01DB0-F803-441F-81F4-6F1BA7A71B57}"/>
              </a:ext>
            </a:extLst>
          </p:cNvPr>
          <p:cNvCxnSpPr>
            <a:cxnSpLocks/>
            <a:stCxn id="5" idx="6"/>
            <a:endCxn id="32" idx="1"/>
          </p:cNvCxnSpPr>
          <p:nvPr/>
        </p:nvCxnSpPr>
        <p:spPr>
          <a:xfrm>
            <a:off x="6704719" y="3972875"/>
            <a:ext cx="1944070" cy="0"/>
          </a:xfrm>
          <a:prstGeom prst="line">
            <a:avLst/>
          </a:prstGeom>
          <a:ln w="47625">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CaixaDeTexto 17">
            <a:extLst>
              <a:ext uri="{FF2B5EF4-FFF2-40B4-BE49-F238E27FC236}">
                <a16:creationId xmlns:a16="http://schemas.microsoft.com/office/drawing/2014/main" id="{75983101-EEF6-4061-A744-B5FE18B2E38B}"/>
              </a:ext>
            </a:extLst>
          </p:cNvPr>
          <p:cNvSpPr txBox="1"/>
          <p:nvPr/>
        </p:nvSpPr>
        <p:spPr>
          <a:xfrm>
            <a:off x="8165935" y="5145043"/>
            <a:ext cx="3749414" cy="923330"/>
          </a:xfrm>
          <a:prstGeom prst="rect">
            <a:avLst/>
          </a:prstGeom>
          <a:solidFill>
            <a:schemeClr val="accent2">
              <a:lumMod val="75000"/>
            </a:schemeClr>
          </a:solidFill>
          <a:ln w="57150">
            <a:solidFill>
              <a:schemeClr val="accent1"/>
            </a:solidFill>
          </a:ln>
        </p:spPr>
        <p:txBody>
          <a:bodyPr wrap="square" rtlCol="0">
            <a:spAutoFit/>
          </a:bodyPr>
          <a:lstStyle/>
          <a:p>
            <a:r>
              <a:rPr lang="pt-BR" dirty="0">
                <a:solidFill>
                  <a:schemeClr val="bg1"/>
                </a:solidFill>
              </a:rPr>
              <a:t>Link Dedicado </a:t>
            </a:r>
            <a:r>
              <a:rPr lang="pt-BR" dirty="0" err="1">
                <a:solidFill>
                  <a:schemeClr val="bg1"/>
                </a:solidFill>
              </a:rPr>
              <a:t>ExpressRoute</a:t>
            </a:r>
            <a:endParaRPr lang="pt-BR" dirty="0">
              <a:solidFill>
                <a:schemeClr val="bg1"/>
              </a:solidFill>
            </a:endParaRPr>
          </a:p>
          <a:p>
            <a:r>
              <a:rPr lang="pt-BR" dirty="0">
                <a:solidFill>
                  <a:schemeClr val="bg1"/>
                </a:solidFill>
              </a:rPr>
              <a:t>Redundância – Primário e Secundário </a:t>
            </a:r>
          </a:p>
          <a:p>
            <a:r>
              <a:rPr lang="pt-BR" dirty="0">
                <a:solidFill>
                  <a:schemeClr val="bg1"/>
                </a:solidFill>
              </a:rPr>
              <a:t>CIR - </a:t>
            </a:r>
            <a:r>
              <a:rPr lang="pt-BR" dirty="0" err="1">
                <a:solidFill>
                  <a:schemeClr val="bg1"/>
                </a:solidFill>
              </a:rPr>
              <a:t>Committed</a:t>
            </a:r>
            <a:r>
              <a:rPr lang="pt-BR" dirty="0">
                <a:solidFill>
                  <a:schemeClr val="bg1"/>
                </a:solidFill>
              </a:rPr>
              <a:t> </a:t>
            </a:r>
            <a:r>
              <a:rPr lang="pt-BR" dirty="0" err="1">
                <a:solidFill>
                  <a:schemeClr val="bg1"/>
                </a:solidFill>
              </a:rPr>
              <a:t>information</a:t>
            </a:r>
            <a:r>
              <a:rPr lang="pt-BR" dirty="0">
                <a:solidFill>
                  <a:schemeClr val="bg1"/>
                </a:solidFill>
              </a:rPr>
              <a:t> rate</a:t>
            </a:r>
          </a:p>
        </p:txBody>
      </p:sp>
      <p:sp>
        <p:nvSpPr>
          <p:cNvPr id="20" name="Retângulo: Cantos Arredondados 19">
            <a:extLst>
              <a:ext uri="{FF2B5EF4-FFF2-40B4-BE49-F238E27FC236}">
                <a16:creationId xmlns:a16="http://schemas.microsoft.com/office/drawing/2014/main" id="{453FECDE-AEE1-4063-8414-78460F83BEAF}"/>
              </a:ext>
            </a:extLst>
          </p:cNvPr>
          <p:cNvSpPr/>
          <p:nvPr/>
        </p:nvSpPr>
        <p:spPr>
          <a:xfrm>
            <a:off x="203503" y="4926690"/>
            <a:ext cx="2395085" cy="148244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dirty="0">
                <a:solidFill>
                  <a:schemeClr val="tx1"/>
                </a:solidFill>
              </a:rPr>
              <a:t>Escritório Físico</a:t>
            </a:r>
          </a:p>
          <a:p>
            <a:endParaRPr lang="pt-BR" dirty="0">
              <a:solidFill>
                <a:schemeClr val="tx1"/>
              </a:solidFill>
            </a:endParaRPr>
          </a:p>
        </p:txBody>
      </p:sp>
      <p:sp>
        <p:nvSpPr>
          <p:cNvPr id="26" name="Retângulo: Cantos Arredondados 25">
            <a:extLst>
              <a:ext uri="{FF2B5EF4-FFF2-40B4-BE49-F238E27FC236}">
                <a16:creationId xmlns:a16="http://schemas.microsoft.com/office/drawing/2014/main" id="{4042EA75-5393-4B7B-95C4-87761550185F}"/>
              </a:ext>
            </a:extLst>
          </p:cNvPr>
          <p:cNvSpPr/>
          <p:nvPr/>
        </p:nvSpPr>
        <p:spPr>
          <a:xfrm>
            <a:off x="203503" y="1418379"/>
            <a:ext cx="2395085" cy="148244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dirty="0">
                <a:solidFill>
                  <a:schemeClr val="tx1"/>
                </a:solidFill>
              </a:rPr>
              <a:t>Escritório Físico</a:t>
            </a:r>
          </a:p>
          <a:p>
            <a:endParaRPr lang="pt-BR" dirty="0">
              <a:solidFill>
                <a:schemeClr val="tx1"/>
              </a:solidFill>
            </a:endParaRPr>
          </a:p>
        </p:txBody>
      </p:sp>
      <p:sp>
        <p:nvSpPr>
          <p:cNvPr id="27" name="Retângulo: Cantos Arredondados 26">
            <a:extLst>
              <a:ext uri="{FF2B5EF4-FFF2-40B4-BE49-F238E27FC236}">
                <a16:creationId xmlns:a16="http://schemas.microsoft.com/office/drawing/2014/main" id="{8B50DD42-D7F7-41D8-9349-686BA94FD8C9}"/>
              </a:ext>
            </a:extLst>
          </p:cNvPr>
          <p:cNvSpPr/>
          <p:nvPr/>
        </p:nvSpPr>
        <p:spPr>
          <a:xfrm>
            <a:off x="5248564" y="1452875"/>
            <a:ext cx="2395085" cy="148244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pt-BR" dirty="0">
                <a:solidFill>
                  <a:schemeClr val="tx1"/>
                </a:solidFill>
              </a:rPr>
              <a:t>Escritório Físico</a:t>
            </a:r>
          </a:p>
          <a:p>
            <a:pPr algn="r"/>
            <a:endParaRPr lang="pt-BR" dirty="0">
              <a:solidFill>
                <a:schemeClr val="tx1"/>
              </a:solidFill>
            </a:endParaRPr>
          </a:p>
        </p:txBody>
      </p:sp>
      <p:sp>
        <p:nvSpPr>
          <p:cNvPr id="31" name="Retângulo: Cantos Arredondados 30">
            <a:extLst>
              <a:ext uri="{FF2B5EF4-FFF2-40B4-BE49-F238E27FC236}">
                <a16:creationId xmlns:a16="http://schemas.microsoft.com/office/drawing/2014/main" id="{622A34EF-890D-4BFE-80F1-782F12A7F715}"/>
              </a:ext>
            </a:extLst>
          </p:cNvPr>
          <p:cNvSpPr/>
          <p:nvPr/>
        </p:nvSpPr>
        <p:spPr>
          <a:xfrm>
            <a:off x="5334303" y="4921528"/>
            <a:ext cx="2395085" cy="148244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pt-BR" dirty="0">
                <a:solidFill>
                  <a:schemeClr val="tx1"/>
                </a:solidFill>
              </a:rPr>
              <a:t>Escritório Físico</a:t>
            </a:r>
          </a:p>
          <a:p>
            <a:pPr algn="r"/>
            <a:endParaRPr lang="pt-BR" dirty="0">
              <a:solidFill>
                <a:schemeClr val="tx1"/>
              </a:solidFill>
            </a:endParaRPr>
          </a:p>
        </p:txBody>
      </p:sp>
      <p:pic>
        <p:nvPicPr>
          <p:cNvPr id="24" name="Gráfico 23" descr="Engrenagens">
            <a:extLst>
              <a:ext uri="{FF2B5EF4-FFF2-40B4-BE49-F238E27FC236}">
                <a16:creationId xmlns:a16="http://schemas.microsoft.com/office/drawing/2014/main" id="{95DA0D76-6665-45D7-A7FB-BCDB2F3E37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301031" y="4847882"/>
            <a:ext cx="1114485" cy="1114485"/>
          </a:xfrm>
          <a:prstGeom prst="rect">
            <a:avLst/>
          </a:prstGeom>
        </p:spPr>
      </p:pic>
      <p:pic>
        <p:nvPicPr>
          <p:cNvPr id="33" name="Gráfico 32" descr="Engrenagens">
            <a:extLst>
              <a:ext uri="{FF2B5EF4-FFF2-40B4-BE49-F238E27FC236}">
                <a16:creationId xmlns:a16="http://schemas.microsoft.com/office/drawing/2014/main" id="{84AC7445-5518-4A2D-B0CC-43DA93BBD2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0800000">
            <a:off x="1628704" y="4921528"/>
            <a:ext cx="1114485" cy="1114485"/>
          </a:xfrm>
          <a:prstGeom prst="rect">
            <a:avLst/>
          </a:prstGeom>
        </p:spPr>
      </p:pic>
      <p:pic>
        <p:nvPicPr>
          <p:cNvPr id="34" name="Gráfico 33" descr="Engrenagens">
            <a:extLst>
              <a:ext uri="{FF2B5EF4-FFF2-40B4-BE49-F238E27FC236}">
                <a16:creationId xmlns:a16="http://schemas.microsoft.com/office/drawing/2014/main" id="{EE32FB13-38B1-4145-B312-2A9AE76D5F0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1502847" y="1895647"/>
            <a:ext cx="1114485" cy="1114485"/>
          </a:xfrm>
          <a:prstGeom prst="rect">
            <a:avLst/>
          </a:prstGeom>
        </p:spPr>
      </p:pic>
      <p:pic>
        <p:nvPicPr>
          <p:cNvPr id="35" name="Gráfico 34" descr="Engrenagens">
            <a:extLst>
              <a:ext uri="{FF2B5EF4-FFF2-40B4-BE49-F238E27FC236}">
                <a16:creationId xmlns:a16="http://schemas.microsoft.com/office/drawing/2014/main" id="{CFB7B76A-9571-47FF-8BA5-745CD1C90CE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46712" y="1827315"/>
            <a:ext cx="1114485" cy="1114485"/>
          </a:xfrm>
          <a:prstGeom prst="rect">
            <a:avLst/>
          </a:prstGeom>
        </p:spPr>
      </p:pic>
      <p:sp>
        <p:nvSpPr>
          <p:cNvPr id="22" name="CaixaDeTexto 21">
            <a:extLst>
              <a:ext uri="{FF2B5EF4-FFF2-40B4-BE49-F238E27FC236}">
                <a16:creationId xmlns:a16="http://schemas.microsoft.com/office/drawing/2014/main" id="{606EB4D6-1EA7-437F-9E64-02E5193BF948}"/>
              </a:ext>
            </a:extLst>
          </p:cNvPr>
          <p:cNvSpPr txBox="1"/>
          <p:nvPr/>
        </p:nvSpPr>
        <p:spPr>
          <a:xfrm>
            <a:off x="2248964" y="3378094"/>
            <a:ext cx="3871509" cy="1200329"/>
          </a:xfrm>
          <a:prstGeom prst="rect">
            <a:avLst/>
          </a:prstGeom>
          <a:noFill/>
          <a:ln w="25400">
            <a:solidFill>
              <a:schemeClr val="accent1"/>
            </a:solidFill>
          </a:ln>
        </p:spPr>
        <p:txBody>
          <a:bodyPr wrap="none" rtlCol="0">
            <a:spAutoFit/>
          </a:bodyPr>
          <a:lstStyle/>
          <a:p>
            <a:pPr algn="ctr"/>
            <a:r>
              <a:rPr lang="pt-BR" sz="3600" b="1" dirty="0"/>
              <a:t>WAN</a:t>
            </a:r>
            <a:endParaRPr lang="pt-BR" sz="3600" dirty="0"/>
          </a:p>
          <a:p>
            <a:pPr algn="ctr"/>
            <a:r>
              <a:rPr lang="pt-BR" sz="3600" dirty="0" err="1"/>
              <a:t>Wide</a:t>
            </a:r>
            <a:r>
              <a:rPr lang="pt-BR" sz="3600" dirty="0"/>
              <a:t> </a:t>
            </a:r>
            <a:r>
              <a:rPr lang="pt-BR" sz="3600" dirty="0" err="1"/>
              <a:t>Area</a:t>
            </a:r>
            <a:r>
              <a:rPr lang="pt-BR" sz="3600" dirty="0"/>
              <a:t> Network</a:t>
            </a:r>
          </a:p>
        </p:txBody>
      </p:sp>
      <p:cxnSp>
        <p:nvCxnSpPr>
          <p:cNvPr id="39" name="Conector reto 38">
            <a:extLst>
              <a:ext uri="{FF2B5EF4-FFF2-40B4-BE49-F238E27FC236}">
                <a16:creationId xmlns:a16="http://schemas.microsoft.com/office/drawing/2014/main" id="{69DCD412-9A0E-419A-9B09-DD5ECAFADA45}"/>
              </a:ext>
            </a:extLst>
          </p:cNvPr>
          <p:cNvCxnSpPr>
            <a:cxnSpLocks/>
            <a:stCxn id="22" idx="1"/>
            <a:endCxn id="5" idx="2"/>
          </p:cNvCxnSpPr>
          <p:nvPr/>
        </p:nvCxnSpPr>
        <p:spPr>
          <a:xfrm flipH="1" flipV="1">
            <a:off x="1664719" y="3972875"/>
            <a:ext cx="584245" cy="5384"/>
          </a:xfrm>
          <a:prstGeom prst="line">
            <a:avLst/>
          </a:prstGeom>
          <a:ln w="47625">
            <a:headEnd type="oval"/>
            <a:tailEnd type="oval"/>
          </a:ln>
        </p:spPr>
        <p:style>
          <a:lnRef idx="1">
            <a:schemeClr val="accent1"/>
          </a:lnRef>
          <a:fillRef idx="0">
            <a:schemeClr val="accent1"/>
          </a:fillRef>
          <a:effectRef idx="0">
            <a:schemeClr val="accent1"/>
          </a:effectRef>
          <a:fontRef idx="minor">
            <a:schemeClr val="tx1"/>
          </a:fontRef>
        </p:style>
      </p:cxnSp>
      <p:cxnSp>
        <p:nvCxnSpPr>
          <p:cNvPr id="42" name="Conector reto 41">
            <a:extLst>
              <a:ext uri="{FF2B5EF4-FFF2-40B4-BE49-F238E27FC236}">
                <a16:creationId xmlns:a16="http://schemas.microsoft.com/office/drawing/2014/main" id="{AC3208FF-2597-4F44-8AF0-2BE9376522FC}"/>
              </a:ext>
            </a:extLst>
          </p:cNvPr>
          <p:cNvCxnSpPr>
            <a:cxnSpLocks/>
            <a:stCxn id="5" idx="6"/>
            <a:endCxn id="22" idx="3"/>
          </p:cNvCxnSpPr>
          <p:nvPr/>
        </p:nvCxnSpPr>
        <p:spPr>
          <a:xfrm flipH="1">
            <a:off x="6120473" y="3972875"/>
            <a:ext cx="584246" cy="5384"/>
          </a:xfrm>
          <a:prstGeom prst="line">
            <a:avLst/>
          </a:prstGeom>
          <a:ln w="47625">
            <a:headEnd type="oval"/>
            <a:tailEnd type="oval"/>
          </a:ln>
        </p:spPr>
        <p:style>
          <a:lnRef idx="1">
            <a:schemeClr val="accent1"/>
          </a:lnRef>
          <a:fillRef idx="0">
            <a:schemeClr val="accent1"/>
          </a:fillRef>
          <a:effectRef idx="0">
            <a:schemeClr val="accent1"/>
          </a:effectRef>
          <a:fontRef idx="minor">
            <a:schemeClr val="tx1"/>
          </a:fontRef>
        </p:style>
      </p:cxnSp>
      <p:cxnSp>
        <p:nvCxnSpPr>
          <p:cNvPr id="45" name="Conector reto 44">
            <a:extLst>
              <a:ext uri="{FF2B5EF4-FFF2-40B4-BE49-F238E27FC236}">
                <a16:creationId xmlns:a16="http://schemas.microsoft.com/office/drawing/2014/main" id="{0F055A42-F775-4D28-A988-E2CDDA9190A9}"/>
              </a:ext>
            </a:extLst>
          </p:cNvPr>
          <p:cNvCxnSpPr>
            <a:cxnSpLocks/>
            <a:stCxn id="22" idx="0"/>
            <a:endCxn id="5" idx="0"/>
          </p:cNvCxnSpPr>
          <p:nvPr/>
        </p:nvCxnSpPr>
        <p:spPr>
          <a:xfrm flipV="1">
            <a:off x="4184719" y="1452875"/>
            <a:ext cx="0" cy="1925219"/>
          </a:xfrm>
          <a:prstGeom prst="line">
            <a:avLst/>
          </a:prstGeom>
          <a:ln w="47625">
            <a:headEnd type="oval"/>
            <a:tailEnd type="oval"/>
          </a:ln>
        </p:spPr>
        <p:style>
          <a:lnRef idx="1">
            <a:schemeClr val="accent1"/>
          </a:lnRef>
          <a:fillRef idx="0">
            <a:schemeClr val="accent1"/>
          </a:fillRef>
          <a:effectRef idx="0">
            <a:schemeClr val="accent1"/>
          </a:effectRef>
          <a:fontRef idx="minor">
            <a:schemeClr val="tx1"/>
          </a:fontRef>
        </p:style>
      </p:cxnSp>
      <p:cxnSp>
        <p:nvCxnSpPr>
          <p:cNvPr id="48" name="Conector reto 47">
            <a:extLst>
              <a:ext uri="{FF2B5EF4-FFF2-40B4-BE49-F238E27FC236}">
                <a16:creationId xmlns:a16="http://schemas.microsoft.com/office/drawing/2014/main" id="{07EFF1D8-648B-4DDA-8CA7-1AD9AEB0CCB4}"/>
              </a:ext>
            </a:extLst>
          </p:cNvPr>
          <p:cNvCxnSpPr>
            <a:cxnSpLocks/>
            <a:stCxn id="5" idx="4"/>
            <a:endCxn id="22" idx="2"/>
          </p:cNvCxnSpPr>
          <p:nvPr/>
        </p:nvCxnSpPr>
        <p:spPr>
          <a:xfrm flipV="1">
            <a:off x="4184719" y="4578423"/>
            <a:ext cx="0" cy="1914452"/>
          </a:xfrm>
          <a:prstGeom prst="line">
            <a:avLst/>
          </a:prstGeom>
          <a:ln w="47625">
            <a:headEnd type="ova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770569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5574D7-4707-4BA8-B988-2690A1727671}"/>
              </a:ext>
            </a:extLst>
          </p:cNvPr>
          <p:cNvSpPr>
            <a:spLocks noGrp="1"/>
          </p:cNvSpPr>
          <p:nvPr>
            <p:ph type="title"/>
          </p:nvPr>
        </p:nvSpPr>
        <p:spPr/>
        <p:txBody>
          <a:bodyPr/>
          <a:lstStyle/>
          <a:p>
            <a:r>
              <a:rPr lang="pt-BR" dirty="0" err="1"/>
              <a:t>Load</a:t>
            </a:r>
            <a:r>
              <a:rPr lang="pt-BR" dirty="0"/>
              <a:t> </a:t>
            </a:r>
            <a:r>
              <a:rPr lang="pt-BR" dirty="0" err="1"/>
              <a:t>Balancer</a:t>
            </a:r>
            <a:endParaRPr lang="pt-BR" dirty="0"/>
          </a:p>
        </p:txBody>
      </p:sp>
      <p:sp>
        <p:nvSpPr>
          <p:cNvPr id="3" name="Espaço Reservado para Conteúdo 2">
            <a:extLst>
              <a:ext uri="{FF2B5EF4-FFF2-40B4-BE49-F238E27FC236}">
                <a16:creationId xmlns:a16="http://schemas.microsoft.com/office/drawing/2014/main" id="{7637892D-C0C3-44F9-B0C3-E089F4ACE191}"/>
              </a:ext>
            </a:extLst>
          </p:cNvPr>
          <p:cNvSpPr>
            <a:spLocks noGrp="1"/>
          </p:cNvSpPr>
          <p:nvPr>
            <p:ph idx="1"/>
          </p:nvPr>
        </p:nvSpPr>
        <p:spPr/>
        <p:txBody>
          <a:bodyPr/>
          <a:lstStyle/>
          <a:p>
            <a:r>
              <a:rPr lang="pt-BR" dirty="0"/>
              <a:t>compatível com cenários de entrada e saída, fornece baixa latência e alta taxa de produtividade e pode ser escalado verticalmente em milhões de fluxos para aplicativos TCP e UDP.</a:t>
            </a:r>
          </a:p>
          <a:p>
            <a:r>
              <a:rPr lang="pt-BR" dirty="0"/>
              <a:t>SKU </a:t>
            </a:r>
            <a:r>
              <a:rPr lang="pt-BR" dirty="0" err="1"/>
              <a:t>Load</a:t>
            </a:r>
            <a:r>
              <a:rPr lang="pt-BR" dirty="0"/>
              <a:t> </a:t>
            </a:r>
            <a:r>
              <a:rPr lang="pt-BR" dirty="0" err="1"/>
              <a:t>Balancer</a:t>
            </a:r>
            <a:endParaRPr lang="pt-BR" dirty="0"/>
          </a:p>
          <a:p>
            <a:pPr lvl="1"/>
            <a:r>
              <a:rPr lang="pt-BR" dirty="0"/>
              <a:t>Básico</a:t>
            </a:r>
          </a:p>
          <a:p>
            <a:pPr lvl="1"/>
            <a:r>
              <a:rPr lang="pt-BR" dirty="0"/>
              <a:t>Standard</a:t>
            </a:r>
          </a:p>
        </p:txBody>
      </p:sp>
    </p:spTree>
    <p:extLst>
      <p:ext uri="{BB962C8B-B14F-4D97-AF65-F5344CB8AC3E}">
        <p14:creationId xmlns:p14="http://schemas.microsoft.com/office/powerpoint/2010/main" val="60911063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5574D7-4707-4BA8-B988-2690A1727671}"/>
              </a:ext>
            </a:extLst>
          </p:cNvPr>
          <p:cNvSpPr>
            <a:spLocks noGrp="1"/>
          </p:cNvSpPr>
          <p:nvPr>
            <p:ph type="title"/>
          </p:nvPr>
        </p:nvSpPr>
        <p:spPr>
          <a:xfrm>
            <a:off x="42703" y="51653"/>
            <a:ext cx="3427721" cy="1325563"/>
          </a:xfrm>
        </p:spPr>
        <p:txBody>
          <a:bodyPr/>
          <a:lstStyle/>
          <a:p>
            <a:r>
              <a:rPr lang="pt-BR" dirty="0" err="1"/>
              <a:t>Load</a:t>
            </a:r>
            <a:r>
              <a:rPr lang="pt-BR" dirty="0"/>
              <a:t> </a:t>
            </a:r>
            <a:r>
              <a:rPr lang="pt-BR" dirty="0" err="1"/>
              <a:t>Balancer</a:t>
            </a:r>
            <a:endParaRPr lang="pt-BR" dirty="0"/>
          </a:p>
        </p:txBody>
      </p:sp>
      <p:pic>
        <p:nvPicPr>
          <p:cNvPr id="6" name="Gráfico 5" descr="Nuvem">
            <a:extLst>
              <a:ext uri="{FF2B5EF4-FFF2-40B4-BE49-F238E27FC236}">
                <a16:creationId xmlns:a16="http://schemas.microsoft.com/office/drawing/2014/main" id="{87C8DC02-B4B2-4767-AA5A-234DD610DC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29153" y="-255554"/>
            <a:ext cx="2889471" cy="1325563"/>
          </a:xfrm>
          <a:prstGeom prst="rect">
            <a:avLst/>
          </a:prstGeom>
        </p:spPr>
      </p:pic>
      <p:pic>
        <p:nvPicPr>
          <p:cNvPr id="8" name="Imagem 7">
            <a:extLst>
              <a:ext uri="{FF2B5EF4-FFF2-40B4-BE49-F238E27FC236}">
                <a16:creationId xmlns:a16="http://schemas.microsoft.com/office/drawing/2014/main" id="{C74CB8D5-6C59-4235-97FD-6397D1D1823C}"/>
              </a:ext>
            </a:extLst>
          </p:cNvPr>
          <p:cNvPicPr>
            <a:picLocks noChangeAspect="1"/>
          </p:cNvPicPr>
          <p:nvPr/>
        </p:nvPicPr>
        <p:blipFill>
          <a:blip r:embed="rId4"/>
          <a:stretch>
            <a:fillRect/>
          </a:stretch>
        </p:blipFill>
        <p:spPr>
          <a:xfrm>
            <a:off x="7379982" y="4492928"/>
            <a:ext cx="564323" cy="386583"/>
          </a:xfrm>
          <a:prstGeom prst="rect">
            <a:avLst/>
          </a:prstGeom>
        </p:spPr>
      </p:pic>
      <p:pic>
        <p:nvPicPr>
          <p:cNvPr id="11" name="Imagem 10">
            <a:extLst>
              <a:ext uri="{FF2B5EF4-FFF2-40B4-BE49-F238E27FC236}">
                <a16:creationId xmlns:a16="http://schemas.microsoft.com/office/drawing/2014/main" id="{150FADEF-DAAD-4411-91F6-AB6CF917ACB5}"/>
              </a:ext>
            </a:extLst>
          </p:cNvPr>
          <p:cNvPicPr>
            <a:picLocks noChangeAspect="1"/>
          </p:cNvPicPr>
          <p:nvPr/>
        </p:nvPicPr>
        <p:blipFill>
          <a:blip r:embed="rId5"/>
          <a:stretch>
            <a:fillRect/>
          </a:stretch>
        </p:blipFill>
        <p:spPr>
          <a:xfrm>
            <a:off x="8360128" y="3364305"/>
            <a:ext cx="555435" cy="453235"/>
          </a:xfrm>
          <a:prstGeom prst="rect">
            <a:avLst/>
          </a:prstGeom>
        </p:spPr>
      </p:pic>
      <p:pic>
        <p:nvPicPr>
          <p:cNvPr id="15" name="Imagem 14">
            <a:extLst>
              <a:ext uri="{FF2B5EF4-FFF2-40B4-BE49-F238E27FC236}">
                <a16:creationId xmlns:a16="http://schemas.microsoft.com/office/drawing/2014/main" id="{4EC0D9DD-8876-4816-8EF7-3AC3715C28FC}"/>
              </a:ext>
            </a:extLst>
          </p:cNvPr>
          <p:cNvPicPr>
            <a:picLocks noChangeAspect="1"/>
          </p:cNvPicPr>
          <p:nvPr/>
        </p:nvPicPr>
        <p:blipFill>
          <a:blip r:embed="rId5"/>
          <a:stretch>
            <a:fillRect/>
          </a:stretch>
        </p:blipFill>
        <p:spPr>
          <a:xfrm>
            <a:off x="7379982" y="3348784"/>
            <a:ext cx="555435" cy="453235"/>
          </a:xfrm>
          <a:prstGeom prst="rect">
            <a:avLst/>
          </a:prstGeom>
        </p:spPr>
      </p:pic>
      <p:pic>
        <p:nvPicPr>
          <p:cNvPr id="16" name="Imagem 15">
            <a:extLst>
              <a:ext uri="{FF2B5EF4-FFF2-40B4-BE49-F238E27FC236}">
                <a16:creationId xmlns:a16="http://schemas.microsoft.com/office/drawing/2014/main" id="{C18FF54C-46BA-46F5-BC0A-2E7AEE3D0A2E}"/>
              </a:ext>
            </a:extLst>
          </p:cNvPr>
          <p:cNvPicPr>
            <a:picLocks noChangeAspect="1"/>
          </p:cNvPicPr>
          <p:nvPr/>
        </p:nvPicPr>
        <p:blipFill>
          <a:blip r:embed="rId5"/>
          <a:stretch>
            <a:fillRect/>
          </a:stretch>
        </p:blipFill>
        <p:spPr>
          <a:xfrm>
            <a:off x="6429389" y="3364306"/>
            <a:ext cx="555435" cy="453235"/>
          </a:xfrm>
          <a:prstGeom prst="rect">
            <a:avLst/>
          </a:prstGeom>
          <a:ln>
            <a:noFill/>
          </a:ln>
        </p:spPr>
      </p:pic>
      <p:pic>
        <p:nvPicPr>
          <p:cNvPr id="17" name="Imagem 16">
            <a:extLst>
              <a:ext uri="{FF2B5EF4-FFF2-40B4-BE49-F238E27FC236}">
                <a16:creationId xmlns:a16="http://schemas.microsoft.com/office/drawing/2014/main" id="{AC992618-39E8-4B87-922E-FBC63185154C}"/>
              </a:ext>
            </a:extLst>
          </p:cNvPr>
          <p:cNvPicPr>
            <a:picLocks noChangeAspect="1"/>
          </p:cNvPicPr>
          <p:nvPr/>
        </p:nvPicPr>
        <p:blipFill>
          <a:blip r:embed="rId4"/>
          <a:stretch>
            <a:fillRect/>
          </a:stretch>
        </p:blipFill>
        <p:spPr>
          <a:xfrm>
            <a:off x="7394290" y="2077386"/>
            <a:ext cx="564323" cy="386583"/>
          </a:xfrm>
          <a:prstGeom prst="rect">
            <a:avLst/>
          </a:prstGeom>
        </p:spPr>
      </p:pic>
      <p:pic>
        <p:nvPicPr>
          <p:cNvPr id="18" name="Imagem 17">
            <a:extLst>
              <a:ext uri="{FF2B5EF4-FFF2-40B4-BE49-F238E27FC236}">
                <a16:creationId xmlns:a16="http://schemas.microsoft.com/office/drawing/2014/main" id="{CDBDB3DC-9CDD-42DA-A440-CE333C68C472}"/>
              </a:ext>
            </a:extLst>
          </p:cNvPr>
          <p:cNvPicPr>
            <a:picLocks noChangeAspect="1"/>
          </p:cNvPicPr>
          <p:nvPr/>
        </p:nvPicPr>
        <p:blipFill>
          <a:blip r:embed="rId6"/>
          <a:stretch>
            <a:fillRect/>
          </a:stretch>
        </p:blipFill>
        <p:spPr>
          <a:xfrm>
            <a:off x="7985752" y="5858207"/>
            <a:ext cx="404357" cy="533219"/>
          </a:xfrm>
          <a:prstGeom prst="rect">
            <a:avLst/>
          </a:prstGeom>
        </p:spPr>
      </p:pic>
      <p:pic>
        <p:nvPicPr>
          <p:cNvPr id="19" name="Imagem 18">
            <a:extLst>
              <a:ext uri="{FF2B5EF4-FFF2-40B4-BE49-F238E27FC236}">
                <a16:creationId xmlns:a16="http://schemas.microsoft.com/office/drawing/2014/main" id="{E7179ADF-0E2B-4991-8A75-53ABA20AF4FD}"/>
              </a:ext>
            </a:extLst>
          </p:cNvPr>
          <p:cNvPicPr>
            <a:picLocks noChangeAspect="1"/>
          </p:cNvPicPr>
          <p:nvPr/>
        </p:nvPicPr>
        <p:blipFill>
          <a:blip r:embed="rId6"/>
          <a:stretch>
            <a:fillRect/>
          </a:stretch>
        </p:blipFill>
        <p:spPr>
          <a:xfrm>
            <a:off x="6989933" y="5856543"/>
            <a:ext cx="404357" cy="533219"/>
          </a:xfrm>
          <a:prstGeom prst="rect">
            <a:avLst/>
          </a:prstGeom>
        </p:spPr>
      </p:pic>
      <p:cxnSp>
        <p:nvCxnSpPr>
          <p:cNvPr id="22" name="Conector de Seta Reta 21">
            <a:extLst>
              <a:ext uri="{FF2B5EF4-FFF2-40B4-BE49-F238E27FC236}">
                <a16:creationId xmlns:a16="http://schemas.microsoft.com/office/drawing/2014/main" id="{BFE69DE3-178D-436D-A299-0D4AC92A7A74}"/>
              </a:ext>
            </a:extLst>
          </p:cNvPr>
          <p:cNvCxnSpPr/>
          <p:nvPr/>
        </p:nvCxnSpPr>
        <p:spPr>
          <a:xfrm>
            <a:off x="7676452" y="887423"/>
            <a:ext cx="0" cy="1176168"/>
          </a:xfrm>
          <a:prstGeom prst="straightConnector1">
            <a:avLst/>
          </a:prstGeom>
          <a:ln w="104775">
            <a:tailEnd type="triangle"/>
          </a:ln>
        </p:spPr>
        <p:style>
          <a:lnRef idx="1">
            <a:schemeClr val="accent1"/>
          </a:lnRef>
          <a:fillRef idx="0">
            <a:schemeClr val="accent1"/>
          </a:fillRef>
          <a:effectRef idx="0">
            <a:schemeClr val="accent1"/>
          </a:effectRef>
          <a:fontRef idx="minor">
            <a:schemeClr val="tx1"/>
          </a:fontRef>
        </p:style>
      </p:cxnSp>
      <p:sp>
        <p:nvSpPr>
          <p:cNvPr id="25" name="CaixaDeTexto 24">
            <a:extLst>
              <a:ext uri="{FF2B5EF4-FFF2-40B4-BE49-F238E27FC236}">
                <a16:creationId xmlns:a16="http://schemas.microsoft.com/office/drawing/2014/main" id="{A2808AB1-6820-4EFF-9F17-9D44EE52059B}"/>
              </a:ext>
            </a:extLst>
          </p:cNvPr>
          <p:cNvSpPr txBox="1"/>
          <p:nvPr/>
        </p:nvSpPr>
        <p:spPr>
          <a:xfrm>
            <a:off x="6962795" y="1130657"/>
            <a:ext cx="1427314" cy="369332"/>
          </a:xfrm>
          <a:prstGeom prst="rect">
            <a:avLst/>
          </a:prstGeom>
          <a:solidFill>
            <a:schemeClr val="bg1"/>
          </a:solidFill>
        </p:spPr>
        <p:txBody>
          <a:bodyPr wrap="none" rtlCol="0">
            <a:spAutoFit/>
          </a:bodyPr>
          <a:lstStyle/>
          <a:p>
            <a:r>
              <a:rPr lang="pt-BR" dirty="0"/>
              <a:t>TCP PORT: 80</a:t>
            </a:r>
          </a:p>
        </p:txBody>
      </p:sp>
      <p:sp>
        <p:nvSpPr>
          <p:cNvPr id="27" name="Retângulo: Cantos Arredondados 26">
            <a:extLst>
              <a:ext uri="{FF2B5EF4-FFF2-40B4-BE49-F238E27FC236}">
                <a16:creationId xmlns:a16="http://schemas.microsoft.com/office/drawing/2014/main" id="{135D0F8E-C177-4B64-84DA-2FADBCA8B178}"/>
              </a:ext>
            </a:extLst>
          </p:cNvPr>
          <p:cNvSpPr/>
          <p:nvPr/>
        </p:nvSpPr>
        <p:spPr>
          <a:xfrm>
            <a:off x="5779270" y="1614912"/>
            <a:ext cx="3820751" cy="499988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r"/>
            <a:r>
              <a:rPr lang="pt-BR" sz="2800" dirty="0">
                <a:ln>
                  <a:solidFill>
                    <a:schemeClr val="accent1">
                      <a:shade val="50000"/>
                    </a:schemeClr>
                  </a:solidFill>
                </a:ln>
                <a:solidFill>
                  <a:schemeClr val="tx1"/>
                </a:solidFill>
              </a:rPr>
              <a:t>VNET</a:t>
            </a:r>
          </a:p>
          <a:p>
            <a:pPr algn="r"/>
            <a:endParaRPr lang="pt-BR" dirty="0">
              <a:solidFill>
                <a:schemeClr val="tx1"/>
              </a:solidFill>
            </a:endParaRPr>
          </a:p>
        </p:txBody>
      </p:sp>
      <p:cxnSp>
        <p:nvCxnSpPr>
          <p:cNvPr id="28" name="Conector de Seta Reta 27">
            <a:extLst>
              <a:ext uri="{FF2B5EF4-FFF2-40B4-BE49-F238E27FC236}">
                <a16:creationId xmlns:a16="http://schemas.microsoft.com/office/drawing/2014/main" id="{CFA4ABD5-FFE2-47E1-8C6A-8CA8789167F2}"/>
              </a:ext>
            </a:extLst>
          </p:cNvPr>
          <p:cNvCxnSpPr>
            <a:cxnSpLocks/>
            <a:stCxn id="17" idx="2"/>
            <a:endCxn id="16" idx="0"/>
          </p:cNvCxnSpPr>
          <p:nvPr/>
        </p:nvCxnSpPr>
        <p:spPr>
          <a:xfrm flipH="1">
            <a:off x="6707107" y="2463969"/>
            <a:ext cx="969345" cy="900337"/>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31">
            <a:extLst>
              <a:ext uri="{FF2B5EF4-FFF2-40B4-BE49-F238E27FC236}">
                <a16:creationId xmlns:a16="http://schemas.microsoft.com/office/drawing/2014/main" id="{15014137-0C80-4A0D-BF61-B459675ABE04}"/>
              </a:ext>
            </a:extLst>
          </p:cNvPr>
          <p:cNvCxnSpPr>
            <a:cxnSpLocks/>
            <a:stCxn id="17" idx="2"/>
            <a:endCxn id="15" idx="0"/>
          </p:cNvCxnSpPr>
          <p:nvPr/>
        </p:nvCxnSpPr>
        <p:spPr>
          <a:xfrm flipH="1">
            <a:off x="7657700" y="2463969"/>
            <a:ext cx="18752" cy="884815"/>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35" name="Conector de Seta Reta 34">
            <a:extLst>
              <a:ext uri="{FF2B5EF4-FFF2-40B4-BE49-F238E27FC236}">
                <a16:creationId xmlns:a16="http://schemas.microsoft.com/office/drawing/2014/main" id="{8B276A30-EBFE-4A57-B2A8-AB65D3788FA8}"/>
              </a:ext>
            </a:extLst>
          </p:cNvPr>
          <p:cNvCxnSpPr>
            <a:cxnSpLocks/>
            <a:stCxn id="17" idx="2"/>
            <a:endCxn id="11" idx="0"/>
          </p:cNvCxnSpPr>
          <p:nvPr/>
        </p:nvCxnSpPr>
        <p:spPr>
          <a:xfrm>
            <a:off x="7676452" y="2463969"/>
            <a:ext cx="961394" cy="900336"/>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38" name="CaixaDeTexto 37">
            <a:extLst>
              <a:ext uri="{FF2B5EF4-FFF2-40B4-BE49-F238E27FC236}">
                <a16:creationId xmlns:a16="http://schemas.microsoft.com/office/drawing/2014/main" id="{0A685F33-EA45-40DC-B868-139FBF9E9068}"/>
              </a:ext>
            </a:extLst>
          </p:cNvPr>
          <p:cNvSpPr txBox="1"/>
          <p:nvPr/>
        </p:nvSpPr>
        <p:spPr>
          <a:xfrm>
            <a:off x="7005339" y="2635600"/>
            <a:ext cx="1153393" cy="307777"/>
          </a:xfrm>
          <a:prstGeom prst="rect">
            <a:avLst/>
          </a:prstGeom>
          <a:solidFill>
            <a:schemeClr val="bg1"/>
          </a:solidFill>
        </p:spPr>
        <p:txBody>
          <a:bodyPr wrap="none" rtlCol="0">
            <a:spAutoFit/>
          </a:bodyPr>
          <a:lstStyle/>
          <a:p>
            <a:r>
              <a:rPr lang="pt-BR" sz="1400" dirty="0"/>
              <a:t>TCP PORT: 80</a:t>
            </a:r>
          </a:p>
        </p:txBody>
      </p:sp>
      <p:cxnSp>
        <p:nvCxnSpPr>
          <p:cNvPr id="40" name="Conector de Seta Reta 39">
            <a:extLst>
              <a:ext uri="{FF2B5EF4-FFF2-40B4-BE49-F238E27FC236}">
                <a16:creationId xmlns:a16="http://schemas.microsoft.com/office/drawing/2014/main" id="{AEE30E7E-E061-445D-9699-49E31A759590}"/>
              </a:ext>
            </a:extLst>
          </p:cNvPr>
          <p:cNvCxnSpPr>
            <a:cxnSpLocks/>
            <a:stCxn id="15" idx="2"/>
            <a:endCxn id="8" idx="0"/>
          </p:cNvCxnSpPr>
          <p:nvPr/>
        </p:nvCxnSpPr>
        <p:spPr>
          <a:xfrm>
            <a:off x="7657700" y="3802019"/>
            <a:ext cx="4444" cy="690909"/>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44" name="Conector de Seta Reta 43">
            <a:extLst>
              <a:ext uri="{FF2B5EF4-FFF2-40B4-BE49-F238E27FC236}">
                <a16:creationId xmlns:a16="http://schemas.microsoft.com/office/drawing/2014/main" id="{FA37F7DE-E195-4057-9BC0-C01B70B65CA9}"/>
              </a:ext>
            </a:extLst>
          </p:cNvPr>
          <p:cNvCxnSpPr>
            <a:cxnSpLocks/>
            <a:stCxn id="11" idx="2"/>
            <a:endCxn id="8" idx="0"/>
          </p:cNvCxnSpPr>
          <p:nvPr/>
        </p:nvCxnSpPr>
        <p:spPr>
          <a:xfrm flipH="1">
            <a:off x="7662144" y="3817540"/>
            <a:ext cx="975702" cy="675388"/>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47" name="Conector de Seta Reta 46">
            <a:extLst>
              <a:ext uri="{FF2B5EF4-FFF2-40B4-BE49-F238E27FC236}">
                <a16:creationId xmlns:a16="http://schemas.microsoft.com/office/drawing/2014/main" id="{EF3261DD-83C4-4101-93FB-D4718C087A06}"/>
              </a:ext>
            </a:extLst>
          </p:cNvPr>
          <p:cNvCxnSpPr>
            <a:cxnSpLocks/>
            <a:stCxn id="16" idx="2"/>
            <a:endCxn id="8" idx="0"/>
          </p:cNvCxnSpPr>
          <p:nvPr/>
        </p:nvCxnSpPr>
        <p:spPr>
          <a:xfrm>
            <a:off x="6707107" y="3817541"/>
            <a:ext cx="955037" cy="675387"/>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50" name="Conector de Seta Reta 49">
            <a:extLst>
              <a:ext uri="{FF2B5EF4-FFF2-40B4-BE49-F238E27FC236}">
                <a16:creationId xmlns:a16="http://schemas.microsoft.com/office/drawing/2014/main" id="{BA62DC1F-BA0F-4175-874D-E020226B8952}"/>
              </a:ext>
            </a:extLst>
          </p:cNvPr>
          <p:cNvCxnSpPr>
            <a:cxnSpLocks/>
            <a:stCxn id="8" idx="2"/>
            <a:endCxn id="18" idx="0"/>
          </p:cNvCxnSpPr>
          <p:nvPr/>
        </p:nvCxnSpPr>
        <p:spPr>
          <a:xfrm>
            <a:off x="7662144" y="4879511"/>
            <a:ext cx="525787" cy="978696"/>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54" name="Conector de Seta Reta 53">
            <a:extLst>
              <a:ext uri="{FF2B5EF4-FFF2-40B4-BE49-F238E27FC236}">
                <a16:creationId xmlns:a16="http://schemas.microsoft.com/office/drawing/2014/main" id="{E4F5695E-B824-49F1-9A18-3B515543AB60}"/>
              </a:ext>
            </a:extLst>
          </p:cNvPr>
          <p:cNvCxnSpPr>
            <a:cxnSpLocks/>
            <a:stCxn id="8" idx="2"/>
            <a:endCxn id="19" idx="0"/>
          </p:cNvCxnSpPr>
          <p:nvPr/>
        </p:nvCxnSpPr>
        <p:spPr>
          <a:xfrm flipH="1">
            <a:off x="7192112" y="4879511"/>
            <a:ext cx="470032" cy="977032"/>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39" name="CaixaDeTexto 38">
            <a:extLst>
              <a:ext uri="{FF2B5EF4-FFF2-40B4-BE49-F238E27FC236}">
                <a16:creationId xmlns:a16="http://schemas.microsoft.com/office/drawing/2014/main" id="{5527EF6A-DDA4-4C2C-B06E-6FAEC0FA7500}"/>
              </a:ext>
            </a:extLst>
          </p:cNvPr>
          <p:cNvSpPr txBox="1"/>
          <p:nvPr/>
        </p:nvSpPr>
        <p:spPr>
          <a:xfrm>
            <a:off x="7112113" y="5214138"/>
            <a:ext cx="1022396" cy="307777"/>
          </a:xfrm>
          <a:prstGeom prst="rect">
            <a:avLst/>
          </a:prstGeom>
          <a:solidFill>
            <a:schemeClr val="bg1"/>
          </a:solidFill>
        </p:spPr>
        <p:txBody>
          <a:bodyPr wrap="none" rtlCol="0">
            <a:spAutoFit/>
          </a:bodyPr>
          <a:lstStyle/>
          <a:p>
            <a:r>
              <a:rPr lang="pt-BR" sz="1400" dirty="0"/>
              <a:t>PORT: 1433</a:t>
            </a:r>
          </a:p>
        </p:txBody>
      </p:sp>
      <p:sp>
        <p:nvSpPr>
          <p:cNvPr id="62" name="Retângulo: Cantos Arredondados 61">
            <a:extLst>
              <a:ext uri="{FF2B5EF4-FFF2-40B4-BE49-F238E27FC236}">
                <a16:creationId xmlns:a16="http://schemas.microsoft.com/office/drawing/2014/main" id="{33915318-F2E1-45C8-86EA-879752BD92C8}"/>
              </a:ext>
            </a:extLst>
          </p:cNvPr>
          <p:cNvSpPr/>
          <p:nvPr/>
        </p:nvSpPr>
        <p:spPr>
          <a:xfrm>
            <a:off x="6096001" y="5600721"/>
            <a:ext cx="3241039" cy="83476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pt-BR" sz="1400" dirty="0">
                <a:ln>
                  <a:solidFill>
                    <a:schemeClr val="accent1">
                      <a:shade val="50000"/>
                    </a:schemeClr>
                  </a:solidFill>
                </a:ln>
                <a:solidFill>
                  <a:schemeClr val="tx1"/>
                </a:solidFill>
              </a:rPr>
              <a:t>DATABASE</a:t>
            </a:r>
          </a:p>
          <a:p>
            <a:pPr algn="r"/>
            <a:r>
              <a:rPr lang="pt-BR" sz="1400" dirty="0">
                <a:ln>
                  <a:solidFill>
                    <a:schemeClr val="accent1">
                      <a:shade val="50000"/>
                    </a:schemeClr>
                  </a:solidFill>
                </a:ln>
                <a:solidFill>
                  <a:schemeClr val="tx1"/>
                </a:solidFill>
              </a:rPr>
              <a:t>TIER</a:t>
            </a:r>
          </a:p>
        </p:txBody>
      </p:sp>
      <p:sp>
        <p:nvSpPr>
          <p:cNvPr id="63" name="Retângulo: Cantos Arredondados 62">
            <a:extLst>
              <a:ext uri="{FF2B5EF4-FFF2-40B4-BE49-F238E27FC236}">
                <a16:creationId xmlns:a16="http://schemas.microsoft.com/office/drawing/2014/main" id="{A843E315-51EB-4621-AF71-2C9EE5A34CBB}"/>
              </a:ext>
            </a:extLst>
          </p:cNvPr>
          <p:cNvSpPr/>
          <p:nvPr/>
        </p:nvSpPr>
        <p:spPr>
          <a:xfrm>
            <a:off x="6096000" y="3059288"/>
            <a:ext cx="3339451" cy="92388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a:r>
              <a:rPr lang="pt-BR" sz="1400" dirty="0">
                <a:ln>
                  <a:solidFill>
                    <a:schemeClr val="accent1">
                      <a:shade val="50000"/>
                    </a:schemeClr>
                  </a:solidFill>
                </a:ln>
                <a:solidFill>
                  <a:schemeClr val="tx1"/>
                </a:solidFill>
              </a:rPr>
              <a:t>WEB </a:t>
            </a:r>
          </a:p>
          <a:p>
            <a:pPr algn="r"/>
            <a:r>
              <a:rPr lang="pt-BR" sz="1400" dirty="0">
                <a:ln>
                  <a:solidFill>
                    <a:schemeClr val="accent1">
                      <a:shade val="50000"/>
                    </a:schemeClr>
                  </a:solidFill>
                </a:ln>
                <a:solidFill>
                  <a:schemeClr val="tx1"/>
                </a:solidFill>
              </a:rPr>
              <a:t>TIER</a:t>
            </a:r>
          </a:p>
        </p:txBody>
      </p:sp>
      <p:sp>
        <p:nvSpPr>
          <p:cNvPr id="64" name="CaixaDeTexto 63">
            <a:extLst>
              <a:ext uri="{FF2B5EF4-FFF2-40B4-BE49-F238E27FC236}">
                <a16:creationId xmlns:a16="http://schemas.microsoft.com/office/drawing/2014/main" id="{8D2AE5FD-602A-42F8-8BF9-B643DC528BCA}"/>
              </a:ext>
            </a:extLst>
          </p:cNvPr>
          <p:cNvSpPr txBox="1"/>
          <p:nvPr/>
        </p:nvSpPr>
        <p:spPr>
          <a:xfrm>
            <a:off x="2680645" y="4501026"/>
            <a:ext cx="2289601" cy="369332"/>
          </a:xfrm>
          <a:prstGeom prst="rect">
            <a:avLst/>
          </a:prstGeom>
          <a:noFill/>
          <a:ln w="50800">
            <a:solidFill>
              <a:srgbClr val="FF0000"/>
            </a:solidFill>
          </a:ln>
        </p:spPr>
        <p:txBody>
          <a:bodyPr wrap="none" rtlCol="0">
            <a:spAutoFit/>
          </a:bodyPr>
          <a:lstStyle/>
          <a:p>
            <a:r>
              <a:rPr lang="pt-BR" dirty="0" err="1"/>
              <a:t>Internal</a:t>
            </a:r>
            <a:r>
              <a:rPr lang="pt-BR" dirty="0"/>
              <a:t> </a:t>
            </a:r>
            <a:r>
              <a:rPr lang="pt-BR" dirty="0" err="1"/>
              <a:t>Load</a:t>
            </a:r>
            <a:r>
              <a:rPr lang="pt-BR" dirty="0"/>
              <a:t> </a:t>
            </a:r>
            <a:r>
              <a:rPr lang="pt-BR" dirty="0" err="1"/>
              <a:t>Balancer</a:t>
            </a:r>
            <a:endParaRPr lang="pt-BR" dirty="0"/>
          </a:p>
        </p:txBody>
      </p:sp>
      <p:cxnSp>
        <p:nvCxnSpPr>
          <p:cNvPr id="65" name="Conector de Seta Reta 64">
            <a:extLst>
              <a:ext uri="{FF2B5EF4-FFF2-40B4-BE49-F238E27FC236}">
                <a16:creationId xmlns:a16="http://schemas.microsoft.com/office/drawing/2014/main" id="{446A442B-E052-43FD-AA89-83BEA4F8B9FC}"/>
              </a:ext>
            </a:extLst>
          </p:cNvPr>
          <p:cNvCxnSpPr>
            <a:cxnSpLocks/>
            <a:stCxn id="64" idx="3"/>
            <a:endCxn id="8" idx="1"/>
          </p:cNvCxnSpPr>
          <p:nvPr/>
        </p:nvCxnSpPr>
        <p:spPr>
          <a:xfrm>
            <a:off x="4970246" y="4685692"/>
            <a:ext cx="2409736" cy="52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CaixaDeTexto 69">
            <a:extLst>
              <a:ext uri="{FF2B5EF4-FFF2-40B4-BE49-F238E27FC236}">
                <a16:creationId xmlns:a16="http://schemas.microsoft.com/office/drawing/2014/main" id="{3AD47D6D-5839-46BC-AEF9-770429F1DF41}"/>
              </a:ext>
            </a:extLst>
          </p:cNvPr>
          <p:cNvSpPr txBox="1"/>
          <p:nvPr/>
        </p:nvSpPr>
        <p:spPr>
          <a:xfrm>
            <a:off x="9763821" y="4392567"/>
            <a:ext cx="2289601" cy="369332"/>
          </a:xfrm>
          <a:prstGeom prst="rect">
            <a:avLst/>
          </a:prstGeom>
          <a:noFill/>
          <a:ln w="50800">
            <a:solidFill>
              <a:srgbClr val="FF0000"/>
            </a:solidFill>
          </a:ln>
        </p:spPr>
        <p:txBody>
          <a:bodyPr wrap="square" rtlCol="0">
            <a:spAutoFit/>
          </a:bodyPr>
          <a:lstStyle/>
          <a:p>
            <a:r>
              <a:rPr lang="pt-BR" dirty="0" err="1"/>
              <a:t>Auto-Reconfiguration</a:t>
            </a:r>
            <a:endParaRPr lang="pt-BR" dirty="0"/>
          </a:p>
        </p:txBody>
      </p:sp>
      <p:cxnSp>
        <p:nvCxnSpPr>
          <p:cNvPr id="71" name="Conector de Seta Reta 70">
            <a:extLst>
              <a:ext uri="{FF2B5EF4-FFF2-40B4-BE49-F238E27FC236}">
                <a16:creationId xmlns:a16="http://schemas.microsoft.com/office/drawing/2014/main" id="{D963A9AC-2FA5-40F6-9F0B-4506268CA41C}"/>
              </a:ext>
            </a:extLst>
          </p:cNvPr>
          <p:cNvCxnSpPr>
            <a:cxnSpLocks/>
            <a:stCxn id="70" idx="1"/>
            <a:endCxn id="63" idx="3"/>
          </p:cNvCxnSpPr>
          <p:nvPr/>
        </p:nvCxnSpPr>
        <p:spPr>
          <a:xfrm flipH="1" flipV="1">
            <a:off x="9435451" y="3521233"/>
            <a:ext cx="328370" cy="1056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3" name="CaixaDeTexto 72">
            <a:extLst>
              <a:ext uri="{FF2B5EF4-FFF2-40B4-BE49-F238E27FC236}">
                <a16:creationId xmlns:a16="http://schemas.microsoft.com/office/drawing/2014/main" id="{4F2D5CE5-DE2D-48E2-ADE7-F56E982593F8}"/>
              </a:ext>
            </a:extLst>
          </p:cNvPr>
          <p:cNvSpPr txBox="1"/>
          <p:nvPr/>
        </p:nvSpPr>
        <p:spPr>
          <a:xfrm>
            <a:off x="9763821" y="2401173"/>
            <a:ext cx="1709836" cy="1754326"/>
          </a:xfrm>
          <a:prstGeom prst="rect">
            <a:avLst/>
          </a:prstGeom>
          <a:noFill/>
          <a:ln w="50800">
            <a:solidFill>
              <a:srgbClr val="FF0000"/>
            </a:solidFill>
          </a:ln>
        </p:spPr>
        <p:txBody>
          <a:bodyPr wrap="square" rtlCol="0">
            <a:spAutoFit/>
          </a:bodyPr>
          <a:lstStyle/>
          <a:p>
            <a:r>
              <a:rPr lang="pt-BR" dirty="0"/>
              <a:t>5-Tuple HASH</a:t>
            </a:r>
          </a:p>
          <a:p>
            <a:r>
              <a:rPr lang="pt-BR" dirty="0" err="1"/>
              <a:t>Source</a:t>
            </a:r>
            <a:r>
              <a:rPr lang="pt-BR" dirty="0"/>
              <a:t> IP</a:t>
            </a:r>
          </a:p>
          <a:p>
            <a:r>
              <a:rPr lang="pt-BR" dirty="0" err="1"/>
              <a:t>Source</a:t>
            </a:r>
            <a:r>
              <a:rPr lang="pt-BR" dirty="0"/>
              <a:t> </a:t>
            </a:r>
            <a:r>
              <a:rPr lang="pt-BR" dirty="0" err="1"/>
              <a:t>Port</a:t>
            </a:r>
            <a:endParaRPr lang="pt-BR" dirty="0"/>
          </a:p>
          <a:p>
            <a:r>
              <a:rPr lang="pt-BR" dirty="0" err="1"/>
              <a:t>Destination</a:t>
            </a:r>
            <a:r>
              <a:rPr lang="pt-BR" dirty="0"/>
              <a:t> IP</a:t>
            </a:r>
          </a:p>
          <a:p>
            <a:r>
              <a:rPr lang="pt-BR" dirty="0" err="1"/>
              <a:t>Destination</a:t>
            </a:r>
            <a:r>
              <a:rPr lang="pt-BR" dirty="0"/>
              <a:t> </a:t>
            </a:r>
            <a:r>
              <a:rPr lang="pt-BR" dirty="0" err="1"/>
              <a:t>Port</a:t>
            </a:r>
            <a:endParaRPr lang="pt-BR" dirty="0"/>
          </a:p>
          <a:p>
            <a:r>
              <a:rPr lang="pt-BR" dirty="0" err="1"/>
              <a:t>Protocol</a:t>
            </a:r>
            <a:endParaRPr lang="pt-BR" dirty="0"/>
          </a:p>
        </p:txBody>
      </p:sp>
      <p:cxnSp>
        <p:nvCxnSpPr>
          <p:cNvPr id="74" name="Conector de Seta Reta 73">
            <a:extLst>
              <a:ext uri="{FF2B5EF4-FFF2-40B4-BE49-F238E27FC236}">
                <a16:creationId xmlns:a16="http://schemas.microsoft.com/office/drawing/2014/main" id="{68001130-4148-45C0-8713-41B04FFBE143}"/>
              </a:ext>
            </a:extLst>
          </p:cNvPr>
          <p:cNvCxnSpPr>
            <a:cxnSpLocks/>
            <a:stCxn id="73" idx="1"/>
            <a:endCxn id="17" idx="3"/>
          </p:cNvCxnSpPr>
          <p:nvPr/>
        </p:nvCxnSpPr>
        <p:spPr>
          <a:xfrm flipH="1" flipV="1">
            <a:off x="7958613" y="2270678"/>
            <a:ext cx="1805208" cy="10076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7" name="CaixaDeTexto 76">
            <a:extLst>
              <a:ext uri="{FF2B5EF4-FFF2-40B4-BE49-F238E27FC236}">
                <a16:creationId xmlns:a16="http://schemas.microsoft.com/office/drawing/2014/main" id="{10043098-2F77-4783-A8D7-A1D6B68C310B}"/>
              </a:ext>
            </a:extLst>
          </p:cNvPr>
          <p:cNvSpPr txBox="1"/>
          <p:nvPr/>
        </p:nvSpPr>
        <p:spPr>
          <a:xfrm>
            <a:off x="9655733" y="438160"/>
            <a:ext cx="1709836" cy="1754326"/>
          </a:xfrm>
          <a:prstGeom prst="rect">
            <a:avLst/>
          </a:prstGeom>
          <a:noFill/>
          <a:ln w="50800">
            <a:solidFill>
              <a:srgbClr val="FF0000"/>
            </a:solidFill>
          </a:ln>
        </p:spPr>
        <p:txBody>
          <a:bodyPr wrap="square" rtlCol="0">
            <a:spAutoFit/>
          </a:bodyPr>
          <a:lstStyle/>
          <a:p>
            <a:r>
              <a:rPr lang="pt-BR" dirty="0"/>
              <a:t>5-Tuple HASH</a:t>
            </a:r>
          </a:p>
          <a:p>
            <a:r>
              <a:rPr lang="pt-BR" dirty="0" err="1"/>
              <a:t>Source</a:t>
            </a:r>
            <a:r>
              <a:rPr lang="pt-BR" dirty="0"/>
              <a:t> IP</a:t>
            </a:r>
          </a:p>
          <a:p>
            <a:r>
              <a:rPr lang="pt-BR" dirty="0" err="1"/>
              <a:t>Source</a:t>
            </a:r>
            <a:r>
              <a:rPr lang="pt-BR" dirty="0"/>
              <a:t> </a:t>
            </a:r>
            <a:r>
              <a:rPr lang="pt-BR" dirty="0" err="1"/>
              <a:t>Port</a:t>
            </a:r>
            <a:endParaRPr lang="pt-BR" dirty="0"/>
          </a:p>
          <a:p>
            <a:r>
              <a:rPr lang="pt-BR" dirty="0" err="1"/>
              <a:t>Destination</a:t>
            </a:r>
            <a:r>
              <a:rPr lang="pt-BR" dirty="0"/>
              <a:t> IP</a:t>
            </a:r>
          </a:p>
          <a:p>
            <a:r>
              <a:rPr lang="pt-BR" dirty="0" err="1"/>
              <a:t>Destination</a:t>
            </a:r>
            <a:r>
              <a:rPr lang="pt-BR" dirty="0"/>
              <a:t> </a:t>
            </a:r>
            <a:r>
              <a:rPr lang="pt-BR" dirty="0" err="1"/>
              <a:t>Port</a:t>
            </a:r>
            <a:endParaRPr lang="pt-BR" dirty="0"/>
          </a:p>
          <a:p>
            <a:r>
              <a:rPr lang="pt-BR" dirty="0" err="1"/>
              <a:t>Protocol</a:t>
            </a:r>
            <a:endParaRPr lang="pt-BR" dirty="0"/>
          </a:p>
        </p:txBody>
      </p:sp>
      <p:cxnSp>
        <p:nvCxnSpPr>
          <p:cNvPr id="78" name="Conector de Seta Reta 77">
            <a:extLst>
              <a:ext uri="{FF2B5EF4-FFF2-40B4-BE49-F238E27FC236}">
                <a16:creationId xmlns:a16="http://schemas.microsoft.com/office/drawing/2014/main" id="{34C3511F-64AC-4B2E-A47B-63033FE1EB22}"/>
              </a:ext>
            </a:extLst>
          </p:cNvPr>
          <p:cNvCxnSpPr>
            <a:cxnSpLocks/>
            <a:stCxn id="77" idx="1"/>
            <a:endCxn id="17" idx="0"/>
          </p:cNvCxnSpPr>
          <p:nvPr/>
        </p:nvCxnSpPr>
        <p:spPr>
          <a:xfrm flipH="1">
            <a:off x="7676452" y="1315323"/>
            <a:ext cx="1979281" cy="7620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1" name="CaixaDeTexto 80">
            <a:extLst>
              <a:ext uri="{FF2B5EF4-FFF2-40B4-BE49-F238E27FC236}">
                <a16:creationId xmlns:a16="http://schemas.microsoft.com/office/drawing/2014/main" id="{35D7E07D-235D-4D89-9D37-0D79CBB83F27}"/>
              </a:ext>
            </a:extLst>
          </p:cNvPr>
          <p:cNvSpPr txBox="1"/>
          <p:nvPr/>
        </p:nvSpPr>
        <p:spPr>
          <a:xfrm>
            <a:off x="3735844" y="278358"/>
            <a:ext cx="2572462" cy="1200329"/>
          </a:xfrm>
          <a:prstGeom prst="rect">
            <a:avLst/>
          </a:prstGeom>
          <a:noFill/>
          <a:ln w="50800">
            <a:solidFill>
              <a:srgbClr val="FF0000"/>
            </a:solidFill>
          </a:ln>
        </p:spPr>
        <p:txBody>
          <a:bodyPr wrap="square" rtlCol="0">
            <a:spAutoFit/>
          </a:bodyPr>
          <a:lstStyle/>
          <a:p>
            <a:r>
              <a:rPr lang="pt-BR" dirty="0"/>
              <a:t>Camada 4 OSI</a:t>
            </a:r>
          </a:p>
          <a:p>
            <a:r>
              <a:rPr lang="pt-BR" dirty="0"/>
              <a:t>baixa latência </a:t>
            </a:r>
          </a:p>
          <a:p>
            <a:r>
              <a:rPr lang="pt-BR" dirty="0"/>
              <a:t>alto desempenho</a:t>
            </a:r>
          </a:p>
          <a:p>
            <a:r>
              <a:rPr lang="pt-BR" dirty="0"/>
              <a:t>(protocolos TCP e UDP)</a:t>
            </a:r>
          </a:p>
        </p:txBody>
      </p:sp>
      <p:cxnSp>
        <p:nvCxnSpPr>
          <p:cNvPr id="82" name="Conector de Seta Reta 81">
            <a:extLst>
              <a:ext uri="{FF2B5EF4-FFF2-40B4-BE49-F238E27FC236}">
                <a16:creationId xmlns:a16="http://schemas.microsoft.com/office/drawing/2014/main" id="{566F412A-F061-43EF-A9E7-7C2C5FFF2FC7}"/>
              </a:ext>
            </a:extLst>
          </p:cNvPr>
          <p:cNvCxnSpPr>
            <a:cxnSpLocks/>
            <a:stCxn id="81" idx="2"/>
            <a:endCxn id="17" idx="0"/>
          </p:cNvCxnSpPr>
          <p:nvPr/>
        </p:nvCxnSpPr>
        <p:spPr>
          <a:xfrm>
            <a:off x="5022075" y="1478687"/>
            <a:ext cx="2654377" cy="59869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6" name="CaixaDeTexto 85">
            <a:extLst>
              <a:ext uri="{FF2B5EF4-FFF2-40B4-BE49-F238E27FC236}">
                <a16:creationId xmlns:a16="http://schemas.microsoft.com/office/drawing/2014/main" id="{467FC392-E16A-4C98-803F-75192E37A0A4}"/>
              </a:ext>
            </a:extLst>
          </p:cNvPr>
          <p:cNvSpPr txBox="1"/>
          <p:nvPr/>
        </p:nvSpPr>
        <p:spPr>
          <a:xfrm>
            <a:off x="186472" y="3032066"/>
            <a:ext cx="3820750" cy="923330"/>
          </a:xfrm>
          <a:prstGeom prst="rect">
            <a:avLst/>
          </a:prstGeom>
          <a:noFill/>
          <a:ln w="50800">
            <a:solidFill>
              <a:srgbClr val="FF0000"/>
            </a:solidFill>
          </a:ln>
        </p:spPr>
        <p:txBody>
          <a:bodyPr wrap="square" rtlCol="0">
            <a:spAutoFit/>
          </a:bodyPr>
          <a:lstStyle/>
          <a:p>
            <a:r>
              <a:rPr lang="pt-BR" dirty="0"/>
              <a:t>Investigações de integridade</a:t>
            </a:r>
          </a:p>
          <a:p>
            <a:r>
              <a:rPr lang="pt-BR" dirty="0"/>
              <a:t>(monitoramento de </a:t>
            </a:r>
            <a:r>
              <a:rPr lang="pt-BR" dirty="0" err="1"/>
              <a:t>VMs</a:t>
            </a:r>
            <a:r>
              <a:rPr lang="pt-BR" dirty="0"/>
              <a:t>)</a:t>
            </a:r>
          </a:p>
          <a:p>
            <a:r>
              <a:rPr lang="pt-BR" dirty="0"/>
              <a:t>(</a:t>
            </a:r>
            <a:r>
              <a:rPr lang="pt-BR" dirty="0" err="1"/>
              <a:t>haelth</a:t>
            </a:r>
            <a:r>
              <a:rPr lang="pt-BR" dirty="0"/>
              <a:t> </a:t>
            </a:r>
            <a:r>
              <a:rPr lang="pt-BR" dirty="0" err="1"/>
              <a:t>probes</a:t>
            </a:r>
            <a:r>
              <a:rPr lang="pt-BR" dirty="0"/>
              <a:t> ou </a:t>
            </a:r>
            <a:r>
              <a:rPr lang="pt-BR" dirty="0" err="1"/>
              <a:t>service</a:t>
            </a:r>
            <a:r>
              <a:rPr lang="pt-BR" dirty="0"/>
              <a:t> </a:t>
            </a:r>
            <a:r>
              <a:rPr lang="pt-BR" dirty="0" err="1"/>
              <a:t>monitoring</a:t>
            </a:r>
            <a:r>
              <a:rPr lang="pt-BR" dirty="0"/>
              <a:t>)</a:t>
            </a:r>
          </a:p>
        </p:txBody>
      </p:sp>
      <p:cxnSp>
        <p:nvCxnSpPr>
          <p:cNvPr id="87" name="Conector de Seta Reta 86">
            <a:extLst>
              <a:ext uri="{FF2B5EF4-FFF2-40B4-BE49-F238E27FC236}">
                <a16:creationId xmlns:a16="http://schemas.microsoft.com/office/drawing/2014/main" id="{7FDA5F35-C0D9-4604-97D9-8EC2C1A796A9}"/>
              </a:ext>
            </a:extLst>
          </p:cNvPr>
          <p:cNvCxnSpPr>
            <a:cxnSpLocks/>
            <a:stCxn id="86" idx="3"/>
            <a:endCxn id="63" idx="1"/>
          </p:cNvCxnSpPr>
          <p:nvPr/>
        </p:nvCxnSpPr>
        <p:spPr>
          <a:xfrm>
            <a:off x="4007222" y="3493731"/>
            <a:ext cx="2088778" cy="2750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2" name="CaixaDeTexto 91">
            <a:extLst>
              <a:ext uri="{FF2B5EF4-FFF2-40B4-BE49-F238E27FC236}">
                <a16:creationId xmlns:a16="http://schemas.microsoft.com/office/drawing/2014/main" id="{064AC921-B404-4EA4-981B-AA720F46219C}"/>
              </a:ext>
            </a:extLst>
          </p:cNvPr>
          <p:cNvSpPr txBox="1"/>
          <p:nvPr/>
        </p:nvSpPr>
        <p:spPr>
          <a:xfrm>
            <a:off x="503410" y="1805722"/>
            <a:ext cx="2289601" cy="369332"/>
          </a:xfrm>
          <a:prstGeom prst="rect">
            <a:avLst/>
          </a:prstGeom>
          <a:noFill/>
          <a:ln w="50800">
            <a:solidFill>
              <a:srgbClr val="FF0000"/>
            </a:solidFill>
          </a:ln>
        </p:spPr>
        <p:txBody>
          <a:bodyPr wrap="square" rtlCol="0">
            <a:spAutoFit/>
          </a:bodyPr>
          <a:lstStyle/>
          <a:p>
            <a:r>
              <a:rPr lang="pt-BR" dirty="0" err="1"/>
              <a:t>Public</a:t>
            </a:r>
            <a:r>
              <a:rPr lang="pt-BR" dirty="0"/>
              <a:t> </a:t>
            </a:r>
            <a:r>
              <a:rPr lang="pt-BR" dirty="0" err="1"/>
              <a:t>Load</a:t>
            </a:r>
            <a:r>
              <a:rPr lang="pt-BR" dirty="0"/>
              <a:t> </a:t>
            </a:r>
            <a:r>
              <a:rPr lang="pt-BR" dirty="0" err="1"/>
              <a:t>Balancer</a:t>
            </a:r>
            <a:endParaRPr lang="pt-BR" dirty="0"/>
          </a:p>
        </p:txBody>
      </p:sp>
      <p:cxnSp>
        <p:nvCxnSpPr>
          <p:cNvPr id="93" name="Conector de Seta Reta 92">
            <a:extLst>
              <a:ext uri="{FF2B5EF4-FFF2-40B4-BE49-F238E27FC236}">
                <a16:creationId xmlns:a16="http://schemas.microsoft.com/office/drawing/2014/main" id="{427EFB2F-43D1-46DF-8791-3FA0566FDBC1}"/>
              </a:ext>
            </a:extLst>
          </p:cNvPr>
          <p:cNvCxnSpPr>
            <a:cxnSpLocks/>
            <a:stCxn id="92" idx="3"/>
            <a:endCxn id="17" idx="1"/>
          </p:cNvCxnSpPr>
          <p:nvPr/>
        </p:nvCxnSpPr>
        <p:spPr>
          <a:xfrm>
            <a:off x="2793011" y="1990388"/>
            <a:ext cx="4601279" cy="2802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8" name="CaixaDeTexto 127">
            <a:extLst>
              <a:ext uri="{FF2B5EF4-FFF2-40B4-BE49-F238E27FC236}">
                <a16:creationId xmlns:a16="http://schemas.microsoft.com/office/drawing/2014/main" id="{6CB0821C-573B-43B6-BAB3-BA55754B5A33}"/>
              </a:ext>
            </a:extLst>
          </p:cNvPr>
          <p:cNvSpPr txBox="1"/>
          <p:nvPr/>
        </p:nvSpPr>
        <p:spPr>
          <a:xfrm>
            <a:off x="9763820" y="5042016"/>
            <a:ext cx="2289601" cy="369332"/>
          </a:xfrm>
          <a:prstGeom prst="rect">
            <a:avLst/>
          </a:prstGeom>
          <a:noFill/>
          <a:ln w="50800">
            <a:solidFill>
              <a:srgbClr val="FF0000"/>
            </a:solidFill>
          </a:ln>
        </p:spPr>
        <p:txBody>
          <a:bodyPr wrap="square" rtlCol="0">
            <a:spAutoFit/>
          </a:bodyPr>
          <a:lstStyle/>
          <a:p>
            <a:r>
              <a:rPr lang="pt-BR" dirty="0" err="1"/>
              <a:t>Availability</a:t>
            </a:r>
            <a:r>
              <a:rPr lang="pt-BR" dirty="0"/>
              <a:t> Set</a:t>
            </a:r>
          </a:p>
        </p:txBody>
      </p:sp>
      <p:cxnSp>
        <p:nvCxnSpPr>
          <p:cNvPr id="129" name="Conector de Seta Reta 128">
            <a:extLst>
              <a:ext uri="{FF2B5EF4-FFF2-40B4-BE49-F238E27FC236}">
                <a16:creationId xmlns:a16="http://schemas.microsoft.com/office/drawing/2014/main" id="{95C1C0F9-93AF-43B3-A42B-069874F83349}"/>
              </a:ext>
            </a:extLst>
          </p:cNvPr>
          <p:cNvCxnSpPr>
            <a:cxnSpLocks/>
            <a:stCxn id="128" idx="1"/>
            <a:endCxn id="63" idx="2"/>
          </p:cNvCxnSpPr>
          <p:nvPr/>
        </p:nvCxnSpPr>
        <p:spPr>
          <a:xfrm flipH="1" flipV="1">
            <a:off x="7765726" y="3983177"/>
            <a:ext cx="1998094" cy="124350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Conector de Seta Reta 131">
            <a:extLst>
              <a:ext uri="{FF2B5EF4-FFF2-40B4-BE49-F238E27FC236}">
                <a16:creationId xmlns:a16="http://schemas.microsoft.com/office/drawing/2014/main" id="{3CDB6627-9439-48CF-82FD-ECEE97FF0400}"/>
              </a:ext>
            </a:extLst>
          </p:cNvPr>
          <p:cNvCxnSpPr>
            <a:cxnSpLocks/>
            <a:stCxn id="128" idx="1"/>
            <a:endCxn id="62" idx="3"/>
          </p:cNvCxnSpPr>
          <p:nvPr/>
        </p:nvCxnSpPr>
        <p:spPr>
          <a:xfrm flipH="1">
            <a:off x="9337040" y="5226682"/>
            <a:ext cx="426780" cy="79142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36" name="Imagem 135">
            <a:extLst>
              <a:ext uri="{FF2B5EF4-FFF2-40B4-BE49-F238E27FC236}">
                <a16:creationId xmlns:a16="http://schemas.microsoft.com/office/drawing/2014/main" id="{7AF9943C-7343-4551-9CD7-653EC4ABD065}"/>
              </a:ext>
            </a:extLst>
          </p:cNvPr>
          <p:cNvPicPr>
            <a:picLocks noChangeAspect="1"/>
          </p:cNvPicPr>
          <p:nvPr/>
        </p:nvPicPr>
        <p:blipFill>
          <a:blip r:embed="rId4"/>
          <a:stretch>
            <a:fillRect/>
          </a:stretch>
        </p:blipFill>
        <p:spPr>
          <a:xfrm>
            <a:off x="414949" y="5264277"/>
            <a:ext cx="1710483" cy="1171747"/>
          </a:xfrm>
          <a:prstGeom prst="rect">
            <a:avLst/>
          </a:prstGeom>
        </p:spPr>
      </p:pic>
      <p:cxnSp>
        <p:nvCxnSpPr>
          <p:cNvPr id="137" name="Conector de Seta Reta 136">
            <a:extLst>
              <a:ext uri="{FF2B5EF4-FFF2-40B4-BE49-F238E27FC236}">
                <a16:creationId xmlns:a16="http://schemas.microsoft.com/office/drawing/2014/main" id="{D1DDB24A-85C7-4560-92B4-1F85488EAFF9}"/>
              </a:ext>
            </a:extLst>
          </p:cNvPr>
          <p:cNvCxnSpPr>
            <a:cxnSpLocks/>
            <a:stCxn id="136" idx="1"/>
            <a:endCxn id="146" idx="1"/>
          </p:cNvCxnSpPr>
          <p:nvPr/>
        </p:nvCxnSpPr>
        <p:spPr>
          <a:xfrm>
            <a:off x="414949" y="5850151"/>
            <a:ext cx="2965778" cy="10358"/>
          </a:xfrm>
          <a:prstGeom prst="straightConnector1">
            <a:avLst/>
          </a:prstGeom>
          <a:ln w="25400" cap="sq" cmpd="sng">
            <a:solidFill>
              <a:srgbClr val="FF0000"/>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141" name="CaixaDeTexto 140">
            <a:extLst>
              <a:ext uri="{FF2B5EF4-FFF2-40B4-BE49-F238E27FC236}">
                <a16:creationId xmlns:a16="http://schemas.microsoft.com/office/drawing/2014/main" id="{A5386B77-5B9E-4245-96A0-4BDC5D27A666}"/>
              </a:ext>
            </a:extLst>
          </p:cNvPr>
          <p:cNvSpPr txBox="1"/>
          <p:nvPr/>
        </p:nvSpPr>
        <p:spPr>
          <a:xfrm>
            <a:off x="2208011" y="5321900"/>
            <a:ext cx="1095573" cy="1077218"/>
          </a:xfrm>
          <a:prstGeom prst="rect">
            <a:avLst/>
          </a:prstGeom>
          <a:noFill/>
          <a:ln w="12700">
            <a:solidFill>
              <a:srgbClr val="FF0000"/>
            </a:solidFill>
            <a:prstDash val="sysDash"/>
          </a:ln>
        </p:spPr>
        <p:txBody>
          <a:bodyPr wrap="square" rtlCol="0">
            <a:spAutoFit/>
          </a:bodyPr>
          <a:lstStyle/>
          <a:p>
            <a:r>
              <a:rPr lang="pt-BR" sz="1600" dirty="0"/>
              <a:t>Front </a:t>
            </a:r>
            <a:r>
              <a:rPr lang="pt-BR" sz="1600" dirty="0" err="1"/>
              <a:t>End</a:t>
            </a:r>
            <a:endParaRPr lang="pt-BR" sz="1600" dirty="0"/>
          </a:p>
          <a:p>
            <a:r>
              <a:rPr lang="pt-BR" sz="1600" dirty="0"/>
              <a:t>IP Publico</a:t>
            </a:r>
          </a:p>
          <a:p>
            <a:r>
              <a:rPr lang="pt-BR" sz="1600" dirty="0"/>
              <a:t>Back </a:t>
            </a:r>
            <a:r>
              <a:rPr lang="pt-BR" sz="1600" dirty="0" err="1"/>
              <a:t>End</a:t>
            </a:r>
            <a:endParaRPr lang="pt-BR" sz="1600" dirty="0"/>
          </a:p>
          <a:p>
            <a:r>
              <a:rPr lang="pt-BR" sz="1600" dirty="0"/>
              <a:t>Pool </a:t>
            </a:r>
            <a:r>
              <a:rPr lang="pt-BR" sz="1600" dirty="0" err="1"/>
              <a:t>VMs</a:t>
            </a:r>
            <a:endParaRPr lang="pt-BR" sz="1600" dirty="0"/>
          </a:p>
        </p:txBody>
      </p:sp>
      <p:sp>
        <p:nvSpPr>
          <p:cNvPr id="146" name="CaixaDeTexto 145">
            <a:extLst>
              <a:ext uri="{FF2B5EF4-FFF2-40B4-BE49-F238E27FC236}">
                <a16:creationId xmlns:a16="http://schemas.microsoft.com/office/drawing/2014/main" id="{53142940-5201-4507-9019-7E8B62DD3417}"/>
              </a:ext>
            </a:extLst>
          </p:cNvPr>
          <p:cNvSpPr txBox="1"/>
          <p:nvPr/>
        </p:nvSpPr>
        <p:spPr>
          <a:xfrm>
            <a:off x="3380727" y="5491177"/>
            <a:ext cx="1220391" cy="738664"/>
          </a:xfrm>
          <a:prstGeom prst="rect">
            <a:avLst/>
          </a:prstGeom>
          <a:noFill/>
          <a:ln w="25400">
            <a:solidFill>
              <a:srgbClr val="FF0000"/>
            </a:solidFill>
            <a:prstDash val="sysDash"/>
          </a:ln>
        </p:spPr>
        <p:txBody>
          <a:bodyPr wrap="square" rtlCol="0">
            <a:spAutoFit/>
          </a:bodyPr>
          <a:lstStyle/>
          <a:p>
            <a:r>
              <a:rPr lang="pt-BR" sz="1400" dirty="0"/>
              <a:t>NAT</a:t>
            </a:r>
          </a:p>
          <a:p>
            <a:r>
              <a:rPr lang="pt-BR" sz="1400" dirty="0"/>
              <a:t>Porta Entrada</a:t>
            </a:r>
          </a:p>
          <a:p>
            <a:r>
              <a:rPr lang="pt-BR" sz="1400" dirty="0"/>
              <a:t>Porta Saída</a:t>
            </a:r>
          </a:p>
        </p:txBody>
      </p:sp>
    </p:spTree>
    <p:extLst>
      <p:ext uri="{BB962C8B-B14F-4D97-AF65-F5344CB8AC3E}">
        <p14:creationId xmlns:p14="http://schemas.microsoft.com/office/powerpoint/2010/main" val="24076288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83545E-7840-435A-ADDF-B0B0369C36E9}"/>
              </a:ext>
            </a:extLst>
          </p:cNvPr>
          <p:cNvSpPr>
            <a:spLocks noGrp="1"/>
          </p:cNvSpPr>
          <p:nvPr>
            <p:ph type="title"/>
          </p:nvPr>
        </p:nvSpPr>
        <p:spPr>
          <a:xfrm>
            <a:off x="2370667" y="2187743"/>
            <a:ext cx="7789333" cy="2482515"/>
          </a:xfrm>
        </p:spPr>
        <p:txBody>
          <a:bodyPr vert="horz" lIns="91440" tIns="45720" rIns="91440" bIns="45720" rtlCol="0" anchor="ctr">
            <a:normAutofit/>
          </a:bodyPr>
          <a:lstStyle/>
          <a:p>
            <a:r>
              <a:rPr lang="pt-BR" sz="6000" dirty="0"/>
              <a:t>Active </a:t>
            </a:r>
            <a:r>
              <a:rPr lang="pt-BR" sz="6000" dirty="0" err="1"/>
              <a:t>Directory</a:t>
            </a:r>
            <a:endParaRPr lang="en-US" sz="6000" kern="1200" dirty="0">
              <a:solidFill>
                <a:schemeClr val="tx1"/>
              </a:solidFill>
              <a:latin typeface="+mj-lt"/>
              <a:ea typeface="+mj-ea"/>
              <a:cs typeface="+mj-cs"/>
            </a:endParaRPr>
          </a:p>
        </p:txBody>
      </p:sp>
      <p:pic>
        <p:nvPicPr>
          <p:cNvPr id="6" name="Graphic 5">
            <a:extLst>
              <a:ext uri="{FF2B5EF4-FFF2-40B4-BE49-F238E27FC236}">
                <a16:creationId xmlns:a16="http://schemas.microsoft.com/office/drawing/2014/main" id="{052314E5-8253-48A5-859B-129F94E805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1" y="2743201"/>
            <a:ext cx="1371600" cy="1371600"/>
          </a:xfrm>
          <a:prstGeom prst="rect">
            <a:avLst/>
          </a:prstGeom>
        </p:spPr>
      </p:pic>
    </p:spTree>
    <p:extLst>
      <p:ext uri="{BB962C8B-B14F-4D97-AF65-F5344CB8AC3E}">
        <p14:creationId xmlns:p14="http://schemas.microsoft.com/office/powerpoint/2010/main" val="269859615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91AF9C-312B-4C0D-A8E8-FBA4A7F9F893}"/>
              </a:ext>
            </a:extLst>
          </p:cNvPr>
          <p:cNvSpPr>
            <a:spLocks noGrp="1"/>
          </p:cNvSpPr>
          <p:nvPr>
            <p:ph type="title"/>
          </p:nvPr>
        </p:nvSpPr>
        <p:spPr/>
        <p:txBody>
          <a:bodyPr/>
          <a:lstStyle/>
          <a:p>
            <a:r>
              <a:rPr lang="pt-BR" dirty="0"/>
              <a:t>Contas - Active </a:t>
            </a:r>
            <a:r>
              <a:rPr lang="pt-BR" dirty="0" err="1"/>
              <a:t>Directory</a:t>
            </a:r>
            <a:endParaRPr lang="pt-BR" dirty="0"/>
          </a:p>
        </p:txBody>
      </p:sp>
      <p:sp>
        <p:nvSpPr>
          <p:cNvPr id="3" name="Espaço Reservado para Conteúdo 2">
            <a:extLst>
              <a:ext uri="{FF2B5EF4-FFF2-40B4-BE49-F238E27FC236}">
                <a16:creationId xmlns:a16="http://schemas.microsoft.com/office/drawing/2014/main" id="{91AE7D0D-D2B0-4704-93F6-56D6AAC2A765}"/>
              </a:ext>
            </a:extLst>
          </p:cNvPr>
          <p:cNvSpPr>
            <a:spLocks noGrp="1"/>
          </p:cNvSpPr>
          <p:nvPr>
            <p:ph idx="1"/>
          </p:nvPr>
        </p:nvSpPr>
        <p:spPr>
          <a:xfrm>
            <a:off x="223520" y="1320800"/>
            <a:ext cx="11633200" cy="4886960"/>
          </a:xfrm>
        </p:spPr>
        <p:txBody>
          <a:bodyPr>
            <a:normAutofit fontScale="92500" lnSpcReduction="20000"/>
          </a:bodyPr>
          <a:lstStyle/>
          <a:p>
            <a:r>
              <a:rPr lang="pt-BR" dirty="0"/>
              <a:t>AAD - </a:t>
            </a:r>
            <a:r>
              <a:rPr lang="pt-BR" b="1" dirty="0"/>
              <a:t>Azure Active </a:t>
            </a:r>
            <a:r>
              <a:rPr lang="pt-BR" b="1" dirty="0" err="1"/>
              <a:t>Directory</a:t>
            </a:r>
            <a:r>
              <a:rPr lang="pt-BR" b="1" dirty="0"/>
              <a:t> Gratuito.</a:t>
            </a:r>
            <a:r>
              <a:rPr lang="pt-BR" dirty="0"/>
              <a:t> Fornece gerenciamento de usuários e de grupos, sincronização de diretório local, relatórios básicos, autoatendimento para alteração de senha e </a:t>
            </a:r>
            <a:r>
              <a:rPr lang="pt-BR" dirty="0" err="1"/>
              <a:t>logon</a:t>
            </a:r>
            <a:r>
              <a:rPr lang="pt-BR" dirty="0"/>
              <a:t> único no Azure, no Office 365 e em muitos aplicativos SaaS populares.</a:t>
            </a:r>
          </a:p>
          <a:p>
            <a:r>
              <a:rPr lang="pt-BR" dirty="0"/>
              <a:t>ADDS</a:t>
            </a:r>
          </a:p>
          <a:p>
            <a:pPr lvl="1"/>
            <a:r>
              <a:rPr lang="pt-BR" b="1" dirty="0"/>
              <a:t>Azure Active </a:t>
            </a:r>
            <a:r>
              <a:rPr lang="pt-BR" b="1" dirty="0" err="1"/>
              <a:t>Directory</a:t>
            </a:r>
            <a:r>
              <a:rPr lang="pt-BR" b="1" dirty="0"/>
              <a:t> Premium P1.</a:t>
            </a:r>
            <a:r>
              <a:rPr lang="pt-BR" dirty="0"/>
              <a:t> Além dos recursos gratuitos, o P1 também permite que seus usuários híbridos acessem recursos locais e de nuvem. Ele também dá suporte à administração avançada, como grupos dinâmicos, gerenciamento de grupo de autoatendimento, Microsoft </a:t>
            </a:r>
            <a:r>
              <a:rPr lang="pt-BR" dirty="0" err="1"/>
              <a:t>Identity</a:t>
            </a:r>
            <a:r>
              <a:rPr lang="pt-BR" dirty="0"/>
              <a:t> Manager (um conjunto de gerenciamento de acesso e identidade local) e recursos de </a:t>
            </a:r>
            <a:r>
              <a:rPr lang="pt-BR" dirty="0" err="1"/>
              <a:t>write-back</a:t>
            </a:r>
            <a:r>
              <a:rPr lang="pt-BR" dirty="0"/>
              <a:t> de nuvem, que permitem a redefinição de senha por autoatendimento para os usuários locais.</a:t>
            </a:r>
          </a:p>
          <a:p>
            <a:pPr lvl="1"/>
            <a:r>
              <a:rPr lang="pt-BR" b="1" dirty="0"/>
              <a:t>Azure Active </a:t>
            </a:r>
            <a:r>
              <a:rPr lang="pt-BR" b="1" dirty="0" err="1"/>
              <a:t>Directory</a:t>
            </a:r>
            <a:r>
              <a:rPr lang="pt-BR" b="1" dirty="0"/>
              <a:t> Premium P2.</a:t>
            </a:r>
            <a:r>
              <a:rPr lang="pt-BR" dirty="0"/>
              <a:t> Além dos recursos nos planos Gratuito e P1, o P2 também oferece o Azure Active </a:t>
            </a:r>
            <a:r>
              <a:rPr lang="pt-BR" dirty="0" err="1"/>
              <a:t>Directory</a:t>
            </a:r>
            <a:r>
              <a:rPr lang="pt-BR" dirty="0"/>
              <a:t> </a:t>
            </a:r>
            <a:r>
              <a:rPr lang="pt-BR" dirty="0" err="1"/>
              <a:t>Identity</a:t>
            </a:r>
            <a:r>
              <a:rPr lang="pt-BR" dirty="0"/>
              <a:t> </a:t>
            </a:r>
            <a:r>
              <a:rPr lang="pt-BR" dirty="0" err="1"/>
              <a:t>Protection</a:t>
            </a:r>
            <a:r>
              <a:rPr lang="pt-BR" dirty="0"/>
              <a:t>, a fim de fornecer Acesso Condicional baseado em risco para seus aplicativos e dados críticos da empresa, e o Privileged </a:t>
            </a:r>
            <a:r>
              <a:rPr lang="pt-BR" dirty="0" err="1"/>
              <a:t>Identity</a:t>
            </a:r>
            <a:r>
              <a:rPr lang="pt-BR" dirty="0"/>
              <a:t> Management, para ajudar a descobrir, restringir e monitorar os administradores e o acesso deles a recursos e fornecer acesso Just-In-Time quando for necessário.</a:t>
            </a:r>
          </a:p>
          <a:p>
            <a:r>
              <a:rPr lang="pt-BR" dirty="0"/>
              <a:t>AADDS – </a:t>
            </a:r>
            <a:r>
              <a:rPr lang="pt-BR" sz="2400" dirty="0"/>
              <a:t>Suporte e operação completa da Microsoft.</a:t>
            </a:r>
          </a:p>
        </p:txBody>
      </p:sp>
    </p:spTree>
    <p:extLst>
      <p:ext uri="{BB962C8B-B14F-4D97-AF65-F5344CB8AC3E}">
        <p14:creationId xmlns:p14="http://schemas.microsoft.com/office/powerpoint/2010/main" val="170758513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D21912-AD14-44AA-B42F-CF41B6F4EAED}"/>
              </a:ext>
            </a:extLst>
          </p:cNvPr>
          <p:cNvSpPr>
            <a:spLocks noGrp="1"/>
          </p:cNvSpPr>
          <p:nvPr>
            <p:ph type="title"/>
          </p:nvPr>
        </p:nvSpPr>
        <p:spPr/>
        <p:txBody>
          <a:bodyPr/>
          <a:lstStyle/>
          <a:p>
            <a:r>
              <a:rPr lang="pt-BR" dirty="0"/>
              <a:t>LDAP - </a:t>
            </a:r>
            <a:r>
              <a:rPr lang="pt-BR" dirty="0" err="1"/>
              <a:t>Lightweight</a:t>
            </a:r>
            <a:r>
              <a:rPr lang="pt-BR" dirty="0"/>
              <a:t> </a:t>
            </a:r>
            <a:r>
              <a:rPr lang="pt-BR" dirty="0" err="1"/>
              <a:t>Directory</a:t>
            </a:r>
            <a:r>
              <a:rPr lang="pt-BR" dirty="0"/>
              <a:t> Access </a:t>
            </a:r>
            <a:r>
              <a:rPr lang="pt-BR" dirty="0" err="1"/>
              <a:t>Protocol</a:t>
            </a:r>
            <a:endParaRPr lang="pt-BR" dirty="0"/>
          </a:p>
        </p:txBody>
      </p:sp>
      <p:sp>
        <p:nvSpPr>
          <p:cNvPr id="3" name="Espaço Reservado para Conteúdo 2">
            <a:extLst>
              <a:ext uri="{FF2B5EF4-FFF2-40B4-BE49-F238E27FC236}">
                <a16:creationId xmlns:a16="http://schemas.microsoft.com/office/drawing/2014/main" id="{76AA1F7D-ECF1-436A-B654-523D802BA19B}"/>
              </a:ext>
            </a:extLst>
          </p:cNvPr>
          <p:cNvSpPr>
            <a:spLocks noGrp="1"/>
          </p:cNvSpPr>
          <p:nvPr>
            <p:ph idx="1"/>
          </p:nvPr>
        </p:nvSpPr>
        <p:spPr/>
        <p:txBody>
          <a:bodyPr/>
          <a:lstStyle/>
          <a:p>
            <a:r>
              <a:rPr lang="pt-BR" dirty="0"/>
              <a:t> TCP – Porta 389 (sem criptografia) ou 636 (criptografia)</a:t>
            </a:r>
          </a:p>
          <a:p>
            <a:r>
              <a:rPr lang="pt-BR" dirty="0"/>
              <a:t>Diretório – Base de dados baseado em arvores hierárquicas.</a:t>
            </a:r>
          </a:p>
          <a:p>
            <a:r>
              <a:rPr lang="pt-BR" dirty="0"/>
              <a:t>Domínio – Limite administrativo, limites de controle.</a:t>
            </a:r>
          </a:p>
          <a:p>
            <a:endParaRPr lang="pt-BR" dirty="0"/>
          </a:p>
        </p:txBody>
      </p:sp>
    </p:spTree>
    <p:extLst>
      <p:ext uri="{BB962C8B-B14F-4D97-AF65-F5344CB8AC3E}">
        <p14:creationId xmlns:p14="http://schemas.microsoft.com/office/powerpoint/2010/main" val="341858661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6171A0-DD66-4BA0-A332-0A3D87D6FCAE}"/>
              </a:ext>
            </a:extLst>
          </p:cNvPr>
          <p:cNvSpPr>
            <a:spLocks noGrp="1"/>
          </p:cNvSpPr>
          <p:nvPr>
            <p:ph type="title"/>
          </p:nvPr>
        </p:nvSpPr>
        <p:spPr>
          <a:xfrm>
            <a:off x="401320" y="141552"/>
            <a:ext cx="10515600" cy="1325563"/>
          </a:xfrm>
        </p:spPr>
        <p:txBody>
          <a:bodyPr/>
          <a:lstStyle/>
          <a:p>
            <a:r>
              <a:rPr lang="pt-BR" dirty="0"/>
              <a:t>Active </a:t>
            </a:r>
            <a:r>
              <a:rPr lang="pt-BR" dirty="0" err="1"/>
              <a:t>Directory</a:t>
            </a:r>
            <a:endParaRPr lang="pt-BR" dirty="0"/>
          </a:p>
        </p:txBody>
      </p:sp>
      <p:sp>
        <p:nvSpPr>
          <p:cNvPr id="4" name="Retângulo: Cantos Arredondados 3">
            <a:extLst>
              <a:ext uri="{FF2B5EF4-FFF2-40B4-BE49-F238E27FC236}">
                <a16:creationId xmlns:a16="http://schemas.microsoft.com/office/drawing/2014/main" id="{2A5B259C-B26A-4EF5-B53B-274DFB7D82AA}"/>
              </a:ext>
            </a:extLst>
          </p:cNvPr>
          <p:cNvSpPr/>
          <p:nvPr/>
        </p:nvSpPr>
        <p:spPr>
          <a:xfrm>
            <a:off x="6095999" y="1849120"/>
            <a:ext cx="3088641" cy="419607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r"/>
            <a:r>
              <a:rPr lang="pt-BR" sz="2800" dirty="0">
                <a:ln>
                  <a:solidFill>
                    <a:schemeClr val="accent1">
                      <a:shade val="50000"/>
                    </a:schemeClr>
                  </a:solidFill>
                </a:ln>
                <a:solidFill>
                  <a:schemeClr val="tx1"/>
                </a:solidFill>
              </a:rPr>
              <a:t>Active </a:t>
            </a:r>
            <a:r>
              <a:rPr lang="pt-BR" sz="2800" dirty="0" err="1">
                <a:ln>
                  <a:solidFill>
                    <a:schemeClr val="accent1">
                      <a:shade val="50000"/>
                    </a:schemeClr>
                  </a:solidFill>
                </a:ln>
                <a:solidFill>
                  <a:schemeClr val="tx1"/>
                </a:solidFill>
              </a:rPr>
              <a:t>Directory</a:t>
            </a:r>
            <a:endParaRPr lang="pt-BR" sz="2800" dirty="0">
              <a:ln>
                <a:solidFill>
                  <a:schemeClr val="accent1">
                    <a:shade val="50000"/>
                  </a:schemeClr>
                </a:solidFill>
              </a:ln>
              <a:solidFill>
                <a:schemeClr val="tx1"/>
              </a:solidFill>
            </a:endParaRPr>
          </a:p>
          <a:p>
            <a:pPr algn="r"/>
            <a:endParaRPr lang="pt-BR" dirty="0">
              <a:solidFill>
                <a:schemeClr val="tx1"/>
              </a:solidFill>
            </a:endParaRPr>
          </a:p>
        </p:txBody>
      </p:sp>
      <p:sp>
        <p:nvSpPr>
          <p:cNvPr id="5" name="Retângulo: Cantos Arredondados 4">
            <a:extLst>
              <a:ext uri="{FF2B5EF4-FFF2-40B4-BE49-F238E27FC236}">
                <a16:creationId xmlns:a16="http://schemas.microsoft.com/office/drawing/2014/main" id="{56A17499-E059-47FE-933A-7B6E36C4E497}"/>
              </a:ext>
            </a:extLst>
          </p:cNvPr>
          <p:cNvSpPr/>
          <p:nvPr/>
        </p:nvSpPr>
        <p:spPr>
          <a:xfrm>
            <a:off x="6387985" y="2515342"/>
            <a:ext cx="2603320" cy="327479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r"/>
            <a:r>
              <a:rPr lang="pt-BR" sz="2000" dirty="0" err="1">
                <a:ln>
                  <a:solidFill>
                    <a:schemeClr val="accent1">
                      <a:shade val="50000"/>
                    </a:schemeClr>
                  </a:solidFill>
                </a:ln>
                <a:solidFill>
                  <a:schemeClr val="tx1"/>
                </a:solidFill>
              </a:rPr>
              <a:t>SubScription</a:t>
            </a:r>
            <a:endParaRPr lang="pt-BR" sz="2000" dirty="0">
              <a:ln>
                <a:solidFill>
                  <a:schemeClr val="accent1">
                    <a:shade val="50000"/>
                  </a:schemeClr>
                </a:solidFill>
              </a:ln>
              <a:solidFill>
                <a:schemeClr val="tx1"/>
              </a:solidFill>
            </a:endParaRPr>
          </a:p>
          <a:p>
            <a:pPr algn="r"/>
            <a:endParaRPr lang="pt-BR" dirty="0">
              <a:solidFill>
                <a:schemeClr val="tx1"/>
              </a:solidFill>
            </a:endParaRPr>
          </a:p>
        </p:txBody>
      </p:sp>
      <p:sp>
        <p:nvSpPr>
          <p:cNvPr id="6" name="Retângulo: Cantos Arredondados 5">
            <a:extLst>
              <a:ext uri="{FF2B5EF4-FFF2-40B4-BE49-F238E27FC236}">
                <a16:creationId xmlns:a16="http://schemas.microsoft.com/office/drawing/2014/main" id="{4FA5FE2D-E315-4588-9C27-9E3C8288C58E}"/>
              </a:ext>
            </a:extLst>
          </p:cNvPr>
          <p:cNvSpPr/>
          <p:nvPr/>
        </p:nvSpPr>
        <p:spPr>
          <a:xfrm>
            <a:off x="6540386" y="3245274"/>
            <a:ext cx="1151915" cy="22919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r"/>
            <a:r>
              <a:rPr lang="pt-BR" dirty="0">
                <a:ln>
                  <a:solidFill>
                    <a:schemeClr val="accent1">
                      <a:shade val="50000"/>
                    </a:schemeClr>
                  </a:solidFill>
                </a:ln>
                <a:solidFill>
                  <a:schemeClr val="tx1"/>
                </a:solidFill>
              </a:rPr>
              <a:t>Grupos</a:t>
            </a:r>
          </a:p>
          <a:p>
            <a:pPr algn="r"/>
            <a:endParaRPr lang="pt-BR" dirty="0">
              <a:solidFill>
                <a:schemeClr val="tx1"/>
              </a:solidFill>
            </a:endParaRPr>
          </a:p>
        </p:txBody>
      </p:sp>
      <p:sp>
        <p:nvSpPr>
          <p:cNvPr id="7" name="Retângulo: Cantos Arredondados 6">
            <a:extLst>
              <a:ext uri="{FF2B5EF4-FFF2-40B4-BE49-F238E27FC236}">
                <a16:creationId xmlns:a16="http://schemas.microsoft.com/office/drawing/2014/main" id="{B22A3887-F6D9-4CAA-A50D-6D0C30A11CA1}"/>
              </a:ext>
            </a:extLst>
          </p:cNvPr>
          <p:cNvSpPr/>
          <p:nvPr/>
        </p:nvSpPr>
        <p:spPr>
          <a:xfrm>
            <a:off x="7792720" y="3245274"/>
            <a:ext cx="1098166" cy="22919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r"/>
            <a:r>
              <a:rPr lang="pt-BR" dirty="0">
                <a:ln>
                  <a:solidFill>
                    <a:schemeClr val="accent1">
                      <a:shade val="50000"/>
                    </a:schemeClr>
                  </a:solidFill>
                </a:ln>
                <a:solidFill>
                  <a:schemeClr val="tx1"/>
                </a:solidFill>
              </a:rPr>
              <a:t>Grupos</a:t>
            </a:r>
            <a:endParaRPr lang="pt-BR" sz="2800" dirty="0">
              <a:ln>
                <a:solidFill>
                  <a:schemeClr val="accent1">
                    <a:shade val="50000"/>
                  </a:schemeClr>
                </a:solidFill>
              </a:ln>
              <a:solidFill>
                <a:schemeClr val="tx1"/>
              </a:solidFill>
            </a:endParaRPr>
          </a:p>
          <a:p>
            <a:pPr algn="r"/>
            <a:endParaRPr lang="pt-BR" dirty="0">
              <a:solidFill>
                <a:schemeClr val="tx1"/>
              </a:solidFill>
            </a:endParaRPr>
          </a:p>
        </p:txBody>
      </p:sp>
      <p:pic>
        <p:nvPicPr>
          <p:cNvPr id="9" name="Gráfico 8" descr="Programa">
            <a:extLst>
              <a:ext uri="{FF2B5EF4-FFF2-40B4-BE49-F238E27FC236}">
                <a16:creationId xmlns:a16="http://schemas.microsoft.com/office/drawing/2014/main" id="{BC4B6420-3BBB-4FA5-B357-2373E334982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07316" y="4955197"/>
            <a:ext cx="381000" cy="381000"/>
          </a:xfrm>
          <a:prstGeom prst="rect">
            <a:avLst/>
          </a:prstGeom>
        </p:spPr>
      </p:pic>
      <p:pic>
        <p:nvPicPr>
          <p:cNvPr id="10" name="Gráfico 9" descr="Programa">
            <a:extLst>
              <a:ext uri="{FF2B5EF4-FFF2-40B4-BE49-F238E27FC236}">
                <a16:creationId xmlns:a16="http://schemas.microsoft.com/office/drawing/2014/main" id="{16C05448-818A-457B-B461-5A22C2B30C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76556" y="4492414"/>
            <a:ext cx="381000" cy="381000"/>
          </a:xfrm>
          <a:prstGeom prst="rect">
            <a:avLst/>
          </a:prstGeom>
        </p:spPr>
      </p:pic>
      <p:pic>
        <p:nvPicPr>
          <p:cNvPr id="11" name="Gráfico 10" descr="Programa">
            <a:extLst>
              <a:ext uri="{FF2B5EF4-FFF2-40B4-BE49-F238E27FC236}">
                <a16:creationId xmlns:a16="http://schemas.microsoft.com/office/drawing/2014/main" id="{CC97A881-34D4-432A-B6C1-1117BB7B26D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27636" y="4091781"/>
            <a:ext cx="381000" cy="381000"/>
          </a:xfrm>
          <a:prstGeom prst="rect">
            <a:avLst/>
          </a:prstGeom>
        </p:spPr>
      </p:pic>
      <p:pic>
        <p:nvPicPr>
          <p:cNvPr id="12" name="Gráfico 11" descr="Programa">
            <a:extLst>
              <a:ext uri="{FF2B5EF4-FFF2-40B4-BE49-F238E27FC236}">
                <a16:creationId xmlns:a16="http://schemas.microsoft.com/office/drawing/2014/main" id="{6F269F80-BF0A-4A7A-970E-F31545BB4FD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35542" y="3667760"/>
            <a:ext cx="381000" cy="381000"/>
          </a:xfrm>
          <a:prstGeom prst="rect">
            <a:avLst/>
          </a:prstGeom>
        </p:spPr>
      </p:pic>
      <p:pic>
        <p:nvPicPr>
          <p:cNvPr id="13" name="Gráfico 12" descr="Programa">
            <a:extLst>
              <a:ext uri="{FF2B5EF4-FFF2-40B4-BE49-F238E27FC236}">
                <a16:creationId xmlns:a16="http://schemas.microsoft.com/office/drawing/2014/main" id="{E1326342-8B25-419E-88B5-6D606E9212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67056" y="4886642"/>
            <a:ext cx="381000" cy="381000"/>
          </a:xfrm>
          <a:prstGeom prst="rect">
            <a:avLst/>
          </a:prstGeom>
        </p:spPr>
      </p:pic>
      <p:pic>
        <p:nvPicPr>
          <p:cNvPr id="14" name="Gráfico 13" descr="Programa">
            <a:extLst>
              <a:ext uri="{FF2B5EF4-FFF2-40B4-BE49-F238E27FC236}">
                <a16:creationId xmlns:a16="http://schemas.microsoft.com/office/drawing/2014/main" id="{C8781C2B-9AC9-4688-AD66-DF9727F59A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35343" y="4121574"/>
            <a:ext cx="381000" cy="381000"/>
          </a:xfrm>
          <a:prstGeom prst="rect">
            <a:avLst/>
          </a:prstGeom>
        </p:spPr>
      </p:pic>
      <p:pic>
        <p:nvPicPr>
          <p:cNvPr id="15" name="Gráfico 14" descr="Programa">
            <a:extLst>
              <a:ext uri="{FF2B5EF4-FFF2-40B4-BE49-F238E27FC236}">
                <a16:creationId xmlns:a16="http://schemas.microsoft.com/office/drawing/2014/main" id="{F27BD65B-70CC-4BFC-B812-8F4BAA0511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64218" y="4111414"/>
            <a:ext cx="381000" cy="381000"/>
          </a:xfrm>
          <a:prstGeom prst="rect">
            <a:avLst/>
          </a:prstGeom>
        </p:spPr>
      </p:pic>
      <p:pic>
        <p:nvPicPr>
          <p:cNvPr id="16" name="Gráfico 15" descr="Programa">
            <a:extLst>
              <a:ext uri="{FF2B5EF4-FFF2-40B4-BE49-F238E27FC236}">
                <a16:creationId xmlns:a16="http://schemas.microsoft.com/office/drawing/2014/main" id="{E5CBF726-F8D9-4218-953B-BAE894B204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28607" y="3660140"/>
            <a:ext cx="381000" cy="381000"/>
          </a:xfrm>
          <a:prstGeom prst="rect">
            <a:avLst/>
          </a:prstGeom>
        </p:spPr>
      </p:pic>
      <p:pic>
        <p:nvPicPr>
          <p:cNvPr id="17" name="Gráfico 16" descr="Programa">
            <a:extLst>
              <a:ext uri="{FF2B5EF4-FFF2-40B4-BE49-F238E27FC236}">
                <a16:creationId xmlns:a16="http://schemas.microsoft.com/office/drawing/2014/main" id="{D109D699-5878-484E-84EF-29FF348DA9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1926" y="3657600"/>
            <a:ext cx="381000" cy="381000"/>
          </a:xfrm>
          <a:prstGeom prst="rect">
            <a:avLst/>
          </a:prstGeom>
        </p:spPr>
      </p:pic>
      <p:sp>
        <p:nvSpPr>
          <p:cNvPr id="18" name="Retângulo: Cantos Arredondados 17">
            <a:extLst>
              <a:ext uri="{FF2B5EF4-FFF2-40B4-BE49-F238E27FC236}">
                <a16:creationId xmlns:a16="http://schemas.microsoft.com/office/drawing/2014/main" id="{AC85E416-1749-481C-A087-36B7713FDA1D}"/>
              </a:ext>
            </a:extLst>
          </p:cNvPr>
          <p:cNvSpPr/>
          <p:nvPr/>
        </p:nvSpPr>
        <p:spPr>
          <a:xfrm>
            <a:off x="2226619" y="1849120"/>
            <a:ext cx="3088641" cy="419607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r"/>
            <a:r>
              <a:rPr lang="pt-BR" sz="2800" dirty="0">
                <a:ln>
                  <a:solidFill>
                    <a:schemeClr val="accent1">
                      <a:shade val="50000"/>
                    </a:schemeClr>
                  </a:solidFill>
                </a:ln>
                <a:solidFill>
                  <a:schemeClr val="tx1"/>
                </a:solidFill>
              </a:rPr>
              <a:t>Active </a:t>
            </a:r>
            <a:r>
              <a:rPr lang="pt-BR" sz="2800" dirty="0" err="1">
                <a:ln>
                  <a:solidFill>
                    <a:schemeClr val="accent1">
                      <a:shade val="50000"/>
                    </a:schemeClr>
                  </a:solidFill>
                </a:ln>
                <a:solidFill>
                  <a:schemeClr val="tx1"/>
                </a:solidFill>
              </a:rPr>
              <a:t>Directory</a:t>
            </a:r>
            <a:endParaRPr lang="pt-BR" sz="2800" dirty="0">
              <a:ln>
                <a:solidFill>
                  <a:schemeClr val="accent1">
                    <a:shade val="50000"/>
                  </a:schemeClr>
                </a:solidFill>
              </a:ln>
              <a:solidFill>
                <a:schemeClr val="tx1"/>
              </a:solidFill>
            </a:endParaRPr>
          </a:p>
          <a:p>
            <a:pPr algn="r"/>
            <a:endParaRPr lang="pt-BR" dirty="0">
              <a:solidFill>
                <a:schemeClr val="tx1"/>
              </a:solidFill>
            </a:endParaRPr>
          </a:p>
        </p:txBody>
      </p:sp>
      <p:sp>
        <p:nvSpPr>
          <p:cNvPr id="19" name="Retângulo: Cantos Arredondados 18">
            <a:extLst>
              <a:ext uri="{FF2B5EF4-FFF2-40B4-BE49-F238E27FC236}">
                <a16:creationId xmlns:a16="http://schemas.microsoft.com/office/drawing/2014/main" id="{913B1F27-7C07-4C17-B370-487056B0F8D4}"/>
              </a:ext>
            </a:extLst>
          </p:cNvPr>
          <p:cNvSpPr/>
          <p:nvPr/>
        </p:nvSpPr>
        <p:spPr>
          <a:xfrm>
            <a:off x="2518605" y="2515342"/>
            <a:ext cx="2603320" cy="327479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r"/>
            <a:r>
              <a:rPr lang="pt-BR" sz="2000" dirty="0" err="1">
                <a:ln>
                  <a:solidFill>
                    <a:schemeClr val="accent1">
                      <a:shade val="50000"/>
                    </a:schemeClr>
                  </a:solidFill>
                </a:ln>
                <a:solidFill>
                  <a:schemeClr val="tx1"/>
                </a:solidFill>
              </a:rPr>
              <a:t>SubScription</a:t>
            </a:r>
            <a:endParaRPr lang="pt-BR" sz="2000" dirty="0">
              <a:ln>
                <a:solidFill>
                  <a:schemeClr val="accent1">
                    <a:shade val="50000"/>
                  </a:schemeClr>
                </a:solidFill>
              </a:ln>
              <a:solidFill>
                <a:schemeClr val="tx1"/>
              </a:solidFill>
            </a:endParaRPr>
          </a:p>
          <a:p>
            <a:pPr algn="r"/>
            <a:endParaRPr lang="pt-BR" dirty="0">
              <a:solidFill>
                <a:schemeClr val="tx1"/>
              </a:solidFill>
            </a:endParaRPr>
          </a:p>
        </p:txBody>
      </p:sp>
      <p:sp>
        <p:nvSpPr>
          <p:cNvPr id="20" name="Retângulo: Cantos Arredondados 19">
            <a:extLst>
              <a:ext uri="{FF2B5EF4-FFF2-40B4-BE49-F238E27FC236}">
                <a16:creationId xmlns:a16="http://schemas.microsoft.com/office/drawing/2014/main" id="{76D69030-CDAF-4EC9-887C-BBA772D1F44B}"/>
              </a:ext>
            </a:extLst>
          </p:cNvPr>
          <p:cNvSpPr/>
          <p:nvPr/>
        </p:nvSpPr>
        <p:spPr>
          <a:xfrm>
            <a:off x="2671006" y="3245274"/>
            <a:ext cx="1151915" cy="22919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r"/>
            <a:r>
              <a:rPr lang="pt-BR" dirty="0">
                <a:ln>
                  <a:solidFill>
                    <a:schemeClr val="accent1">
                      <a:shade val="50000"/>
                    </a:schemeClr>
                  </a:solidFill>
                </a:ln>
                <a:solidFill>
                  <a:schemeClr val="tx1"/>
                </a:solidFill>
              </a:rPr>
              <a:t>Grupos</a:t>
            </a:r>
          </a:p>
          <a:p>
            <a:pPr algn="r"/>
            <a:endParaRPr lang="pt-BR" dirty="0">
              <a:solidFill>
                <a:schemeClr val="tx1"/>
              </a:solidFill>
            </a:endParaRPr>
          </a:p>
        </p:txBody>
      </p:sp>
      <p:sp>
        <p:nvSpPr>
          <p:cNvPr id="21" name="Retângulo: Cantos Arredondados 20">
            <a:extLst>
              <a:ext uri="{FF2B5EF4-FFF2-40B4-BE49-F238E27FC236}">
                <a16:creationId xmlns:a16="http://schemas.microsoft.com/office/drawing/2014/main" id="{4B05C673-75B0-4F5F-99C0-6745504901B7}"/>
              </a:ext>
            </a:extLst>
          </p:cNvPr>
          <p:cNvSpPr/>
          <p:nvPr/>
        </p:nvSpPr>
        <p:spPr>
          <a:xfrm>
            <a:off x="3923340" y="3245274"/>
            <a:ext cx="1098166" cy="22919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r"/>
            <a:r>
              <a:rPr lang="pt-BR" dirty="0">
                <a:ln>
                  <a:solidFill>
                    <a:schemeClr val="accent1">
                      <a:shade val="50000"/>
                    </a:schemeClr>
                  </a:solidFill>
                </a:ln>
                <a:solidFill>
                  <a:schemeClr val="tx1"/>
                </a:solidFill>
              </a:rPr>
              <a:t>Grupos</a:t>
            </a:r>
            <a:endParaRPr lang="pt-BR" sz="2800" dirty="0">
              <a:ln>
                <a:solidFill>
                  <a:schemeClr val="accent1">
                    <a:shade val="50000"/>
                  </a:schemeClr>
                </a:solidFill>
              </a:ln>
              <a:solidFill>
                <a:schemeClr val="tx1"/>
              </a:solidFill>
            </a:endParaRPr>
          </a:p>
          <a:p>
            <a:pPr algn="r"/>
            <a:endParaRPr lang="pt-BR" dirty="0">
              <a:solidFill>
                <a:schemeClr val="tx1"/>
              </a:solidFill>
            </a:endParaRPr>
          </a:p>
        </p:txBody>
      </p:sp>
      <p:pic>
        <p:nvPicPr>
          <p:cNvPr id="22" name="Gráfico 21" descr="Programa">
            <a:extLst>
              <a:ext uri="{FF2B5EF4-FFF2-40B4-BE49-F238E27FC236}">
                <a16:creationId xmlns:a16="http://schemas.microsoft.com/office/drawing/2014/main" id="{8FA76133-2266-4783-AA10-C36950B7E5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37936" y="4955197"/>
            <a:ext cx="381000" cy="381000"/>
          </a:xfrm>
          <a:prstGeom prst="rect">
            <a:avLst/>
          </a:prstGeom>
        </p:spPr>
      </p:pic>
      <p:pic>
        <p:nvPicPr>
          <p:cNvPr id="23" name="Gráfico 22" descr="Programa">
            <a:extLst>
              <a:ext uri="{FF2B5EF4-FFF2-40B4-BE49-F238E27FC236}">
                <a16:creationId xmlns:a16="http://schemas.microsoft.com/office/drawing/2014/main" id="{8312AEEB-C660-4370-99AC-64DB09021C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07176" y="4492414"/>
            <a:ext cx="381000" cy="381000"/>
          </a:xfrm>
          <a:prstGeom prst="rect">
            <a:avLst/>
          </a:prstGeom>
        </p:spPr>
      </p:pic>
      <p:pic>
        <p:nvPicPr>
          <p:cNvPr id="24" name="Gráfico 23" descr="Programa">
            <a:extLst>
              <a:ext uri="{FF2B5EF4-FFF2-40B4-BE49-F238E27FC236}">
                <a16:creationId xmlns:a16="http://schemas.microsoft.com/office/drawing/2014/main" id="{A475F8D7-9B20-4AC2-8250-6E5EB006955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58256" y="4091781"/>
            <a:ext cx="381000" cy="381000"/>
          </a:xfrm>
          <a:prstGeom prst="rect">
            <a:avLst/>
          </a:prstGeom>
        </p:spPr>
      </p:pic>
      <p:pic>
        <p:nvPicPr>
          <p:cNvPr id="25" name="Gráfico 24" descr="Programa">
            <a:extLst>
              <a:ext uri="{FF2B5EF4-FFF2-40B4-BE49-F238E27FC236}">
                <a16:creationId xmlns:a16="http://schemas.microsoft.com/office/drawing/2014/main" id="{2EE6FF1B-E378-4A5C-8258-06682C9E2B7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66162" y="3667760"/>
            <a:ext cx="381000" cy="381000"/>
          </a:xfrm>
          <a:prstGeom prst="rect">
            <a:avLst/>
          </a:prstGeom>
        </p:spPr>
      </p:pic>
      <p:pic>
        <p:nvPicPr>
          <p:cNvPr id="26" name="Gráfico 25" descr="Programa">
            <a:extLst>
              <a:ext uri="{FF2B5EF4-FFF2-40B4-BE49-F238E27FC236}">
                <a16:creationId xmlns:a16="http://schemas.microsoft.com/office/drawing/2014/main" id="{1F36CE2F-906B-455B-A9BA-9647633678E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97676" y="4886642"/>
            <a:ext cx="381000" cy="381000"/>
          </a:xfrm>
          <a:prstGeom prst="rect">
            <a:avLst/>
          </a:prstGeom>
        </p:spPr>
      </p:pic>
      <p:pic>
        <p:nvPicPr>
          <p:cNvPr id="27" name="Gráfico 26" descr="Programa">
            <a:extLst>
              <a:ext uri="{FF2B5EF4-FFF2-40B4-BE49-F238E27FC236}">
                <a16:creationId xmlns:a16="http://schemas.microsoft.com/office/drawing/2014/main" id="{AA3165DD-EDA4-4ECD-9FE0-156BBD63DF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65963" y="4121574"/>
            <a:ext cx="381000" cy="381000"/>
          </a:xfrm>
          <a:prstGeom prst="rect">
            <a:avLst/>
          </a:prstGeom>
        </p:spPr>
      </p:pic>
      <p:pic>
        <p:nvPicPr>
          <p:cNvPr id="28" name="Gráfico 27" descr="Programa">
            <a:extLst>
              <a:ext uri="{FF2B5EF4-FFF2-40B4-BE49-F238E27FC236}">
                <a16:creationId xmlns:a16="http://schemas.microsoft.com/office/drawing/2014/main" id="{533AC862-56BC-4034-8B2F-6EEF7D67240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94838" y="4111414"/>
            <a:ext cx="381000" cy="381000"/>
          </a:xfrm>
          <a:prstGeom prst="rect">
            <a:avLst/>
          </a:prstGeom>
        </p:spPr>
      </p:pic>
      <p:pic>
        <p:nvPicPr>
          <p:cNvPr id="29" name="Gráfico 28" descr="Programa">
            <a:extLst>
              <a:ext uri="{FF2B5EF4-FFF2-40B4-BE49-F238E27FC236}">
                <a16:creationId xmlns:a16="http://schemas.microsoft.com/office/drawing/2014/main" id="{30866338-CED6-419D-AC6C-B2A2C2FB795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59227" y="3660140"/>
            <a:ext cx="381000" cy="381000"/>
          </a:xfrm>
          <a:prstGeom prst="rect">
            <a:avLst/>
          </a:prstGeom>
        </p:spPr>
      </p:pic>
      <p:pic>
        <p:nvPicPr>
          <p:cNvPr id="30" name="Gráfico 29" descr="Programa">
            <a:extLst>
              <a:ext uri="{FF2B5EF4-FFF2-40B4-BE49-F238E27FC236}">
                <a16:creationId xmlns:a16="http://schemas.microsoft.com/office/drawing/2014/main" id="{3ECAD5F5-2F6E-4190-A040-8FD9FBA9898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02546" y="3657600"/>
            <a:ext cx="381000" cy="381000"/>
          </a:xfrm>
          <a:prstGeom prst="rect">
            <a:avLst/>
          </a:prstGeom>
        </p:spPr>
      </p:pic>
      <p:sp>
        <p:nvSpPr>
          <p:cNvPr id="31" name="Retângulo: Cantos Arredondados 30">
            <a:extLst>
              <a:ext uri="{FF2B5EF4-FFF2-40B4-BE49-F238E27FC236}">
                <a16:creationId xmlns:a16="http://schemas.microsoft.com/office/drawing/2014/main" id="{12D1C0CA-CD04-49E5-BAAF-E6251A145109}"/>
              </a:ext>
            </a:extLst>
          </p:cNvPr>
          <p:cNvSpPr/>
          <p:nvPr/>
        </p:nvSpPr>
        <p:spPr>
          <a:xfrm>
            <a:off x="1879599" y="1209040"/>
            <a:ext cx="7641395" cy="498855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tIns="0" rIns="0" rtlCol="0" anchor="t"/>
          <a:lstStyle/>
          <a:p>
            <a:pPr algn="ctr"/>
            <a:r>
              <a:rPr lang="pt-BR" sz="2800" dirty="0">
                <a:ln>
                  <a:solidFill>
                    <a:schemeClr val="accent1">
                      <a:shade val="50000"/>
                    </a:schemeClr>
                  </a:solidFill>
                </a:ln>
                <a:solidFill>
                  <a:schemeClr val="tx1"/>
                </a:solidFill>
              </a:rPr>
              <a:t>Conta Azure</a:t>
            </a:r>
          </a:p>
          <a:p>
            <a:pPr algn="r"/>
            <a:endParaRPr lang="pt-BR" dirty="0">
              <a:solidFill>
                <a:schemeClr val="tx1"/>
              </a:solidFill>
            </a:endParaRPr>
          </a:p>
        </p:txBody>
      </p:sp>
    </p:spTree>
    <p:extLst>
      <p:ext uri="{BB962C8B-B14F-4D97-AF65-F5344CB8AC3E}">
        <p14:creationId xmlns:p14="http://schemas.microsoft.com/office/powerpoint/2010/main" val="379880791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Gráfico 21" descr="Banco de dados">
            <a:extLst>
              <a:ext uri="{FF2B5EF4-FFF2-40B4-BE49-F238E27FC236}">
                <a16:creationId xmlns:a16="http://schemas.microsoft.com/office/drawing/2014/main" id="{645D2C67-EAF5-445E-9674-61DB1985B5B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927366">
            <a:off x="6447970" y="2160541"/>
            <a:ext cx="163744" cy="732310"/>
          </a:xfrm>
          <a:prstGeom prst="rect">
            <a:avLst/>
          </a:prstGeom>
        </p:spPr>
      </p:pic>
      <p:sp>
        <p:nvSpPr>
          <p:cNvPr id="2" name="Título 1">
            <a:extLst>
              <a:ext uri="{FF2B5EF4-FFF2-40B4-BE49-F238E27FC236}">
                <a16:creationId xmlns:a16="http://schemas.microsoft.com/office/drawing/2014/main" id="{DC6EC640-E25A-4E61-90D3-ADC96967A543}"/>
              </a:ext>
            </a:extLst>
          </p:cNvPr>
          <p:cNvSpPr>
            <a:spLocks noGrp="1"/>
          </p:cNvSpPr>
          <p:nvPr>
            <p:ph type="title"/>
          </p:nvPr>
        </p:nvSpPr>
        <p:spPr>
          <a:xfrm>
            <a:off x="1272042" y="103411"/>
            <a:ext cx="10515600" cy="1325563"/>
          </a:xfrm>
        </p:spPr>
        <p:txBody>
          <a:bodyPr/>
          <a:lstStyle/>
          <a:p>
            <a:r>
              <a:rPr lang="pt-BR" dirty="0"/>
              <a:t>MFA Autenticação </a:t>
            </a:r>
            <a:r>
              <a:rPr lang="pt-BR" dirty="0" err="1"/>
              <a:t>Multifator</a:t>
            </a:r>
            <a:br>
              <a:rPr lang="pt-BR" dirty="0"/>
            </a:br>
            <a:r>
              <a:rPr lang="pt-BR" dirty="0"/>
              <a:t>Auto Atendimento Senha</a:t>
            </a:r>
            <a:endParaRPr lang="pt-BR" dirty="0">
              <a:hlinkClick r:id="rId4"/>
            </a:endParaRPr>
          </a:p>
        </p:txBody>
      </p:sp>
      <p:sp>
        <p:nvSpPr>
          <p:cNvPr id="4" name="Retângulo: Cantos Arredondados 3">
            <a:extLst>
              <a:ext uri="{FF2B5EF4-FFF2-40B4-BE49-F238E27FC236}">
                <a16:creationId xmlns:a16="http://schemas.microsoft.com/office/drawing/2014/main" id="{9BE17CEE-AA0B-4666-B1FE-52661C795365}"/>
              </a:ext>
            </a:extLst>
          </p:cNvPr>
          <p:cNvSpPr/>
          <p:nvPr/>
        </p:nvSpPr>
        <p:spPr>
          <a:xfrm>
            <a:off x="7975599" y="772160"/>
            <a:ext cx="4053841" cy="572071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tIns="0" rIns="0" rtlCol="0" anchor="t"/>
          <a:lstStyle/>
          <a:p>
            <a:pPr algn="ctr"/>
            <a:r>
              <a:rPr lang="pt-BR" sz="2800" dirty="0">
                <a:ln>
                  <a:solidFill>
                    <a:schemeClr val="accent1">
                      <a:shade val="50000"/>
                    </a:schemeClr>
                  </a:solidFill>
                </a:ln>
                <a:solidFill>
                  <a:schemeClr val="tx1"/>
                </a:solidFill>
              </a:rPr>
              <a:t>Sistemas</a:t>
            </a:r>
          </a:p>
          <a:p>
            <a:pPr algn="r"/>
            <a:endParaRPr lang="pt-BR" dirty="0">
              <a:solidFill>
                <a:schemeClr val="tx1"/>
              </a:solidFill>
            </a:endParaRPr>
          </a:p>
        </p:txBody>
      </p:sp>
      <p:pic>
        <p:nvPicPr>
          <p:cNvPr id="6" name="Gráfico 5" descr="Internet">
            <a:extLst>
              <a:ext uri="{FF2B5EF4-FFF2-40B4-BE49-F238E27FC236}">
                <a16:creationId xmlns:a16="http://schemas.microsoft.com/office/drawing/2014/main" id="{C65CDFC8-E447-4DF7-B11F-6ED679A7EED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9120" y="2026919"/>
            <a:ext cx="914400" cy="914400"/>
          </a:xfrm>
          <a:prstGeom prst="rect">
            <a:avLst/>
          </a:prstGeom>
        </p:spPr>
      </p:pic>
      <p:pic>
        <p:nvPicPr>
          <p:cNvPr id="7" name="Gráfico 6" descr="Internet">
            <a:extLst>
              <a:ext uri="{FF2B5EF4-FFF2-40B4-BE49-F238E27FC236}">
                <a16:creationId xmlns:a16="http://schemas.microsoft.com/office/drawing/2014/main" id="{16BC6263-2F72-46E8-8E63-3B0CC85EEF5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94727" y="2300037"/>
            <a:ext cx="914400" cy="914400"/>
          </a:xfrm>
          <a:prstGeom prst="rect">
            <a:avLst/>
          </a:prstGeom>
        </p:spPr>
      </p:pic>
      <p:pic>
        <p:nvPicPr>
          <p:cNvPr id="8" name="Gráfico 7" descr="Internet">
            <a:extLst>
              <a:ext uri="{FF2B5EF4-FFF2-40B4-BE49-F238E27FC236}">
                <a16:creationId xmlns:a16="http://schemas.microsoft.com/office/drawing/2014/main" id="{DA8E17CD-84D4-4955-BC20-6CD20839B3E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57851" y="3966362"/>
            <a:ext cx="914400" cy="914400"/>
          </a:xfrm>
          <a:prstGeom prst="rect">
            <a:avLst/>
          </a:prstGeom>
        </p:spPr>
      </p:pic>
      <p:pic>
        <p:nvPicPr>
          <p:cNvPr id="9" name="Gráfico 8" descr="Internet">
            <a:extLst>
              <a:ext uri="{FF2B5EF4-FFF2-40B4-BE49-F238E27FC236}">
                <a16:creationId xmlns:a16="http://schemas.microsoft.com/office/drawing/2014/main" id="{0956314A-7EEA-4EF6-9576-F6B0577B4EC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52192" y="4974227"/>
            <a:ext cx="914400" cy="914400"/>
          </a:xfrm>
          <a:prstGeom prst="rect">
            <a:avLst/>
          </a:prstGeom>
        </p:spPr>
      </p:pic>
      <p:pic>
        <p:nvPicPr>
          <p:cNvPr id="15" name="Gráfico 14" descr="Programa">
            <a:extLst>
              <a:ext uri="{FF2B5EF4-FFF2-40B4-BE49-F238E27FC236}">
                <a16:creationId xmlns:a16="http://schemas.microsoft.com/office/drawing/2014/main" id="{3096F4B3-587E-4AD6-991A-02D745BFF97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70771" y="4028774"/>
            <a:ext cx="965200" cy="965200"/>
          </a:xfrm>
          <a:prstGeom prst="rect">
            <a:avLst/>
          </a:prstGeom>
        </p:spPr>
      </p:pic>
      <p:cxnSp>
        <p:nvCxnSpPr>
          <p:cNvPr id="16" name="Conector reto 15">
            <a:extLst>
              <a:ext uri="{FF2B5EF4-FFF2-40B4-BE49-F238E27FC236}">
                <a16:creationId xmlns:a16="http://schemas.microsoft.com/office/drawing/2014/main" id="{9833C6F8-DC32-41F4-8C68-080F990492E6}"/>
              </a:ext>
            </a:extLst>
          </p:cNvPr>
          <p:cNvCxnSpPr>
            <a:cxnSpLocks/>
            <a:stCxn id="15" idx="3"/>
            <a:endCxn id="22" idx="2"/>
          </p:cNvCxnSpPr>
          <p:nvPr/>
        </p:nvCxnSpPr>
        <p:spPr>
          <a:xfrm flipV="1">
            <a:off x="2335971" y="2879609"/>
            <a:ext cx="4096291" cy="1631765"/>
          </a:xfrm>
          <a:prstGeom prst="line">
            <a:avLst/>
          </a:prstGeom>
          <a:ln w="47625">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20" name="Gráfico 19" descr="Smartphone">
            <a:extLst>
              <a:ext uri="{FF2B5EF4-FFF2-40B4-BE49-F238E27FC236}">
                <a16:creationId xmlns:a16="http://schemas.microsoft.com/office/drawing/2014/main" id="{7D5C75AC-94F5-4D3A-9C3C-1F8EAC31D20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36877" y="1539743"/>
            <a:ext cx="914400" cy="914400"/>
          </a:xfrm>
          <a:prstGeom prst="rect">
            <a:avLst/>
          </a:prstGeom>
        </p:spPr>
      </p:pic>
      <p:cxnSp>
        <p:nvCxnSpPr>
          <p:cNvPr id="24" name="Conector reto 23">
            <a:extLst>
              <a:ext uri="{FF2B5EF4-FFF2-40B4-BE49-F238E27FC236}">
                <a16:creationId xmlns:a16="http://schemas.microsoft.com/office/drawing/2014/main" id="{E194727F-989F-424C-B357-008046F12127}"/>
              </a:ext>
            </a:extLst>
          </p:cNvPr>
          <p:cNvCxnSpPr>
            <a:cxnSpLocks/>
            <a:stCxn id="22" idx="0"/>
            <a:endCxn id="20" idx="3"/>
          </p:cNvCxnSpPr>
          <p:nvPr/>
        </p:nvCxnSpPr>
        <p:spPr>
          <a:xfrm flipH="1" flipV="1">
            <a:off x="2151277" y="1996943"/>
            <a:ext cx="4476145" cy="176840"/>
          </a:xfrm>
          <a:prstGeom prst="line">
            <a:avLst/>
          </a:prstGeom>
          <a:ln w="47625">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49" name="Gráfico 48" descr="Banco de dados">
            <a:extLst>
              <a:ext uri="{FF2B5EF4-FFF2-40B4-BE49-F238E27FC236}">
                <a16:creationId xmlns:a16="http://schemas.microsoft.com/office/drawing/2014/main" id="{F2CAC708-6D3F-4E67-9582-ABBA2415D9A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674767" y="3461013"/>
            <a:ext cx="771842" cy="843742"/>
          </a:xfrm>
          <a:prstGeom prst="rect">
            <a:avLst/>
          </a:prstGeom>
        </p:spPr>
      </p:pic>
      <p:pic>
        <p:nvPicPr>
          <p:cNvPr id="50" name="Gráfico 49" descr="Banco de dados">
            <a:extLst>
              <a:ext uri="{FF2B5EF4-FFF2-40B4-BE49-F238E27FC236}">
                <a16:creationId xmlns:a16="http://schemas.microsoft.com/office/drawing/2014/main" id="{4BFBBD82-BA92-4070-A79A-AA40FA2E459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656286" y="5486025"/>
            <a:ext cx="771842" cy="843742"/>
          </a:xfrm>
          <a:prstGeom prst="rect">
            <a:avLst/>
          </a:prstGeom>
        </p:spPr>
      </p:pic>
      <p:cxnSp>
        <p:nvCxnSpPr>
          <p:cNvPr id="82" name="Conector: Angulado 81">
            <a:extLst>
              <a:ext uri="{FF2B5EF4-FFF2-40B4-BE49-F238E27FC236}">
                <a16:creationId xmlns:a16="http://schemas.microsoft.com/office/drawing/2014/main" id="{936A99D0-9D5C-482B-B4CB-48FDD4F541BE}"/>
              </a:ext>
            </a:extLst>
          </p:cNvPr>
          <p:cNvCxnSpPr>
            <a:cxnSpLocks/>
            <a:stCxn id="20" idx="1"/>
            <a:endCxn id="15" idx="1"/>
          </p:cNvCxnSpPr>
          <p:nvPr/>
        </p:nvCxnSpPr>
        <p:spPr>
          <a:xfrm rot="10800000" flipH="1" flipV="1">
            <a:off x="1236877" y="1996942"/>
            <a:ext cx="133894" cy="2514431"/>
          </a:xfrm>
          <a:prstGeom prst="bentConnector3">
            <a:avLst>
              <a:gd name="adj1" fmla="val -170732"/>
            </a:avLst>
          </a:prstGeom>
          <a:ln w="47625">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33" name="Agrupar 132">
            <a:extLst>
              <a:ext uri="{FF2B5EF4-FFF2-40B4-BE49-F238E27FC236}">
                <a16:creationId xmlns:a16="http://schemas.microsoft.com/office/drawing/2014/main" id="{1F27EB2E-7C3E-441A-8C33-71EC76F87EAB}"/>
              </a:ext>
            </a:extLst>
          </p:cNvPr>
          <p:cNvGrpSpPr/>
          <p:nvPr/>
        </p:nvGrpSpPr>
        <p:grpSpPr>
          <a:xfrm>
            <a:off x="6550211" y="1887946"/>
            <a:ext cx="2133600" cy="1139191"/>
            <a:chOff x="3535680" y="2941319"/>
            <a:chExt cx="2133600" cy="1139191"/>
          </a:xfrm>
        </p:grpSpPr>
        <p:sp>
          <p:nvSpPr>
            <p:cNvPr id="134" name="Retângulo 133">
              <a:extLst>
                <a:ext uri="{FF2B5EF4-FFF2-40B4-BE49-F238E27FC236}">
                  <a16:creationId xmlns:a16="http://schemas.microsoft.com/office/drawing/2014/main" id="{27D0E2C6-563E-4F48-8ED3-04EE4D8BFF46}"/>
                </a:ext>
              </a:extLst>
            </p:cNvPr>
            <p:cNvSpPr/>
            <p:nvPr/>
          </p:nvSpPr>
          <p:spPr>
            <a:xfrm>
              <a:off x="3535680" y="2941319"/>
              <a:ext cx="2133600" cy="113919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pt-BR" dirty="0">
                  <a:solidFill>
                    <a:schemeClr val="tx1"/>
                  </a:solidFill>
                </a:rPr>
                <a:t>Usuário:</a:t>
              </a:r>
            </a:p>
            <a:p>
              <a:r>
                <a:rPr lang="pt-BR" dirty="0">
                  <a:solidFill>
                    <a:schemeClr val="tx1"/>
                  </a:solidFill>
                </a:rPr>
                <a:t>   Senha:</a:t>
              </a:r>
            </a:p>
          </p:txBody>
        </p:sp>
        <p:sp>
          <p:nvSpPr>
            <p:cNvPr id="135" name="Retângulo 134">
              <a:extLst>
                <a:ext uri="{FF2B5EF4-FFF2-40B4-BE49-F238E27FC236}">
                  <a16:creationId xmlns:a16="http://schemas.microsoft.com/office/drawing/2014/main" id="{C3939F8D-DAD1-40F5-B62F-40DF4E762A5D}"/>
                </a:ext>
              </a:extLst>
            </p:cNvPr>
            <p:cNvSpPr/>
            <p:nvPr/>
          </p:nvSpPr>
          <p:spPr>
            <a:xfrm>
              <a:off x="4574540" y="3018588"/>
              <a:ext cx="944880" cy="293096"/>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6" name="Retângulo 135">
              <a:extLst>
                <a:ext uri="{FF2B5EF4-FFF2-40B4-BE49-F238E27FC236}">
                  <a16:creationId xmlns:a16="http://schemas.microsoft.com/office/drawing/2014/main" id="{F66E425F-66CC-42A0-87EF-EA95B74B8497}"/>
                </a:ext>
              </a:extLst>
            </p:cNvPr>
            <p:cNvSpPr/>
            <p:nvPr/>
          </p:nvSpPr>
          <p:spPr>
            <a:xfrm>
              <a:off x="4574540" y="3359129"/>
              <a:ext cx="944880" cy="293096"/>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7" name="Retângulo: Cantos Arredondados 136">
              <a:extLst>
                <a:ext uri="{FF2B5EF4-FFF2-40B4-BE49-F238E27FC236}">
                  <a16:creationId xmlns:a16="http://schemas.microsoft.com/office/drawing/2014/main" id="{06750B2F-B02A-4B93-923F-4E92BBC16F89}"/>
                </a:ext>
              </a:extLst>
            </p:cNvPr>
            <p:cNvSpPr/>
            <p:nvPr/>
          </p:nvSpPr>
          <p:spPr>
            <a:xfrm>
              <a:off x="4574540" y="3721417"/>
              <a:ext cx="924560" cy="300991"/>
            </a:xfrm>
            <a:prstGeom prst="roundRect">
              <a:avLst/>
            </a:prstGeom>
            <a:solidFill>
              <a:schemeClr val="bg1">
                <a:lumMod val="75000"/>
              </a:schemeClr>
            </a:solidFill>
            <a:ln w="31750">
              <a:solidFill>
                <a:schemeClr val="bg1">
                  <a:lumMod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Entrar</a:t>
              </a:r>
            </a:p>
          </p:txBody>
        </p:sp>
      </p:grpSp>
      <p:cxnSp>
        <p:nvCxnSpPr>
          <p:cNvPr id="177" name="Conector reto 176">
            <a:extLst>
              <a:ext uri="{FF2B5EF4-FFF2-40B4-BE49-F238E27FC236}">
                <a16:creationId xmlns:a16="http://schemas.microsoft.com/office/drawing/2014/main" id="{2C3441CD-BF7C-42E2-BA91-BF8903C9A787}"/>
              </a:ext>
            </a:extLst>
          </p:cNvPr>
          <p:cNvCxnSpPr>
            <a:cxnSpLocks/>
            <a:stCxn id="15" idx="3"/>
            <a:endCxn id="10" idx="1"/>
          </p:cNvCxnSpPr>
          <p:nvPr/>
        </p:nvCxnSpPr>
        <p:spPr>
          <a:xfrm flipV="1">
            <a:off x="2335971" y="3956573"/>
            <a:ext cx="3698790" cy="554801"/>
          </a:xfrm>
          <a:prstGeom prst="line">
            <a:avLst/>
          </a:prstGeom>
          <a:ln w="47625">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38" name="Agrupar 137">
            <a:extLst>
              <a:ext uri="{FF2B5EF4-FFF2-40B4-BE49-F238E27FC236}">
                <a16:creationId xmlns:a16="http://schemas.microsoft.com/office/drawing/2014/main" id="{30D32E9E-CF17-4A98-923B-A6D18E6A1498}"/>
              </a:ext>
            </a:extLst>
          </p:cNvPr>
          <p:cNvGrpSpPr/>
          <p:nvPr/>
        </p:nvGrpSpPr>
        <p:grpSpPr>
          <a:xfrm>
            <a:off x="6034761" y="3499373"/>
            <a:ext cx="3029826" cy="914400"/>
            <a:chOff x="3939934" y="4403725"/>
            <a:chExt cx="3029826" cy="914400"/>
          </a:xfrm>
        </p:grpSpPr>
        <p:sp>
          <p:nvSpPr>
            <p:cNvPr id="10" name="Retângulo 9">
              <a:extLst>
                <a:ext uri="{FF2B5EF4-FFF2-40B4-BE49-F238E27FC236}">
                  <a16:creationId xmlns:a16="http://schemas.microsoft.com/office/drawing/2014/main" id="{F7CAC63A-778C-448D-AEB2-996D451A336A}"/>
                </a:ext>
              </a:extLst>
            </p:cNvPr>
            <p:cNvSpPr/>
            <p:nvPr/>
          </p:nvSpPr>
          <p:spPr>
            <a:xfrm>
              <a:off x="3939934" y="4403725"/>
              <a:ext cx="3029826"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pt-BR" dirty="0">
                  <a:solidFill>
                    <a:schemeClr val="tx1"/>
                  </a:solidFill>
                </a:rPr>
                <a:t>Código Verificação</a:t>
              </a:r>
            </a:p>
          </p:txBody>
        </p:sp>
        <p:sp>
          <p:nvSpPr>
            <p:cNvPr id="11" name="Retângulo 10">
              <a:extLst>
                <a:ext uri="{FF2B5EF4-FFF2-40B4-BE49-F238E27FC236}">
                  <a16:creationId xmlns:a16="http://schemas.microsoft.com/office/drawing/2014/main" id="{904159E5-67F5-4151-AD8F-162BE0B454C4}"/>
                </a:ext>
              </a:extLst>
            </p:cNvPr>
            <p:cNvSpPr/>
            <p:nvPr/>
          </p:nvSpPr>
          <p:spPr>
            <a:xfrm>
              <a:off x="5824543" y="4490961"/>
              <a:ext cx="944880" cy="293096"/>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Cantos Arredondados 12">
              <a:extLst>
                <a:ext uri="{FF2B5EF4-FFF2-40B4-BE49-F238E27FC236}">
                  <a16:creationId xmlns:a16="http://schemas.microsoft.com/office/drawing/2014/main" id="{67882010-C9B9-48F3-9A9D-580BC56E6536}"/>
                </a:ext>
              </a:extLst>
            </p:cNvPr>
            <p:cNvSpPr/>
            <p:nvPr/>
          </p:nvSpPr>
          <p:spPr>
            <a:xfrm>
              <a:off x="5800090" y="4871294"/>
              <a:ext cx="924560" cy="300991"/>
            </a:xfrm>
            <a:prstGeom prst="roundRect">
              <a:avLst/>
            </a:prstGeom>
            <a:solidFill>
              <a:schemeClr val="bg1">
                <a:lumMod val="75000"/>
              </a:schemeClr>
            </a:solidFill>
            <a:ln w="31750">
              <a:solidFill>
                <a:schemeClr val="bg1">
                  <a:lumMod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Entrar</a:t>
              </a:r>
            </a:p>
          </p:txBody>
        </p:sp>
      </p:grpSp>
      <p:sp>
        <p:nvSpPr>
          <p:cNvPr id="211" name="CaixaDeTexto 210">
            <a:extLst>
              <a:ext uri="{FF2B5EF4-FFF2-40B4-BE49-F238E27FC236}">
                <a16:creationId xmlns:a16="http://schemas.microsoft.com/office/drawing/2014/main" id="{08A84041-5D1E-44C1-A38C-2E13716D067C}"/>
              </a:ext>
            </a:extLst>
          </p:cNvPr>
          <p:cNvSpPr txBox="1"/>
          <p:nvPr/>
        </p:nvSpPr>
        <p:spPr>
          <a:xfrm rot="21415938">
            <a:off x="2685351" y="2453642"/>
            <a:ext cx="2572462" cy="369332"/>
          </a:xfrm>
          <a:prstGeom prst="rect">
            <a:avLst/>
          </a:prstGeom>
          <a:ln w="47625">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pt-BR" dirty="0"/>
              <a:t>Código SMS ou Aplicativo</a:t>
            </a:r>
          </a:p>
        </p:txBody>
      </p:sp>
      <p:cxnSp>
        <p:nvCxnSpPr>
          <p:cNvPr id="212" name="Conector de Seta Reta 211">
            <a:extLst>
              <a:ext uri="{FF2B5EF4-FFF2-40B4-BE49-F238E27FC236}">
                <a16:creationId xmlns:a16="http://schemas.microsoft.com/office/drawing/2014/main" id="{36B26441-3693-447B-852F-D092F072810A}"/>
              </a:ext>
            </a:extLst>
          </p:cNvPr>
          <p:cNvCxnSpPr>
            <a:cxnSpLocks/>
            <a:stCxn id="211" idx="0"/>
          </p:cNvCxnSpPr>
          <p:nvPr/>
        </p:nvCxnSpPr>
        <p:spPr>
          <a:xfrm flipV="1">
            <a:off x="3961699" y="2085363"/>
            <a:ext cx="0" cy="368544"/>
          </a:xfrm>
          <a:prstGeom prst="straightConnector1">
            <a:avLst/>
          </a:prstGeom>
          <a:ln w="47625">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25" name="Conector reto 224">
            <a:extLst>
              <a:ext uri="{FF2B5EF4-FFF2-40B4-BE49-F238E27FC236}">
                <a16:creationId xmlns:a16="http://schemas.microsoft.com/office/drawing/2014/main" id="{061472A7-FFEC-4744-B244-F5013FC3B8A2}"/>
              </a:ext>
            </a:extLst>
          </p:cNvPr>
          <p:cNvCxnSpPr>
            <a:cxnSpLocks/>
            <a:stCxn id="15" idx="3"/>
            <a:endCxn id="230" idx="1"/>
          </p:cNvCxnSpPr>
          <p:nvPr/>
        </p:nvCxnSpPr>
        <p:spPr>
          <a:xfrm>
            <a:off x="2335971" y="4511374"/>
            <a:ext cx="4159454" cy="436076"/>
          </a:xfrm>
          <a:prstGeom prst="line">
            <a:avLst/>
          </a:prstGeom>
          <a:ln w="47625">
            <a:solidFill>
              <a:srgbClr val="3865B6"/>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30" name="Retângulo 229">
            <a:extLst>
              <a:ext uri="{FF2B5EF4-FFF2-40B4-BE49-F238E27FC236}">
                <a16:creationId xmlns:a16="http://schemas.microsoft.com/office/drawing/2014/main" id="{496DA680-571F-498E-AA89-1DD2F373EDB4}"/>
              </a:ext>
            </a:extLst>
          </p:cNvPr>
          <p:cNvSpPr/>
          <p:nvPr/>
        </p:nvSpPr>
        <p:spPr>
          <a:xfrm>
            <a:off x="6495425" y="4735502"/>
            <a:ext cx="2423246" cy="42389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pt-BR" dirty="0">
                <a:solidFill>
                  <a:schemeClr val="tx1"/>
                </a:solidFill>
              </a:rPr>
              <a:t>Recuperar Senha</a:t>
            </a:r>
          </a:p>
        </p:txBody>
      </p:sp>
      <p:cxnSp>
        <p:nvCxnSpPr>
          <p:cNvPr id="239" name="Conector reto 238">
            <a:extLst>
              <a:ext uri="{FF2B5EF4-FFF2-40B4-BE49-F238E27FC236}">
                <a16:creationId xmlns:a16="http://schemas.microsoft.com/office/drawing/2014/main" id="{C8014AE6-9B8D-4AF3-B61D-3F54DCA0B21B}"/>
              </a:ext>
            </a:extLst>
          </p:cNvPr>
          <p:cNvCxnSpPr>
            <a:cxnSpLocks/>
            <a:stCxn id="230" idx="1"/>
            <a:endCxn id="259" idx="3"/>
          </p:cNvCxnSpPr>
          <p:nvPr/>
        </p:nvCxnSpPr>
        <p:spPr>
          <a:xfrm flipH="1">
            <a:off x="5265854" y="4947450"/>
            <a:ext cx="1229571" cy="833840"/>
          </a:xfrm>
          <a:prstGeom prst="line">
            <a:avLst/>
          </a:prstGeom>
          <a:ln w="47625">
            <a:solidFill>
              <a:srgbClr val="3865B6"/>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50" name="Conector: Angulado 249">
            <a:extLst>
              <a:ext uri="{FF2B5EF4-FFF2-40B4-BE49-F238E27FC236}">
                <a16:creationId xmlns:a16="http://schemas.microsoft.com/office/drawing/2014/main" id="{9A929D62-818B-4CE5-B15B-05037D1A3F0B}"/>
              </a:ext>
            </a:extLst>
          </p:cNvPr>
          <p:cNvCxnSpPr>
            <a:cxnSpLocks/>
            <a:stCxn id="259" idx="1"/>
          </p:cNvCxnSpPr>
          <p:nvPr/>
        </p:nvCxnSpPr>
        <p:spPr>
          <a:xfrm rot="10800000">
            <a:off x="1866934" y="5077648"/>
            <a:ext cx="470306" cy="703643"/>
          </a:xfrm>
          <a:prstGeom prst="bentConnector2">
            <a:avLst/>
          </a:prstGeom>
          <a:ln w="47625">
            <a:solidFill>
              <a:srgbClr val="3865B6"/>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59" name="Retângulo: Cantos Arredondados 258">
            <a:extLst>
              <a:ext uri="{FF2B5EF4-FFF2-40B4-BE49-F238E27FC236}">
                <a16:creationId xmlns:a16="http://schemas.microsoft.com/office/drawing/2014/main" id="{D8E59C1C-F82E-4A41-9AA6-5253F8D1737C}"/>
              </a:ext>
            </a:extLst>
          </p:cNvPr>
          <p:cNvSpPr/>
          <p:nvPr/>
        </p:nvSpPr>
        <p:spPr>
          <a:xfrm>
            <a:off x="2337240" y="4993974"/>
            <a:ext cx="2928614" cy="1574631"/>
          </a:xfrm>
          <a:prstGeom prst="roundRect">
            <a:avLst/>
          </a:prstGeom>
          <a:noFill/>
          <a:ln w="47625">
            <a:solidFill>
              <a:srgbClr val="3865B6"/>
            </a:solidFill>
          </a:ln>
        </p:spPr>
        <p:style>
          <a:lnRef idx="2">
            <a:schemeClr val="accent1">
              <a:shade val="50000"/>
            </a:schemeClr>
          </a:lnRef>
          <a:fillRef idx="1">
            <a:schemeClr val="accent1"/>
          </a:fillRef>
          <a:effectRef idx="0">
            <a:schemeClr val="accent1"/>
          </a:effectRef>
          <a:fontRef idx="minor">
            <a:schemeClr val="lt1"/>
          </a:fontRef>
        </p:style>
        <p:txBody>
          <a:bodyPr tIns="0" rIns="0" rtlCol="0" anchor="t"/>
          <a:lstStyle/>
          <a:p>
            <a:r>
              <a:rPr lang="pt-BR" sz="1600" dirty="0">
                <a:solidFill>
                  <a:schemeClr val="tx1"/>
                </a:solidFill>
              </a:rPr>
              <a:t>Notificação Aplicativo Móvel</a:t>
            </a:r>
          </a:p>
          <a:p>
            <a:r>
              <a:rPr lang="pt-BR" sz="1600" dirty="0">
                <a:solidFill>
                  <a:schemeClr val="tx1"/>
                </a:solidFill>
              </a:rPr>
              <a:t>Código do Aplicativo Móvel</a:t>
            </a:r>
          </a:p>
          <a:p>
            <a:r>
              <a:rPr lang="pt-BR" sz="1600" dirty="0">
                <a:solidFill>
                  <a:schemeClr val="tx1"/>
                </a:solidFill>
              </a:rPr>
              <a:t>E - mail</a:t>
            </a:r>
          </a:p>
          <a:p>
            <a:r>
              <a:rPr lang="pt-BR" sz="1600" dirty="0">
                <a:solidFill>
                  <a:schemeClr val="tx1"/>
                </a:solidFill>
              </a:rPr>
              <a:t>Telefone Celular</a:t>
            </a:r>
          </a:p>
          <a:p>
            <a:r>
              <a:rPr lang="pt-BR" sz="1600" dirty="0">
                <a:solidFill>
                  <a:schemeClr val="tx1"/>
                </a:solidFill>
              </a:rPr>
              <a:t>Telefone Comercial</a:t>
            </a:r>
          </a:p>
          <a:p>
            <a:r>
              <a:rPr lang="pt-BR" sz="1600" dirty="0">
                <a:solidFill>
                  <a:schemeClr val="tx1"/>
                </a:solidFill>
              </a:rPr>
              <a:t>Perguntas de Segurança</a:t>
            </a:r>
          </a:p>
          <a:p>
            <a:pPr algn="r"/>
            <a:endParaRPr lang="pt-BR" dirty="0">
              <a:solidFill>
                <a:schemeClr val="tx1"/>
              </a:solidFill>
            </a:endParaRPr>
          </a:p>
        </p:txBody>
      </p:sp>
    </p:spTree>
    <p:extLst>
      <p:ext uri="{BB962C8B-B14F-4D97-AF65-F5344CB8AC3E}">
        <p14:creationId xmlns:p14="http://schemas.microsoft.com/office/powerpoint/2010/main" val="78239819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EEF5F8-A569-4691-B0C7-8323B7DA512F}"/>
              </a:ext>
            </a:extLst>
          </p:cNvPr>
          <p:cNvSpPr>
            <a:spLocks noGrp="1"/>
          </p:cNvSpPr>
          <p:nvPr>
            <p:ph type="title"/>
          </p:nvPr>
        </p:nvSpPr>
        <p:spPr/>
        <p:txBody>
          <a:bodyPr/>
          <a:lstStyle/>
          <a:p>
            <a:r>
              <a:rPr lang="pt-BR" dirty="0"/>
              <a:t>Ad Connect </a:t>
            </a:r>
            <a:r>
              <a:rPr lang="pt-BR" dirty="0" err="1"/>
              <a:t>Sync</a:t>
            </a:r>
            <a:r>
              <a:rPr lang="pt-BR" dirty="0"/>
              <a:t> – Identidade Hibrida</a:t>
            </a:r>
          </a:p>
        </p:txBody>
      </p:sp>
      <p:sp>
        <p:nvSpPr>
          <p:cNvPr id="3" name="Espaço Reservado para Conteúdo 2">
            <a:extLst>
              <a:ext uri="{FF2B5EF4-FFF2-40B4-BE49-F238E27FC236}">
                <a16:creationId xmlns:a16="http://schemas.microsoft.com/office/drawing/2014/main" id="{89EB20D9-DBF7-47A5-AD92-3289D2BFD8C1}"/>
              </a:ext>
            </a:extLst>
          </p:cNvPr>
          <p:cNvSpPr>
            <a:spLocks noGrp="1"/>
          </p:cNvSpPr>
          <p:nvPr>
            <p:ph idx="1"/>
          </p:nvPr>
        </p:nvSpPr>
        <p:spPr/>
        <p:txBody>
          <a:bodyPr>
            <a:normAutofit fontScale="77500" lnSpcReduction="20000"/>
          </a:bodyPr>
          <a:lstStyle/>
          <a:p>
            <a:r>
              <a:rPr lang="pt-BR" dirty="0"/>
              <a:t>Sincronização de </a:t>
            </a:r>
            <a:r>
              <a:rPr lang="pt-BR" dirty="0" err="1"/>
              <a:t>hash</a:t>
            </a:r>
            <a:r>
              <a:rPr lang="pt-BR" dirty="0"/>
              <a:t> de senha – um método de entrada que sincroniza o </a:t>
            </a:r>
            <a:r>
              <a:rPr lang="pt-BR" dirty="0" err="1"/>
              <a:t>hash</a:t>
            </a:r>
            <a:r>
              <a:rPr lang="pt-BR" dirty="0"/>
              <a:t> da senha do AD local do usuário com o Azure AD.</a:t>
            </a:r>
          </a:p>
          <a:p>
            <a:r>
              <a:rPr lang="pt-BR" dirty="0"/>
              <a:t>Autenticação de passagem – um método de entrada que permite que os usuários usem a mesma senha localmente e na nuvem, mas não exige a infraestrutura adicional de um ambiente federado.</a:t>
            </a:r>
          </a:p>
          <a:p>
            <a:r>
              <a:rPr lang="pt-BR" dirty="0"/>
              <a:t>Integração de federação – a federação é uma parte opcional do Azure AD Connect e pode ser usada para configurar um ambiente híbrido usando uma infraestrutura do AD FS local. Ela também fornece recursos de gerenciamento do AD FS, como renovação de certificado e implantações adicionais de servidor do AD FS.</a:t>
            </a:r>
          </a:p>
          <a:p>
            <a:r>
              <a:rPr lang="pt-BR" dirty="0"/>
              <a:t>Sincronização – responsável pela criação de usuários, grupos e outros objetos. Também é responsável por garantir que as informações de identidade dos usuários e grupos locais correspondam às da nuvem. Essa sincronização também inclui os </a:t>
            </a:r>
            <a:r>
              <a:rPr lang="pt-BR" dirty="0" err="1"/>
              <a:t>hashes</a:t>
            </a:r>
            <a:r>
              <a:rPr lang="pt-BR" dirty="0"/>
              <a:t> de senha.</a:t>
            </a:r>
          </a:p>
          <a:p>
            <a:r>
              <a:rPr lang="pt-BR" dirty="0"/>
              <a:t>Monitoramento de Integridade – o Azure AD Connect Health pode fornecer monitoramento robusto e fornecer um local central no portal do Azure para exibir essa atividade.</a:t>
            </a:r>
          </a:p>
          <a:p>
            <a:endParaRPr lang="pt-BR" dirty="0"/>
          </a:p>
        </p:txBody>
      </p:sp>
    </p:spTree>
    <p:extLst>
      <p:ext uri="{BB962C8B-B14F-4D97-AF65-F5344CB8AC3E}">
        <p14:creationId xmlns:p14="http://schemas.microsoft.com/office/powerpoint/2010/main" val="27874555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Gráfico 40" descr="Banco de dados">
            <a:extLst>
              <a:ext uri="{FF2B5EF4-FFF2-40B4-BE49-F238E27FC236}">
                <a16:creationId xmlns:a16="http://schemas.microsoft.com/office/drawing/2014/main" id="{144FC370-1428-494A-A777-D6793A762CE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6411337">
            <a:off x="3238932" y="2639646"/>
            <a:ext cx="239751" cy="831096"/>
          </a:xfrm>
          <a:prstGeom prst="rect">
            <a:avLst/>
          </a:prstGeom>
        </p:spPr>
      </p:pic>
      <p:sp>
        <p:nvSpPr>
          <p:cNvPr id="2" name="Título 1">
            <a:extLst>
              <a:ext uri="{FF2B5EF4-FFF2-40B4-BE49-F238E27FC236}">
                <a16:creationId xmlns:a16="http://schemas.microsoft.com/office/drawing/2014/main" id="{75BD5A07-D16E-4303-81FD-4B600BCA7F2A}"/>
              </a:ext>
            </a:extLst>
          </p:cNvPr>
          <p:cNvSpPr>
            <a:spLocks noGrp="1"/>
          </p:cNvSpPr>
          <p:nvPr>
            <p:ph type="title"/>
          </p:nvPr>
        </p:nvSpPr>
        <p:spPr/>
        <p:txBody>
          <a:bodyPr/>
          <a:lstStyle/>
          <a:p>
            <a:r>
              <a:rPr lang="pt-BR" dirty="0"/>
              <a:t>AD Connect</a:t>
            </a:r>
          </a:p>
        </p:txBody>
      </p:sp>
      <p:pic>
        <p:nvPicPr>
          <p:cNvPr id="4" name="Gráfico 3" descr="Nuvem">
            <a:extLst>
              <a:ext uri="{FF2B5EF4-FFF2-40B4-BE49-F238E27FC236}">
                <a16:creationId xmlns:a16="http://schemas.microsoft.com/office/drawing/2014/main" id="{6CE7DBEB-3712-4DB6-A4CC-88A4CA34144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19899" y="927436"/>
            <a:ext cx="6293088" cy="4725954"/>
          </a:xfrm>
          <a:prstGeom prst="rect">
            <a:avLst/>
          </a:prstGeom>
        </p:spPr>
      </p:pic>
      <p:pic>
        <p:nvPicPr>
          <p:cNvPr id="5" name="Imagem 4">
            <a:extLst>
              <a:ext uri="{FF2B5EF4-FFF2-40B4-BE49-F238E27FC236}">
                <a16:creationId xmlns:a16="http://schemas.microsoft.com/office/drawing/2014/main" id="{27EDDBE1-C918-490E-99EA-4B28EBE6C2A5}"/>
              </a:ext>
            </a:extLst>
          </p:cNvPr>
          <p:cNvPicPr>
            <a:picLocks noChangeAspect="1"/>
          </p:cNvPicPr>
          <p:nvPr/>
        </p:nvPicPr>
        <p:blipFill>
          <a:blip r:embed="rId6"/>
          <a:stretch>
            <a:fillRect/>
          </a:stretch>
        </p:blipFill>
        <p:spPr>
          <a:xfrm>
            <a:off x="7310933" y="3376576"/>
            <a:ext cx="719138" cy="714375"/>
          </a:xfrm>
          <a:prstGeom prst="rect">
            <a:avLst/>
          </a:prstGeom>
        </p:spPr>
      </p:pic>
      <p:pic>
        <p:nvPicPr>
          <p:cNvPr id="10" name="Gráfico 9" descr="Computador">
            <a:extLst>
              <a:ext uri="{FF2B5EF4-FFF2-40B4-BE49-F238E27FC236}">
                <a16:creationId xmlns:a16="http://schemas.microsoft.com/office/drawing/2014/main" id="{7A141887-D725-43FA-AC69-910E09F24AC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6315" y="2614568"/>
            <a:ext cx="2238393" cy="2238393"/>
          </a:xfrm>
          <a:prstGeom prst="rect">
            <a:avLst/>
          </a:prstGeom>
        </p:spPr>
      </p:pic>
      <p:pic>
        <p:nvPicPr>
          <p:cNvPr id="7" name="Gráfico 6" descr="Engrenagens">
            <a:extLst>
              <a:ext uri="{FF2B5EF4-FFF2-40B4-BE49-F238E27FC236}">
                <a16:creationId xmlns:a16="http://schemas.microsoft.com/office/drawing/2014/main" id="{55B36E7E-E708-41AC-887E-4C27B8865CC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527024" y="3055194"/>
            <a:ext cx="1408078" cy="1408078"/>
          </a:xfrm>
          <a:prstGeom prst="rect">
            <a:avLst/>
          </a:prstGeom>
        </p:spPr>
      </p:pic>
      <p:sp>
        <p:nvSpPr>
          <p:cNvPr id="11" name="CaixaDeTexto 10">
            <a:extLst>
              <a:ext uri="{FF2B5EF4-FFF2-40B4-BE49-F238E27FC236}">
                <a16:creationId xmlns:a16="http://schemas.microsoft.com/office/drawing/2014/main" id="{F4621E08-F26E-453E-AFB7-AEA3F7FDFBC1}"/>
              </a:ext>
            </a:extLst>
          </p:cNvPr>
          <p:cNvSpPr txBox="1"/>
          <p:nvPr/>
        </p:nvSpPr>
        <p:spPr>
          <a:xfrm>
            <a:off x="2946030" y="1289005"/>
            <a:ext cx="2238394" cy="369332"/>
          </a:xfrm>
          <a:prstGeom prst="rect">
            <a:avLst/>
          </a:prstGeom>
          <a:ln w="4762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pt-BR" dirty="0"/>
              <a:t>AD – Active </a:t>
            </a:r>
            <a:r>
              <a:rPr lang="pt-BR" dirty="0" err="1"/>
              <a:t>Directory</a:t>
            </a:r>
            <a:endParaRPr lang="pt-BR" dirty="0"/>
          </a:p>
        </p:txBody>
      </p:sp>
      <p:sp>
        <p:nvSpPr>
          <p:cNvPr id="12" name="CaixaDeTexto 11">
            <a:extLst>
              <a:ext uri="{FF2B5EF4-FFF2-40B4-BE49-F238E27FC236}">
                <a16:creationId xmlns:a16="http://schemas.microsoft.com/office/drawing/2014/main" id="{717E0F19-7532-404D-8CC7-43E3ADA83A93}"/>
              </a:ext>
            </a:extLst>
          </p:cNvPr>
          <p:cNvSpPr txBox="1"/>
          <p:nvPr/>
        </p:nvSpPr>
        <p:spPr>
          <a:xfrm>
            <a:off x="6452060" y="5283587"/>
            <a:ext cx="2436884" cy="369332"/>
          </a:xfrm>
          <a:prstGeom prst="rect">
            <a:avLst/>
          </a:prstGeom>
          <a:ln w="47625">
            <a:solidFill>
              <a:srgbClr val="3865B6"/>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pt-BR" dirty="0"/>
              <a:t>Azure Active </a:t>
            </a:r>
            <a:r>
              <a:rPr lang="pt-BR" dirty="0" err="1"/>
              <a:t>Directory</a:t>
            </a:r>
            <a:r>
              <a:rPr lang="pt-BR" dirty="0"/>
              <a:t> </a:t>
            </a:r>
          </a:p>
        </p:txBody>
      </p:sp>
      <p:sp>
        <p:nvSpPr>
          <p:cNvPr id="13" name="CaixaDeTexto 12">
            <a:extLst>
              <a:ext uri="{FF2B5EF4-FFF2-40B4-BE49-F238E27FC236}">
                <a16:creationId xmlns:a16="http://schemas.microsoft.com/office/drawing/2014/main" id="{AA9B0DC5-2068-4904-83F2-DCB2659DAEFE}"/>
              </a:ext>
            </a:extLst>
          </p:cNvPr>
          <p:cNvSpPr txBox="1"/>
          <p:nvPr/>
        </p:nvSpPr>
        <p:spPr>
          <a:xfrm>
            <a:off x="5495758" y="1268685"/>
            <a:ext cx="1408078" cy="369332"/>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pt-BR" dirty="0"/>
              <a:t>AD</a:t>
            </a:r>
            <a:r>
              <a:rPr lang="pt-BR" b="1" dirty="0"/>
              <a:t> </a:t>
            </a:r>
            <a:r>
              <a:rPr lang="pt-BR" dirty="0"/>
              <a:t>Connect</a:t>
            </a:r>
          </a:p>
        </p:txBody>
      </p:sp>
      <p:cxnSp>
        <p:nvCxnSpPr>
          <p:cNvPr id="14" name="Conector de Seta Reta 13">
            <a:extLst>
              <a:ext uri="{FF2B5EF4-FFF2-40B4-BE49-F238E27FC236}">
                <a16:creationId xmlns:a16="http://schemas.microsoft.com/office/drawing/2014/main" id="{D86F77F2-EDD4-4AC9-A5D2-724E12BF337B}"/>
              </a:ext>
            </a:extLst>
          </p:cNvPr>
          <p:cNvCxnSpPr>
            <a:cxnSpLocks/>
            <a:stCxn id="13" idx="2"/>
            <a:endCxn id="41" idx="0"/>
          </p:cNvCxnSpPr>
          <p:nvPr/>
        </p:nvCxnSpPr>
        <p:spPr>
          <a:xfrm flipH="1">
            <a:off x="3756503" y="1638017"/>
            <a:ext cx="2443294" cy="1537670"/>
          </a:xfrm>
          <a:prstGeom prst="straightConnector1">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a:extLst>
              <a:ext uri="{FF2B5EF4-FFF2-40B4-BE49-F238E27FC236}">
                <a16:creationId xmlns:a16="http://schemas.microsoft.com/office/drawing/2014/main" id="{205CAF63-6020-4E93-A553-428B81B20DA9}"/>
              </a:ext>
            </a:extLst>
          </p:cNvPr>
          <p:cNvCxnSpPr>
            <a:cxnSpLocks/>
            <a:stCxn id="11" idx="2"/>
            <a:endCxn id="41" idx="2"/>
          </p:cNvCxnSpPr>
          <p:nvPr/>
        </p:nvCxnSpPr>
        <p:spPr>
          <a:xfrm flipH="1">
            <a:off x="2961112" y="1658337"/>
            <a:ext cx="1104115" cy="1276365"/>
          </a:xfrm>
          <a:prstGeom prst="straightConnector1">
            <a:avLst/>
          </a:prstGeom>
          <a:ln w="4762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21">
            <a:extLst>
              <a:ext uri="{FF2B5EF4-FFF2-40B4-BE49-F238E27FC236}">
                <a16:creationId xmlns:a16="http://schemas.microsoft.com/office/drawing/2014/main" id="{1C527C9A-97DA-4111-9512-53C9EE51E6E1}"/>
              </a:ext>
            </a:extLst>
          </p:cNvPr>
          <p:cNvCxnSpPr>
            <a:cxnSpLocks/>
            <a:stCxn id="12" idx="0"/>
            <a:endCxn id="5" idx="2"/>
          </p:cNvCxnSpPr>
          <p:nvPr/>
        </p:nvCxnSpPr>
        <p:spPr>
          <a:xfrm flipV="1">
            <a:off x="7670502" y="4090951"/>
            <a:ext cx="0" cy="1192636"/>
          </a:xfrm>
          <a:prstGeom prst="straightConnector1">
            <a:avLst/>
          </a:prstGeom>
          <a:ln w="47625">
            <a:solidFill>
              <a:srgbClr val="3865B6"/>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1" name="Conector de Seta Reta 60">
            <a:extLst>
              <a:ext uri="{FF2B5EF4-FFF2-40B4-BE49-F238E27FC236}">
                <a16:creationId xmlns:a16="http://schemas.microsoft.com/office/drawing/2014/main" id="{A717C7D4-EC7E-4BF2-8C53-7D5C4800EE67}"/>
              </a:ext>
            </a:extLst>
          </p:cNvPr>
          <p:cNvCxnSpPr>
            <a:cxnSpLocks/>
            <a:stCxn id="7" idx="3"/>
            <a:endCxn id="5" idx="1"/>
          </p:cNvCxnSpPr>
          <p:nvPr/>
        </p:nvCxnSpPr>
        <p:spPr>
          <a:xfrm flipV="1">
            <a:off x="3935102" y="3733764"/>
            <a:ext cx="3375831" cy="25469"/>
          </a:xfrm>
          <a:prstGeom prst="straightConnector1">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8" name="Gráfico 67" descr="Tablet">
            <a:extLst>
              <a:ext uri="{FF2B5EF4-FFF2-40B4-BE49-F238E27FC236}">
                <a16:creationId xmlns:a16="http://schemas.microsoft.com/office/drawing/2014/main" id="{59D0F29A-25BF-4B6A-A7FB-5A0095BE619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411211" y="5203622"/>
            <a:ext cx="573219" cy="573219"/>
          </a:xfrm>
          <a:prstGeom prst="rect">
            <a:avLst/>
          </a:prstGeom>
        </p:spPr>
      </p:pic>
      <p:pic>
        <p:nvPicPr>
          <p:cNvPr id="70" name="Gráfico 69" descr="Laptop">
            <a:extLst>
              <a:ext uri="{FF2B5EF4-FFF2-40B4-BE49-F238E27FC236}">
                <a16:creationId xmlns:a16="http://schemas.microsoft.com/office/drawing/2014/main" id="{959D8002-3721-4C95-BE68-B2AE2B6FD82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924071" y="6062835"/>
            <a:ext cx="588243" cy="588243"/>
          </a:xfrm>
          <a:prstGeom prst="rect">
            <a:avLst/>
          </a:prstGeom>
        </p:spPr>
      </p:pic>
      <p:pic>
        <p:nvPicPr>
          <p:cNvPr id="72" name="Gráfico 71" descr="Monitorar">
            <a:extLst>
              <a:ext uri="{FF2B5EF4-FFF2-40B4-BE49-F238E27FC236}">
                <a16:creationId xmlns:a16="http://schemas.microsoft.com/office/drawing/2014/main" id="{BF147193-078A-4463-AA5B-5E2AE2C74DA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81912" y="5889699"/>
            <a:ext cx="588243" cy="588243"/>
          </a:xfrm>
          <a:prstGeom prst="rect">
            <a:avLst/>
          </a:prstGeom>
        </p:spPr>
      </p:pic>
      <p:pic>
        <p:nvPicPr>
          <p:cNvPr id="74" name="Gráfico 73" descr="Smartphone">
            <a:extLst>
              <a:ext uri="{FF2B5EF4-FFF2-40B4-BE49-F238E27FC236}">
                <a16:creationId xmlns:a16="http://schemas.microsoft.com/office/drawing/2014/main" id="{C8751E9C-131C-4F02-829C-A0D99DBAA086}"/>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798774" y="5340348"/>
            <a:ext cx="473561" cy="473561"/>
          </a:xfrm>
          <a:prstGeom prst="rect">
            <a:avLst/>
          </a:prstGeom>
        </p:spPr>
      </p:pic>
      <p:pic>
        <p:nvPicPr>
          <p:cNvPr id="76" name="Gráfico 75" descr="Apresentação com gráfico de barras">
            <a:extLst>
              <a:ext uri="{FF2B5EF4-FFF2-40B4-BE49-F238E27FC236}">
                <a16:creationId xmlns:a16="http://schemas.microsoft.com/office/drawing/2014/main" id="{BDB5EAD3-3DA2-4B4E-BB81-5250C2B3E5D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782051" y="5093431"/>
            <a:ext cx="914400" cy="914400"/>
          </a:xfrm>
          <a:prstGeom prst="rect">
            <a:avLst/>
          </a:prstGeom>
        </p:spPr>
      </p:pic>
      <p:pic>
        <p:nvPicPr>
          <p:cNvPr id="78" name="Gráfico 77" descr="Programa">
            <a:extLst>
              <a:ext uri="{FF2B5EF4-FFF2-40B4-BE49-F238E27FC236}">
                <a16:creationId xmlns:a16="http://schemas.microsoft.com/office/drawing/2014/main" id="{6FD3EFB4-30DB-497A-820C-3209E25A491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356997" y="5566392"/>
            <a:ext cx="1234856" cy="1234856"/>
          </a:xfrm>
          <a:prstGeom prst="rect">
            <a:avLst/>
          </a:prstGeom>
        </p:spPr>
      </p:pic>
      <p:cxnSp>
        <p:nvCxnSpPr>
          <p:cNvPr id="79" name="Conector de Seta Reta 78">
            <a:extLst>
              <a:ext uri="{FF2B5EF4-FFF2-40B4-BE49-F238E27FC236}">
                <a16:creationId xmlns:a16="http://schemas.microsoft.com/office/drawing/2014/main" id="{51C6AF41-A856-46F1-A944-1338671CB4BC}"/>
              </a:ext>
            </a:extLst>
          </p:cNvPr>
          <p:cNvCxnSpPr>
            <a:cxnSpLocks/>
            <a:stCxn id="7" idx="2"/>
            <a:endCxn id="76" idx="0"/>
          </p:cNvCxnSpPr>
          <p:nvPr/>
        </p:nvCxnSpPr>
        <p:spPr>
          <a:xfrm>
            <a:off x="3231063" y="4463272"/>
            <a:ext cx="8188" cy="630159"/>
          </a:xfrm>
          <a:prstGeom prst="straightConnector1">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84" name="Gráfico 83" descr="Internet">
            <a:extLst>
              <a:ext uri="{FF2B5EF4-FFF2-40B4-BE49-F238E27FC236}">
                <a16:creationId xmlns:a16="http://schemas.microsoft.com/office/drawing/2014/main" id="{F6A445A7-2766-42A6-8BAF-B260E87D49AC}"/>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646049" y="2718487"/>
            <a:ext cx="914400" cy="914400"/>
          </a:xfrm>
          <a:prstGeom prst="rect">
            <a:avLst/>
          </a:prstGeom>
        </p:spPr>
      </p:pic>
      <p:pic>
        <p:nvPicPr>
          <p:cNvPr id="85" name="Gráfico 84" descr="Internet">
            <a:extLst>
              <a:ext uri="{FF2B5EF4-FFF2-40B4-BE49-F238E27FC236}">
                <a16:creationId xmlns:a16="http://schemas.microsoft.com/office/drawing/2014/main" id="{07EBE04B-EE5D-4FD4-8215-E3750025129B}"/>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600721" y="3523604"/>
            <a:ext cx="914400" cy="914400"/>
          </a:xfrm>
          <a:prstGeom prst="rect">
            <a:avLst/>
          </a:prstGeom>
        </p:spPr>
      </p:pic>
      <p:pic>
        <p:nvPicPr>
          <p:cNvPr id="86" name="Gráfico 85" descr="Internet">
            <a:extLst>
              <a:ext uri="{FF2B5EF4-FFF2-40B4-BE49-F238E27FC236}">
                <a16:creationId xmlns:a16="http://schemas.microsoft.com/office/drawing/2014/main" id="{457FAC3A-2C3C-482B-A649-58B4B4C50E58}"/>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9298100" y="3570956"/>
            <a:ext cx="914400" cy="914400"/>
          </a:xfrm>
          <a:prstGeom prst="rect">
            <a:avLst/>
          </a:prstGeom>
        </p:spPr>
      </p:pic>
      <p:pic>
        <p:nvPicPr>
          <p:cNvPr id="87" name="Gráfico 86" descr="Banco de dados">
            <a:extLst>
              <a:ext uri="{FF2B5EF4-FFF2-40B4-BE49-F238E27FC236}">
                <a16:creationId xmlns:a16="http://schemas.microsoft.com/office/drawing/2014/main" id="{6DD92FF6-F77F-4B0B-B83B-9A25496F9AA7}"/>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0164876" y="2848102"/>
            <a:ext cx="771842" cy="843742"/>
          </a:xfrm>
          <a:prstGeom prst="rect">
            <a:avLst/>
          </a:prstGeom>
        </p:spPr>
      </p:pic>
      <p:sp>
        <p:nvSpPr>
          <p:cNvPr id="88" name="Retângulo: Cantos Arredondados 87">
            <a:extLst>
              <a:ext uri="{FF2B5EF4-FFF2-40B4-BE49-F238E27FC236}">
                <a16:creationId xmlns:a16="http://schemas.microsoft.com/office/drawing/2014/main" id="{9CC0D205-EE9B-4947-9192-DD0202E56885}"/>
              </a:ext>
            </a:extLst>
          </p:cNvPr>
          <p:cNvSpPr/>
          <p:nvPr/>
        </p:nvSpPr>
        <p:spPr>
          <a:xfrm>
            <a:off x="426720" y="2153920"/>
            <a:ext cx="4459817" cy="464732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tIns="0" rIns="0" rtlCol="0" anchor="t"/>
          <a:lstStyle/>
          <a:p>
            <a:r>
              <a:rPr lang="pt-BR" sz="2800" dirty="0" err="1">
                <a:ln>
                  <a:solidFill>
                    <a:schemeClr val="accent1">
                      <a:shade val="50000"/>
                    </a:schemeClr>
                  </a:solidFill>
                </a:ln>
                <a:solidFill>
                  <a:schemeClr val="tx1"/>
                </a:solidFill>
              </a:rPr>
              <a:t>On-premises</a:t>
            </a:r>
            <a:endParaRPr lang="pt-BR" sz="2800" dirty="0">
              <a:ln>
                <a:solidFill>
                  <a:schemeClr val="accent1">
                    <a:shade val="50000"/>
                  </a:schemeClr>
                </a:solidFill>
              </a:ln>
              <a:solidFill>
                <a:schemeClr val="tx1"/>
              </a:solidFill>
            </a:endParaRPr>
          </a:p>
          <a:p>
            <a:pPr algn="r"/>
            <a:endParaRPr lang="pt-BR" dirty="0">
              <a:solidFill>
                <a:schemeClr val="tx1"/>
              </a:solidFill>
            </a:endParaRPr>
          </a:p>
        </p:txBody>
      </p:sp>
    </p:spTree>
    <p:extLst>
      <p:ext uri="{BB962C8B-B14F-4D97-AF65-F5344CB8AC3E}">
        <p14:creationId xmlns:p14="http://schemas.microsoft.com/office/powerpoint/2010/main" val="81412074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722266-89A6-4BBB-ACDF-57406E396FD2}"/>
              </a:ext>
            </a:extLst>
          </p:cNvPr>
          <p:cNvSpPr>
            <a:spLocks noGrp="1"/>
          </p:cNvSpPr>
          <p:nvPr>
            <p:ph type="title"/>
          </p:nvPr>
        </p:nvSpPr>
        <p:spPr>
          <a:xfrm>
            <a:off x="252508" y="99244"/>
            <a:ext cx="8952452" cy="1325563"/>
          </a:xfrm>
        </p:spPr>
        <p:txBody>
          <a:bodyPr>
            <a:normAutofit/>
          </a:bodyPr>
          <a:lstStyle/>
          <a:p>
            <a:r>
              <a:rPr lang="pt-BR" dirty="0"/>
              <a:t>PIM - </a:t>
            </a:r>
            <a:r>
              <a:rPr lang="pt-BR" dirty="0" err="1"/>
              <a:t>Privileged</a:t>
            </a:r>
            <a:r>
              <a:rPr lang="pt-BR" dirty="0"/>
              <a:t> </a:t>
            </a:r>
            <a:r>
              <a:rPr lang="pt-BR" dirty="0" err="1"/>
              <a:t>Identity</a:t>
            </a:r>
            <a:r>
              <a:rPr lang="pt-BR" dirty="0"/>
              <a:t> Management</a:t>
            </a:r>
          </a:p>
        </p:txBody>
      </p:sp>
      <p:sp>
        <p:nvSpPr>
          <p:cNvPr id="3" name="Espaço Reservado para Conteúdo 2">
            <a:extLst>
              <a:ext uri="{FF2B5EF4-FFF2-40B4-BE49-F238E27FC236}">
                <a16:creationId xmlns:a16="http://schemas.microsoft.com/office/drawing/2014/main" id="{CD522BD9-244D-4668-BD86-0B5CEC125F73}"/>
              </a:ext>
            </a:extLst>
          </p:cNvPr>
          <p:cNvSpPr>
            <a:spLocks noGrp="1"/>
          </p:cNvSpPr>
          <p:nvPr>
            <p:ph idx="1"/>
          </p:nvPr>
        </p:nvSpPr>
        <p:spPr>
          <a:xfrm>
            <a:off x="252509" y="1544320"/>
            <a:ext cx="9161478" cy="5214435"/>
          </a:xfrm>
        </p:spPr>
        <p:txBody>
          <a:bodyPr anchor="ctr">
            <a:normAutofit lnSpcReduction="10000"/>
          </a:bodyPr>
          <a:lstStyle/>
          <a:p>
            <a:r>
              <a:rPr lang="pt-BR" sz="2400" dirty="0"/>
              <a:t>O PIM (</a:t>
            </a:r>
            <a:r>
              <a:rPr lang="pt-BR" sz="2400" dirty="0" err="1"/>
              <a:t>Privileged</a:t>
            </a:r>
            <a:r>
              <a:rPr lang="pt-BR" sz="2400" dirty="0"/>
              <a:t> </a:t>
            </a:r>
            <a:r>
              <a:rPr lang="pt-BR" sz="2400" dirty="0" err="1"/>
              <a:t>Identity</a:t>
            </a:r>
            <a:r>
              <a:rPr lang="pt-BR" sz="2400" dirty="0"/>
              <a:t> Management) do Azure AD é um serviço que permite gerenciar, controlar e monitorar o acesso a importantes recursos</a:t>
            </a:r>
          </a:p>
          <a:p>
            <a:r>
              <a:rPr lang="pt-BR" sz="2400" dirty="0"/>
              <a:t>Usuário (Grupos, Administradores, Global Administradores)</a:t>
            </a:r>
          </a:p>
          <a:p>
            <a:r>
              <a:rPr lang="pt-BR" sz="2400" dirty="0"/>
              <a:t>Permite ou bloqueia acesso a recursos</a:t>
            </a:r>
          </a:p>
          <a:p>
            <a:r>
              <a:rPr lang="pt-BR" sz="2400" dirty="0"/>
              <a:t>Permite por período determinado acesso a recursos.</a:t>
            </a:r>
          </a:p>
          <a:p>
            <a:r>
              <a:rPr lang="pt-BR" sz="2400" dirty="0"/>
              <a:t>Monitora ações de usuários (</a:t>
            </a:r>
            <a:r>
              <a:rPr lang="pt-BR" sz="2400" dirty="0" err="1"/>
              <a:t>View</a:t>
            </a:r>
            <a:r>
              <a:rPr lang="pt-BR" sz="2400" dirty="0"/>
              <a:t> Administrator </a:t>
            </a:r>
            <a:r>
              <a:rPr lang="pt-BR" sz="2400" dirty="0" err="1"/>
              <a:t>History</a:t>
            </a:r>
            <a:r>
              <a:rPr lang="pt-BR" sz="2400" dirty="0"/>
              <a:t>)</a:t>
            </a:r>
          </a:p>
          <a:p>
            <a:r>
              <a:rPr lang="pt-BR" sz="2400" dirty="0"/>
              <a:t>Cria alertas de ações de usuários.</a:t>
            </a:r>
          </a:p>
          <a:p>
            <a:r>
              <a:rPr lang="pt-BR" sz="2400" dirty="0"/>
              <a:t>Automatiza solicitações de requisições (workflow).</a:t>
            </a:r>
          </a:p>
          <a:p>
            <a:r>
              <a:rPr lang="pt-BR" sz="2400" dirty="0"/>
              <a:t>Roles</a:t>
            </a:r>
          </a:p>
          <a:p>
            <a:pPr lvl="1"/>
            <a:r>
              <a:rPr lang="pt-BR" dirty="0" err="1"/>
              <a:t>Directory</a:t>
            </a:r>
            <a:r>
              <a:rPr lang="pt-BR" dirty="0"/>
              <a:t> Roles</a:t>
            </a:r>
          </a:p>
          <a:p>
            <a:pPr lvl="1"/>
            <a:r>
              <a:rPr lang="pt-BR" dirty="0" err="1"/>
              <a:t>Resources</a:t>
            </a:r>
            <a:r>
              <a:rPr lang="pt-BR" dirty="0"/>
              <a:t> Roles</a:t>
            </a:r>
          </a:p>
          <a:p>
            <a:r>
              <a:rPr lang="pt-BR" sz="2400" dirty="0"/>
              <a:t>Histórico de Auditoria.</a:t>
            </a:r>
          </a:p>
          <a:p>
            <a:endParaRPr lang="pt-BR" sz="1300" dirty="0"/>
          </a:p>
          <a:p>
            <a:endParaRPr lang="pt-BR" sz="1300" dirty="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1E2CECB0-8A2D-4F5B-82A9-67C4BA9B43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324941245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98224B-AB99-4B54-A297-18766FBAEDB3}"/>
              </a:ext>
            </a:extLst>
          </p:cNvPr>
          <p:cNvSpPr>
            <a:spLocks noGrp="1"/>
          </p:cNvSpPr>
          <p:nvPr>
            <p:ph type="title"/>
          </p:nvPr>
        </p:nvSpPr>
        <p:spPr>
          <a:xfrm>
            <a:off x="375920" y="121275"/>
            <a:ext cx="9530080" cy="1325563"/>
          </a:xfrm>
        </p:spPr>
        <p:txBody>
          <a:bodyPr>
            <a:normAutofit/>
          </a:bodyPr>
          <a:lstStyle/>
          <a:p>
            <a:r>
              <a:rPr lang="pt-BR" dirty="0"/>
              <a:t>PIM - Role-</a:t>
            </a:r>
            <a:r>
              <a:rPr lang="pt-BR" dirty="0" err="1"/>
              <a:t>based</a:t>
            </a:r>
            <a:r>
              <a:rPr lang="pt-BR" dirty="0"/>
              <a:t> </a:t>
            </a:r>
            <a:r>
              <a:rPr lang="pt-BR" dirty="0" err="1"/>
              <a:t>access</a:t>
            </a:r>
            <a:r>
              <a:rPr lang="pt-BR" dirty="0"/>
              <a:t> </a:t>
            </a:r>
            <a:r>
              <a:rPr lang="pt-BR" dirty="0" err="1"/>
              <a:t>control</a:t>
            </a:r>
            <a:r>
              <a:rPr lang="pt-BR" dirty="0"/>
              <a:t> (RBAC)</a:t>
            </a:r>
          </a:p>
        </p:txBody>
      </p:sp>
      <p:sp>
        <p:nvSpPr>
          <p:cNvPr id="3" name="Espaço Reservado para Conteúdo 2">
            <a:extLst>
              <a:ext uri="{FF2B5EF4-FFF2-40B4-BE49-F238E27FC236}">
                <a16:creationId xmlns:a16="http://schemas.microsoft.com/office/drawing/2014/main" id="{0D2CB27D-D5A7-4177-9DB2-4CA55F593D3A}"/>
              </a:ext>
            </a:extLst>
          </p:cNvPr>
          <p:cNvSpPr>
            <a:spLocks noGrp="1"/>
          </p:cNvSpPr>
          <p:nvPr>
            <p:ph idx="1"/>
          </p:nvPr>
        </p:nvSpPr>
        <p:spPr>
          <a:xfrm>
            <a:off x="71120" y="1446838"/>
            <a:ext cx="9342867" cy="5289887"/>
          </a:xfrm>
        </p:spPr>
        <p:txBody>
          <a:bodyPr anchor="ctr">
            <a:normAutofit/>
          </a:bodyPr>
          <a:lstStyle/>
          <a:p>
            <a:r>
              <a:rPr lang="pt-BR" sz="2000" dirty="0"/>
              <a:t>RBAC - Controle de acesso baseado em função</a:t>
            </a:r>
          </a:p>
          <a:p>
            <a:r>
              <a:rPr lang="pt-BR" sz="2000" dirty="0"/>
              <a:t>Habilita o acesso “Just-In-Time” sob demanda aos recursos do Azure</a:t>
            </a:r>
          </a:p>
          <a:p>
            <a:r>
              <a:rPr lang="pt-BR" sz="2000" dirty="0"/>
              <a:t>Expira o acesso aos recursos automaticamente para os usuários e grupos atribuídos</a:t>
            </a:r>
          </a:p>
          <a:p>
            <a:r>
              <a:rPr lang="pt-BR" sz="2000" dirty="0"/>
              <a:t>Atribui o acesso temporário aos recursos do Azure para tarefas rápidas ou escalas de plantão</a:t>
            </a:r>
          </a:p>
          <a:p>
            <a:r>
              <a:rPr lang="pt-BR" sz="2000" dirty="0"/>
              <a:t>Obter alertas quando novos usuários ou grupos recebem o acesso aos recursos e quando eles ativam atribuições qualificadas</a:t>
            </a:r>
          </a:p>
          <a:p>
            <a:r>
              <a:rPr lang="pt-BR" sz="2000" dirty="0"/>
              <a:t>Usuários: </a:t>
            </a:r>
            <a:r>
              <a:rPr lang="pt-BR" sz="2000" dirty="0" err="1"/>
              <a:t>Elegible</a:t>
            </a:r>
            <a:r>
              <a:rPr lang="pt-BR" sz="2000" dirty="0"/>
              <a:t> (máximo 3 meses) ou Active (máximo 1 mês)</a:t>
            </a:r>
          </a:p>
          <a:p>
            <a:r>
              <a:rPr lang="pt-BR" sz="2000" dirty="0"/>
              <a:t>Permitir que um usuário gerencie máquinas virtuais em uma assinatura e outro usuário gerencie redes virtuais</a:t>
            </a:r>
          </a:p>
          <a:p>
            <a:r>
              <a:rPr lang="pt-BR" sz="2000" dirty="0"/>
              <a:t>Permitir que um grupo de DBA gerencie bancos de dados SQL em uma assinatura</a:t>
            </a:r>
          </a:p>
          <a:p>
            <a:r>
              <a:rPr lang="pt-BR" sz="2000" dirty="0"/>
              <a:t>Permitir que um usuário gerencie todos os recursos em um grupo de recursos, como máquinas virtuais, sites e </a:t>
            </a:r>
            <a:r>
              <a:rPr lang="pt-BR" sz="2000" dirty="0" err="1"/>
              <a:t>sub-redes</a:t>
            </a:r>
            <a:endParaRPr lang="pt-BR" sz="2000" dirty="0"/>
          </a:p>
          <a:p>
            <a:r>
              <a:rPr lang="pt-BR" sz="2000" dirty="0"/>
              <a:t>Permitir que um aplicativo acesse todos os recursos em um grupo de recursos</a:t>
            </a:r>
          </a:p>
          <a:p>
            <a:endParaRPr lang="pt-BR" sz="1100" dirty="0"/>
          </a:p>
          <a:p>
            <a:endParaRPr lang="pt-BR" sz="1100" dirty="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BE573807-8EB1-49BB-8F55-06B45CF0A06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152410321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5D9487-3121-459E-A0E3-D2324C350D4E}"/>
              </a:ext>
            </a:extLst>
          </p:cNvPr>
          <p:cNvSpPr>
            <a:spLocks noGrp="1"/>
          </p:cNvSpPr>
          <p:nvPr>
            <p:ph type="title"/>
          </p:nvPr>
        </p:nvSpPr>
        <p:spPr/>
        <p:txBody>
          <a:bodyPr/>
          <a:lstStyle/>
          <a:p>
            <a:r>
              <a:rPr lang="pt-BR" dirty="0"/>
              <a:t>Definição de Função (Role)</a:t>
            </a:r>
          </a:p>
        </p:txBody>
      </p:sp>
      <p:sp>
        <p:nvSpPr>
          <p:cNvPr id="3" name="Espaço Reservado para Conteúdo 2">
            <a:extLst>
              <a:ext uri="{FF2B5EF4-FFF2-40B4-BE49-F238E27FC236}">
                <a16:creationId xmlns:a16="http://schemas.microsoft.com/office/drawing/2014/main" id="{EF6A8106-71D7-4894-A9B3-4A0E23D2B716}"/>
              </a:ext>
            </a:extLst>
          </p:cNvPr>
          <p:cNvSpPr>
            <a:spLocks noGrp="1"/>
          </p:cNvSpPr>
          <p:nvPr>
            <p:ph idx="1"/>
          </p:nvPr>
        </p:nvSpPr>
        <p:spPr>
          <a:xfrm>
            <a:off x="518160" y="1412240"/>
            <a:ext cx="11226800" cy="5080635"/>
          </a:xfrm>
        </p:spPr>
        <p:txBody>
          <a:bodyPr>
            <a:normAutofit fontScale="92500" lnSpcReduction="20000"/>
          </a:bodyPr>
          <a:lstStyle/>
          <a:p>
            <a:r>
              <a:rPr lang="pt-BR" dirty="0"/>
              <a:t>Consiste em três elementos: </a:t>
            </a:r>
          </a:p>
          <a:p>
            <a:pPr lvl="1"/>
            <a:r>
              <a:rPr lang="pt-BR" dirty="0"/>
              <a:t>Entidade de segurança</a:t>
            </a:r>
          </a:p>
          <a:p>
            <a:pPr lvl="2"/>
            <a:r>
              <a:rPr lang="pt-BR" dirty="0"/>
              <a:t>Usuário – Um indivíduo que tem um perfil no Azure Active </a:t>
            </a:r>
            <a:r>
              <a:rPr lang="pt-BR" dirty="0" err="1"/>
              <a:t>Directory</a:t>
            </a:r>
            <a:r>
              <a:rPr lang="pt-BR" dirty="0"/>
              <a:t>.</a:t>
            </a:r>
          </a:p>
          <a:p>
            <a:pPr lvl="2"/>
            <a:r>
              <a:rPr lang="pt-BR" dirty="0"/>
              <a:t>Grupo - Um grupo de usuários criados no Azure Active </a:t>
            </a:r>
            <a:r>
              <a:rPr lang="pt-BR" dirty="0" err="1"/>
              <a:t>Directory</a:t>
            </a:r>
            <a:r>
              <a:rPr lang="pt-BR" dirty="0"/>
              <a:t>, atribuir uma função a um grupo, atribui automaticamente a todos os usuários dentro desse grupo.</a:t>
            </a:r>
          </a:p>
          <a:p>
            <a:pPr lvl="2"/>
            <a:r>
              <a:rPr lang="pt-BR" dirty="0"/>
              <a:t>Entidade de serviço - Uma identidade de segurança usada por aplicativos ou serviços para acessar recursos específicos do Azure. </a:t>
            </a:r>
          </a:p>
          <a:p>
            <a:pPr lvl="2"/>
            <a:r>
              <a:rPr lang="pt-BR" dirty="0"/>
              <a:t>Identidade gerenciada - uma identidade que é gerenciada automaticamente pelo Azure (gerenciar as credenciais de autenticação em desenvolvimento de aplicativos)</a:t>
            </a:r>
          </a:p>
          <a:p>
            <a:pPr lvl="1"/>
            <a:r>
              <a:rPr lang="pt-BR" dirty="0"/>
              <a:t>Definição de função </a:t>
            </a:r>
          </a:p>
          <a:p>
            <a:pPr lvl="2"/>
            <a:r>
              <a:rPr lang="pt-BR" dirty="0"/>
              <a:t>Proprietário - Possui acesso total a todos os recursos, inclusive o direito de delegar acesso a outros usuários.</a:t>
            </a:r>
          </a:p>
          <a:p>
            <a:pPr lvl="2"/>
            <a:r>
              <a:rPr lang="pt-BR" dirty="0"/>
              <a:t>Colaborador - Cria e gerencia todos os recursos do Azure, mas não pode conceder acesso a outras pessoas.</a:t>
            </a:r>
          </a:p>
          <a:p>
            <a:pPr lvl="2"/>
            <a:r>
              <a:rPr lang="pt-BR" dirty="0"/>
              <a:t>Leitor - Pode ler os recursos existentes do Azure.</a:t>
            </a:r>
          </a:p>
          <a:p>
            <a:pPr lvl="2"/>
            <a:r>
              <a:rPr lang="pt-BR" dirty="0"/>
              <a:t>Administrador de Acesso do Usuário - Permite gerenciar o acesso do usuário aos recursos do Azure.</a:t>
            </a:r>
          </a:p>
          <a:p>
            <a:pPr lvl="1"/>
            <a:r>
              <a:rPr lang="pt-BR" dirty="0"/>
              <a:t>Escopo.</a:t>
            </a:r>
          </a:p>
          <a:p>
            <a:pPr lvl="2"/>
            <a:r>
              <a:rPr lang="pt-BR" dirty="0"/>
              <a:t>Manager </a:t>
            </a:r>
            <a:r>
              <a:rPr lang="pt-BR" dirty="0" err="1"/>
              <a:t>Group</a:t>
            </a:r>
            <a:r>
              <a:rPr lang="pt-BR" dirty="0"/>
              <a:t>, </a:t>
            </a:r>
            <a:r>
              <a:rPr lang="pt-BR" dirty="0" err="1"/>
              <a:t>Subscription</a:t>
            </a:r>
            <a:r>
              <a:rPr lang="pt-BR" dirty="0"/>
              <a:t>, </a:t>
            </a:r>
            <a:r>
              <a:rPr lang="pt-BR" dirty="0" err="1"/>
              <a:t>Resouce</a:t>
            </a:r>
            <a:r>
              <a:rPr lang="pt-BR" dirty="0"/>
              <a:t> </a:t>
            </a:r>
            <a:r>
              <a:rPr lang="pt-BR" dirty="0" err="1"/>
              <a:t>Group</a:t>
            </a:r>
            <a:r>
              <a:rPr lang="pt-BR" dirty="0"/>
              <a:t>, </a:t>
            </a:r>
            <a:r>
              <a:rPr lang="pt-BR" dirty="0" err="1"/>
              <a:t>Resource</a:t>
            </a:r>
            <a:r>
              <a:rPr lang="pt-BR" dirty="0"/>
              <a:t>.</a:t>
            </a:r>
          </a:p>
        </p:txBody>
      </p:sp>
    </p:spTree>
    <p:extLst>
      <p:ext uri="{BB962C8B-B14F-4D97-AF65-F5344CB8AC3E}">
        <p14:creationId xmlns:p14="http://schemas.microsoft.com/office/powerpoint/2010/main" val="251821436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C5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https://docs.microsoft.com/en-us/azure/role-based-access-control/media/overview/rbac-least-privilege.png">
            <a:extLst>
              <a:ext uri="{FF2B5EF4-FFF2-40B4-BE49-F238E27FC236}">
                <a16:creationId xmlns:a16="http://schemas.microsoft.com/office/drawing/2014/main" id="{1D7716AA-7381-4961-A743-E15F5A6E1BB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011858" y="1234752"/>
            <a:ext cx="10028921" cy="4688528"/>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705D9487-3121-459E-A0E3-D2324C350D4E}"/>
              </a:ext>
            </a:extLst>
          </p:cNvPr>
          <p:cNvSpPr>
            <a:spLocks noGrp="1"/>
          </p:cNvSpPr>
          <p:nvPr>
            <p:ph type="title"/>
          </p:nvPr>
        </p:nvSpPr>
        <p:spPr>
          <a:xfrm>
            <a:off x="640080" y="802641"/>
            <a:ext cx="2235200" cy="2123440"/>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dirty="0" err="1">
                <a:solidFill>
                  <a:srgbClr val="FFFFFF"/>
                </a:solidFill>
                <a:latin typeface="+mj-lt"/>
                <a:ea typeface="+mj-ea"/>
                <a:cs typeface="+mj-cs"/>
              </a:rPr>
              <a:t>Definição</a:t>
            </a:r>
            <a:r>
              <a:rPr lang="en-US" sz="2600" kern="1200" dirty="0">
                <a:solidFill>
                  <a:srgbClr val="FFFFFF"/>
                </a:solidFill>
                <a:latin typeface="+mj-lt"/>
                <a:ea typeface="+mj-ea"/>
                <a:cs typeface="+mj-cs"/>
              </a:rPr>
              <a:t> de </a:t>
            </a:r>
            <a:r>
              <a:rPr lang="en-US" sz="2600" kern="1200" dirty="0" err="1">
                <a:solidFill>
                  <a:srgbClr val="FFFFFF"/>
                </a:solidFill>
                <a:latin typeface="+mj-lt"/>
                <a:ea typeface="+mj-ea"/>
                <a:cs typeface="+mj-cs"/>
              </a:rPr>
              <a:t>Função</a:t>
            </a:r>
            <a:r>
              <a:rPr lang="en-US" sz="2600" kern="1200" dirty="0">
                <a:solidFill>
                  <a:srgbClr val="FFFFFF"/>
                </a:solidFill>
                <a:latin typeface="+mj-lt"/>
                <a:ea typeface="+mj-ea"/>
                <a:cs typeface="+mj-cs"/>
              </a:rPr>
              <a:t> (Role)</a:t>
            </a:r>
          </a:p>
        </p:txBody>
      </p:sp>
    </p:spTree>
    <p:extLst>
      <p:ext uri="{BB962C8B-B14F-4D97-AF65-F5344CB8AC3E}">
        <p14:creationId xmlns:p14="http://schemas.microsoft.com/office/powerpoint/2010/main" val="233388054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Gráfico 47" descr="Nuvem">
            <a:extLst>
              <a:ext uri="{FF2B5EF4-FFF2-40B4-BE49-F238E27FC236}">
                <a16:creationId xmlns:a16="http://schemas.microsoft.com/office/drawing/2014/main" id="{F6FF8E35-864A-4D13-B0DC-1EF6666416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17065" y="-670017"/>
            <a:ext cx="7059588" cy="6207369"/>
          </a:xfrm>
          <a:prstGeom prst="rect">
            <a:avLst/>
          </a:prstGeom>
        </p:spPr>
      </p:pic>
      <p:sp>
        <p:nvSpPr>
          <p:cNvPr id="2" name="Título 1">
            <a:extLst>
              <a:ext uri="{FF2B5EF4-FFF2-40B4-BE49-F238E27FC236}">
                <a16:creationId xmlns:a16="http://schemas.microsoft.com/office/drawing/2014/main" id="{AC9B040A-289D-4B67-8F04-0CC0AA91E934}"/>
              </a:ext>
            </a:extLst>
          </p:cNvPr>
          <p:cNvSpPr>
            <a:spLocks noGrp="1"/>
          </p:cNvSpPr>
          <p:nvPr>
            <p:ph type="title"/>
          </p:nvPr>
        </p:nvSpPr>
        <p:spPr/>
        <p:txBody>
          <a:bodyPr/>
          <a:lstStyle/>
          <a:p>
            <a:r>
              <a:rPr lang="pt-BR" dirty="0"/>
              <a:t>RBAC - </a:t>
            </a:r>
            <a:r>
              <a:rPr lang="pt-BR" dirty="0" err="1"/>
              <a:t>Policy</a:t>
            </a:r>
            <a:endParaRPr lang="pt-BR" dirty="0"/>
          </a:p>
        </p:txBody>
      </p:sp>
      <p:sp>
        <p:nvSpPr>
          <p:cNvPr id="4" name="Retângulo: Cantos Arredondados 3">
            <a:extLst>
              <a:ext uri="{FF2B5EF4-FFF2-40B4-BE49-F238E27FC236}">
                <a16:creationId xmlns:a16="http://schemas.microsoft.com/office/drawing/2014/main" id="{9D6DF549-6446-4A7E-BF7B-FFAF7AD43ECD}"/>
              </a:ext>
            </a:extLst>
          </p:cNvPr>
          <p:cNvSpPr/>
          <p:nvPr/>
        </p:nvSpPr>
        <p:spPr>
          <a:xfrm>
            <a:off x="345929" y="2126139"/>
            <a:ext cx="3332480" cy="1572366"/>
          </a:xfrm>
          <a:prstGeom prst="roundRect">
            <a:avLst/>
          </a:prstGeom>
          <a:noFill/>
          <a:ln w="508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r"/>
            <a:r>
              <a:rPr lang="pt-BR" dirty="0">
                <a:ln>
                  <a:solidFill>
                    <a:schemeClr val="accent1">
                      <a:shade val="50000"/>
                    </a:schemeClr>
                  </a:solidFill>
                </a:ln>
                <a:solidFill>
                  <a:schemeClr val="tx1"/>
                </a:solidFill>
              </a:rPr>
              <a:t>Grupos Usuários Monitoramento</a:t>
            </a:r>
          </a:p>
          <a:p>
            <a:pPr algn="ctr"/>
            <a:r>
              <a:rPr lang="pt-BR" dirty="0">
                <a:ln>
                  <a:solidFill>
                    <a:schemeClr val="accent1">
                      <a:shade val="50000"/>
                    </a:schemeClr>
                  </a:solidFill>
                </a:ln>
                <a:solidFill>
                  <a:schemeClr val="tx1"/>
                </a:solidFill>
              </a:rPr>
              <a:t>Somente Leitura</a:t>
            </a:r>
          </a:p>
          <a:p>
            <a:pPr algn="r"/>
            <a:endParaRPr lang="pt-BR" dirty="0">
              <a:solidFill>
                <a:schemeClr val="tx1"/>
              </a:solidFill>
            </a:endParaRPr>
          </a:p>
        </p:txBody>
      </p:sp>
      <p:sp>
        <p:nvSpPr>
          <p:cNvPr id="5" name="Retângulo: Cantos Arredondados 4">
            <a:extLst>
              <a:ext uri="{FF2B5EF4-FFF2-40B4-BE49-F238E27FC236}">
                <a16:creationId xmlns:a16="http://schemas.microsoft.com/office/drawing/2014/main" id="{FB66A0AD-EDBE-410B-A18C-BC4FF759FBDB}"/>
              </a:ext>
            </a:extLst>
          </p:cNvPr>
          <p:cNvSpPr/>
          <p:nvPr/>
        </p:nvSpPr>
        <p:spPr>
          <a:xfrm>
            <a:off x="6386726" y="5645398"/>
            <a:ext cx="2981960" cy="1082886"/>
          </a:xfrm>
          <a:prstGeom prst="roundRect">
            <a:avLst/>
          </a:prstGeom>
          <a:noFill/>
          <a:ln w="50800">
            <a:solidFill>
              <a:srgbClr val="0079D6"/>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r"/>
            <a:r>
              <a:rPr lang="pt-BR" dirty="0">
                <a:ln>
                  <a:solidFill>
                    <a:schemeClr val="accent1">
                      <a:shade val="50000"/>
                    </a:schemeClr>
                  </a:solidFill>
                </a:ln>
                <a:solidFill>
                  <a:schemeClr val="tx1"/>
                </a:solidFill>
              </a:rPr>
              <a:t>Grupos Usuários VM </a:t>
            </a:r>
            <a:r>
              <a:rPr lang="pt-BR" dirty="0" err="1">
                <a:ln>
                  <a:solidFill>
                    <a:schemeClr val="accent1">
                      <a:shade val="50000"/>
                    </a:schemeClr>
                  </a:solidFill>
                </a:ln>
                <a:solidFill>
                  <a:schemeClr val="tx1"/>
                </a:solidFill>
              </a:rPr>
              <a:t>East</a:t>
            </a:r>
            <a:r>
              <a:rPr lang="pt-BR" dirty="0">
                <a:ln>
                  <a:solidFill>
                    <a:schemeClr val="accent1">
                      <a:shade val="50000"/>
                    </a:schemeClr>
                  </a:solidFill>
                </a:ln>
                <a:solidFill>
                  <a:schemeClr val="tx1"/>
                </a:solidFill>
              </a:rPr>
              <a:t> US</a:t>
            </a:r>
          </a:p>
          <a:p>
            <a:pPr algn="r"/>
            <a:endParaRPr lang="pt-BR" dirty="0">
              <a:solidFill>
                <a:schemeClr val="tx1"/>
              </a:solidFill>
            </a:endParaRPr>
          </a:p>
        </p:txBody>
      </p:sp>
      <p:pic>
        <p:nvPicPr>
          <p:cNvPr id="6" name="Gráfico 5" descr="Programa">
            <a:extLst>
              <a:ext uri="{FF2B5EF4-FFF2-40B4-BE49-F238E27FC236}">
                <a16:creationId xmlns:a16="http://schemas.microsoft.com/office/drawing/2014/main" id="{1E127CA4-A629-48A5-BFA8-2C32041C8F1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93666" y="6045459"/>
            <a:ext cx="507111" cy="507111"/>
          </a:xfrm>
          <a:prstGeom prst="rect">
            <a:avLst/>
          </a:prstGeom>
        </p:spPr>
      </p:pic>
      <p:pic>
        <p:nvPicPr>
          <p:cNvPr id="7" name="Gráfico 6" descr="Programa">
            <a:extLst>
              <a:ext uri="{FF2B5EF4-FFF2-40B4-BE49-F238E27FC236}">
                <a16:creationId xmlns:a16="http://schemas.microsoft.com/office/drawing/2014/main" id="{40609EF6-BDE1-44FB-805D-4D9B2075B6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25593" y="2794445"/>
            <a:ext cx="507111" cy="507111"/>
          </a:xfrm>
          <a:prstGeom prst="rect">
            <a:avLst/>
          </a:prstGeom>
        </p:spPr>
      </p:pic>
      <p:pic>
        <p:nvPicPr>
          <p:cNvPr id="8" name="Gráfico 7" descr="Programa">
            <a:extLst>
              <a:ext uri="{FF2B5EF4-FFF2-40B4-BE49-F238E27FC236}">
                <a16:creationId xmlns:a16="http://schemas.microsoft.com/office/drawing/2014/main" id="{45B4515E-BFC9-4767-BC86-D2F1D70684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4508" y="2779839"/>
            <a:ext cx="507111" cy="507111"/>
          </a:xfrm>
          <a:prstGeom prst="rect">
            <a:avLst/>
          </a:prstGeom>
        </p:spPr>
      </p:pic>
      <p:pic>
        <p:nvPicPr>
          <p:cNvPr id="10" name="Gráfico 9" descr="Programa">
            <a:extLst>
              <a:ext uri="{FF2B5EF4-FFF2-40B4-BE49-F238E27FC236}">
                <a16:creationId xmlns:a16="http://schemas.microsoft.com/office/drawing/2014/main" id="{4F119FCA-EB49-4434-82EB-0742EC9BC1B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27141" y="2984945"/>
            <a:ext cx="507111" cy="507111"/>
          </a:xfrm>
          <a:prstGeom prst="rect">
            <a:avLst/>
          </a:prstGeom>
        </p:spPr>
      </p:pic>
      <p:pic>
        <p:nvPicPr>
          <p:cNvPr id="12" name="Gráfico 11" descr="Programa">
            <a:extLst>
              <a:ext uri="{FF2B5EF4-FFF2-40B4-BE49-F238E27FC236}">
                <a16:creationId xmlns:a16="http://schemas.microsoft.com/office/drawing/2014/main" id="{00F460C8-7BF6-4CEB-9142-44926C5D475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49648" y="6045459"/>
            <a:ext cx="507111" cy="507111"/>
          </a:xfrm>
          <a:prstGeom prst="rect">
            <a:avLst/>
          </a:prstGeom>
        </p:spPr>
      </p:pic>
      <p:sp>
        <p:nvSpPr>
          <p:cNvPr id="19" name="Retângulo: Cantos Arredondados 18">
            <a:extLst>
              <a:ext uri="{FF2B5EF4-FFF2-40B4-BE49-F238E27FC236}">
                <a16:creationId xmlns:a16="http://schemas.microsoft.com/office/drawing/2014/main" id="{A85405B3-858A-4F4E-8B3C-3A6131CD40FF}"/>
              </a:ext>
            </a:extLst>
          </p:cNvPr>
          <p:cNvSpPr/>
          <p:nvPr/>
        </p:nvSpPr>
        <p:spPr>
          <a:xfrm>
            <a:off x="6460140" y="2023243"/>
            <a:ext cx="2835132" cy="1736351"/>
          </a:xfrm>
          <a:prstGeom prst="roundRect">
            <a:avLst/>
          </a:prstGeom>
          <a:noFill/>
          <a:ln w="508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r"/>
            <a:r>
              <a:rPr lang="pt-BR" dirty="0" err="1">
                <a:ln>
                  <a:solidFill>
                    <a:schemeClr val="accent1">
                      <a:shade val="50000"/>
                    </a:schemeClr>
                  </a:solidFill>
                </a:ln>
                <a:solidFill>
                  <a:srgbClr val="00B050"/>
                </a:solidFill>
              </a:rPr>
              <a:t>Resource</a:t>
            </a:r>
            <a:r>
              <a:rPr lang="pt-BR" dirty="0">
                <a:ln>
                  <a:solidFill>
                    <a:schemeClr val="accent1">
                      <a:shade val="50000"/>
                    </a:schemeClr>
                  </a:solidFill>
                </a:ln>
                <a:solidFill>
                  <a:srgbClr val="00B050"/>
                </a:solidFill>
              </a:rPr>
              <a:t> </a:t>
            </a:r>
            <a:r>
              <a:rPr lang="pt-BR" dirty="0" err="1">
                <a:ln>
                  <a:solidFill>
                    <a:schemeClr val="accent1">
                      <a:shade val="50000"/>
                    </a:schemeClr>
                  </a:solidFill>
                </a:ln>
                <a:solidFill>
                  <a:srgbClr val="00B050"/>
                </a:solidFill>
              </a:rPr>
              <a:t>Group</a:t>
            </a:r>
            <a:r>
              <a:rPr lang="pt-BR" dirty="0">
                <a:ln>
                  <a:solidFill>
                    <a:schemeClr val="accent1">
                      <a:shade val="50000"/>
                    </a:schemeClr>
                  </a:solidFill>
                </a:ln>
                <a:solidFill>
                  <a:srgbClr val="00B050"/>
                </a:solidFill>
              </a:rPr>
              <a:t> WEB APP</a:t>
            </a:r>
          </a:p>
          <a:p>
            <a:pPr algn="r"/>
            <a:endParaRPr lang="pt-BR" dirty="0">
              <a:solidFill>
                <a:schemeClr val="tx1"/>
              </a:solidFill>
            </a:endParaRPr>
          </a:p>
        </p:txBody>
      </p:sp>
      <p:pic>
        <p:nvPicPr>
          <p:cNvPr id="20" name="Gráfico 19" descr="Apresentação com gráfico de barras">
            <a:extLst>
              <a:ext uri="{FF2B5EF4-FFF2-40B4-BE49-F238E27FC236}">
                <a16:creationId xmlns:a16="http://schemas.microsoft.com/office/drawing/2014/main" id="{EC629419-B0C5-48E3-A20D-24453FF758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72441" y="2610158"/>
            <a:ext cx="765280" cy="765280"/>
          </a:xfrm>
          <a:prstGeom prst="rect">
            <a:avLst/>
          </a:prstGeom>
        </p:spPr>
      </p:pic>
      <p:cxnSp>
        <p:nvCxnSpPr>
          <p:cNvPr id="21" name="Conector de Seta Reta 20">
            <a:extLst>
              <a:ext uri="{FF2B5EF4-FFF2-40B4-BE49-F238E27FC236}">
                <a16:creationId xmlns:a16="http://schemas.microsoft.com/office/drawing/2014/main" id="{7D9363F5-9D1D-457C-920C-DDB3770D2B16}"/>
              </a:ext>
            </a:extLst>
          </p:cNvPr>
          <p:cNvCxnSpPr>
            <a:cxnSpLocks/>
            <a:stCxn id="4" idx="3"/>
            <a:endCxn id="19" idx="1"/>
          </p:cNvCxnSpPr>
          <p:nvPr/>
        </p:nvCxnSpPr>
        <p:spPr>
          <a:xfrm flipV="1">
            <a:off x="3678409" y="2891419"/>
            <a:ext cx="2781731" cy="20903"/>
          </a:xfrm>
          <a:prstGeom prst="straightConnector1">
            <a:avLst/>
          </a:prstGeom>
          <a:noFill/>
          <a:ln w="50800">
            <a:solidFill>
              <a:schemeClr val="accent2">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26" name="Conector de Seta Reta 25">
            <a:extLst>
              <a:ext uri="{FF2B5EF4-FFF2-40B4-BE49-F238E27FC236}">
                <a16:creationId xmlns:a16="http://schemas.microsoft.com/office/drawing/2014/main" id="{A3B2EAC4-0BC6-49A4-9109-F8BA5F8021DC}"/>
              </a:ext>
            </a:extLst>
          </p:cNvPr>
          <p:cNvCxnSpPr>
            <a:cxnSpLocks/>
            <a:stCxn id="5" idx="0"/>
            <a:endCxn id="19" idx="2"/>
          </p:cNvCxnSpPr>
          <p:nvPr/>
        </p:nvCxnSpPr>
        <p:spPr>
          <a:xfrm flipV="1">
            <a:off x="7877706" y="3759594"/>
            <a:ext cx="0" cy="1885804"/>
          </a:xfrm>
          <a:prstGeom prst="straightConnector1">
            <a:avLst/>
          </a:prstGeom>
          <a:ln w="50800">
            <a:solidFill>
              <a:srgbClr val="0079D6"/>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42" name="Imagem 41">
            <a:extLst>
              <a:ext uri="{FF2B5EF4-FFF2-40B4-BE49-F238E27FC236}">
                <a16:creationId xmlns:a16="http://schemas.microsoft.com/office/drawing/2014/main" id="{ECCA6EF7-F16C-412E-A8A3-E747B2EE8817}"/>
              </a:ext>
            </a:extLst>
          </p:cNvPr>
          <p:cNvPicPr>
            <a:picLocks noChangeAspect="1"/>
          </p:cNvPicPr>
          <p:nvPr/>
        </p:nvPicPr>
        <p:blipFill>
          <a:blip r:embed="rId8"/>
          <a:stretch>
            <a:fillRect/>
          </a:stretch>
        </p:blipFill>
        <p:spPr>
          <a:xfrm>
            <a:off x="8260093" y="2821382"/>
            <a:ext cx="555435" cy="453235"/>
          </a:xfrm>
          <a:prstGeom prst="rect">
            <a:avLst/>
          </a:prstGeom>
          <a:ln>
            <a:noFill/>
          </a:ln>
        </p:spPr>
      </p:pic>
    </p:spTree>
    <p:extLst>
      <p:ext uri="{BB962C8B-B14F-4D97-AF65-F5344CB8AC3E}">
        <p14:creationId xmlns:p14="http://schemas.microsoft.com/office/powerpoint/2010/main" val="112163470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3B84DF-8DC9-40D5-9183-63D694722465}"/>
              </a:ext>
            </a:extLst>
          </p:cNvPr>
          <p:cNvSpPr>
            <a:spLocks noGrp="1"/>
          </p:cNvSpPr>
          <p:nvPr>
            <p:ph type="title"/>
          </p:nvPr>
        </p:nvSpPr>
        <p:spPr/>
        <p:txBody>
          <a:bodyPr/>
          <a:lstStyle/>
          <a:p>
            <a:r>
              <a:rPr lang="pt-BR" dirty="0"/>
              <a:t>RBAC - </a:t>
            </a:r>
            <a:r>
              <a:rPr lang="pt-BR" dirty="0" err="1"/>
              <a:t>Locks</a:t>
            </a:r>
            <a:endParaRPr lang="pt-BR" dirty="0"/>
          </a:p>
        </p:txBody>
      </p:sp>
      <p:sp>
        <p:nvSpPr>
          <p:cNvPr id="3" name="Espaço Reservado para Conteúdo 2">
            <a:extLst>
              <a:ext uri="{FF2B5EF4-FFF2-40B4-BE49-F238E27FC236}">
                <a16:creationId xmlns:a16="http://schemas.microsoft.com/office/drawing/2014/main" id="{456179BD-0BB9-4C40-B571-8C9531EC97B2}"/>
              </a:ext>
            </a:extLst>
          </p:cNvPr>
          <p:cNvSpPr>
            <a:spLocks noGrp="1"/>
          </p:cNvSpPr>
          <p:nvPr>
            <p:ph idx="1"/>
          </p:nvPr>
        </p:nvSpPr>
        <p:spPr/>
        <p:txBody>
          <a:bodyPr>
            <a:normAutofit/>
          </a:bodyPr>
          <a:lstStyle/>
          <a:p>
            <a:r>
              <a:rPr lang="pt-BR" dirty="0"/>
              <a:t>Bloqueia uma assinatura, um recurso ou grupo de recursos, protegendo de exclusão ou modificação acidental recursos críticos. </a:t>
            </a:r>
          </a:p>
          <a:p>
            <a:r>
              <a:rPr lang="pt-BR" b="1" dirty="0" err="1"/>
              <a:t>CanNotDelete</a:t>
            </a:r>
            <a:r>
              <a:rPr lang="pt-BR" dirty="0"/>
              <a:t> significa que os usuários autorizados ainda poderão ler e modificar um recurso, mas não poderão excluir o recurso.</a:t>
            </a:r>
          </a:p>
          <a:p>
            <a:r>
              <a:rPr lang="pt-BR" b="1" dirty="0" err="1"/>
              <a:t>ReadOnly</a:t>
            </a:r>
            <a:r>
              <a:rPr lang="pt-BR" dirty="0"/>
              <a:t> significa que os usuários autorizados poderão ler um recurso, mas não poderão excluir ou atualizar o recurso.</a:t>
            </a:r>
          </a:p>
          <a:p>
            <a:endParaRPr lang="pt-BR" dirty="0"/>
          </a:p>
        </p:txBody>
      </p:sp>
    </p:spTree>
    <p:extLst>
      <p:ext uri="{BB962C8B-B14F-4D97-AF65-F5344CB8AC3E}">
        <p14:creationId xmlns:p14="http://schemas.microsoft.com/office/powerpoint/2010/main" val="428541296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EC4DD3-1E85-4341-9612-7F66EC1322FE}"/>
              </a:ext>
            </a:extLst>
          </p:cNvPr>
          <p:cNvSpPr>
            <a:spLocks noGrp="1"/>
          </p:cNvSpPr>
          <p:nvPr>
            <p:ph type="title"/>
          </p:nvPr>
        </p:nvSpPr>
        <p:spPr/>
        <p:txBody>
          <a:bodyPr/>
          <a:lstStyle/>
          <a:p>
            <a:r>
              <a:rPr lang="pt-BR" dirty="0"/>
              <a:t>Azure Slots</a:t>
            </a:r>
          </a:p>
        </p:txBody>
      </p:sp>
      <p:sp>
        <p:nvSpPr>
          <p:cNvPr id="4" name="Retângulo: Cantos Arredondados 3">
            <a:extLst>
              <a:ext uri="{FF2B5EF4-FFF2-40B4-BE49-F238E27FC236}">
                <a16:creationId xmlns:a16="http://schemas.microsoft.com/office/drawing/2014/main" id="{C1AB844E-1C69-4825-90CB-DC1B74AB283F}"/>
              </a:ext>
            </a:extLst>
          </p:cNvPr>
          <p:cNvSpPr/>
          <p:nvPr/>
        </p:nvSpPr>
        <p:spPr>
          <a:xfrm>
            <a:off x="7885290" y="2346113"/>
            <a:ext cx="2981960" cy="1736351"/>
          </a:xfrm>
          <a:prstGeom prst="roundRect">
            <a:avLst/>
          </a:prstGeom>
          <a:noFill/>
          <a:ln w="50800">
            <a:solidFill>
              <a:srgbClr val="0079D6"/>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r"/>
            <a:r>
              <a:rPr lang="pt-BR" dirty="0">
                <a:ln>
                  <a:solidFill>
                    <a:schemeClr val="accent1">
                      <a:shade val="50000"/>
                    </a:schemeClr>
                  </a:solidFill>
                </a:ln>
                <a:solidFill>
                  <a:schemeClr val="tx1"/>
                </a:solidFill>
              </a:rPr>
              <a:t>Testes</a:t>
            </a:r>
          </a:p>
          <a:p>
            <a:pPr algn="r"/>
            <a:endParaRPr lang="pt-BR" dirty="0">
              <a:solidFill>
                <a:schemeClr val="tx1"/>
              </a:solidFill>
            </a:endParaRPr>
          </a:p>
        </p:txBody>
      </p:sp>
      <p:sp>
        <p:nvSpPr>
          <p:cNvPr id="5" name="Retângulo: Cantos Arredondados 4">
            <a:extLst>
              <a:ext uri="{FF2B5EF4-FFF2-40B4-BE49-F238E27FC236}">
                <a16:creationId xmlns:a16="http://schemas.microsoft.com/office/drawing/2014/main" id="{ECCBDBD5-2A60-44A2-9203-385130C99F0A}"/>
              </a:ext>
            </a:extLst>
          </p:cNvPr>
          <p:cNvSpPr/>
          <p:nvPr/>
        </p:nvSpPr>
        <p:spPr>
          <a:xfrm>
            <a:off x="1471580" y="2346114"/>
            <a:ext cx="2835132" cy="1736351"/>
          </a:xfrm>
          <a:prstGeom prst="roundRect">
            <a:avLst/>
          </a:prstGeom>
          <a:noFill/>
          <a:ln w="508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r>
              <a:rPr lang="pt-BR" dirty="0">
                <a:ln>
                  <a:solidFill>
                    <a:schemeClr val="accent1">
                      <a:shade val="50000"/>
                    </a:schemeClr>
                  </a:solidFill>
                </a:ln>
                <a:solidFill>
                  <a:srgbClr val="00B050"/>
                </a:solidFill>
              </a:rPr>
              <a:t>Produção</a:t>
            </a:r>
          </a:p>
        </p:txBody>
      </p:sp>
      <p:sp>
        <p:nvSpPr>
          <p:cNvPr id="8" name="Retângulo: Cantos Arredondados 7">
            <a:extLst>
              <a:ext uri="{FF2B5EF4-FFF2-40B4-BE49-F238E27FC236}">
                <a16:creationId xmlns:a16="http://schemas.microsoft.com/office/drawing/2014/main" id="{868CA696-D2D2-43EE-9D7A-894446EF3EEF}"/>
              </a:ext>
            </a:extLst>
          </p:cNvPr>
          <p:cNvSpPr/>
          <p:nvPr/>
        </p:nvSpPr>
        <p:spPr>
          <a:xfrm>
            <a:off x="5366567" y="2518835"/>
            <a:ext cx="1393540" cy="1138766"/>
          </a:xfrm>
          <a:prstGeom prst="round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ctr"/>
            <a:r>
              <a:rPr lang="pt-BR" dirty="0">
                <a:ln>
                  <a:solidFill>
                    <a:schemeClr val="accent1">
                      <a:shade val="50000"/>
                    </a:schemeClr>
                  </a:solidFill>
                </a:ln>
                <a:solidFill>
                  <a:srgbClr val="00B050"/>
                </a:solidFill>
              </a:rPr>
              <a:t>SWAP</a:t>
            </a:r>
          </a:p>
          <a:p>
            <a:pPr algn="r"/>
            <a:endParaRPr lang="pt-BR" dirty="0">
              <a:solidFill>
                <a:schemeClr val="tx1"/>
              </a:solidFill>
            </a:endParaRPr>
          </a:p>
        </p:txBody>
      </p:sp>
      <p:pic>
        <p:nvPicPr>
          <p:cNvPr id="12" name="Gráfico 11" descr="Transferir">
            <a:extLst>
              <a:ext uri="{FF2B5EF4-FFF2-40B4-BE49-F238E27FC236}">
                <a16:creationId xmlns:a16="http://schemas.microsoft.com/office/drawing/2014/main" id="{05000B3D-E055-4B83-89A1-7AF10EAF15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06137" y="2743201"/>
            <a:ext cx="914400" cy="914400"/>
          </a:xfrm>
          <a:prstGeom prst="rect">
            <a:avLst/>
          </a:prstGeom>
        </p:spPr>
      </p:pic>
      <p:cxnSp>
        <p:nvCxnSpPr>
          <p:cNvPr id="17" name="Conector: Curvo 16">
            <a:extLst>
              <a:ext uri="{FF2B5EF4-FFF2-40B4-BE49-F238E27FC236}">
                <a16:creationId xmlns:a16="http://schemas.microsoft.com/office/drawing/2014/main" id="{EF1EA050-523E-4D15-8E95-491BE160811D}"/>
              </a:ext>
            </a:extLst>
          </p:cNvPr>
          <p:cNvCxnSpPr>
            <a:cxnSpLocks/>
            <a:stCxn id="33" idx="0"/>
            <a:endCxn id="31" idx="0"/>
          </p:cNvCxnSpPr>
          <p:nvPr/>
        </p:nvCxnSpPr>
        <p:spPr>
          <a:xfrm rot="5400000" flipH="1" flipV="1">
            <a:off x="6081738" y="-107257"/>
            <a:ext cx="32464" cy="5874504"/>
          </a:xfrm>
          <a:prstGeom prst="curvedConnector3">
            <a:avLst>
              <a:gd name="adj1" fmla="val 2932307"/>
            </a:avLst>
          </a:prstGeom>
          <a:ln w="889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Curvo 22">
            <a:extLst>
              <a:ext uri="{FF2B5EF4-FFF2-40B4-BE49-F238E27FC236}">
                <a16:creationId xmlns:a16="http://schemas.microsoft.com/office/drawing/2014/main" id="{A3428ABB-9593-4B12-A5EA-E6633D4160D8}"/>
              </a:ext>
            </a:extLst>
          </p:cNvPr>
          <p:cNvCxnSpPr>
            <a:cxnSpLocks/>
            <a:stCxn id="31" idx="2"/>
            <a:endCxn id="33" idx="2"/>
          </p:cNvCxnSpPr>
          <p:nvPr/>
        </p:nvCxnSpPr>
        <p:spPr>
          <a:xfrm rot="5400000">
            <a:off x="6095073" y="846139"/>
            <a:ext cx="5795" cy="5874504"/>
          </a:xfrm>
          <a:prstGeom prst="curvedConnector3">
            <a:avLst>
              <a:gd name="adj1" fmla="val 15440811"/>
            </a:avLst>
          </a:prstGeom>
          <a:ln w="889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Retângulo: Cantos Arredondados 30">
            <a:extLst>
              <a:ext uri="{FF2B5EF4-FFF2-40B4-BE49-F238E27FC236}">
                <a16:creationId xmlns:a16="http://schemas.microsoft.com/office/drawing/2014/main" id="{67F5D758-5C78-4E16-896D-54CEEED0C4F8}"/>
              </a:ext>
            </a:extLst>
          </p:cNvPr>
          <p:cNvSpPr/>
          <p:nvPr/>
        </p:nvSpPr>
        <p:spPr>
          <a:xfrm>
            <a:off x="8303702" y="2813763"/>
            <a:ext cx="1463040" cy="966731"/>
          </a:xfrm>
          <a:prstGeom prst="roundRect">
            <a:avLst/>
          </a:prstGeom>
          <a:noFill/>
          <a:ln w="50800">
            <a:solidFill>
              <a:srgbClr val="0079D6"/>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ctr"/>
            <a:r>
              <a:rPr lang="pt-BR" dirty="0">
                <a:ln>
                  <a:solidFill>
                    <a:schemeClr val="accent1">
                      <a:shade val="50000"/>
                    </a:schemeClr>
                  </a:solidFill>
                </a:ln>
                <a:solidFill>
                  <a:schemeClr val="tx1"/>
                </a:solidFill>
              </a:rPr>
              <a:t>Código</a:t>
            </a:r>
            <a:endParaRPr lang="pt-BR" dirty="0">
              <a:solidFill>
                <a:schemeClr val="tx1"/>
              </a:solidFill>
            </a:endParaRPr>
          </a:p>
        </p:txBody>
      </p:sp>
      <p:sp>
        <p:nvSpPr>
          <p:cNvPr id="33" name="Retângulo: Cantos Arredondados 32">
            <a:extLst>
              <a:ext uri="{FF2B5EF4-FFF2-40B4-BE49-F238E27FC236}">
                <a16:creationId xmlns:a16="http://schemas.microsoft.com/office/drawing/2014/main" id="{E2395787-0B34-4D0B-9D5A-FB722D7208F4}"/>
              </a:ext>
            </a:extLst>
          </p:cNvPr>
          <p:cNvSpPr/>
          <p:nvPr/>
        </p:nvSpPr>
        <p:spPr>
          <a:xfrm>
            <a:off x="2504588" y="2846227"/>
            <a:ext cx="1312260" cy="940062"/>
          </a:xfrm>
          <a:prstGeom prst="roundRect">
            <a:avLst/>
          </a:prstGeom>
          <a:noFill/>
          <a:ln w="508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algn="ctr"/>
            <a:r>
              <a:rPr lang="pt-BR" dirty="0">
                <a:ln>
                  <a:solidFill>
                    <a:schemeClr val="accent1">
                      <a:shade val="50000"/>
                    </a:schemeClr>
                  </a:solidFill>
                </a:ln>
                <a:solidFill>
                  <a:srgbClr val="00B050"/>
                </a:solidFill>
              </a:rPr>
              <a:t>Código</a:t>
            </a:r>
            <a:endParaRPr lang="pt-BR" dirty="0">
              <a:solidFill>
                <a:schemeClr val="tx1"/>
              </a:solidFill>
            </a:endParaRPr>
          </a:p>
        </p:txBody>
      </p:sp>
    </p:spTree>
    <p:extLst>
      <p:ext uri="{BB962C8B-B14F-4D97-AF65-F5344CB8AC3E}">
        <p14:creationId xmlns:p14="http://schemas.microsoft.com/office/powerpoint/2010/main" val="385430451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80D702-2A62-4250-A092-17E3BD71ABCA}"/>
              </a:ext>
            </a:extLst>
          </p:cNvPr>
          <p:cNvSpPr>
            <a:spLocks noGrp="1"/>
          </p:cNvSpPr>
          <p:nvPr>
            <p:ph type="title"/>
          </p:nvPr>
        </p:nvSpPr>
        <p:spPr/>
        <p:txBody>
          <a:bodyPr/>
          <a:lstStyle/>
          <a:p>
            <a:r>
              <a:rPr lang="pt-BR" dirty="0" err="1"/>
              <a:t>Servless</a:t>
            </a:r>
            <a:r>
              <a:rPr lang="pt-BR" dirty="0"/>
              <a:t> Sem Servidor</a:t>
            </a:r>
          </a:p>
        </p:txBody>
      </p:sp>
      <p:grpSp>
        <p:nvGrpSpPr>
          <p:cNvPr id="23" name="Agrupar 22">
            <a:extLst>
              <a:ext uri="{FF2B5EF4-FFF2-40B4-BE49-F238E27FC236}">
                <a16:creationId xmlns:a16="http://schemas.microsoft.com/office/drawing/2014/main" id="{F5E6EE64-6E5B-49AA-8E92-1F7954079A57}"/>
              </a:ext>
            </a:extLst>
          </p:cNvPr>
          <p:cNvGrpSpPr/>
          <p:nvPr/>
        </p:nvGrpSpPr>
        <p:grpSpPr>
          <a:xfrm>
            <a:off x="7963536" y="1568131"/>
            <a:ext cx="3740784" cy="4924743"/>
            <a:chOff x="396240" y="1568132"/>
            <a:chExt cx="3942080" cy="4924743"/>
          </a:xfrm>
        </p:grpSpPr>
        <p:sp>
          <p:nvSpPr>
            <p:cNvPr id="5" name="Retângulo 4">
              <a:extLst>
                <a:ext uri="{FF2B5EF4-FFF2-40B4-BE49-F238E27FC236}">
                  <a16:creationId xmlns:a16="http://schemas.microsoft.com/office/drawing/2014/main" id="{293EEB4D-5E7B-44EB-A998-6C8F25633374}"/>
                </a:ext>
              </a:extLst>
            </p:cNvPr>
            <p:cNvSpPr/>
            <p:nvPr/>
          </p:nvSpPr>
          <p:spPr>
            <a:xfrm>
              <a:off x="396240" y="1568132"/>
              <a:ext cx="3942080" cy="492474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b="1" dirty="0">
                  <a:solidFill>
                    <a:srgbClr val="002060"/>
                  </a:solidFill>
                </a:rPr>
                <a:t>Sem Servidor</a:t>
              </a:r>
            </a:p>
          </p:txBody>
        </p:sp>
        <p:sp>
          <p:nvSpPr>
            <p:cNvPr id="6" name="Retângulo 5">
              <a:extLst>
                <a:ext uri="{FF2B5EF4-FFF2-40B4-BE49-F238E27FC236}">
                  <a16:creationId xmlns:a16="http://schemas.microsoft.com/office/drawing/2014/main" id="{41150B5C-8FA5-4414-8655-598AD9E150FF}"/>
                </a:ext>
              </a:extLst>
            </p:cNvPr>
            <p:cNvSpPr/>
            <p:nvPr/>
          </p:nvSpPr>
          <p:spPr>
            <a:xfrm>
              <a:off x="619760" y="5764211"/>
              <a:ext cx="349504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Hardware</a:t>
              </a:r>
            </a:p>
          </p:txBody>
        </p:sp>
        <p:sp>
          <p:nvSpPr>
            <p:cNvPr id="7" name="Retângulo 6">
              <a:extLst>
                <a:ext uri="{FF2B5EF4-FFF2-40B4-BE49-F238E27FC236}">
                  <a16:creationId xmlns:a16="http://schemas.microsoft.com/office/drawing/2014/main" id="{3C5C8523-1075-462B-B5C3-4500F839561C}"/>
                </a:ext>
              </a:extLst>
            </p:cNvPr>
            <p:cNvSpPr/>
            <p:nvPr/>
          </p:nvSpPr>
          <p:spPr>
            <a:xfrm>
              <a:off x="619760" y="5111114"/>
              <a:ext cx="349504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Sistema Operacional Host</a:t>
              </a:r>
            </a:p>
          </p:txBody>
        </p:sp>
        <p:sp>
          <p:nvSpPr>
            <p:cNvPr id="15" name="Retângulo 14">
              <a:extLst>
                <a:ext uri="{FF2B5EF4-FFF2-40B4-BE49-F238E27FC236}">
                  <a16:creationId xmlns:a16="http://schemas.microsoft.com/office/drawing/2014/main" id="{BDEEA519-C399-470E-A184-D7B575D7AAEB}"/>
                </a:ext>
              </a:extLst>
            </p:cNvPr>
            <p:cNvSpPr/>
            <p:nvPr/>
          </p:nvSpPr>
          <p:spPr>
            <a:xfrm>
              <a:off x="608965" y="4458017"/>
              <a:ext cx="349504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Tempo de Execução sem Servidor</a:t>
              </a:r>
            </a:p>
          </p:txBody>
        </p:sp>
        <p:sp>
          <p:nvSpPr>
            <p:cNvPr id="16" name="Retângulo 15">
              <a:extLst>
                <a:ext uri="{FF2B5EF4-FFF2-40B4-BE49-F238E27FC236}">
                  <a16:creationId xmlns:a16="http://schemas.microsoft.com/office/drawing/2014/main" id="{EE1C5F1D-54E6-47CA-8DC7-A75601E0A9BE}"/>
                </a:ext>
              </a:extLst>
            </p:cNvPr>
            <p:cNvSpPr/>
            <p:nvPr/>
          </p:nvSpPr>
          <p:spPr>
            <a:xfrm>
              <a:off x="619760" y="3713321"/>
              <a:ext cx="1706245"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Função</a:t>
              </a:r>
            </a:p>
          </p:txBody>
        </p:sp>
        <p:sp>
          <p:nvSpPr>
            <p:cNvPr id="17" name="Retângulo 16">
              <a:extLst>
                <a:ext uri="{FF2B5EF4-FFF2-40B4-BE49-F238E27FC236}">
                  <a16:creationId xmlns:a16="http://schemas.microsoft.com/office/drawing/2014/main" id="{774F0D98-9682-4516-A1B6-AA92CC75C004}"/>
                </a:ext>
              </a:extLst>
            </p:cNvPr>
            <p:cNvSpPr/>
            <p:nvPr/>
          </p:nvSpPr>
          <p:spPr>
            <a:xfrm>
              <a:off x="2451099" y="3713321"/>
              <a:ext cx="1663701"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Função</a:t>
              </a:r>
            </a:p>
          </p:txBody>
        </p:sp>
      </p:grpSp>
      <p:grpSp>
        <p:nvGrpSpPr>
          <p:cNvPr id="24" name="Agrupar 23">
            <a:extLst>
              <a:ext uri="{FF2B5EF4-FFF2-40B4-BE49-F238E27FC236}">
                <a16:creationId xmlns:a16="http://schemas.microsoft.com/office/drawing/2014/main" id="{DCD1E415-D496-41CB-9777-C041DBE4D35F}"/>
              </a:ext>
            </a:extLst>
          </p:cNvPr>
          <p:cNvGrpSpPr/>
          <p:nvPr/>
        </p:nvGrpSpPr>
        <p:grpSpPr>
          <a:xfrm>
            <a:off x="3959240" y="1568130"/>
            <a:ext cx="3865882" cy="4924743"/>
            <a:chOff x="396240" y="1568132"/>
            <a:chExt cx="3942080" cy="4924743"/>
          </a:xfrm>
        </p:grpSpPr>
        <p:sp>
          <p:nvSpPr>
            <p:cNvPr id="25" name="Retângulo 24">
              <a:extLst>
                <a:ext uri="{FF2B5EF4-FFF2-40B4-BE49-F238E27FC236}">
                  <a16:creationId xmlns:a16="http://schemas.microsoft.com/office/drawing/2014/main" id="{AA80399B-4939-4F93-A547-DB49220F7DAB}"/>
                </a:ext>
              </a:extLst>
            </p:cNvPr>
            <p:cNvSpPr/>
            <p:nvPr/>
          </p:nvSpPr>
          <p:spPr>
            <a:xfrm>
              <a:off x="396240" y="1568132"/>
              <a:ext cx="3942080" cy="492474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b="1" dirty="0">
                  <a:solidFill>
                    <a:srgbClr val="002060"/>
                  </a:solidFill>
                </a:rPr>
                <a:t>Contêineres</a:t>
              </a:r>
            </a:p>
          </p:txBody>
        </p:sp>
        <p:sp>
          <p:nvSpPr>
            <p:cNvPr id="26" name="Retângulo 25">
              <a:extLst>
                <a:ext uri="{FF2B5EF4-FFF2-40B4-BE49-F238E27FC236}">
                  <a16:creationId xmlns:a16="http://schemas.microsoft.com/office/drawing/2014/main" id="{1A06DF64-408A-4E28-8105-44EBD1F58EF9}"/>
                </a:ext>
              </a:extLst>
            </p:cNvPr>
            <p:cNvSpPr/>
            <p:nvPr/>
          </p:nvSpPr>
          <p:spPr>
            <a:xfrm>
              <a:off x="619760" y="5764211"/>
              <a:ext cx="349504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Hardware</a:t>
              </a:r>
            </a:p>
          </p:txBody>
        </p:sp>
        <p:sp>
          <p:nvSpPr>
            <p:cNvPr id="27" name="Retângulo 26">
              <a:extLst>
                <a:ext uri="{FF2B5EF4-FFF2-40B4-BE49-F238E27FC236}">
                  <a16:creationId xmlns:a16="http://schemas.microsoft.com/office/drawing/2014/main" id="{B3507899-ED15-47D8-8281-6AC7FAD06557}"/>
                </a:ext>
              </a:extLst>
            </p:cNvPr>
            <p:cNvSpPr/>
            <p:nvPr/>
          </p:nvSpPr>
          <p:spPr>
            <a:xfrm>
              <a:off x="619760" y="5111114"/>
              <a:ext cx="349504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Sistema Operacional Host</a:t>
              </a:r>
            </a:p>
          </p:txBody>
        </p:sp>
        <p:sp>
          <p:nvSpPr>
            <p:cNvPr id="28" name="Retângulo 27">
              <a:extLst>
                <a:ext uri="{FF2B5EF4-FFF2-40B4-BE49-F238E27FC236}">
                  <a16:creationId xmlns:a16="http://schemas.microsoft.com/office/drawing/2014/main" id="{2197E6C4-6DF5-44C5-A09F-8CC4C6C63C93}"/>
                </a:ext>
              </a:extLst>
            </p:cNvPr>
            <p:cNvSpPr/>
            <p:nvPr/>
          </p:nvSpPr>
          <p:spPr>
            <a:xfrm>
              <a:off x="608965" y="4458017"/>
              <a:ext cx="349504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Mecanismos de </a:t>
              </a:r>
              <a:r>
                <a:rPr lang="pt-BR" dirty="0" err="1"/>
                <a:t>Conteiners</a:t>
              </a:r>
              <a:endParaRPr lang="pt-BR" dirty="0"/>
            </a:p>
          </p:txBody>
        </p:sp>
        <p:sp>
          <p:nvSpPr>
            <p:cNvPr id="29" name="Retângulo 28">
              <a:extLst>
                <a:ext uri="{FF2B5EF4-FFF2-40B4-BE49-F238E27FC236}">
                  <a16:creationId xmlns:a16="http://schemas.microsoft.com/office/drawing/2014/main" id="{D5B64B51-AE37-437C-9EFF-4EEE45BF07A5}"/>
                </a:ext>
              </a:extLst>
            </p:cNvPr>
            <p:cNvSpPr/>
            <p:nvPr/>
          </p:nvSpPr>
          <p:spPr>
            <a:xfrm>
              <a:off x="619760" y="3713321"/>
              <a:ext cx="1706245"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Dependências</a:t>
              </a:r>
            </a:p>
          </p:txBody>
        </p:sp>
        <p:sp>
          <p:nvSpPr>
            <p:cNvPr id="30" name="Retângulo 29">
              <a:extLst>
                <a:ext uri="{FF2B5EF4-FFF2-40B4-BE49-F238E27FC236}">
                  <a16:creationId xmlns:a16="http://schemas.microsoft.com/office/drawing/2014/main" id="{31542919-9809-4AC4-85BB-4D7BA916D590}"/>
                </a:ext>
              </a:extLst>
            </p:cNvPr>
            <p:cNvSpPr/>
            <p:nvPr/>
          </p:nvSpPr>
          <p:spPr>
            <a:xfrm>
              <a:off x="2451099" y="3713321"/>
              <a:ext cx="1663701"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Dependências</a:t>
              </a:r>
            </a:p>
          </p:txBody>
        </p:sp>
        <p:sp>
          <p:nvSpPr>
            <p:cNvPr id="31" name="Retângulo 30">
              <a:extLst>
                <a:ext uri="{FF2B5EF4-FFF2-40B4-BE49-F238E27FC236}">
                  <a16:creationId xmlns:a16="http://schemas.microsoft.com/office/drawing/2014/main" id="{0313D6FC-15F7-4B35-8B09-3BA045A5485F}"/>
                </a:ext>
              </a:extLst>
            </p:cNvPr>
            <p:cNvSpPr/>
            <p:nvPr/>
          </p:nvSpPr>
          <p:spPr>
            <a:xfrm>
              <a:off x="606107" y="2968625"/>
              <a:ext cx="1733549"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Aplicativo</a:t>
              </a:r>
            </a:p>
          </p:txBody>
        </p:sp>
        <p:sp>
          <p:nvSpPr>
            <p:cNvPr id="32" name="Retângulo 31">
              <a:extLst>
                <a:ext uri="{FF2B5EF4-FFF2-40B4-BE49-F238E27FC236}">
                  <a16:creationId xmlns:a16="http://schemas.microsoft.com/office/drawing/2014/main" id="{4A777274-8236-4022-B597-C4839C48244F}"/>
                </a:ext>
              </a:extLst>
            </p:cNvPr>
            <p:cNvSpPr/>
            <p:nvPr/>
          </p:nvSpPr>
          <p:spPr>
            <a:xfrm>
              <a:off x="2451099" y="2968625"/>
              <a:ext cx="1663701"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Aplicativo</a:t>
              </a:r>
            </a:p>
          </p:txBody>
        </p:sp>
      </p:grpSp>
      <p:grpSp>
        <p:nvGrpSpPr>
          <p:cNvPr id="35" name="Agrupar 34">
            <a:extLst>
              <a:ext uri="{FF2B5EF4-FFF2-40B4-BE49-F238E27FC236}">
                <a16:creationId xmlns:a16="http://schemas.microsoft.com/office/drawing/2014/main" id="{FC0AE322-B66E-4B88-B888-1D5E5073B1AA}"/>
              </a:ext>
            </a:extLst>
          </p:cNvPr>
          <p:cNvGrpSpPr/>
          <p:nvPr/>
        </p:nvGrpSpPr>
        <p:grpSpPr>
          <a:xfrm>
            <a:off x="128906" y="1568131"/>
            <a:ext cx="3740784" cy="4924743"/>
            <a:chOff x="396240" y="1568132"/>
            <a:chExt cx="3942080" cy="4924743"/>
          </a:xfrm>
        </p:grpSpPr>
        <p:sp>
          <p:nvSpPr>
            <p:cNvPr id="36" name="Retângulo 35">
              <a:extLst>
                <a:ext uri="{FF2B5EF4-FFF2-40B4-BE49-F238E27FC236}">
                  <a16:creationId xmlns:a16="http://schemas.microsoft.com/office/drawing/2014/main" id="{6FD0CE12-4F1A-4187-A712-06D4B1BE4640}"/>
                </a:ext>
              </a:extLst>
            </p:cNvPr>
            <p:cNvSpPr/>
            <p:nvPr/>
          </p:nvSpPr>
          <p:spPr>
            <a:xfrm>
              <a:off x="396240" y="1568132"/>
              <a:ext cx="3942080" cy="492474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b="1" dirty="0">
                  <a:solidFill>
                    <a:srgbClr val="002060"/>
                  </a:solidFill>
                </a:rPr>
                <a:t>Máquinas Virtuais</a:t>
              </a:r>
            </a:p>
          </p:txBody>
        </p:sp>
        <p:sp>
          <p:nvSpPr>
            <p:cNvPr id="37" name="Retângulo 36">
              <a:extLst>
                <a:ext uri="{FF2B5EF4-FFF2-40B4-BE49-F238E27FC236}">
                  <a16:creationId xmlns:a16="http://schemas.microsoft.com/office/drawing/2014/main" id="{4B7FE4E0-A6A7-428E-AEF9-0E2E96228E7A}"/>
                </a:ext>
              </a:extLst>
            </p:cNvPr>
            <p:cNvSpPr/>
            <p:nvPr/>
          </p:nvSpPr>
          <p:spPr>
            <a:xfrm>
              <a:off x="619760" y="5764211"/>
              <a:ext cx="349504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Hardware</a:t>
              </a:r>
            </a:p>
          </p:txBody>
        </p:sp>
        <p:sp>
          <p:nvSpPr>
            <p:cNvPr id="38" name="Retângulo 37">
              <a:extLst>
                <a:ext uri="{FF2B5EF4-FFF2-40B4-BE49-F238E27FC236}">
                  <a16:creationId xmlns:a16="http://schemas.microsoft.com/office/drawing/2014/main" id="{4D5AC5BF-AD2F-4FDF-9C25-3F852FCB3C7F}"/>
                </a:ext>
              </a:extLst>
            </p:cNvPr>
            <p:cNvSpPr/>
            <p:nvPr/>
          </p:nvSpPr>
          <p:spPr>
            <a:xfrm>
              <a:off x="619760" y="5111114"/>
              <a:ext cx="349504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Sistema Operacional Host</a:t>
              </a:r>
            </a:p>
          </p:txBody>
        </p:sp>
        <p:sp>
          <p:nvSpPr>
            <p:cNvPr id="39" name="Retângulo 38">
              <a:extLst>
                <a:ext uri="{FF2B5EF4-FFF2-40B4-BE49-F238E27FC236}">
                  <a16:creationId xmlns:a16="http://schemas.microsoft.com/office/drawing/2014/main" id="{BD7843B4-5535-4E77-B182-52EA174A361D}"/>
                </a:ext>
              </a:extLst>
            </p:cNvPr>
            <p:cNvSpPr/>
            <p:nvPr/>
          </p:nvSpPr>
          <p:spPr>
            <a:xfrm>
              <a:off x="608965" y="4458017"/>
              <a:ext cx="349504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Controlador </a:t>
              </a:r>
              <a:r>
                <a:rPr lang="pt-BR" dirty="0" err="1"/>
                <a:t>Hipervisor</a:t>
              </a:r>
              <a:endParaRPr lang="pt-BR" dirty="0"/>
            </a:p>
          </p:txBody>
        </p:sp>
        <p:sp>
          <p:nvSpPr>
            <p:cNvPr id="40" name="Retângulo 39">
              <a:extLst>
                <a:ext uri="{FF2B5EF4-FFF2-40B4-BE49-F238E27FC236}">
                  <a16:creationId xmlns:a16="http://schemas.microsoft.com/office/drawing/2014/main" id="{19A288D7-C413-47D2-B7DA-909ECE63AA48}"/>
                </a:ext>
              </a:extLst>
            </p:cNvPr>
            <p:cNvSpPr/>
            <p:nvPr/>
          </p:nvSpPr>
          <p:spPr>
            <a:xfrm>
              <a:off x="619760" y="3713321"/>
              <a:ext cx="1706245"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Hardware</a:t>
              </a:r>
            </a:p>
          </p:txBody>
        </p:sp>
        <p:sp>
          <p:nvSpPr>
            <p:cNvPr id="41" name="Retângulo 40">
              <a:extLst>
                <a:ext uri="{FF2B5EF4-FFF2-40B4-BE49-F238E27FC236}">
                  <a16:creationId xmlns:a16="http://schemas.microsoft.com/office/drawing/2014/main" id="{B2307D68-18ED-497B-A7A8-28E4E7E49389}"/>
                </a:ext>
              </a:extLst>
            </p:cNvPr>
            <p:cNvSpPr/>
            <p:nvPr/>
          </p:nvSpPr>
          <p:spPr>
            <a:xfrm>
              <a:off x="2451099" y="3713321"/>
              <a:ext cx="1663701"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Hardware</a:t>
              </a:r>
            </a:p>
          </p:txBody>
        </p:sp>
        <p:sp>
          <p:nvSpPr>
            <p:cNvPr id="42" name="Retângulo 41">
              <a:extLst>
                <a:ext uri="{FF2B5EF4-FFF2-40B4-BE49-F238E27FC236}">
                  <a16:creationId xmlns:a16="http://schemas.microsoft.com/office/drawing/2014/main" id="{E20DA103-3A51-4519-A32D-183D05F0D995}"/>
                </a:ext>
              </a:extLst>
            </p:cNvPr>
            <p:cNvSpPr/>
            <p:nvPr/>
          </p:nvSpPr>
          <p:spPr>
            <a:xfrm>
              <a:off x="606107" y="2968625"/>
              <a:ext cx="1733549"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SO</a:t>
              </a:r>
            </a:p>
          </p:txBody>
        </p:sp>
        <p:sp>
          <p:nvSpPr>
            <p:cNvPr id="43" name="Retângulo 42">
              <a:extLst>
                <a:ext uri="{FF2B5EF4-FFF2-40B4-BE49-F238E27FC236}">
                  <a16:creationId xmlns:a16="http://schemas.microsoft.com/office/drawing/2014/main" id="{8D914E21-B190-4919-946F-644E99DCFF3D}"/>
                </a:ext>
              </a:extLst>
            </p:cNvPr>
            <p:cNvSpPr/>
            <p:nvPr/>
          </p:nvSpPr>
          <p:spPr>
            <a:xfrm>
              <a:off x="2451099" y="2968625"/>
              <a:ext cx="1663701"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SO</a:t>
              </a:r>
            </a:p>
          </p:txBody>
        </p:sp>
        <p:sp>
          <p:nvSpPr>
            <p:cNvPr id="44" name="Retângulo 43">
              <a:extLst>
                <a:ext uri="{FF2B5EF4-FFF2-40B4-BE49-F238E27FC236}">
                  <a16:creationId xmlns:a16="http://schemas.microsoft.com/office/drawing/2014/main" id="{242DDC42-7358-44ED-8412-BAAE7067C2E3}"/>
                </a:ext>
              </a:extLst>
            </p:cNvPr>
            <p:cNvSpPr/>
            <p:nvPr/>
          </p:nvSpPr>
          <p:spPr>
            <a:xfrm>
              <a:off x="592456" y="2228531"/>
              <a:ext cx="1733549"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Aplicativo</a:t>
              </a:r>
            </a:p>
          </p:txBody>
        </p:sp>
        <p:sp>
          <p:nvSpPr>
            <p:cNvPr id="45" name="Retângulo 44">
              <a:extLst>
                <a:ext uri="{FF2B5EF4-FFF2-40B4-BE49-F238E27FC236}">
                  <a16:creationId xmlns:a16="http://schemas.microsoft.com/office/drawing/2014/main" id="{F6B337C3-9628-41ED-89AB-8F519729D43E}"/>
                </a:ext>
              </a:extLst>
            </p:cNvPr>
            <p:cNvSpPr/>
            <p:nvPr/>
          </p:nvSpPr>
          <p:spPr>
            <a:xfrm>
              <a:off x="2451099" y="2223929"/>
              <a:ext cx="1663701" cy="634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Aplicativo</a:t>
              </a:r>
            </a:p>
          </p:txBody>
        </p:sp>
      </p:grpSp>
    </p:spTree>
    <p:extLst>
      <p:ext uri="{BB962C8B-B14F-4D97-AF65-F5344CB8AC3E}">
        <p14:creationId xmlns:p14="http://schemas.microsoft.com/office/powerpoint/2010/main" val="180482528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CB124D-865F-4BEF-ABC8-DF6BFFB7B638}"/>
              </a:ext>
            </a:extLst>
          </p:cNvPr>
          <p:cNvSpPr>
            <a:spLocks noGrp="1"/>
          </p:cNvSpPr>
          <p:nvPr>
            <p:ph type="title"/>
          </p:nvPr>
        </p:nvSpPr>
        <p:spPr/>
        <p:txBody>
          <a:bodyPr/>
          <a:lstStyle/>
          <a:p>
            <a:r>
              <a:rPr lang="pt-BR" dirty="0"/>
              <a:t>APPS</a:t>
            </a:r>
          </a:p>
        </p:txBody>
      </p:sp>
      <p:sp>
        <p:nvSpPr>
          <p:cNvPr id="3" name="Espaço Reservado para Conteúdo 2">
            <a:extLst>
              <a:ext uri="{FF2B5EF4-FFF2-40B4-BE49-F238E27FC236}">
                <a16:creationId xmlns:a16="http://schemas.microsoft.com/office/drawing/2014/main" id="{C35F1392-0306-47A5-9BDB-7EA4B25DB90C}"/>
              </a:ext>
            </a:extLst>
          </p:cNvPr>
          <p:cNvSpPr>
            <a:spLocks noGrp="1"/>
          </p:cNvSpPr>
          <p:nvPr>
            <p:ph idx="1"/>
          </p:nvPr>
        </p:nvSpPr>
        <p:spPr/>
        <p:txBody>
          <a:bodyPr/>
          <a:lstStyle/>
          <a:p>
            <a:r>
              <a:rPr lang="pt-BR" dirty="0"/>
              <a:t>Azure APPS web</a:t>
            </a:r>
          </a:p>
          <a:p>
            <a:r>
              <a:rPr lang="pt-BR" dirty="0"/>
              <a:t>Azure </a:t>
            </a:r>
            <a:r>
              <a:rPr lang="pt-BR" dirty="0" err="1"/>
              <a:t>Serverless</a:t>
            </a:r>
            <a:endParaRPr lang="pt-BR" dirty="0"/>
          </a:p>
          <a:p>
            <a:pPr lvl="1"/>
            <a:r>
              <a:rPr lang="pt-BR" dirty="0"/>
              <a:t>Azure </a:t>
            </a:r>
            <a:r>
              <a:rPr lang="pt-BR" dirty="0" err="1"/>
              <a:t>Functions</a:t>
            </a:r>
            <a:r>
              <a:rPr lang="pt-BR" dirty="0"/>
              <a:t>  - Codificação com linguagens de programação</a:t>
            </a:r>
          </a:p>
          <a:p>
            <a:pPr lvl="1"/>
            <a:r>
              <a:rPr lang="pt-BR" dirty="0" err="1"/>
              <a:t>Logic</a:t>
            </a:r>
            <a:r>
              <a:rPr lang="pt-BR" dirty="0"/>
              <a:t> Apps – </a:t>
            </a:r>
            <a:r>
              <a:rPr lang="pt-BR" dirty="0" err="1"/>
              <a:t>WorkFlow</a:t>
            </a:r>
            <a:r>
              <a:rPr lang="pt-BR" dirty="0"/>
              <a:t> de tarefas e orquestração.</a:t>
            </a:r>
          </a:p>
          <a:p>
            <a:pPr lvl="1"/>
            <a:r>
              <a:rPr lang="pt-BR" dirty="0" err="1"/>
              <a:t>Event</a:t>
            </a:r>
            <a:r>
              <a:rPr lang="pt-BR" dirty="0"/>
              <a:t> Grid – Monitora eventos e executa tarefas.</a:t>
            </a:r>
          </a:p>
        </p:txBody>
      </p:sp>
    </p:spTree>
    <p:extLst>
      <p:ext uri="{BB962C8B-B14F-4D97-AF65-F5344CB8AC3E}">
        <p14:creationId xmlns:p14="http://schemas.microsoft.com/office/powerpoint/2010/main" val="124698057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A02AC7-022F-4700-A03A-8A07CF0BFBA8}"/>
              </a:ext>
            </a:extLst>
          </p:cNvPr>
          <p:cNvSpPr>
            <a:spLocks noGrp="1"/>
          </p:cNvSpPr>
          <p:nvPr>
            <p:ph type="title"/>
          </p:nvPr>
        </p:nvSpPr>
        <p:spPr/>
        <p:txBody>
          <a:bodyPr/>
          <a:lstStyle/>
          <a:p>
            <a:r>
              <a:rPr lang="pt-BR" dirty="0"/>
              <a:t>Docker Definições.</a:t>
            </a:r>
          </a:p>
        </p:txBody>
      </p:sp>
      <p:sp>
        <p:nvSpPr>
          <p:cNvPr id="3" name="Espaço Reservado para Conteúdo 2">
            <a:extLst>
              <a:ext uri="{FF2B5EF4-FFF2-40B4-BE49-F238E27FC236}">
                <a16:creationId xmlns:a16="http://schemas.microsoft.com/office/drawing/2014/main" id="{CF5DDAC0-7016-4285-9471-9E3E0433DDE1}"/>
              </a:ext>
            </a:extLst>
          </p:cNvPr>
          <p:cNvSpPr>
            <a:spLocks noGrp="1"/>
          </p:cNvSpPr>
          <p:nvPr>
            <p:ph idx="1"/>
          </p:nvPr>
        </p:nvSpPr>
        <p:spPr/>
        <p:txBody>
          <a:bodyPr/>
          <a:lstStyle/>
          <a:p>
            <a:r>
              <a:rPr lang="pt-BR" dirty="0"/>
              <a:t>Contêiner é um ambiente livremente isolado que nos permite criar e executar pacotes de software, código e todas as dependências, esses pacotes são baseados em </a:t>
            </a:r>
            <a:r>
              <a:rPr lang="pt-BR" i="1" dirty="0"/>
              <a:t>imagens de contêiner</a:t>
            </a:r>
            <a:r>
              <a:rPr lang="pt-BR" dirty="0"/>
              <a:t>.</a:t>
            </a:r>
          </a:p>
          <a:p>
            <a:r>
              <a:rPr lang="pt-BR" dirty="0"/>
              <a:t>Transporte em contêineres é um método de virtualização do sistema operacional usado para implantar e executar contêineres sem usar uma VM (máquina virtual).</a:t>
            </a:r>
          </a:p>
          <a:p>
            <a:r>
              <a:rPr lang="pt-BR" dirty="0"/>
              <a:t>Docker é uma plataforma de transporte em contêineres usada para desenvolver, enviar e executar contêineres.</a:t>
            </a:r>
          </a:p>
          <a:p>
            <a:r>
              <a:rPr lang="pt-BR" dirty="0"/>
              <a:t>Plataforma do Docker consiste em vários componentes que usamos para criar, executar e gerenciar nossos aplicativos em contêineres</a:t>
            </a:r>
          </a:p>
        </p:txBody>
      </p:sp>
    </p:spTree>
    <p:extLst>
      <p:ext uri="{BB962C8B-B14F-4D97-AF65-F5344CB8AC3E}">
        <p14:creationId xmlns:p14="http://schemas.microsoft.com/office/powerpoint/2010/main" val="52962425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A02AC7-022F-4700-A03A-8A07CF0BFBA8}"/>
              </a:ext>
            </a:extLst>
          </p:cNvPr>
          <p:cNvSpPr>
            <a:spLocks noGrp="1"/>
          </p:cNvSpPr>
          <p:nvPr>
            <p:ph type="title"/>
          </p:nvPr>
        </p:nvSpPr>
        <p:spPr/>
        <p:txBody>
          <a:bodyPr/>
          <a:lstStyle/>
          <a:p>
            <a:r>
              <a:rPr lang="pt-BR" dirty="0"/>
              <a:t>Docker Definições.</a:t>
            </a:r>
          </a:p>
        </p:txBody>
      </p:sp>
      <p:sp>
        <p:nvSpPr>
          <p:cNvPr id="3" name="Espaço Reservado para Conteúdo 2">
            <a:extLst>
              <a:ext uri="{FF2B5EF4-FFF2-40B4-BE49-F238E27FC236}">
                <a16:creationId xmlns:a16="http://schemas.microsoft.com/office/drawing/2014/main" id="{CF5DDAC0-7016-4285-9471-9E3E0433DDE1}"/>
              </a:ext>
            </a:extLst>
          </p:cNvPr>
          <p:cNvSpPr>
            <a:spLocks noGrp="1"/>
          </p:cNvSpPr>
          <p:nvPr>
            <p:ph idx="1"/>
          </p:nvPr>
        </p:nvSpPr>
        <p:spPr>
          <a:xfrm>
            <a:off x="142240" y="1300480"/>
            <a:ext cx="11734800" cy="5557519"/>
          </a:xfrm>
        </p:spPr>
        <p:txBody>
          <a:bodyPr>
            <a:normAutofit fontScale="92500" lnSpcReduction="10000"/>
          </a:bodyPr>
          <a:lstStyle/>
          <a:p>
            <a:r>
              <a:rPr lang="pt-BR" dirty="0"/>
              <a:t>Servidor do Docker é um </a:t>
            </a:r>
            <a:r>
              <a:rPr lang="pt-BR" dirty="0" err="1"/>
              <a:t>daemon</a:t>
            </a:r>
            <a:r>
              <a:rPr lang="pt-BR" dirty="0"/>
              <a:t> chamado </a:t>
            </a:r>
            <a:r>
              <a:rPr lang="pt-BR" dirty="0" err="1"/>
              <a:t>dockerd</a:t>
            </a:r>
            <a:r>
              <a:rPr lang="pt-BR" dirty="0"/>
              <a:t> que responde às solicitações do cliente por meio da API REST do Docker e pode interagir com outros </a:t>
            </a:r>
            <a:r>
              <a:rPr lang="pt-BR" dirty="0" err="1"/>
              <a:t>daemons</a:t>
            </a:r>
            <a:r>
              <a:rPr lang="pt-BR" dirty="0"/>
              <a:t>. O servidor do Docker também é responsável por acompanhar o ciclo de vida de nossos contêineres.</a:t>
            </a:r>
          </a:p>
          <a:p>
            <a:r>
              <a:rPr lang="pt-BR" dirty="0"/>
              <a:t>Cliente do Docker aplicativo de linha de comando chamado Docker que nos fornece uma CLI (interface de linha de comando) para interagir com um servidor do Docker usando a API REST do Docker para enviar instruções para um servidor local ou remoto e funções como a interface primária que usamos para gerenciar nossos contêineres.</a:t>
            </a:r>
          </a:p>
          <a:p>
            <a:r>
              <a:rPr lang="pt-BR" dirty="0"/>
              <a:t>Objetos Docker dão suporte às implantações de contêiner. Isso inclui redes, volumes de armazenamento, plug-ins e outros objetos de serviço. </a:t>
            </a:r>
          </a:p>
          <a:p>
            <a:r>
              <a:rPr lang="pt-BR" dirty="0"/>
              <a:t>Docker Hub é um registro de contêiner de SaaS (software como serviço) do Docker. São repositórios que usamos para armazenar e distribuir as imagens de contêiner. Você pode usar o Registro de Contêiner do Azure para armazenar contêineres do Docker para usá-los em vários serviços habilitados para contêiner do Azure.</a:t>
            </a:r>
          </a:p>
        </p:txBody>
      </p:sp>
    </p:spTree>
    <p:extLst>
      <p:ext uri="{BB962C8B-B14F-4D97-AF65-F5344CB8AC3E}">
        <p14:creationId xmlns:p14="http://schemas.microsoft.com/office/powerpoint/2010/main" val="365452369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1A55D0-1FC8-4106-92CA-2ADD47774BB4}"/>
              </a:ext>
            </a:extLst>
          </p:cNvPr>
          <p:cNvSpPr>
            <a:spLocks noGrp="1"/>
          </p:cNvSpPr>
          <p:nvPr>
            <p:ph type="title"/>
          </p:nvPr>
        </p:nvSpPr>
        <p:spPr/>
        <p:txBody>
          <a:bodyPr/>
          <a:lstStyle/>
          <a:p>
            <a:r>
              <a:rPr lang="pt-BR" dirty="0" err="1"/>
              <a:t>DockerFile</a:t>
            </a:r>
            <a:endParaRPr lang="pt-BR" dirty="0"/>
          </a:p>
        </p:txBody>
      </p:sp>
      <p:sp>
        <p:nvSpPr>
          <p:cNvPr id="3" name="Espaço Reservado para Conteúdo 2">
            <a:extLst>
              <a:ext uri="{FF2B5EF4-FFF2-40B4-BE49-F238E27FC236}">
                <a16:creationId xmlns:a16="http://schemas.microsoft.com/office/drawing/2014/main" id="{A647ABC9-3BB9-403E-867C-74D42058B755}"/>
              </a:ext>
            </a:extLst>
          </p:cNvPr>
          <p:cNvSpPr>
            <a:spLocks noGrp="1"/>
          </p:cNvSpPr>
          <p:nvPr>
            <p:ph idx="1"/>
          </p:nvPr>
        </p:nvSpPr>
        <p:spPr/>
        <p:txBody>
          <a:bodyPr>
            <a:normAutofit/>
          </a:bodyPr>
          <a:lstStyle/>
          <a:p>
            <a:r>
              <a:rPr lang="pt-BR" dirty="0"/>
              <a:t>Um </a:t>
            </a:r>
            <a:r>
              <a:rPr lang="pt-BR" dirty="0" err="1"/>
              <a:t>Dockerfile</a:t>
            </a:r>
            <a:r>
              <a:rPr lang="pt-BR" dirty="0"/>
              <a:t> é um arquivo de texto que contém as instruções que usamos para compilar e executar uma imagem do Docker</a:t>
            </a:r>
          </a:p>
          <a:p>
            <a:pPr lvl="1"/>
            <a:r>
              <a:rPr lang="pt-BR" dirty="0"/>
              <a:t>A imagem base ou pai que usamos para criar a imagem</a:t>
            </a:r>
          </a:p>
          <a:p>
            <a:pPr lvl="1"/>
            <a:r>
              <a:rPr lang="pt-BR" dirty="0"/>
              <a:t>Comandos usados para atualizar o sistema operacional base e instalar software adicional</a:t>
            </a:r>
          </a:p>
          <a:p>
            <a:pPr lvl="1"/>
            <a:r>
              <a:rPr lang="pt-BR" dirty="0"/>
              <a:t>Artefatos de compilação a serem incluídos, como um aplicativo desenvolvido</a:t>
            </a:r>
          </a:p>
          <a:p>
            <a:pPr lvl="1"/>
            <a:r>
              <a:rPr lang="pt-BR" dirty="0"/>
              <a:t>Serviços a serem expostos, como um armazenamento e uma configuração de rede</a:t>
            </a:r>
          </a:p>
          <a:p>
            <a:pPr lvl="1"/>
            <a:r>
              <a:rPr lang="pt-BR" dirty="0"/>
              <a:t>Comando a ser executado quando o contêiner é iniciado</a:t>
            </a:r>
          </a:p>
          <a:p>
            <a:pPr lvl="1"/>
            <a:endParaRPr lang="pt-BR" dirty="0"/>
          </a:p>
        </p:txBody>
      </p:sp>
    </p:spTree>
    <p:extLst>
      <p:ext uri="{BB962C8B-B14F-4D97-AF65-F5344CB8AC3E}">
        <p14:creationId xmlns:p14="http://schemas.microsoft.com/office/powerpoint/2010/main" val="18104379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tângulo 64">
            <a:extLst>
              <a:ext uri="{FF2B5EF4-FFF2-40B4-BE49-F238E27FC236}">
                <a16:creationId xmlns:a16="http://schemas.microsoft.com/office/drawing/2014/main" id="{A1639814-37C4-4E2E-A8D5-03FADEF7DE56}"/>
              </a:ext>
            </a:extLst>
          </p:cNvPr>
          <p:cNvSpPr/>
          <p:nvPr/>
        </p:nvSpPr>
        <p:spPr>
          <a:xfrm>
            <a:off x="5072580" y="618493"/>
            <a:ext cx="1187072" cy="321554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b="1" dirty="0">
                <a:solidFill>
                  <a:srgbClr val="002060"/>
                </a:solidFill>
              </a:rPr>
              <a:t>Docker</a:t>
            </a:r>
          </a:p>
          <a:p>
            <a:pPr algn="ctr"/>
            <a:r>
              <a:rPr lang="pt-BR" sz="2400" b="1" dirty="0">
                <a:solidFill>
                  <a:srgbClr val="002060"/>
                </a:solidFill>
              </a:rPr>
              <a:t>HUB</a:t>
            </a:r>
          </a:p>
        </p:txBody>
      </p:sp>
      <p:sp>
        <p:nvSpPr>
          <p:cNvPr id="2" name="Título 1">
            <a:extLst>
              <a:ext uri="{FF2B5EF4-FFF2-40B4-BE49-F238E27FC236}">
                <a16:creationId xmlns:a16="http://schemas.microsoft.com/office/drawing/2014/main" id="{3B57A051-D158-4590-AFA5-24692D92AD14}"/>
              </a:ext>
            </a:extLst>
          </p:cNvPr>
          <p:cNvSpPr>
            <a:spLocks noGrp="1"/>
          </p:cNvSpPr>
          <p:nvPr>
            <p:ph type="title"/>
          </p:nvPr>
        </p:nvSpPr>
        <p:spPr>
          <a:xfrm>
            <a:off x="242589" y="328010"/>
            <a:ext cx="1921451" cy="969187"/>
          </a:xfrm>
        </p:spPr>
        <p:txBody>
          <a:bodyPr/>
          <a:lstStyle/>
          <a:p>
            <a:r>
              <a:rPr lang="pt-BR" dirty="0"/>
              <a:t>Docker</a:t>
            </a:r>
          </a:p>
        </p:txBody>
      </p:sp>
      <p:grpSp>
        <p:nvGrpSpPr>
          <p:cNvPr id="27" name="Agrupar 26">
            <a:extLst>
              <a:ext uri="{FF2B5EF4-FFF2-40B4-BE49-F238E27FC236}">
                <a16:creationId xmlns:a16="http://schemas.microsoft.com/office/drawing/2014/main" id="{31C73AFB-C657-4B5C-A6A0-064AD35637B7}"/>
              </a:ext>
            </a:extLst>
          </p:cNvPr>
          <p:cNvGrpSpPr/>
          <p:nvPr/>
        </p:nvGrpSpPr>
        <p:grpSpPr>
          <a:xfrm>
            <a:off x="191045" y="4029183"/>
            <a:ext cx="2006339" cy="2647939"/>
            <a:chOff x="909581" y="1832620"/>
            <a:chExt cx="2905760" cy="3553143"/>
          </a:xfrm>
        </p:grpSpPr>
        <p:sp>
          <p:nvSpPr>
            <p:cNvPr id="5" name="Retângulo 4">
              <a:extLst>
                <a:ext uri="{FF2B5EF4-FFF2-40B4-BE49-F238E27FC236}">
                  <a16:creationId xmlns:a16="http://schemas.microsoft.com/office/drawing/2014/main" id="{D82FD0A6-4C25-4B64-B4E6-D003834226CD}"/>
                </a:ext>
              </a:extLst>
            </p:cNvPr>
            <p:cNvSpPr/>
            <p:nvPr/>
          </p:nvSpPr>
          <p:spPr>
            <a:xfrm>
              <a:off x="909581" y="1832620"/>
              <a:ext cx="2905760" cy="355314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b="1" dirty="0">
                  <a:solidFill>
                    <a:srgbClr val="002060"/>
                  </a:solidFill>
                </a:rPr>
                <a:t>Virtualização</a:t>
              </a:r>
            </a:p>
            <a:p>
              <a:pPr algn="ctr"/>
              <a:r>
                <a:rPr lang="pt-BR" sz="2400" b="1" dirty="0">
                  <a:solidFill>
                    <a:srgbClr val="002060"/>
                  </a:solidFill>
                </a:rPr>
                <a:t>BARE METAL</a:t>
              </a:r>
            </a:p>
          </p:txBody>
        </p:sp>
        <p:sp>
          <p:nvSpPr>
            <p:cNvPr id="6" name="Retângulo 5">
              <a:extLst>
                <a:ext uri="{FF2B5EF4-FFF2-40B4-BE49-F238E27FC236}">
                  <a16:creationId xmlns:a16="http://schemas.microsoft.com/office/drawing/2014/main" id="{2F5BF401-56A3-483D-90AA-72F15E31C4D1}"/>
                </a:ext>
              </a:extLst>
            </p:cNvPr>
            <p:cNvSpPr/>
            <p:nvPr/>
          </p:nvSpPr>
          <p:spPr>
            <a:xfrm>
              <a:off x="1074341" y="4635437"/>
              <a:ext cx="2576241" cy="3738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Hardware</a:t>
              </a:r>
            </a:p>
          </p:txBody>
        </p:sp>
        <p:sp>
          <p:nvSpPr>
            <p:cNvPr id="7" name="Retângulo 6">
              <a:extLst>
                <a:ext uri="{FF2B5EF4-FFF2-40B4-BE49-F238E27FC236}">
                  <a16:creationId xmlns:a16="http://schemas.microsoft.com/office/drawing/2014/main" id="{845B6F8E-B47A-439B-AD04-07760663DB13}"/>
                </a:ext>
              </a:extLst>
            </p:cNvPr>
            <p:cNvSpPr/>
            <p:nvPr/>
          </p:nvSpPr>
          <p:spPr>
            <a:xfrm>
              <a:off x="1074341" y="4164235"/>
              <a:ext cx="2576241" cy="3738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err="1"/>
                <a:t>Hypervisor</a:t>
              </a:r>
              <a:endParaRPr lang="pt-BR" dirty="0"/>
            </a:p>
          </p:txBody>
        </p:sp>
        <p:sp>
          <p:nvSpPr>
            <p:cNvPr id="8" name="Retângulo 7">
              <a:extLst>
                <a:ext uri="{FF2B5EF4-FFF2-40B4-BE49-F238E27FC236}">
                  <a16:creationId xmlns:a16="http://schemas.microsoft.com/office/drawing/2014/main" id="{6654C25A-F7F4-42CC-A891-54920E24D0DC}"/>
                </a:ext>
              </a:extLst>
            </p:cNvPr>
            <p:cNvSpPr/>
            <p:nvPr/>
          </p:nvSpPr>
          <p:spPr>
            <a:xfrm>
              <a:off x="1074341" y="3429000"/>
              <a:ext cx="1146297" cy="6378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SO</a:t>
              </a:r>
            </a:p>
            <a:p>
              <a:pPr algn="ctr"/>
              <a:r>
                <a:rPr lang="pt-BR" dirty="0"/>
                <a:t>Kernel</a:t>
              </a:r>
            </a:p>
          </p:txBody>
        </p:sp>
        <p:sp>
          <p:nvSpPr>
            <p:cNvPr id="12" name="Retângulo 11">
              <a:extLst>
                <a:ext uri="{FF2B5EF4-FFF2-40B4-BE49-F238E27FC236}">
                  <a16:creationId xmlns:a16="http://schemas.microsoft.com/office/drawing/2014/main" id="{BC6AF86A-329D-4C97-B6FA-A0F79ED985BD}"/>
                </a:ext>
              </a:extLst>
            </p:cNvPr>
            <p:cNvSpPr/>
            <p:nvPr/>
          </p:nvSpPr>
          <p:spPr>
            <a:xfrm>
              <a:off x="1074341" y="2914099"/>
              <a:ext cx="1146297" cy="4576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APP</a:t>
              </a:r>
            </a:p>
          </p:txBody>
        </p:sp>
        <p:sp>
          <p:nvSpPr>
            <p:cNvPr id="13" name="Retângulo 12">
              <a:extLst>
                <a:ext uri="{FF2B5EF4-FFF2-40B4-BE49-F238E27FC236}">
                  <a16:creationId xmlns:a16="http://schemas.microsoft.com/office/drawing/2014/main" id="{AE28CCD8-B9B9-43DE-9320-D6E3C5581CD4}"/>
                </a:ext>
              </a:extLst>
            </p:cNvPr>
            <p:cNvSpPr/>
            <p:nvPr/>
          </p:nvSpPr>
          <p:spPr>
            <a:xfrm>
              <a:off x="2500775" y="2872094"/>
              <a:ext cx="1149808" cy="4576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APP</a:t>
              </a:r>
            </a:p>
          </p:txBody>
        </p:sp>
        <p:sp>
          <p:nvSpPr>
            <p:cNvPr id="26" name="Retângulo 25">
              <a:extLst>
                <a:ext uri="{FF2B5EF4-FFF2-40B4-BE49-F238E27FC236}">
                  <a16:creationId xmlns:a16="http://schemas.microsoft.com/office/drawing/2014/main" id="{1DE50148-CFD2-4654-A318-2029E09D44A6}"/>
                </a:ext>
              </a:extLst>
            </p:cNvPr>
            <p:cNvSpPr/>
            <p:nvPr/>
          </p:nvSpPr>
          <p:spPr>
            <a:xfrm>
              <a:off x="2500774" y="3434080"/>
              <a:ext cx="1146297" cy="6378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SO</a:t>
              </a:r>
            </a:p>
            <a:p>
              <a:pPr algn="ctr"/>
              <a:r>
                <a:rPr lang="pt-BR" dirty="0"/>
                <a:t>Kernel</a:t>
              </a:r>
            </a:p>
          </p:txBody>
        </p:sp>
      </p:grpSp>
      <p:sp>
        <p:nvSpPr>
          <p:cNvPr id="29" name="Retângulo 28">
            <a:extLst>
              <a:ext uri="{FF2B5EF4-FFF2-40B4-BE49-F238E27FC236}">
                <a16:creationId xmlns:a16="http://schemas.microsoft.com/office/drawing/2014/main" id="{009BBFDA-48C6-429E-9AD0-FA75E68E1364}"/>
              </a:ext>
            </a:extLst>
          </p:cNvPr>
          <p:cNvSpPr/>
          <p:nvPr/>
        </p:nvSpPr>
        <p:spPr>
          <a:xfrm>
            <a:off x="6338356" y="618493"/>
            <a:ext cx="3794712" cy="5640067"/>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b="1" dirty="0">
                <a:solidFill>
                  <a:srgbClr val="002060"/>
                </a:solidFill>
              </a:rPr>
              <a:t>Conteinerização</a:t>
            </a:r>
          </a:p>
          <a:p>
            <a:pPr algn="ctr"/>
            <a:r>
              <a:rPr lang="pt-BR" sz="2400" b="1" dirty="0">
                <a:solidFill>
                  <a:srgbClr val="002060"/>
                </a:solidFill>
              </a:rPr>
              <a:t>Docker</a:t>
            </a:r>
          </a:p>
        </p:txBody>
      </p:sp>
      <p:sp>
        <p:nvSpPr>
          <p:cNvPr id="30" name="Retângulo 29">
            <a:extLst>
              <a:ext uri="{FF2B5EF4-FFF2-40B4-BE49-F238E27FC236}">
                <a16:creationId xmlns:a16="http://schemas.microsoft.com/office/drawing/2014/main" id="{6719F666-719C-43C8-8BB5-0F985CE7D66D}"/>
              </a:ext>
            </a:extLst>
          </p:cNvPr>
          <p:cNvSpPr/>
          <p:nvPr/>
        </p:nvSpPr>
        <p:spPr>
          <a:xfrm>
            <a:off x="6478552" y="5710363"/>
            <a:ext cx="3505364" cy="449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Hardware</a:t>
            </a:r>
          </a:p>
        </p:txBody>
      </p:sp>
      <p:sp>
        <p:nvSpPr>
          <p:cNvPr id="31" name="Retângulo 30">
            <a:extLst>
              <a:ext uri="{FF2B5EF4-FFF2-40B4-BE49-F238E27FC236}">
                <a16:creationId xmlns:a16="http://schemas.microsoft.com/office/drawing/2014/main" id="{DB2B0D3D-875D-49A0-AEB1-56615A723EEB}"/>
              </a:ext>
            </a:extLst>
          </p:cNvPr>
          <p:cNvSpPr/>
          <p:nvPr/>
        </p:nvSpPr>
        <p:spPr>
          <a:xfrm>
            <a:off x="6484321" y="5137326"/>
            <a:ext cx="3505364" cy="449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OS/Kernel</a:t>
            </a:r>
          </a:p>
        </p:txBody>
      </p:sp>
      <p:sp>
        <p:nvSpPr>
          <p:cNvPr id="32" name="Retângulo 31">
            <a:extLst>
              <a:ext uri="{FF2B5EF4-FFF2-40B4-BE49-F238E27FC236}">
                <a16:creationId xmlns:a16="http://schemas.microsoft.com/office/drawing/2014/main" id="{CE204818-2D6C-47FD-BE1F-C12812790F7A}"/>
              </a:ext>
            </a:extLst>
          </p:cNvPr>
          <p:cNvSpPr/>
          <p:nvPr/>
        </p:nvSpPr>
        <p:spPr>
          <a:xfrm>
            <a:off x="6484321" y="4545046"/>
            <a:ext cx="3505364" cy="449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err="1"/>
              <a:t>Dockerd</a:t>
            </a:r>
            <a:r>
              <a:rPr lang="pt-BR" dirty="0"/>
              <a:t> </a:t>
            </a:r>
            <a:r>
              <a:rPr lang="pt-BR" dirty="0" err="1"/>
              <a:t>Daemom</a:t>
            </a:r>
            <a:endParaRPr lang="pt-BR" dirty="0"/>
          </a:p>
        </p:txBody>
      </p:sp>
      <p:sp>
        <p:nvSpPr>
          <p:cNvPr id="41" name="CaixaDeTexto 40">
            <a:extLst>
              <a:ext uri="{FF2B5EF4-FFF2-40B4-BE49-F238E27FC236}">
                <a16:creationId xmlns:a16="http://schemas.microsoft.com/office/drawing/2014/main" id="{6775567B-BCD4-426A-9E57-319F2F52C285}"/>
              </a:ext>
            </a:extLst>
          </p:cNvPr>
          <p:cNvSpPr txBox="1"/>
          <p:nvPr/>
        </p:nvSpPr>
        <p:spPr>
          <a:xfrm>
            <a:off x="6634299" y="1826304"/>
            <a:ext cx="1725508" cy="923330"/>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err="1"/>
              <a:t>Conteiners</a:t>
            </a:r>
            <a:endParaRPr lang="pt-BR" dirty="0"/>
          </a:p>
          <a:p>
            <a:pPr algn="ctr"/>
            <a:r>
              <a:rPr lang="pt-BR" dirty="0" err="1"/>
              <a:t>NameSpace</a:t>
            </a:r>
            <a:r>
              <a:rPr lang="pt-BR" dirty="0"/>
              <a:t> Isolado</a:t>
            </a:r>
          </a:p>
        </p:txBody>
      </p:sp>
      <p:cxnSp>
        <p:nvCxnSpPr>
          <p:cNvPr id="45" name="Conector de Seta Reta 44">
            <a:extLst>
              <a:ext uri="{FF2B5EF4-FFF2-40B4-BE49-F238E27FC236}">
                <a16:creationId xmlns:a16="http://schemas.microsoft.com/office/drawing/2014/main" id="{93EDCA3C-1D2A-45F4-ADF5-F0957B2F9358}"/>
              </a:ext>
            </a:extLst>
          </p:cNvPr>
          <p:cNvCxnSpPr>
            <a:cxnSpLocks/>
            <a:stCxn id="41" idx="2"/>
            <a:endCxn id="62" idx="0"/>
          </p:cNvCxnSpPr>
          <p:nvPr/>
        </p:nvCxnSpPr>
        <p:spPr>
          <a:xfrm flipH="1">
            <a:off x="7072718" y="2749634"/>
            <a:ext cx="424335" cy="983239"/>
          </a:xfrm>
          <a:prstGeom prst="straightConnector1">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6" name="Conector de Seta Reta 45">
            <a:extLst>
              <a:ext uri="{FF2B5EF4-FFF2-40B4-BE49-F238E27FC236}">
                <a16:creationId xmlns:a16="http://schemas.microsoft.com/office/drawing/2014/main" id="{B9C20293-ADEF-403A-964D-37F98E7FB2C2}"/>
              </a:ext>
            </a:extLst>
          </p:cNvPr>
          <p:cNvCxnSpPr>
            <a:cxnSpLocks/>
            <a:stCxn id="41" idx="2"/>
            <a:endCxn id="63" idx="0"/>
          </p:cNvCxnSpPr>
          <p:nvPr/>
        </p:nvCxnSpPr>
        <p:spPr>
          <a:xfrm>
            <a:off x="7497053" y="2749634"/>
            <a:ext cx="163247" cy="970677"/>
          </a:xfrm>
          <a:prstGeom prst="straightConnector1">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7" name="Conector de Seta Reta 46">
            <a:extLst>
              <a:ext uri="{FF2B5EF4-FFF2-40B4-BE49-F238E27FC236}">
                <a16:creationId xmlns:a16="http://schemas.microsoft.com/office/drawing/2014/main" id="{8421AC94-C446-4413-9A5F-2DF92D269C22}"/>
              </a:ext>
            </a:extLst>
          </p:cNvPr>
          <p:cNvCxnSpPr>
            <a:cxnSpLocks/>
            <a:stCxn id="41" idx="2"/>
            <a:endCxn id="64" idx="0"/>
          </p:cNvCxnSpPr>
          <p:nvPr/>
        </p:nvCxnSpPr>
        <p:spPr>
          <a:xfrm>
            <a:off x="7497053" y="2749634"/>
            <a:ext cx="802873" cy="1014926"/>
          </a:xfrm>
          <a:prstGeom prst="straightConnector1">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62" name="Gráfico 61" descr="Banco de dados">
            <a:extLst>
              <a:ext uri="{FF2B5EF4-FFF2-40B4-BE49-F238E27FC236}">
                <a16:creationId xmlns:a16="http://schemas.microsoft.com/office/drawing/2014/main" id="{C311A502-7777-4ADA-9A2E-9C0C98D4A17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34299" y="3732873"/>
            <a:ext cx="876837" cy="67662"/>
          </a:xfrm>
          <a:prstGeom prst="rect">
            <a:avLst/>
          </a:prstGeom>
        </p:spPr>
      </p:pic>
      <p:pic>
        <p:nvPicPr>
          <p:cNvPr id="63" name="Gráfico 62" descr="Banco de dados">
            <a:extLst>
              <a:ext uri="{FF2B5EF4-FFF2-40B4-BE49-F238E27FC236}">
                <a16:creationId xmlns:a16="http://schemas.microsoft.com/office/drawing/2014/main" id="{A72368CF-2F13-4885-B842-698AF26B7C7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21881" y="3720311"/>
            <a:ext cx="876837" cy="67662"/>
          </a:xfrm>
          <a:prstGeom prst="rect">
            <a:avLst/>
          </a:prstGeom>
        </p:spPr>
      </p:pic>
      <p:pic>
        <p:nvPicPr>
          <p:cNvPr id="64" name="Gráfico 63" descr="Banco de dados">
            <a:extLst>
              <a:ext uri="{FF2B5EF4-FFF2-40B4-BE49-F238E27FC236}">
                <a16:creationId xmlns:a16="http://schemas.microsoft.com/office/drawing/2014/main" id="{48ABF119-56B4-4AEB-B514-4A669C38F13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61507" y="3764560"/>
            <a:ext cx="876837" cy="67662"/>
          </a:xfrm>
          <a:prstGeom prst="rect">
            <a:avLst/>
          </a:prstGeom>
        </p:spPr>
      </p:pic>
      <p:sp>
        <p:nvSpPr>
          <p:cNvPr id="84" name="CaixaDeTexto 83">
            <a:extLst>
              <a:ext uri="{FF2B5EF4-FFF2-40B4-BE49-F238E27FC236}">
                <a16:creationId xmlns:a16="http://schemas.microsoft.com/office/drawing/2014/main" id="{6283EE10-CE8A-49BF-A4DF-DDC2183681B9}"/>
              </a:ext>
            </a:extLst>
          </p:cNvPr>
          <p:cNvSpPr txBox="1"/>
          <p:nvPr/>
        </p:nvSpPr>
        <p:spPr>
          <a:xfrm>
            <a:off x="304808" y="1546379"/>
            <a:ext cx="2200770" cy="369332"/>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Sem Persistência</a:t>
            </a:r>
          </a:p>
        </p:txBody>
      </p:sp>
      <p:sp>
        <p:nvSpPr>
          <p:cNvPr id="94" name="CaixaDeTexto 93">
            <a:extLst>
              <a:ext uri="{FF2B5EF4-FFF2-40B4-BE49-F238E27FC236}">
                <a16:creationId xmlns:a16="http://schemas.microsoft.com/office/drawing/2014/main" id="{085CA0F1-1279-4B0B-B300-B749EB8E7A09}"/>
              </a:ext>
            </a:extLst>
          </p:cNvPr>
          <p:cNvSpPr txBox="1"/>
          <p:nvPr/>
        </p:nvSpPr>
        <p:spPr>
          <a:xfrm>
            <a:off x="10304559" y="256222"/>
            <a:ext cx="1524717" cy="923330"/>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Visão Abstraída do Kernel</a:t>
            </a:r>
          </a:p>
        </p:txBody>
      </p:sp>
      <p:cxnSp>
        <p:nvCxnSpPr>
          <p:cNvPr id="95" name="Conector de Seta Reta 94">
            <a:extLst>
              <a:ext uri="{FF2B5EF4-FFF2-40B4-BE49-F238E27FC236}">
                <a16:creationId xmlns:a16="http://schemas.microsoft.com/office/drawing/2014/main" id="{C8F56344-34F4-4864-ABA7-B67ED53C8887}"/>
              </a:ext>
            </a:extLst>
          </p:cNvPr>
          <p:cNvCxnSpPr>
            <a:cxnSpLocks/>
            <a:stCxn id="41" idx="0"/>
            <a:endCxn id="94" idx="1"/>
          </p:cNvCxnSpPr>
          <p:nvPr/>
        </p:nvCxnSpPr>
        <p:spPr>
          <a:xfrm flipV="1">
            <a:off x="7497053" y="717887"/>
            <a:ext cx="2807506" cy="1108417"/>
          </a:xfrm>
          <a:prstGeom prst="straightConnector1">
            <a:avLst/>
          </a:prstGeom>
          <a:ln w="47625">
            <a:solidFill>
              <a:srgbClr val="CC3399"/>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9" name="CaixaDeTexto 118">
            <a:extLst>
              <a:ext uri="{FF2B5EF4-FFF2-40B4-BE49-F238E27FC236}">
                <a16:creationId xmlns:a16="http://schemas.microsoft.com/office/drawing/2014/main" id="{0C6072B2-148F-404B-839E-C56B572BB4FB}"/>
              </a:ext>
            </a:extLst>
          </p:cNvPr>
          <p:cNvSpPr txBox="1"/>
          <p:nvPr/>
        </p:nvSpPr>
        <p:spPr>
          <a:xfrm>
            <a:off x="3612815" y="119276"/>
            <a:ext cx="1524717" cy="646331"/>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Leve, portátil e  imutável</a:t>
            </a:r>
          </a:p>
        </p:txBody>
      </p:sp>
      <p:cxnSp>
        <p:nvCxnSpPr>
          <p:cNvPr id="120" name="Conector de Seta Reta 119">
            <a:extLst>
              <a:ext uri="{FF2B5EF4-FFF2-40B4-BE49-F238E27FC236}">
                <a16:creationId xmlns:a16="http://schemas.microsoft.com/office/drawing/2014/main" id="{18273CAE-8D4D-4A57-90F8-CF4DCE247D6B}"/>
              </a:ext>
            </a:extLst>
          </p:cNvPr>
          <p:cNvCxnSpPr>
            <a:cxnSpLocks/>
            <a:stCxn id="70" idx="0"/>
            <a:endCxn id="119" idx="2"/>
          </p:cNvCxnSpPr>
          <p:nvPr/>
        </p:nvCxnSpPr>
        <p:spPr>
          <a:xfrm flipH="1" flipV="1">
            <a:off x="4375174" y="765607"/>
            <a:ext cx="1311036" cy="739702"/>
          </a:xfrm>
          <a:prstGeom prst="straightConnector1">
            <a:avLst/>
          </a:prstGeom>
          <a:ln w="47625">
            <a:solidFill>
              <a:srgbClr val="CC3399"/>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3" name="Conector de Seta Reta 122">
            <a:extLst>
              <a:ext uri="{FF2B5EF4-FFF2-40B4-BE49-F238E27FC236}">
                <a16:creationId xmlns:a16="http://schemas.microsoft.com/office/drawing/2014/main" id="{8453F8B0-0E32-49FE-89E1-87EBCBC1D49D}"/>
              </a:ext>
            </a:extLst>
          </p:cNvPr>
          <p:cNvCxnSpPr>
            <a:cxnSpLocks/>
            <a:stCxn id="70" idx="1"/>
            <a:endCxn id="84" idx="3"/>
          </p:cNvCxnSpPr>
          <p:nvPr/>
        </p:nvCxnSpPr>
        <p:spPr>
          <a:xfrm flipH="1" flipV="1">
            <a:off x="2505578" y="1731045"/>
            <a:ext cx="2677290" cy="53194"/>
          </a:xfrm>
          <a:prstGeom prst="straightConnector1">
            <a:avLst/>
          </a:prstGeom>
          <a:ln w="47625">
            <a:solidFill>
              <a:srgbClr val="CC3399"/>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7" name="CaixaDeTexto 126">
            <a:extLst>
              <a:ext uri="{FF2B5EF4-FFF2-40B4-BE49-F238E27FC236}">
                <a16:creationId xmlns:a16="http://schemas.microsoft.com/office/drawing/2014/main" id="{F047BA2E-BE43-4771-BAFC-828FF9E8FA12}"/>
              </a:ext>
            </a:extLst>
          </p:cNvPr>
          <p:cNvSpPr txBox="1"/>
          <p:nvPr/>
        </p:nvSpPr>
        <p:spPr>
          <a:xfrm>
            <a:off x="10304559" y="1334312"/>
            <a:ext cx="1524717" cy="646331"/>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Persistência</a:t>
            </a:r>
          </a:p>
          <a:p>
            <a:pPr algn="ctr"/>
            <a:r>
              <a:rPr lang="pt-BR" dirty="0"/>
              <a:t>Mapeada</a:t>
            </a:r>
          </a:p>
        </p:txBody>
      </p:sp>
      <p:cxnSp>
        <p:nvCxnSpPr>
          <p:cNvPr id="128" name="Conector de Seta Reta 127">
            <a:extLst>
              <a:ext uri="{FF2B5EF4-FFF2-40B4-BE49-F238E27FC236}">
                <a16:creationId xmlns:a16="http://schemas.microsoft.com/office/drawing/2014/main" id="{14D633E6-F89D-411E-BAAC-6C9BCC75CD60}"/>
              </a:ext>
            </a:extLst>
          </p:cNvPr>
          <p:cNvCxnSpPr>
            <a:cxnSpLocks/>
            <a:stCxn id="41" idx="3"/>
            <a:endCxn id="127" idx="1"/>
          </p:cNvCxnSpPr>
          <p:nvPr/>
        </p:nvCxnSpPr>
        <p:spPr>
          <a:xfrm flipV="1">
            <a:off x="8359807" y="1657478"/>
            <a:ext cx="1944752" cy="630491"/>
          </a:xfrm>
          <a:prstGeom prst="straightConnector1">
            <a:avLst/>
          </a:prstGeom>
          <a:ln w="47625">
            <a:solidFill>
              <a:srgbClr val="CC3399"/>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32" name="CaixaDeTexto 131">
            <a:extLst>
              <a:ext uri="{FF2B5EF4-FFF2-40B4-BE49-F238E27FC236}">
                <a16:creationId xmlns:a16="http://schemas.microsoft.com/office/drawing/2014/main" id="{FAEB9163-BEFE-4A88-89F7-BF8C13F3D6CE}"/>
              </a:ext>
            </a:extLst>
          </p:cNvPr>
          <p:cNvSpPr txBox="1"/>
          <p:nvPr/>
        </p:nvSpPr>
        <p:spPr>
          <a:xfrm>
            <a:off x="5482429" y="52120"/>
            <a:ext cx="3753521" cy="369332"/>
          </a:xfrm>
          <a:prstGeom prst="rect">
            <a:avLst/>
          </a:prstGeom>
          <a:ln w="47625">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en-US"/>
            </a:defPPr>
            <a:lvl1pPr algn="ctr"/>
          </a:lstStyle>
          <a:p>
            <a:r>
              <a:rPr lang="pt-BR" dirty="0" err="1"/>
              <a:t>Conteiner</a:t>
            </a:r>
            <a:r>
              <a:rPr lang="pt-BR" dirty="0"/>
              <a:t> Registre</a:t>
            </a:r>
          </a:p>
        </p:txBody>
      </p:sp>
      <p:cxnSp>
        <p:nvCxnSpPr>
          <p:cNvPr id="133" name="Conector de Seta Reta 132">
            <a:extLst>
              <a:ext uri="{FF2B5EF4-FFF2-40B4-BE49-F238E27FC236}">
                <a16:creationId xmlns:a16="http://schemas.microsoft.com/office/drawing/2014/main" id="{B7A66536-26CC-4CB5-A1BD-58C2A612149C}"/>
              </a:ext>
            </a:extLst>
          </p:cNvPr>
          <p:cNvCxnSpPr>
            <a:cxnSpLocks/>
            <a:stCxn id="132" idx="2"/>
            <a:endCxn id="65" idx="0"/>
          </p:cNvCxnSpPr>
          <p:nvPr/>
        </p:nvCxnSpPr>
        <p:spPr>
          <a:xfrm flipH="1">
            <a:off x="5666116" y="421452"/>
            <a:ext cx="1693074" cy="197041"/>
          </a:xfrm>
          <a:prstGeom prst="straightConnector1">
            <a:avLst/>
          </a:prstGeom>
          <a:ln w="47625">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37" name="Gráfico 136" descr="Programa">
            <a:extLst>
              <a:ext uri="{FF2B5EF4-FFF2-40B4-BE49-F238E27FC236}">
                <a16:creationId xmlns:a16="http://schemas.microsoft.com/office/drawing/2014/main" id="{3D76FBCD-D1DA-42F6-B594-13AFD3DBBD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59651" y="4936186"/>
            <a:ext cx="845500" cy="845500"/>
          </a:xfrm>
          <a:prstGeom prst="rect">
            <a:avLst/>
          </a:prstGeom>
        </p:spPr>
      </p:pic>
      <p:cxnSp>
        <p:nvCxnSpPr>
          <p:cNvPr id="138" name="Conector de Seta Reta 137">
            <a:extLst>
              <a:ext uri="{FF2B5EF4-FFF2-40B4-BE49-F238E27FC236}">
                <a16:creationId xmlns:a16="http://schemas.microsoft.com/office/drawing/2014/main" id="{BB30AAAE-0847-4BBD-92E1-18C10B754120}"/>
              </a:ext>
            </a:extLst>
          </p:cNvPr>
          <p:cNvCxnSpPr>
            <a:cxnSpLocks/>
            <a:stCxn id="161" idx="0"/>
            <a:endCxn id="65" idx="2"/>
          </p:cNvCxnSpPr>
          <p:nvPr/>
        </p:nvCxnSpPr>
        <p:spPr>
          <a:xfrm flipV="1">
            <a:off x="5461425" y="3834033"/>
            <a:ext cx="204691" cy="1342196"/>
          </a:xfrm>
          <a:prstGeom prst="straightConnector1">
            <a:avLst/>
          </a:prstGeom>
          <a:ln w="47625">
            <a:solidFill>
              <a:srgbClr val="7030A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4" name="Conector de Seta Reta 43">
            <a:extLst>
              <a:ext uri="{FF2B5EF4-FFF2-40B4-BE49-F238E27FC236}">
                <a16:creationId xmlns:a16="http://schemas.microsoft.com/office/drawing/2014/main" id="{48F4C348-7081-4114-B1E5-BC6A8B3E40AE}"/>
              </a:ext>
            </a:extLst>
          </p:cNvPr>
          <p:cNvCxnSpPr>
            <a:cxnSpLocks/>
            <a:stCxn id="48" idx="1"/>
            <a:endCxn id="32" idx="3"/>
          </p:cNvCxnSpPr>
          <p:nvPr/>
        </p:nvCxnSpPr>
        <p:spPr>
          <a:xfrm flipH="1" flipV="1">
            <a:off x="9989685" y="4769937"/>
            <a:ext cx="504347" cy="132749"/>
          </a:xfrm>
          <a:prstGeom prst="straightConnector1">
            <a:avLst/>
          </a:prstGeom>
          <a:ln w="47625">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8" name="CaixaDeTexto 47">
            <a:extLst>
              <a:ext uri="{FF2B5EF4-FFF2-40B4-BE49-F238E27FC236}">
                <a16:creationId xmlns:a16="http://schemas.microsoft.com/office/drawing/2014/main" id="{C4929001-9E9C-410D-9E61-8F63F21325D2}"/>
              </a:ext>
            </a:extLst>
          </p:cNvPr>
          <p:cNvSpPr txBox="1"/>
          <p:nvPr/>
        </p:nvSpPr>
        <p:spPr>
          <a:xfrm>
            <a:off x="10494032" y="4579520"/>
            <a:ext cx="1524717" cy="646331"/>
          </a:xfrm>
          <a:prstGeom prst="rect">
            <a:avLst/>
          </a:prstGeom>
          <a:ln w="47625">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Servidor Docker</a:t>
            </a:r>
          </a:p>
        </p:txBody>
      </p:sp>
      <p:sp>
        <p:nvSpPr>
          <p:cNvPr id="70" name="Retângulo 69">
            <a:extLst>
              <a:ext uri="{FF2B5EF4-FFF2-40B4-BE49-F238E27FC236}">
                <a16:creationId xmlns:a16="http://schemas.microsoft.com/office/drawing/2014/main" id="{E5825900-1D50-4DDB-85B8-E641A9CBFC3B}"/>
              </a:ext>
            </a:extLst>
          </p:cNvPr>
          <p:cNvSpPr/>
          <p:nvPr/>
        </p:nvSpPr>
        <p:spPr>
          <a:xfrm>
            <a:off x="5182868" y="1505309"/>
            <a:ext cx="1006683" cy="5578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APP</a:t>
            </a:r>
          </a:p>
        </p:txBody>
      </p:sp>
      <p:cxnSp>
        <p:nvCxnSpPr>
          <p:cNvPr id="77" name="Conector de Seta Reta 76">
            <a:extLst>
              <a:ext uri="{FF2B5EF4-FFF2-40B4-BE49-F238E27FC236}">
                <a16:creationId xmlns:a16="http://schemas.microsoft.com/office/drawing/2014/main" id="{9D661380-7814-4735-8BE7-18E26B3F2592}"/>
              </a:ext>
            </a:extLst>
          </p:cNvPr>
          <p:cNvCxnSpPr>
            <a:cxnSpLocks/>
            <a:stCxn id="78" idx="1"/>
            <a:endCxn id="264" idx="0"/>
          </p:cNvCxnSpPr>
          <p:nvPr/>
        </p:nvCxnSpPr>
        <p:spPr>
          <a:xfrm flipH="1">
            <a:off x="9005332" y="2494226"/>
            <a:ext cx="1364816" cy="610407"/>
          </a:xfrm>
          <a:prstGeom prst="straightConnector1">
            <a:avLst/>
          </a:prstGeom>
          <a:ln w="47625">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78" name="CaixaDeTexto 77">
            <a:extLst>
              <a:ext uri="{FF2B5EF4-FFF2-40B4-BE49-F238E27FC236}">
                <a16:creationId xmlns:a16="http://schemas.microsoft.com/office/drawing/2014/main" id="{53052EBC-F276-4048-A0F6-197FCB8B08D6}"/>
              </a:ext>
            </a:extLst>
          </p:cNvPr>
          <p:cNvSpPr txBox="1"/>
          <p:nvPr/>
        </p:nvSpPr>
        <p:spPr>
          <a:xfrm>
            <a:off x="10370148" y="2171060"/>
            <a:ext cx="1524717" cy="646331"/>
          </a:xfrm>
          <a:prstGeom prst="rect">
            <a:avLst/>
          </a:prstGeom>
          <a:ln w="47625">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Cliente Docker</a:t>
            </a:r>
          </a:p>
        </p:txBody>
      </p:sp>
      <p:sp>
        <p:nvSpPr>
          <p:cNvPr id="116" name="CaixaDeTexto 115">
            <a:extLst>
              <a:ext uri="{FF2B5EF4-FFF2-40B4-BE49-F238E27FC236}">
                <a16:creationId xmlns:a16="http://schemas.microsoft.com/office/drawing/2014/main" id="{4192C262-85CD-44FF-8428-336DBC942DB5}"/>
              </a:ext>
            </a:extLst>
          </p:cNvPr>
          <p:cNvSpPr txBox="1"/>
          <p:nvPr/>
        </p:nvSpPr>
        <p:spPr>
          <a:xfrm>
            <a:off x="6504474" y="3762056"/>
            <a:ext cx="3443337" cy="652962"/>
          </a:xfrm>
          <a:prstGeom prst="rect">
            <a:avLst/>
          </a:prstGeom>
          <a:ln w="34925">
            <a:solidFill>
              <a:srgbClr val="CC3399"/>
            </a:solidFill>
            <a:prstDash val="sysDot"/>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endParaRPr lang="pt-BR" dirty="0"/>
          </a:p>
        </p:txBody>
      </p:sp>
      <p:sp>
        <p:nvSpPr>
          <p:cNvPr id="151" name="CaixaDeTexto 150">
            <a:extLst>
              <a:ext uri="{FF2B5EF4-FFF2-40B4-BE49-F238E27FC236}">
                <a16:creationId xmlns:a16="http://schemas.microsoft.com/office/drawing/2014/main" id="{1C913B8B-B5D5-4AE1-A7FF-01C8CB06EB7C}"/>
              </a:ext>
            </a:extLst>
          </p:cNvPr>
          <p:cNvSpPr txBox="1"/>
          <p:nvPr/>
        </p:nvSpPr>
        <p:spPr>
          <a:xfrm>
            <a:off x="296278" y="2365064"/>
            <a:ext cx="3870515" cy="1200329"/>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Código do aplicativo,  pacotes do sistema, binários, bibliotecas, arquivos de configuração e “sistema operacional”.</a:t>
            </a:r>
          </a:p>
        </p:txBody>
      </p:sp>
      <p:cxnSp>
        <p:nvCxnSpPr>
          <p:cNvPr id="152" name="Conector de Seta Reta 151">
            <a:extLst>
              <a:ext uri="{FF2B5EF4-FFF2-40B4-BE49-F238E27FC236}">
                <a16:creationId xmlns:a16="http://schemas.microsoft.com/office/drawing/2014/main" id="{A5EC619C-7FE6-4A38-897E-BBE9FD3FD5B1}"/>
              </a:ext>
            </a:extLst>
          </p:cNvPr>
          <p:cNvCxnSpPr>
            <a:cxnSpLocks/>
            <a:stCxn id="70" idx="1"/>
            <a:endCxn id="151" idx="3"/>
          </p:cNvCxnSpPr>
          <p:nvPr/>
        </p:nvCxnSpPr>
        <p:spPr>
          <a:xfrm flipH="1">
            <a:off x="4166793" y="1784239"/>
            <a:ext cx="1016075" cy="1180990"/>
          </a:xfrm>
          <a:prstGeom prst="straightConnector1">
            <a:avLst/>
          </a:prstGeom>
          <a:ln w="47625">
            <a:solidFill>
              <a:srgbClr val="CC3399"/>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56" name="CaixaDeTexto 155">
            <a:extLst>
              <a:ext uri="{FF2B5EF4-FFF2-40B4-BE49-F238E27FC236}">
                <a16:creationId xmlns:a16="http://schemas.microsoft.com/office/drawing/2014/main" id="{BFF27B1F-336D-4708-B1C9-BE9269136C45}"/>
              </a:ext>
            </a:extLst>
          </p:cNvPr>
          <p:cNvSpPr txBox="1"/>
          <p:nvPr/>
        </p:nvSpPr>
        <p:spPr>
          <a:xfrm>
            <a:off x="2309735" y="6061715"/>
            <a:ext cx="2452217" cy="646331"/>
          </a:xfrm>
          <a:prstGeom prst="rect">
            <a:avLst/>
          </a:prstGeom>
          <a:ln w="47625">
            <a:solidFill>
              <a:srgbClr val="7030A0"/>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pt-BR" b="1" dirty="0"/>
              <a:t>Arquivos de Unificação </a:t>
            </a:r>
            <a:r>
              <a:rPr lang="pt-BR" b="1" dirty="0" err="1"/>
              <a:t>Empilhável</a:t>
            </a:r>
            <a:r>
              <a:rPr lang="pt-BR" b="1" dirty="0"/>
              <a:t> </a:t>
            </a:r>
            <a:r>
              <a:rPr lang="pt-BR" b="1" dirty="0" err="1"/>
              <a:t>Unionfs</a:t>
            </a:r>
            <a:endParaRPr lang="pt-BR" b="1" dirty="0"/>
          </a:p>
        </p:txBody>
      </p:sp>
      <p:sp>
        <p:nvSpPr>
          <p:cNvPr id="160" name="CaixaDeTexto 159">
            <a:extLst>
              <a:ext uri="{FF2B5EF4-FFF2-40B4-BE49-F238E27FC236}">
                <a16:creationId xmlns:a16="http://schemas.microsoft.com/office/drawing/2014/main" id="{36FD4468-818F-421C-8ACD-85FBD4950957}"/>
              </a:ext>
            </a:extLst>
          </p:cNvPr>
          <p:cNvSpPr txBox="1"/>
          <p:nvPr/>
        </p:nvSpPr>
        <p:spPr>
          <a:xfrm>
            <a:off x="2415983" y="4042323"/>
            <a:ext cx="1521489" cy="365763"/>
          </a:xfrm>
          <a:prstGeom prst="rect">
            <a:avLst/>
          </a:prstGeom>
          <a:ln w="47625">
            <a:solidFill>
              <a:srgbClr val="7030A0"/>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pt-BR" b="1" dirty="0"/>
              <a:t>Imagem Base</a:t>
            </a:r>
          </a:p>
        </p:txBody>
      </p:sp>
      <p:sp>
        <p:nvSpPr>
          <p:cNvPr id="161" name="CaixaDeTexto 160">
            <a:extLst>
              <a:ext uri="{FF2B5EF4-FFF2-40B4-BE49-F238E27FC236}">
                <a16:creationId xmlns:a16="http://schemas.microsoft.com/office/drawing/2014/main" id="{567C8E11-8D22-41FC-9DE0-CBB24D0B1CFE}"/>
              </a:ext>
            </a:extLst>
          </p:cNvPr>
          <p:cNvSpPr txBox="1"/>
          <p:nvPr/>
        </p:nvSpPr>
        <p:spPr>
          <a:xfrm>
            <a:off x="4747121" y="5176229"/>
            <a:ext cx="1428608" cy="369332"/>
          </a:xfrm>
          <a:prstGeom prst="rect">
            <a:avLst/>
          </a:prstGeom>
          <a:ln w="47625">
            <a:solidFill>
              <a:srgbClr val="7030A0"/>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pt-BR" b="1" dirty="0"/>
              <a:t>Imagem PAI</a:t>
            </a:r>
          </a:p>
        </p:txBody>
      </p:sp>
      <p:cxnSp>
        <p:nvCxnSpPr>
          <p:cNvPr id="162" name="Conector de Seta Reta 161">
            <a:extLst>
              <a:ext uri="{FF2B5EF4-FFF2-40B4-BE49-F238E27FC236}">
                <a16:creationId xmlns:a16="http://schemas.microsoft.com/office/drawing/2014/main" id="{62355FF3-F16C-4DD7-B5E8-026B2F022FE1}"/>
              </a:ext>
            </a:extLst>
          </p:cNvPr>
          <p:cNvCxnSpPr>
            <a:cxnSpLocks/>
            <a:stCxn id="161" idx="2"/>
            <a:endCxn id="156" idx="3"/>
          </p:cNvCxnSpPr>
          <p:nvPr/>
        </p:nvCxnSpPr>
        <p:spPr>
          <a:xfrm flipH="1">
            <a:off x="4761952" y="5545561"/>
            <a:ext cx="699473" cy="839320"/>
          </a:xfrm>
          <a:prstGeom prst="straightConnector1">
            <a:avLst/>
          </a:prstGeom>
          <a:ln w="47625">
            <a:solidFill>
              <a:srgbClr val="7030A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6" name="Conector de Seta Reta 165">
            <a:extLst>
              <a:ext uri="{FF2B5EF4-FFF2-40B4-BE49-F238E27FC236}">
                <a16:creationId xmlns:a16="http://schemas.microsoft.com/office/drawing/2014/main" id="{B8D6FBEC-1B9D-420F-8F53-C360622695A9}"/>
              </a:ext>
            </a:extLst>
          </p:cNvPr>
          <p:cNvCxnSpPr>
            <a:cxnSpLocks/>
            <a:stCxn id="137" idx="0"/>
            <a:endCxn id="160" idx="2"/>
          </p:cNvCxnSpPr>
          <p:nvPr/>
        </p:nvCxnSpPr>
        <p:spPr>
          <a:xfrm flipH="1" flipV="1">
            <a:off x="3176728" y="4408086"/>
            <a:ext cx="5673" cy="528100"/>
          </a:xfrm>
          <a:prstGeom prst="straightConnector1">
            <a:avLst/>
          </a:prstGeom>
          <a:ln w="47625">
            <a:solidFill>
              <a:srgbClr val="7030A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9" name="Conector de Seta Reta 168">
            <a:extLst>
              <a:ext uri="{FF2B5EF4-FFF2-40B4-BE49-F238E27FC236}">
                <a16:creationId xmlns:a16="http://schemas.microsoft.com/office/drawing/2014/main" id="{F6BDDD0C-FCE7-403C-B8B3-87E22CC2780A}"/>
              </a:ext>
            </a:extLst>
          </p:cNvPr>
          <p:cNvCxnSpPr>
            <a:cxnSpLocks/>
            <a:stCxn id="160" idx="3"/>
            <a:endCxn id="65" idx="2"/>
          </p:cNvCxnSpPr>
          <p:nvPr/>
        </p:nvCxnSpPr>
        <p:spPr>
          <a:xfrm flipV="1">
            <a:off x="3937472" y="3834033"/>
            <a:ext cx="1728644" cy="391172"/>
          </a:xfrm>
          <a:prstGeom prst="straightConnector1">
            <a:avLst/>
          </a:prstGeom>
          <a:ln w="47625">
            <a:solidFill>
              <a:srgbClr val="7030A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7" name="Conector de Seta Reta 216">
            <a:extLst>
              <a:ext uri="{FF2B5EF4-FFF2-40B4-BE49-F238E27FC236}">
                <a16:creationId xmlns:a16="http://schemas.microsoft.com/office/drawing/2014/main" id="{F756D9ED-7D0C-4BAF-97CA-43C42DB0D165}"/>
              </a:ext>
            </a:extLst>
          </p:cNvPr>
          <p:cNvCxnSpPr>
            <a:cxnSpLocks/>
            <a:stCxn id="137" idx="3"/>
            <a:endCxn id="161" idx="1"/>
          </p:cNvCxnSpPr>
          <p:nvPr/>
        </p:nvCxnSpPr>
        <p:spPr>
          <a:xfrm>
            <a:off x="3605151" y="5358936"/>
            <a:ext cx="1141970" cy="1959"/>
          </a:xfrm>
          <a:prstGeom prst="straightConnector1">
            <a:avLst/>
          </a:prstGeom>
          <a:ln w="47625">
            <a:solidFill>
              <a:srgbClr val="7030A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0" name="Texto Explicativo: Seta para a Esquerda e para a Direita 19">
            <a:extLst>
              <a:ext uri="{FF2B5EF4-FFF2-40B4-BE49-F238E27FC236}">
                <a16:creationId xmlns:a16="http://schemas.microsoft.com/office/drawing/2014/main" id="{9B6F7E9F-333E-49B9-A9F0-1959C425F281}"/>
              </a:ext>
            </a:extLst>
          </p:cNvPr>
          <p:cNvSpPr/>
          <p:nvPr/>
        </p:nvSpPr>
        <p:spPr>
          <a:xfrm rot="5400000">
            <a:off x="8983083" y="3594382"/>
            <a:ext cx="572541" cy="971692"/>
          </a:xfrm>
          <a:prstGeom prst="leftRightArrowCallout">
            <a:avLst>
              <a:gd name="adj1" fmla="val 48553"/>
              <a:gd name="adj2" fmla="val 236458"/>
              <a:gd name="adj3" fmla="val 18587"/>
              <a:gd name="adj4" fmla="val 50578"/>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pt-BR" dirty="0">
                <a:solidFill>
                  <a:schemeClr val="tx1"/>
                </a:solidFill>
              </a:rPr>
              <a:t>API REST</a:t>
            </a:r>
          </a:p>
        </p:txBody>
      </p:sp>
      <p:sp>
        <p:nvSpPr>
          <p:cNvPr id="264" name="Retângulo 263">
            <a:extLst>
              <a:ext uri="{FF2B5EF4-FFF2-40B4-BE49-F238E27FC236}">
                <a16:creationId xmlns:a16="http://schemas.microsoft.com/office/drawing/2014/main" id="{FCBDBCD2-6B95-43C3-8474-09AA9AC66DBB}"/>
              </a:ext>
            </a:extLst>
          </p:cNvPr>
          <p:cNvSpPr/>
          <p:nvPr/>
        </p:nvSpPr>
        <p:spPr>
          <a:xfrm>
            <a:off x="8693929" y="3104633"/>
            <a:ext cx="622805" cy="5506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CLI</a:t>
            </a:r>
          </a:p>
        </p:txBody>
      </p:sp>
      <p:sp>
        <p:nvSpPr>
          <p:cNvPr id="265" name="Retângulo 264">
            <a:extLst>
              <a:ext uri="{FF2B5EF4-FFF2-40B4-BE49-F238E27FC236}">
                <a16:creationId xmlns:a16="http://schemas.microsoft.com/office/drawing/2014/main" id="{754D03CE-C0B2-4646-A360-90089534F8D1}"/>
              </a:ext>
            </a:extLst>
          </p:cNvPr>
          <p:cNvSpPr/>
          <p:nvPr/>
        </p:nvSpPr>
        <p:spPr>
          <a:xfrm>
            <a:off x="9443797" y="3104483"/>
            <a:ext cx="2079642" cy="5506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err="1"/>
              <a:t>Dockerd</a:t>
            </a:r>
            <a:r>
              <a:rPr lang="pt-BR" dirty="0"/>
              <a:t> </a:t>
            </a:r>
            <a:r>
              <a:rPr lang="pt-BR" dirty="0" err="1"/>
              <a:t>Daemom</a:t>
            </a:r>
            <a:endParaRPr lang="pt-BR" dirty="0"/>
          </a:p>
        </p:txBody>
      </p:sp>
      <p:sp>
        <p:nvSpPr>
          <p:cNvPr id="56" name="CaixaDeTexto 55">
            <a:extLst>
              <a:ext uri="{FF2B5EF4-FFF2-40B4-BE49-F238E27FC236}">
                <a16:creationId xmlns:a16="http://schemas.microsoft.com/office/drawing/2014/main" id="{D7D8FB29-DB96-4287-BCD9-B1C9DBF95779}"/>
              </a:ext>
            </a:extLst>
          </p:cNvPr>
          <p:cNvSpPr txBox="1"/>
          <p:nvPr/>
        </p:nvSpPr>
        <p:spPr>
          <a:xfrm>
            <a:off x="2309735" y="838658"/>
            <a:ext cx="1524717" cy="369332"/>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Docker </a:t>
            </a:r>
            <a:r>
              <a:rPr lang="pt-BR" dirty="0" err="1"/>
              <a:t>Image</a:t>
            </a:r>
            <a:endParaRPr lang="pt-BR" dirty="0"/>
          </a:p>
        </p:txBody>
      </p:sp>
      <p:cxnSp>
        <p:nvCxnSpPr>
          <p:cNvPr id="58" name="Conector de Seta Reta 57">
            <a:extLst>
              <a:ext uri="{FF2B5EF4-FFF2-40B4-BE49-F238E27FC236}">
                <a16:creationId xmlns:a16="http://schemas.microsoft.com/office/drawing/2014/main" id="{47A21EEA-0C7C-41DD-9776-6B2884C2526D}"/>
              </a:ext>
            </a:extLst>
          </p:cNvPr>
          <p:cNvCxnSpPr>
            <a:cxnSpLocks/>
            <a:stCxn id="70" idx="1"/>
            <a:endCxn id="56" idx="3"/>
          </p:cNvCxnSpPr>
          <p:nvPr/>
        </p:nvCxnSpPr>
        <p:spPr>
          <a:xfrm flipH="1" flipV="1">
            <a:off x="3834452" y="1023324"/>
            <a:ext cx="1348416" cy="760915"/>
          </a:xfrm>
          <a:prstGeom prst="straightConnector1">
            <a:avLst/>
          </a:prstGeom>
          <a:ln w="47625">
            <a:solidFill>
              <a:srgbClr val="CC3399"/>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10" name="Imagem 9">
            <a:extLst>
              <a:ext uri="{FF2B5EF4-FFF2-40B4-BE49-F238E27FC236}">
                <a16:creationId xmlns:a16="http://schemas.microsoft.com/office/drawing/2014/main" id="{459E198A-C404-4FE9-AEAB-1D76FA86FBF5}"/>
              </a:ext>
            </a:extLst>
          </p:cNvPr>
          <p:cNvPicPr>
            <a:picLocks noChangeAspect="1"/>
          </p:cNvPicPr>
          <p:nvPr/>
        </p:nvPicPr>
        <p:blipFill>
          <a:blip r:embed="rId6"/>
          <a:stretch>
            <a:fillRect/>
          </a:stretch>
        </p:blipFill>
        <p:spPr>
          <a:xfrm>
            <a:off x="6618836" y="3799309"/>
            <a:ext cx="653963" cy="601118"/>
          </a:xfrm>
          <a:prstGeom prst="rect">
            <a:avLst/>
          </a:prstGeom>
        </p:spPr>
      </p:pic>
      <p:pic>
        <p:nvPicPr>
          <p:cNvPr id="66" name="Imagem 65">
            <a:extLst>
              <a:ext uri="{FF2B5EF4-FFF2-40B4-BE49-F238E27FC236}">
                <a16:creationId xmlns:a16="http://schemas.microsoft.com/office/drawing/2014/main" id="{479C4596-55ED-4D16-9BC9-338FA88AE5E2}"/>
              </a:ext>
            </a:extLst>
          </p:cNvPr>
          <p:cNvPicPr>
            <a:picLocks noChangeAspect="1"/>
          </p:cNvPicPr>
          <p:nvPr/>
        </p:nvPicPr>
        <p:blipFill>
          <a:blip r:embed="rId6"/>
          <a:stretch>
            <a:fillRect/>
          </a:stretch>
        </p:blipFill>
        <p:spPr>
          <a:xfrm>
            <a:off x="7341914" y="3789178"/>
            <a:ext cx="653963" cy="601118"/>
          </a:xfrm>
          <a:prstGeom prst="rect">
            <a:avLst/>
          </a:prstGeom>
        </p:spPr>
      </p:pic>
      <p:pic>
        <p:nvPicPr>
          <p:cNvPr id="67" name="Imagem 66">
            <a:extLst>
              <a:ext uri="{FF2B5EF4-FFF2-40B4-BE49-F238E27FC236}">
                <a16:creationId xmlns:a16="http://schemas.microsoft.com/office/drawing/2014/main" id="{40BE7E2B-3007-4D73-9D5D-7E3220650E82}"/>
              </a:ext>
            </a:extLst>
          </p:cNvPr>
          <p:cNvPicPr>
            <a:picLocks noChangeAspect="1"/>
          </p:cNvPicPr>
          <p:nvPr/>
        </p:nvPicPr>
        <p:blipFill>
          <a:blip r:embed="rId6"/>
          <a:stretch>
            <a:fillRect/>
          </a:stretch>
        </p:blipFill>
        <p:spPr>
          <a:xfrm>
            <a:off x="8049529" y="3799309"/>
            <a:ext cx="653963" cy="601118"/>
          </a:xfrm>
          <a:prstGeom prst="rect">
            <a:avLst/>
          </a:prstGeom>
        </p:spPr>
      </p:pic>
    </p:spTree>
    <p:extLst>
      <p:ext uri="{BB962C8B-B14F-4D97-AF65-F5344CB8AC3E}">
        <p14:creationId xmlns:p14="http://schemas.microsoft.com/office/powerpoint/2010/main" val="409659333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aixaDeTexto 23">
            <a:extLst>
              <a:ext uri="{FF2B5EF4-FFF2-40B4-BE49-F238E27FC236}">
                <a16:creationId xmlns:a16="http://schemas.microsoft.com/office/drawing/2014/main" id="{05D48B5D-E681-4B9A-BCEF-16E7A476DA0A}"/>
              </a:ext>
            </a:extLst>
          </p:cNvPr>
          <p:cNvSpPr txBox="1"/>
          <p:nvPr/>
        </p:nvSpPr>
        <p:spPr>
          <a:xfrm>
            <a:off x="4083357" y="2569537"/>
            <a:ext cx="1844821" cy="646331"/>
          </a:xfrm>
          <a:prstGeom prst="rect">
            <a:avLst/>
          </a:prstGeom>
          <a:ln w="3175">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Pausar Docker</a:t>
            </a:r>
          </a:p>
          <a:p>
            <a:pPr algn="ctr"/>
            <a:r>
              <a:rPr lang="pt-BR" dirty="0"/>
              <a:t>Retomar Docker</a:t>
            </a:r>
          </a:p>
        </p:txBody>
      </p:sp>
      <p:sp>
        <p:nvSpPr>
          <p:cNvPr id="26" name="CaixaDeTexto 25">
            <a:extLst>
              <a:ext uri="{FF2B5EF4-FFF2-40B4-BE49-F238E27FC236}">
                <a16:creationId xmlns:a16="http://schemas.microsoft.com/office/drawing/2014/main" id="{A8329D82-7C18-4E8A-AB7E-510B3C728A60}"/>
              </a:ext>
            </a:extLst>
          </p:cNvPr>
          <p:cNvSpPr txBox="1"/>
          <p:nvPr/>
        </p:nvSpPr>
        <p:spPr>
          <a:xfrm>
            <a:off x="7159815" y="3590867"/>
            <a:ext cx="1844821" cy="369332"/>
          </a:xfrm>
          <a:prstGeom prst="rect">
            <a:avLst/>
          </a:prstGeom>
          <a:ln w="3175">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Parar Docker</a:t>
            </a:r>
          </a:p>
        </p:txBody>
      </p:sp>
      <p:sp>
        <p:nvSpPr>
          <p:cNvPr id="25" name="CaixaDeTexto 24">
            <a:extLst>
              <a:ext uri="{FF2B5EF4-FFF2-40B4-BE49-F238E27FC236}">
                <a16:creationId xmlns:a16="http://schemas.microsoft.com/office/drawing/2014/main" id="{94240F52-6FBB-4DF2-AF70-89F63E8185B6}"/>
              </a:ext>
            </a:extLst>
          </p:cNvPr>
          <p:cNvSpPr txBox="1"/>
          <p:nvPr/>
        </p:nvSpPr>
        <p:spPr>
          <a:xfrm>
            <a:off x="5730240" y="4675179"/>
            <a:ext cx="1844821" cy="369332"/>
          </a:xfrm>
          <a:prstGeom prst="rect">
            <a:avLst/>
          </a:prstGeom>
          <a:ln w="3175">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Parar Docker</a:t>
            </a:r>
          </a:p>
        </p:txBody>
      </p:sp>
      <p:sp>
        <p:nvSpPr>
          <p:cNvPr id="2" name="Título 1">
            <a:extLst>
              <a:ext uri="{FF2B5EF4-FFF2-40B4-BE49-F238E27FC236}">
                <a16:creationId xmlns:a16="http://schemas.microsoft.com/office/drawing/2014/main" id="{A6B13C4E-1454-45A5-A787-7744C3A6AEF5}"/>
              </a:ext>
            </a:extLst>
          </p:cNvPr>
          <p:cNvSpPr>
            <a:spLocks noGrp="1"/>
          </p:cNvSpPr>
          <p:nvPr>
            <p:ph type="title"/>
          </p:nvPr>
        </p:nvSpPr>
        <p:spPr/>
        <p:txBody>
          <a:bodyPr/>
          <a:lstStyle/>
          <a:p>
            <a:r>
              <a:rPr lang="pt-BR" dirty="0"/>
              <a:t>Ciclo de vida do </a:t>
            </a:r>
            <a:r>
              <a:rPr lang="pt-BR" dirty="0" err="1"/>
              <a:t>Conteiner</a:t>
            </a:r>
            <a:endParaRPr lang="pt-BR" dirty="0"/>
          </a:p>
        </p:txBody>
      </p:sp>
      <p:sp>
        <p:nvSpPr>
          <p:cNvPr id="4" name="CaixaDeTexto 3">
            <a:extLst>
              <a:ext uri="{FF2B5EF4-FFF2-40B4-BE49-F238E27FC236}">
                <a16:creationId xmlns:a16="http://schemas.microsoft.com/office/drawing/2014/main" id="{DC2B6E4E-3B6A-406E-93D9-728C36BEBB44}"/>
              </a:ext>
            </a:extLst>
          </p:cNvPr>
          <p:cNvSpPr txBox="1"/>
          <p:nvPr/>
        </p:nvSpPr>
        <p:spPr>
          <a:xfrm>
            <a:off x="9123458" y="3567182"/>
            <a:ext cx="1963643" cy="646331"/>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en-US"/>
            </a:defPPr>
            <a:lvl1pPr algn="ctr">
              <a:defRPr sz="3600"/>
            </a:lvl1pPr>
          </a:lstStyle>
          <a:p>
            <a:r>
              <a:rPr lang="pt-BR" dirty="0"/>
              <a:t>Remover</a:t>
            </a:r>
          </a:p>
        </p:txBody>
      </p:sp>
      <p:sp>
        <p:nvSpPr>
          <p:cNvPr id="5" name="CaixaDeTexto 4">
            <a:extLst>
              <a:ext uri="{FF2B5EF4-FFF2-40B4-BE49-F238E27FC236}">
                <a16:creationId xmlns:a16="http://schemas.microsoft.com/office/drawing/2014/main" id="{363803CC-3C93-4003-9DB0-45AA838F1EBC}"/>
              </a:ext>
            </a:extLst>
          </p:cNvPr>
          <p:cNvSpPr txBox="1"/>
          <p:nvPr/>
        </p:nvSpPr>
        <p:spPr>
          <a:xfrm>
            <a:off x="4946358" y="5382437"/>
            <a:ext cx="1963643" cy="646331"/>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en-US"/>
            </a:defPPr>
            <a:lvl1pPr algn="ctr">
              <a:defRPr sz="3600"/>
            </a:lvl1pPr>
          </a:lstStyle>
          <a:p>
            <a:r>
              <a:rPr lang="pt-BR" dirty="0"/>
              <a:t>Parado</a:t>
            </a:r>
          </a:p>
        </p:txBody>
      </p:sp>
      <p:sp>
        <p:nvSpPr>
          <p:cNvPr id="6" name="CaixaDeTexto 5">
            <a:extLst>
              <a:ext uri="{FF2B5EF4-FFF2-40B4-BE49-F238E27FC236}">
                <a16:creationId xmlns:a16="http://schemas.microsoft.com/office/drawing/2014/main" id="{809476AA-A695-4DBF-BC0B-13EE6D0B3D10}"/>
              </a:ext>
            </a:extLst>
          </p:cNvPr>
          <p:cNvSpPr txBox="1"/>
          <p:nvPr/>
        </p:nvSpPr>
        <p:spPr>
          <a:xfrm>
            <a:off x="4946358" y="1751929"/>
            <a:ext cx="1963643" cy="646331"/>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en-US"/>
            </a:defPPr>
            <a:lvl1pPr algn="ctr">
              <a:defRPr sz="3600"/>
            </a:lvl1pPr>
          </a:lstStyle>
          <a:p>
            <a:r>
              <a:rPr lang="pt-BR" dirty="0"/>
              <a:t>Pausado</a:t>
            </a:r>
          </a:p>
        </p:txBody>
      </p:sp>
      <p:sp>
        <p:nvSpPr>
          <p:cNvPr id="7" name="CaixaDeTexto 6">
            <a:extLst>
              <a:ext uri="{FF2B5EF4-FFF2-40B4-BE49-F238E27FC236}">
                <a16:creationId xmlns:a16="http://schemas.microsoft.com/office/drawing/2014/main" id="{DCCCC74E-BCB8-4104-AD51-D56AC95B6EA3}"/>
              </a:ext>
            </a:extLst>
          </p:cNvPr>
          <p:cNvSpPr txBox="1"/>
          <p:nvPr/>
        </p:nvSpPr>
        <p:spPr>
          <a:xfrm>
            <a:off x="4946357" y="3567183"/>
            <a:ext cx="1963643" cy="646331"/>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en-US"/>
            </a:defPPr>
            <a:lvl1pPr algn="ctr">
              <a:defRPr sz="3600"/>
            </a:lvl1pPr>
          </a:lstStyle>
          <a:p>
            <a:r>
              <a:rPr lang="pt-BR" dirty="0"/>
              <a:t>Execução</a:t>
            </a:r>
          </a:p>
        </p:txBody>
      </p:sp>
      <p:sp>
        <p:nvSpPr>
          <p:cNvPr id="8" name="CaixaDeTexto 7">
            <a:extLst>
              <a:ext uri="{FF2B5EF4-FFF2-40B4-BE49-F238E27FC236}">
                <a16:creationId xmlns:a16="http://schemas.microsoft.com/office/drawing/2014/main" id="{098CB900-BAE9-4103-AEA0-8B358544914E}"/>
              </a:ext>
            </a:extLst>
          </p:cNvPr>
          <p:cNvSpPr txBox="1"/>
          <p:nvPr/>
        </p:nvSpPr>
        <p:spPr>
          <a:xfrm>
            <a:off x="1208182" y="3596441"/>
            <a:ext cx="1524717" cy="646331"/>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sz="3600" dirty="0"/>
              <a:t>Criado</a:t>
            </a:r>
          </a:p>
        </p:txBody>
      </p:sp>
      <p:cxnSp>
        <p:nvCxnSpPr>
          <p:cNvPr id="9" name="Conector de Seta Reta 8">
            <a:extLst>
              <a:ext uri="{FF2B5EF4-FFF2-40B4-BE49-F238E27FC236}">
                <a16:creationId xmlns:a16="http://schemas.microsoft.com/office/drawing/2014/main" id="{F0CFC580-5524-485A-B442-38BEE40EE466}"/>
              </a:ext>
            </a:extLst>
          </p:cNvPr>
          <p:cNvCxnSpPr>
            <a:cxnSpLocks/>
            <a:stCxn id="7" idx="1"/>
            <a:endCxn id="8" idx="3"/>
          </p:cNvCxnSpPr>
          <p:nvPr/>
        </p:nvCxnSpPr>
        <p:spPr>
          <a:xfrm flipH="1">
            <a:off x="2732899" y="3890349"/>
            <a:ext cx="2213458" cy="29258"/>
          </a:xfrm>
          <a:prstGeom prst="straightConnector1">
            <a:avLst/>
          </a:prstGeom>
          <a:ln w="47625">
            <a:solidFill>
              <a:srgbClr val="CC3399"/>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 name="Conector de Seta Reta 12">
            <a:extLst>
              <a:ext uri="{FF2B5EF4-FFF2-40B4-BE49-F238E27FC236}">
                <a16:creationId xmlns:a16="http://schemas.microsoft.com/office/drawing/2014/main" id="{02D65340-3201-4541-8905-F2B717C7FFBA}"/>
              </a:ext>
            </a:extLst>
          </p:cNvPr>
          <p:cNvCxnSpPr>
            <a:cxnSpLocks/>
            <a:stCxn id="7" idx="3"/>
            <a:endCxn id="4" idx="1"/>
          </p:cNvCxnSpPr>
          <p:nvPr/>
        </p:nvCxnSpPr>
        <p:spPr>
          <a:xfrm flipV="1">
            <a:off x="6910000" y="3890348"/>
            <a:ext cx="2213458" cy="1"/>
          </a:xfrm>
          <a:prstGeom prst="straightConnector1">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15">
            <a:extLst>
              <a:ext uri="{FF2B5EF4-FFF2-40B4-BE49-F238E27FC236}">
                <a16:creationId xmlns:a16="http://schemas.microsoft.com/office/drawing/2014/main" id="{C429A661-C9A5-4630-A616-139535DAB428}"/>
              </a:ext>
            </a:extLst>
          </p:cNvPr>
          <p:cNvCxnSpPr>
            <a:cxnSpLocks/>
            <a:stCxn id="7" idx="0"/>
            <a:endCxn id="6" idx="2"/>
          </p:cNvCxnSpPr>
          <p:nvPr/>
        </p:nvCxnSpPr>
        <p:spPr>
          <a:xfrm flipV="1">
            <a:off x="5928179" y="2398260"/>
            <a:ext cx="1" cy="1168923"/>
          </a:xfrm>
          <a:prstGeom prst="straightConnector1">
            <a:avLst/>
          </a:prstGeom>
          <a:ln w="47625">
            <a:solidFill>
              <a:srgbClr val="CC3399"/>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18">
            <a:extLst>
              <a:ext uri="{FF2B5EF4-FFF2-40B4-BE49-F238E27FC236}">
                <a16:creationId xmlns:a16="http://schemas.microsoft.com/office/drawing/2014/main" id="{38A6AD60-EF64-41F6-9AC0-6F4520282786}"/>
              </a:ext>
            </a:extLst>
          </p:cNvPr>
          <p:cNvCxnSpPr>
            <a:cxnSpLocks/>
            <a:stCxn id="7" idx="2"/>
            <a:endCxn id="5" idx="0"/>
          </p:cNvCxnSpPr>
          <p:nvPr/>
        </p:nvCxnSpPr>
        <p:spPr>
          <a:xfrm>
            <a:off x="5928179" y="4213514"/>
            <a:ext cx="1" cy="1168923"/>
          </a:xfrm>
          <a:prstGeom prst="straightConnector1">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3" name="CaixaDeTexto 22">
            <a:extLst>
              <a:ext uri="{FF2B5EF4-FFF2-40B4-BE49-F238E27FC236}">
                <a16:creationId xmlns:a16="http://schemas.microsoft.com/office/drawing/2014/main" id="{C66F76BD-FF18-487C-82D2-F89E0ED5F28C}"/>
              </a:ext>
            </a:extLst>
          </p:cNvPr>
          <p:cNvSpPr txBox="1"/>
          <p:nvPr/>
        </p:nvSpPr>
        <p:spPr>
          <a:xfrm>
            <a:off x="2917217" y="3927831"/>
            <a:ext cx="1844821" cy="369332"/>
          </a:xfrm>
          <a:prstGeom prst="rect">
            <a:avLst/>
          </a:prstGeom>
          <a:ln w="3175">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Executar Docker</a:t>
            </a:r>
          </a:p>
        </p:txBody>
      </p:sp>
    </p:spTree>
    <p:extLst>
      <p:ext uri="{BB962C8B-B14F-4D97-AF65-F5344CB8AC3E}">
        <p14:creationId xmlns:p14="http://schemas.microsoft.com/office/powerpoint/2010/main" val="393597519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5626A7-CA2B-4D7D-9E6D-C34F80AE4A34}"/>
              </a:ext>
            </a:extLst>
          </p:cNvPr>
          <p:cNvSpPr>
            <a:spLocks noGrp="1"/>
          </p:cNvSpPr>
          <p:nvPr>
            <p:ph type="title"/>
          </p:nvPr>
        </p:nvSpPr>
        <p:spPr/>
        <p:txBody>
          <a:bodyPr/>
          <a:lstStyle/>
          <a:p>
            <a:r>
              <a:rPr lang="pt-BR" b="1" dirty="0"/>
              <a:t>Armazenamento no Contêiner</a:t>
            </a:r>
            <a:endParaRPr lang="pt-BR" dirty="0"/>
          </a:p>
        </p:txBody>
      </p:sp>
      <p:sp>
        <p:nvSpPr>
          <p:cNvPr id="3" name="Espaço Reservado para Conteúdo 2">
            <a:extLst>
              <a:ext uri="{FF2B5EF4-FFF2-40B4-BE49-F238E27FC236}">
                <a16:creationId xmlns:a16="http://schemas.microsoft.com/office/drawing/2014/main" id="{8556D1C6-D3CB-4631-81C2-9A4BD9568D9D}"/>
              </a:ext>
            </a:extLst>
          </p:cNvPr>
          <p:cNvSpPr>
            <a:spLocks noGrp="1"/>
          </p:cNvSpPr>
          <p:nvPr>
            <p:ph idx="1"/>
          </p:nvPr>
        </p:nvSpPr>
        <p:spPr/>
        <p:txBody>
          <a:bodyPr/>
          <a:lstStyle/>
          <a:p>
            <a:r>
              <a:rPr lang="pt-BR" dirty="0"/>
              <a:t>Diretamente no sistema de arquivos do contêiner.</a:t>
            </a:r>
          </a:p>
          <a:p>
            <a:pPr lvl="1"/>
            <a:r>
              <a:rPr lang="pt-BR" dirty="0"/>
              <a:t>O armazenamento de contêiner é temporário</a:t>
            </a:r>
          </a:p>
          <a:p>
            <a:pPr lvl="1"/>
            <a:r>
              <a:rPr lang="pt-BR" dirty="0"/>
              <a:t>O armazenamento de contêiner é acoplado ao computador host subjacente</a:t>
            </a:r>
          </a:p>
          <a:p>
            <a:pPr lvl="1"/>
            <a:r>
              <a:rPr lang="pt-BR" dirty="0"/>
              <a:t>As unidades de armazenamento de contêiner têm um desempenho inferior</a:t>
            </a:r>
          </a:p>
          <a:p>
            <a:r>
              <a:rPr lang="pt-BR" dirty="0"/>
              <a:t>Contêineres podem fazer uso de duas opções para persistir os dados:</a:t>
            </a:r>
          </a:p>
          <a:p>
            <a:pPr lvl="1"/>
            <a:r>
              <a:rPr lang="pt-BR" i="1" dirty="0"/>
              <a:t>Volumes (pasta especifica no computador host)</a:t>
            </a:r>
          </a:p>
          <a:p>
            <a:pPr lvl="1"/>
            <a:r>
              <a:rPr lang="pt-BR" i="1" dirty="0"/>
              <a:t>Montagem de associação (sem pasta especifica no computador host)</a:t>
            </a:r>
          </a:p>
          <a:p>
            <a:pPr marL="457200" lvl="1" indent="0">
              <a:buNone/>
            </a:pPr>
            <a:endParaRPr lang="pt-BR" dirty="0"/>
          </a:p>
        </p:txBody>
      </p:sp>
    </p:spTree>
    <p:extLst>
      <p:ext uri="{BB962C8B-B14F-4D97-AF65-F5344CB8AC3E}">
        <p14:creationId xmlns:p14="http://schemas.microsoft.com/office/powerpoint/2010/main" val="284625504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1CB3F6-29D2-4F98-8AAB-42C9991BA855}"/>
              </a:ext>
            </a:extLst>
          </p:cNvPr>
          <p:cNvSpPr>
            <a:spLocks noGrp="1"/>
          </p:cNvSpPr>
          <p:nvPr>
            <p:ph type="title"/>
          </p:nvPr>
        </p:nvSpPr>
        <p:spPr/>
        <p:txBody>
          <a:bodyPr/>
          <a:lstStyle/>
          <a:p>
            <a:r>
              <a:rPr lang="pt-BR" b="1" dirty="0"/>
              <a:t>Rede de contêiner no Docker</a:t>
            </a:r>
            <a:br>
              <a:rPr lang="pt-BR" b="1" dirty="0"/>
            </a:br>
            <a:endParaRPr lang="pt-BR" dirty="0"/>
          </a:p>
        </p:txBody>
      </p:sp>
      <p:sp>
        <p:nvSpPr>
          <p:cNvPr id="3" name="Espaço Reservado para Conteúdo 2">
            <a:extLst>
              <a:ext uri="{FF2B5EF4-FFF2-40B4-BE49-F238E27FC236}">
                <a16:creationId xmlns:a16="http://schemas.microsoft.com/office/drawing/2014/main" id="{5E91658A-4413-45F9-8EBF-E9935E1458A5}"/>
              </a:ext>
            </a:extLst>
          </p:cNvPr>
          <p:cNvSpPr>
            <a:spLocks noGrp="1"/>
          </p:cNvSpPr>
          <p:nvPr>
            <p:ph idx="1"/>
          </p:nvPr>
        </p:nvSpPr>
        <p:spPr/>
        <p:txBody>
          <a:bodyPr>
            <a:normAutofit fontScale="92500" lnSpcReduction="20000"/>
          </a:bodyPr>
          <a:lstStyle/>
          <a:p>
            <a:r>
              <a:rPr lang="pt-BR" dirty="0"/>
              <a:t>Bridge</a:t>
            </a:r>
          </a:p>
          <a:p>
            <a:pPr lvl="1"/>
            <a:r>
              <a:rPr lang="pt-BR" dirty="0"/>
              <a:t>É uma rede privada interna usada pelo contêiner e isola a rede de contêiner da rede de host.</a:t>
            </a:r>
          </a:p>
          <a:p>
            <a:pPr lvl="1"/>
            <a:r>
              <a:rPr lang="pt-BR" dirty="0"/>
              <a:t>Contêiner recebe um endereço IP, </a:t>
            </a:r>
            <a:r>
              <a:rPr lang="pt-BR" dirty="0" err="1"/>
              <a:t>sub-rede</a:t>
            </a:r>
            <a:r>
              <a:rPr lang="pt-BR" dirty="0"/>
              <a:t>, nome do host e têm permissão para acessar outros contêineres conectados à ponte pelo endereço IP.</a:t>
            </a:r>
          </a:p>
          <a:p>
            <a:pPr lvl="1"/>
            <a:r>
              <a:rPr lang="pt-BR" dirty="0"/>
              <a:t>Podemos criar um mapeamento de portas entre as portas do contêiner e as portas do host do Docker.</a:t>
            </a:r>
          </a:p>
          <a:p>
            <a:r>
              <a:rPr lang="pt-BR" dirty="0"/>
              <a:t>Host</a:t>
            </a:r>
          </a:p>
          <a:p>
            <a:pPr lvl="1"/>
            <a:r>
              <a:rPr lang="pt-BR" dirty="0"/>
              <a:t>Permite executar o contêiner diretamente na rede do host.</a:t>
            </a:r>
          </a:p>
          <a:p>
            <a:pPr lvl="1"/>
            <a:r>
              <a:rPr lang="pt-BR" dirty="0"/>
              <a:t>Remove efetivamente o isolamento entre o host e o contêiner em um nível de rede.</a:t>
            </a:r>
          </a:p>
          <a:p>
            <a:pPr lvl="1"/>
            <a:r>
              <a:rPr lang="pt-BR" dirty="0"/>
              <a:t>Contêiner só pode usar as portas ainda não usadas pelo host.</a:t>
            </a:r>
          </a:p>
          <a:p>
            <a:r>
              <a:rPr lang="pt-BR" dirty="0" err="1"/>
              <a:t>None</a:t>
            </a:r>
            <a:endParaRPr lang="pt-BR" dirty="0"/>
          </a:p>
          <a:p>
            <a:pPr lvl="1"/>
            <a:r>
              <a:rPr lang="pt-BR" dirty="0"/>
              <a:t>É uma opção de rede para desabilitar a rede para os contêineres</a:t>
            </a:r>
          </a:p>
        </p:txBody>
      </p:sp>
    </p:spTree>
    <p:extLst>
      <p:ext uri="{BB962C8B-B14F-4D97-AF65-F5344CB8AC3E}">
        <p14:creationId xmlns:p14="http://schemas.microsoft.com/office/powerpoint/2010/main" val="244314795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F90ABF47-1576-4797-9714-8AD1D48D44A0}"/>
              </a:ext>
            </a:extLst>
          </p:cNvPr>
          <p:cNvSpPr/>
          <p:nvPr/>
        </p:nvSpPr>
        <p:spPr>
          <a:xfrm>
            <a:off x="3124693" y="2335171"/>
            <a:ext cx="3245628" cy="2187658"/>
          </a:xfrm>
          <a:prstGeom prst="rect">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pt-BR" dirty="0">
                <a:solidFill>
                  <a:schemeClr val="tx1"/>
                </a:solidFill>
              </a:rPr>
              <a:t>Contêiner Docker</a:t>
            </a:r>
          </a:p>
        </p:txBody>
      </p:sp>
      <p:sp>
        <p:nvSpPr>
          <p:cNvPr id="2" name="Título 1">
            <a:extLst>
              <a:ext uri="{FF2B5EF4-FFF2-40B4-BE49-F238E27FC236}">
                <a16:creationId xmlns:a16="http://schemas.microsoft.com/office/drawing/2014/main" id="{A903B4F0-F35E-456D-9A0B-6D3F0118D013}"/>
              </a:ext>
            </a:extLst>
          </p:cNvPr>
          <p:cNvSpPr>
            <a:spLocks noGrp="1"/>
          </p:cNvSpPr>
          <p:nvPr>
            <p:ph type="title"/>
          </p:nvPr>
        </p:nvSpPr>
        <p:spPr/>
        <p:txBody>
          <a:bodyPr/>
          <a:lstStyle/>
          <a:p>
            <a:r>
              <a:rPr lang="pt-BR" b="1" dirty="0"/>
              <a:t>Rede de contêiner no Docker</a:t>
            </a:r>
            <a:endParaRPr lang="pt-BR" dirty="0"/>
          </a:p>
        </p:txBody>
      </p:sp>
      <p:sp>
        <p:nvSpPr>
          <p:cNvPr id="4" name="CaixaDeTexto 3">
            <a:extLst>
              <a:ext uri="{FF2B5EF4-FFF2-40B4-BE49-F238E27FC236}">
                <a16:creationId xmlns:a16="http://schemas.microsoft.com/office/drawing/2014/main" id="{CA759381-FCEB-4FBC-A201-FB93229B7F46}"/>
              </a:ext>
            </a:extLst>
          </p:cNvPr>
          <p:cNvSpPr txBox="1"/>
          <p:nvPr/>
        </p:nvSpPr>
        <p:spPr>
          <a:xfrm>
            <a:off x="191972" y="3220501"/>
            <a:ext cx="1575868" cy="461665"/>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sz="2400" dirty="0"/>
              <a:t>Navegador</a:t>
            </a:r>
          </a:p>
        </p:txBody>
      </p:sp>
      <p:sp>
        <p:nvSpPr>
          <p:cNvPr id="5" name="CaixaDeTexto 4">
            <a:extLst>
              <a:ext uri="{FF2B5EF4-FFF2-40B4-BE49-F238E27FC236}">
                <a16:creationId xmlns:a16="http://schemas.microsoft.com/office/drawing/2014/main" id="{50879101-277E-46D8-84E4-6A3B41F98EFA}"/>
              </a:ext>
            </a:extLst>
          </p:cNvPr>
          <p:cNvSpPr txBox="1"/>
          <p:nvPr/>
        </p:nvSpPr>
        <p:spPr>
          <a:xfrm>
            <a:off x="4415533" y="3220499"/>
            <a:ext cx="1670308" cy="461665"/>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en-US"/>
            </a:defPPr>
            <a:lvl1pPr algn="ctr">
              <a:defRPr sz="2400"/>
            </a:lvl1pPr>
          </a:lstStyle>
          <a:p>
            <a:r>
              <a:rPr lang="pt-BR" dirty="0"/>
              <a:t>Aplicativo</a:t>
            </a:r>
          </a:p>
        </p:txBody>
      </p:sp>
      <p:sp>
        <p:nvSpPr>
          <p:cNvPr id="6" name="Elipse 5">
            <a:extLst>
              <a:ext uri="{FF2B5EF4-FFF2-40B4-BE49-F238E27FC236}">
                <a16:creationId xmlns:a16="http://schemas.microsoft.com/office/drawing/2014/main" id="{6DB3E383-2B63-4627-8688-387FD020F1CF}"/>
              </a:ext>
            </a:extLst>
          </p:cNvPr>
          <p:cNvSpPr/>
          <p:nvPr/>
        </p:nvSpPr>
        <p:spPr>
          <a:xfrm>
            <a:off x="2165064" y="3109026"/>
            <a:ext cx="1919256" cy="697083"/>
          </a:xfrm>
          <a:prstGeom prst="ellipse">
            <a:avLst/>
          </a:prstGeom>
          <a:solidFill>
            <a:schemeClr val="bg1"/>
          </a:solidFill>
          <a:ln w="476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pt-BR" sz="1600" dirty="0">
                <a:solidFill>
                  <a:schemeClr val="tx1"/>
                </a:solidFill>
              </a:rPr>
              <a:t>Mapeamento de Porta</a:t>
            </a:r>
          </a:p>
        </p:txBody>
      </p:sp>
      <p:sp>
        <p:nvSpPr>
          <p:cNvPr id="7" name="Retângulo 6">
            <a:extLst>
              <a:ext uri="{FF2B5EF4-FFF2-40B4-BE49-F238E27FC236}">
                <a16:creationId xmlns:a16="http://schemas.microsoft.com/office/drawing/2014/main" id="{4EE0D046-DF0D-44FD-B694-7A00CAFDCFE4}"/>
              </a:ext>
            </a:extLst>
          </p:cNvPr>
          <p:cNvSpPr/>
          <p:nvPr/>
        </p:nvSpPr>
        <p:spPr>
          <a:xfrm>
            <a:off x="9011920" y="2335172"/>
            <a:ext cx="2967788" cy="2162704"/>
          </a:xfrm>
          <a:prstGeom prst="rect">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dirty="0">
                <a:solidFill>
                  <a:schemeClr val="tx1"/>
                </a:solidFill>
              </a:rPr>
              <a:t>Contêiner Docker</a:t>
            </a:r>
          </a:p>
        </p:txBody>
      </p:sp>
      <p:sp>
        <p:nvSpPr>
          <p:cNvPr id="9" name="Elipse 8">
            <a:extLst>
              <a:ext uri="{FF2B5EF4-FFF2-40B4-BE49-F238E27FC236}">
                <a16:creationId xmlns:a16="http://schemas.microsoft.com/office/drawing/2014/main" id="{4F171267-CA14-4758-95A0-DF2B8ECCD78A}"/>
              </a:ext>
            </a:extLst>
          </p:cNvPr>
          <p:cNvSpPr/>
          <p:nvPr/>
        </p:nvSpPr>
        <p:spPr>
          <a:xfrm>
            <a:off x="6701534" y="3109028"/>
            <a:ext cx="1844646" cy="697081"/>
          </a:xfrm>
          <a:prstGeom prst="ellipse">
            <a:avLst/>
          </a:prstGeom>
          <a:solidFill>
            <a:schemeClr val="bg1"/>
          </a:solidFill>
          <a:ln w="476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pt-BR" sz="1600" dirty="0">
                <a:solidFill>
                  <a:schemeClr val="tx1"/>
                </a:solidFill>
              </a:rPr>
              <a:t>Rede Padrão Bridge</a:t>
            </a:r>
          </a:p>
        </p:txBody>
      </p:sp>
      <p:sp>
        <p:nvSpPr>
          <p:cNvPr id="10" name="CaixaDeTexto 9">
            <a:extLst>
              <a:ext uri="{FF2B5EF4-FFF2-40B4-BE49-F238E27FC236}">
                <a16:creationId xmlns:a16="http://schemas.microsoft.com/office/drawing/2014/main" id="{730E2666-A560-4A34-8800-AE53CFF405D1}"/>
              </a:ext>
            </a:extLst>
          </p:cNvPr>
          <p:cNvSpPr txBox="1"/>
          <p:nvPr/>
        </p:nvSpPr>
        <p:spPr>
          <a:xfrm>
            <a:off x="9344936" y="3220498"/>
            <a:ext cx="2429234" cy="461665"/>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en-US"/>
            </a:defPPr>
            <a:lvl1pPr algn="ctr">
              <a:defRPr sz="2400"/>
            </a:lvl1pPr>
          </a:lstStyle>
          <a:p>
            <a:r>
              <a:rPr lang="pt-BR" dirty="0"/>
              <a:t>Banco de Dados</a:t>
            </a:r>
          </a:p>
        </p:txBody>
      </p:sp>
      <p:cxnSp>
        <p:nvCxnSpPr>
          <p:cNvPr id="11" name="Conector de Seta Reta 10">
            <a:extLst>
              <a:ext uri="{FF2B5EF4-FFF2-40B4-BE49-F238E27FC236}">
                <a16:creationId xmlns:a16="http://schemas.microsoft.com/office/drawing/2014/main" id="{1FAFBD37-3220-4755-9E11-A629D8DD0C4A}"/>
              </a:ext>
            </a:extLst>
          </p:cNvPr>
          <p:cNvCxnSpPr>
            <a:cxnSpLocks/>
            <a:stCxn id="4" idx="3"/>
            <a:endCxn id="6" idx="2"/>
          </p:cNvCxnSpPr>
          <p:nvPr/>
        </p:nvCxnSpPr>
        <p:spPr>
          <a:xfrm>
            <a:off x="1767840" y="3451334"/>
            <a:ext cx="397224" cy="6234"/>
          </a:xfrm>
          <a:prstGeom prst="straightConnector1">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14">
            <a:extLst>
              <a:ext uri="{FF2B5EF4-FFF2-40B4-BE49-F238E27FC236}">
                <a16:creationId xmlns:a16="http://schemas.microsoft.com/office/drawing/2014/main" id="{3D6DC63A-4592-467F-B1AA-29A9FE317D42}"/>
              </a:ext>
            </a:extLst>
          </p:cNvPr>
          <p:cNvCxnSpPr>
            <a:cxnSpLocks/>
            <a:stCxn id="6" idx="6"/>
            <a:endCxn id="5" idx="1"/>
          </p:cNvCxnSpPr>
          <p:nvPr/>
        </p:nvCxnSpPr>
        <p:spPr>
          <a:xfrm flipV="1">
            <a:off x="4084320" y="3451332"/>
            <a:ext cx="331213" cy="6236"/>
          </a:xfrm>
          <a:prstGeom prst="straightConnector1">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18">
            <a:extLst>
              <a:ext uri="{FF2B5EF4-FFF2-40B4-BE49-F238E27FC236}">
                <a16:creationId xmlns:a16="http://schemas.microsoft.com/office/drawing/2014/main" id="{180D34FB-8F36-4CB7-BF48-021BFC6C497D}"/>
              </a:ext>
            </a:extLst>
          </p:cNvPr>
          <p:cNvCxnSpPr>
            <a:cxnSpLocks/>
            <a:stCxn id="5" idx="3"/>
            <a:endCxn id="9" idx="2"/>
          </p:cNvCxnSpPr>
          <p:nvPr/>
        </p:nvCxnSpPr>
        <p:spPr>
          <a:xfrm>
            <a:off x="6085841" y="3451332"/>
            <a:ext cx="615693" cy="6237"/>
          </a:xfrm>
          <a:prstGeom prst="straightConnector1">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1" name="Conector de Seta Reta 30">
            <a:extLst>
              <a:ext uri="{FF2B5EF4-FFF2-40B4-BE49-F238E27FC236}">
                <a16:creationId xmlns:a16="http://schemas.microsoft.com/office/drawing/2014/main" id="{9D8A268A-A54D-4AAE-B0C9-DCA971940431}"/>
              </a:ext>
            </a:extLst>
          </p:cNvPr>
          <p:cNvCxnSpPr>
            <a:cxnSpLocks/>
            <a:stCxn id="9" idx="6"/>
            <a:endCxn id="10" idx="1"/>
          </p:cNvCxnSpPr>
          <p:nvPr/>
        </p:nvCxnSpPr>
        <p:spPr>
          <a:xfrm flipV="1">
            <a:off x="8546180" y="3451331"/>
            <a:ext cx="798756" cy="6238"/>
          </a:xfrm>
          <a:prstGeom prst="straightConnector1">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56721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510DA0-2F34-4563-ABFA-9350615A9D0E}"/>
              </a:ext>
            </a:extLst>
          </p:cNvPr>
          <p:cNvSpPr>
            <a:spLocks noGrp="1"/>
          </p:cNvSpPr>
          <p:nvPr>
            <p:ph type="title"/>
          </p:nvPr>
        </p:nvSpPr>
        <p:spPr/>
        <p:txBody>
          <a:bodyPr/>
          <a:lstStyle/>
          <a:p>
            <a:r>
              <a:rPr lang="pt-BR" dirty="0"/>
              <a:t>Comandos </a:t>
            </a:r>
            <a:r>
              <a:rPr lang="pt-BR" dirty="0" err="1"/>
              <a:t>Basicos</a:t>
            </a:r>
            <a:r>
              <a:rPr lang="pt-BR" dirty="0"/>
              <a:t>.</a:t>
            </a:r>
          </a:p>
        </p:txBody>
      </p:sp>
      <p:sp>
        <p:nvSpPr>
          <p:cNvPr id="4" name="Retângulo 3">
            <a:extLst>
              <a:ext uri="{FF2B5EF4-FFF2-40B4-BE49-F238E27FC236}">
                <a16:creationId xmlns:a16="http://schemas.microsoft.com/office/drawing/2014/main" id="{CFFE9DF4-4271-4189-971D-3925054AD008}"/>
              </a:ext>
            </a:extLst>
          </p:cNvPr>
          <p:cNvSpPr/>
          <p:nvPr/>
        </p:nvSpPr>
        <p:spPr>
          <a:xfrm>
            <a:off x="6244707" y="1700848"/>
            <a:ext cx="5246254" cy="4775835"/>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dirty="0" err="1">
                <a:solidFill>
                  <a:srgbClr val="002060"/>
                </a:solidFill>
              </a:rPr>
              <a:t>Git</a:t>
            </a:r>
            <a:endParaRPr lang="pt-BR" sz="2400" b="1" dirty="0">
              <a:solidFill>
                <a:srgbClr val="002060"/>
              </a:solidFill>
            </a:endParaRPr>
          </a:p>
          <a:p>
            <a:r>
              <a:rPr lang="pt-BR" sz="2400" b="1" dirty="0" err="1">
                <a:solidFill>
                  <a:srgbClr val="002060"/>
                </a:solidFill>
              </a:rPr>
              <a:t>git</a:t>
            </a:r>
            <a:r>
              <a:rPr lang="pt-BR" sz="2400" b="1" dirty="0">
                <a:solidFill>
                  <a:srgbClr val="002060"/>
                </a:solidFill>
              </a:rPr>
              <a:t> –</a:t>
            </a:r>
            <a:r>
              <a:rPr lang="pt-BR" sz="2400" b="1" dirty="0" err="1">
                <a:solidFill>
                  <a:srgbClr val="002060"/>
                </a:solidFill>
              </a:rPr>
              <a:t>version</a:t>
            </a:r>
            <a:r>
              <a:rPr lang="pt-BR" sz="2400" b="1" dirty="0">
                <a:solidFill>
                  <a:srgbClr val="002060"/>
                </a:solidFill>
              </a:rPr>
              <a:t> | mostra versão </a:t>
            </a:r>
            <a:r>
              <a:rPr lang="pt-BR" sz="2400" b="1" dirty="0" err="1">
                <a:solidFill>
                  <a:srgbClr val="002060"/>
                </a:solidFill>
              </a:rPr>
              <a:t>git</a:t>
            </a:r>
            <a:endParaRPr lang="pt-BR" sz="2400" b="1" dirty="0">
              <a:solidFill>
                <a:srgbClr val="002060"/>
              </a:solidFill>
            </a:endParaRPr>
          </a:p>
          <a:p>
            <a:r>
              <a:rPr lang="pt-BR" sz="2400" b="1" dirty="0" err="1">
                <a:solidFill>
                  <a:srgbClr val="002060"/>
                </a:solidFill>
              </a:rPr>
              <a:t>git</a:t>
            </a:r>
            <a:r>
              <a:rPr lang="pt-BR" sz="2400" b="1" dirty="0">
                <a:solidFill>
                  <a:srgbClr val="002060"/>
                </a:solidFill>
              </a:rPr>
              <a:t> </a:t>
            </a:r>
            <a:r>
              <a:rPr lang="pt-BR" sz="2400" b="1" dirty="0" err="1">
                <a:solidFill>
                  <a:srgbClr val="002060"/>
                </a:solidFill>
              </a:rPr>
              <a:t>init</a:t>
            </a:r>
            <a:r>
              <a:rPr lang="pt-BR" sz="2400" b="1" dirty="0">
                <a:solidFill>
                  <a:srgbClr val="002060"/>
                </a:solidFill>
              </a:rPr>
              <a:t> | inicializa a pasta local</a:t>
            </a:r>
          </a:p>
          <a:p>
            <a:r>
              <a:rPr lang="pt-BR" sz="2400" b="1" dirty="0" err="1">
                <a:solidFill>
                  <a:srgbClr val="002060"/>
                </a:solidFill>
              </a:rPr>
              <a:t>git</a:t>
            </a:r>
            <a:r>
              <a:rPr lang="pt-BR" sz="2400" b="1" dirty="0">
                <a:solidFill>
                  <a:srgbClr val="002060"/>
                </a:solidFill>
              </a:rPr>
              <a:t> status</a:t>
            </a:r>
          </a:p>
          <a:p>
            <a:r>
              <a:rPr lang="pt-BR" sz="2400" b="1" dirty="0" err="1">
                <a:solidFill>
                  <a:srgbClr val="002060"/>
                </a:solidFill>
              </a:rPr>
              <a:t>git</a:t>
            </a:r>
            <a:r>
              <a:rPr lang="pt-BR" sz="2400" b="1" dirty="0">
                <a:solidFill>
                  <a:srgbClr val="002060"/>
                </a:solidFill>
              </a:rPr>
              <a:t> </a:t>
            </a:r>
            <a:r>
              <a:rPr lang="pt-BR" sz="2400" b="1" dirty="0" err="1">
                <a:solidFill>
                  <a:srgbClr val="002060"/>
                </a:solidFill>
              </a:rPr>
              <a:t>add</a:t>
            </a:r>
            <a:r>
              <a:rPr lang="pt-BR" sz="2400" b="1" dirty="0">
                <a:solidFill>
                  <a:srgbClr val="002060"/>
                </a:solidFill>
              </a:rPr>
              <a:t> *</a:t>
            </a:r>
          </a:p>
          <a:p>
            <a:r>
              <a:rPr lang="pt-BR" sz="2400" b="1" dirty="0" err="1">
                <a:solidFill>
                  <a:srgbClr val="002060"/>
                </a:solidFill>
              </a:rPr>
              <a:t>git</a:t>
            </a:r>
            <a:r>
              <a:rPr lang="pt-BR" sz="2400" b="1" dirty="0">
                <a:solidFill>
                  <a:srgbClr val="002060"/>
                </a:solidFill>
              </a:rPr>
              <a:t> </a:t>
            </a:r>
            <a:r>
              <a:rPr lang="pt-BR" sz="2400" b="1" dirty="0" err="1">
                <a:solidFill>
                  <a:srgbClr val="002060"/>
                </a:solidFill>
              </a:rPr>
              <a:t>commit</a:t>
            </a:r>
            <a:r>
              <a:rPr lang="pt-BR" sz="2400" b="1" dirty="0">
                <a:solidFill>
                  <a:srgbClr val="002060"/>
                </a:solidFill>
              </a:rPr>
              <a:t> –m “Mensagem”</a:t>
            </a:r>
          </a:p>
          <a:p>
            <a:endParaRPr lang="pt-BR" sz="2400" b="1" dirty="0">
              <a:solidFill>
                <a:srgbClr val="002060"/>
              </a:solidFill>
            </a:endParaRPr>
          </a:p>
        </p:txBody>
      </p:sp>
      <p:sp>
        <p:nvSpPr>
          <p:cNvPr id="5" name="Retângulo 4">
            <a:extLst>
              <a:ext uri="{FF2B5EF4-FFF2-40B4-BE49-F238E27FC236}">
                <a16:creationId xmlns:a16="http://schemas.microsoft.com/office/drawing/2014/main" id="{E76A362F-2524-49F4-B124-BB58E881FB0F}"/>
              </a:ext>
            </a:extLst>
          </p:cNvPr>
          <p:cNvSpPr/>
          <p:nvPr/>
        </p:nvSpPr>
        <p:spPr>
          <a:xfrm>
            <a:off x="158867" y="1703864"/>
            <a:ext cx="5246254" cy="4775835"/>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dirty="0">
                <a:solidFill>
                  <a:srgbClr val="002060"/>
                </a:solidFill>
              </a:rPr>
              <a:t>Docker</a:t>
            </a:r>
          </a:p>
          <a:p>
            <a:r>
              <a:rPr lang="pt-BR" sz="2400" b="1" dirty="0" err="1">
                <a:solidFill>
                  <a:srgbClr val="002060"/>
                </a:solidFill>
              </a:rPr>
              <a:t>docker</a:t>
            </a:r>
            <a:r>
              <a:rPr lang="pt-BR" sz="2400" b="1" dirty="0">
                <a:solidFill>
                  <a:srgbClr val="002060"/>
                </a:solidFill>
              </a:rPr>
              <a:t> --</a:t>
            </a:r>
            <a:r>
              <a:rPr lang="pt-BR" sz="2400" b="1" dirty="0" err="1">
                <a:solidFill>
                  <a:srgbClr val="002060"/>
                </a:solidFill>
              </a:rPr>
              <a:t>version</a:t>
            </a:r>
            <a:r>
              <a:rPr lang="pt-BR" sz="2400" b="1" dirty="0">
                <a:solidFill>
                  <a:srgbClr val="002060"/>
                </a:solidFill>
              </a:rPr>
              <a:t> | mostra versão </a:t>
            </a:r>
            <a:r>
              <a:rPr lang="pt-BR" sz="2400" b="1" dirty="0" err="1">
                <a:solidFill>
                  <a:srgbClr val="002060"/>
                </a:solidFill>
              </a:rPr>
              <a:t>docker</a:t>
            </a:r>
            <a:endParaRPr lang="pt-BR" sz="2400" b="1" dirty="0">
              <a:solidFill>
                <a:srgbClr val="002060"/>
              </a:solidFill>
            </a:endParaRPr>
          </a:p>
        </p:txBody>
      </p:sp>
    </p:spTree>
    <p:extLst>
      <p:ext uri="{BB962C8B-B14F-4D97-AF65-F5344CB8AC3E}">
        <p14:creationId xmlns:p14="http://schemas.microsoft.com/office/powerpoint/2010/main" val="171396386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9C5FF0-F430-429B-AEBF-DC11D1029BAC}"/>
              </a:ext>
            </a:extLst>
          </p:cNvPr>
          <p:cNvSpPr>
            <a:spLocks noGrp="1"/>
          </p:cNvSpPr>
          <p:nvPr>
            <p:ph type="title"/>
          </p:nvPr>
        </p:nvSpPr>
        <p:spPr/>
        <p:txBody>
          <a:bodyPr/>
          <a:lstStyle/>
          <a:p>
            <a:r>
              <a:rPr lang="pt-BR" dirty="0"/>
              <a:t>O </a:t>
            </a:r>
            <a:r>
              <a:rPr lang="pt-BR" dirty="0" err="1"/>
              <a:t>Kubernetes</a:t>
            </a:r>
            <a:endParaRPr lang="pt-BR" dirty="0"/>
          </a:p>
        </p:txBody>
      </p:sp>
      <p:sp>
        <p:nvSpPr>
          <p:cNvPr id="3" name="Espaço Reservado para Conteúdo 2">
            <a:extLst>
              <a:ext uri="{FF2B5EF4-FFF2-40B4-BE49-F238E27FC236}">
                <a16:creationId xmlns:a16="http://schemas.microsoft.com/office/drawing/2014/main" id="{C103456F-67BA-47C4-943D-850C7BB433C6}"/>
              </a:ext>
            </a:extLst>
          </p:cNvPr>
          <p:cNvSpPr>
            <a:spLocks noGrp="1"/>
          </p:cNvSpPr>
          <p:nvPr>
            <p:ph idx="1"/>
          </p:nvPr>
        </p:nvSpPr>
        <p:spPr/>
        <p:txBody>
          <a:bodyPr>
            <a:normAutofit fontScale="92500" lnSpcReduction="20000"/>
          </a:bodyPr>
          <a:lstStyle/>
          <a:p>
            <a:r>
              <a:rPr lang="pt-BR" dirty="0"/>
              <a:t>Cria uma camada de abstração sobre um grupo de hosts,</a:t>
            </a:r>
          </a:p>
          <a:p>
            <a:r>
              <a:rPr lang="pt-BR" dirty="0"/>
              <a:t>Orquestrar containers em vários hosts.</a:t>
            </a:r>
          </a:p>
          <a:p>
            <a:r>
              <a:rPr lang="pt-BR" dirty="0"/>
              <a:t>Aproveitar melhor o hardware para maximizar os recursos necessários na execução das aplicações corporativas.</a:t>
            </a:r>
          </a:p>
          <a:p>
            <a:r>
              <a:rPr lang="pt-BR" dirty="0"/>
              <a:t>Controlar e automatizar as implantações e atualizações de aplicações.</a:t>
            </a:r>
          </a:p>
          <a:p>
            <a:r>
              <a:rPr lang="pt-BR" dirty="0"/>
              <a:t>Montar e adicionar armazenamento para executar aplicações com monitoração de estado.</a:t>
            </a:r>
          </a:p>
          <a:p>
            <a:r>
              <a:rPr lang="pt-BR" dirty="0"/>
              <a:t>Escalar rapidamente as aplicações em containers e recursos relacionados.</a:t>
            </a:r>
          </a:p>
          <a:p>
            <a:r>
              <a:rPr lang="pt-BR" dirty="0"/>
              <a:t>Gerenciar serviços de forma declarativa, garantindo que as aplicações sejam executadas sempre da mesma maneira como foram implantadas.</a:t>
            </a:r>
          </a:p>
          <a:p>
            <a:r>
              <a:rPr lang="pt-BR" dirty="0"/>
              <a:t>Verificar a integridade e </a:t>
            </a:r>
            <a:r>
              <a:rPr lang="pt-BR" dirty="0" err="1"/>
              <a:t>autorrecuperação</a:t>
            </a:r>
            <a:r>
              <a:rPr lang="pt-BR" dirty="0"/>
              <a:t> das aplicações com posicionamento, reinício, replicação e escalonamento automáticos.</a:t>
            </a:r>
          </a:p>
          <a:p>
            <a:endParaRPr lang="pt-BR" dirty="0"/>
          </a:p>
        </p:txBody>
      </p:sp>
    </p:spTree>
    <p:extLst>
      <p:ext uri="{BB962C8B-B14F-4D97-AF65-F5344CB8AC3E}">
        <p14:creationId xmlns:p14="http://schemas.microsoft.com/office/powerpoint/2010/main" val="147177168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C514E5-FC89-47FB-BCFC-248B55978E89}"/>
              </a:ext>
            </a:extLst>
          </p:cNvPr>
          <p:cNvSpPr>
            <a:spLocks noGrp="1"/>
          </p:cNvSpPr>
          <p:nvPr>
            <p:ph type="title"/>
          </p:nvPr>
        </p:nvSpPr>
        <p:spPr/>
        <p:txBody>
          <a:bodyPr/>
          <a:lstStyle/>
          <a:p>
            <a:r>
              <a:rPr lang="pt-BR" dirty="0" err="1"/>
              <a:t>Kubernetes</a:t>
            </a:r>
            <a:endParaRPr lang="pt-BR" dirty="0"/>
          </a:p>
        </p:txBody>
      </p:sp>
      <p:sp>
        <p:nvSpPr>
          <p:cNvPr id="3" name="Espaço Reservado para Conteúdo 2">
            <a:extLst>
              <a:ext uri="{FF2B5EF4-FFF2-40B4-BE49-F238E27FC236}">
                <a16:creationId xmlns:a16="http://schemas.microsoft.com/office/drawing/2014/main" id="{F6137248-7AF5-4F78-95F3-A0BBD778ED37}"/>
              </a:ext>
            </a:extLst>
          </p:cNvPr>
          <p:cNvSpPr>
            <a:spLocks noGrp="1"/>
          </p:cNvSpPr>
          <p:nvPr>
            <p:ph idx="1"/>
          </p:nvPr>
        </p:nvSpPr>
        <p:spPr/>
        <p:txBody>
          <a:bodyPr>
            <a:normAutofit fontScale="85000" lnSpcReduction="10000"/>
          </a:bodyPr>
          <a:lstStyle/>
          <a:p>
            <a:r>
              <a:rPr lang="pt-BR" dirty="0"/>
              <a:t>O </a:t>
            </a:r>
            <a:r>
              <a:rPr lang="pt-BR" dirty="0" err="1"/>
              <a:t>Kubernetes</a:t>
            </a:r>
            <a:r>
              <a:rPr lang="pt-BR" dirty="0"/>
              <a:t> não é uma oferta completa de PaaS, opera no nível de contêiner.</a:t>
            </a:r>
          </a:p>
          <a:p>
            <a:r>
              <a:rPr lang="pt-BR" dirty="0"/>
              <a:t>O </a:t>
            </a:r>
            <a:r>
              <a:rPr lang="pt-BR" dirty="0" err="1"/>
              <a:t>Kubernetes</a:t>
            </a:r>
            <a:r>
              <a:rPr lang="pt-BR" dirty="0"/>
              <a:t> não é monolítico, não é um aplicativo único instalado. </a:t>
            </a:r>
          </a:p>
          <a:p>
            <a:pPr lvl="1"/>
            <a:r>
              <a:rPr lang="pt-BR" dirty="0"/>
              <a:t>implantação, dimensionamento, balanceamento de carga, registro em log e monitoramento são todos opcionais.</a:t>
            </a:r>
          </a:p>
          <a:p>
            <a:r>
              <a:rPr lang="pt-BR" dirty="0" err="1"/>
              <a:t>Kubernetes</a:t>
            </a:r>
            <a:r>
              <a:rPr lang="pt-BR" dirty="0"/>
              <a:t> não limita os tipos de aplicativos que podem ser executados, o aplicativo deve ser executado em um contêiner.</a:t>
            </a:r>
          </a:p>
          <a:p>
            <a:r>
              <a:rPr lang="pt-BR" dirty="0"/>
              <a:t>O </a:t>
            </a:r>
            <a:r>
              <a:rPr lang="pt-BR" dirty="0" err="1"/>
              <a:t>Kubernetes</a:t>
            </a:r>
            <a:r>
              <a:rPr lang="pt-BR" dirty="0"/>
              <a:t> não fornece middleware, estruturas de processamento de dados, bancos de dados, caches nem sistemas de armazenamento de cluster. </a:t>
            </a:r>
          </a:p>
          <a:p>
            <a:r>
              <a:rPr lang="pt-BR" dirty="0"/>
              <a:t>Uma implantação do </a:t>
            </a:r>
            <a:r>
              <a:rPr lang="pt-BR" dirty="0" err="1"/>
              <a:t>Kubernetes</a:t>
            </a:r>
            <a:r>
              <a:rPr lang="pt-BR" dirty="0"/>
              <a:t> é configurada como um cluster. Um cluster é formado por pelo menos um computador mestre e três ou mais computadores de trabalho para implantações de produção (hardware físico ou </a:t>
            </a:r>
            <a:r>
              <a:rPr lang="pt-BR" dirty="0" err="1"/>
              <a:t>VMs</a:t>
            </a:r>
            <a:r>
              <a:rPr lang="pt-BR" dirty="0"/>
              <a:t>).</a:t>
            </a:r>
          </a:p>
          <a:p>
            <a:endParaRPr lang="pt-BR" dirty="0"/>
          </a:p>
        </p:txBody>
      </p:sp>
    </p:spTree>
    <p:extLst>
      <p:ext uri="{BB962C8B-B14F-4D97-AF65-F5344CB8AC3E}">
        <p14:creationId xmlns:p14="http://schemas.microsoft.com/office/powerpoint/2010/main" val="68924360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9C5FF0-F430-429B-AEBF-DC11D1029BAC}"/>
              </a:ext>
            </a:extLst>
          </p:cNvPr>
          <p:cNvSpPr>
            <a:spLocks noGrp="1"/>
          </p:cNvSpPr>
          <p:nvPr>
            <p:ph type="title"/>
          </p:nvPr>
        </p:nvSpPr>
        <p:spPr/>
        <p:txBody>
          <a:bodyPr/>
          <a:lstStyle/>
          <a:p>
            <a:r>
              <a:rPr lang="pt-BR" dirty="0"/>
              <a:t>O </a:t>
            </a:r>
            <a:r>
              <a:rPr lang="pt-BR" dirty="0" err="1"/>
              <a:t>Kubernetes</a:t>
            </a:r>
            <a:endParaRPr lang="pt-BR" dirty="0"/>
          </a:p>
        </p:txBody>
      </p:sp>
      <p:sp>
        <p:nvSpPr>
          <p:cNvPr id="3" name="Espaço Reservado para Conteúdo 2">
            <a:extLst>
              <a:ext uri="{FF2B5EF4-FFF2-40B4-BE49-F238E27FC236}">
                <a16:creationId xmlns:a16="http://schemas.microsoft.com/office/drawing/2014/main" id="{C103456F-67BA-47C4-943D-850C7BB433C6}"/>
              </a:ext>
            </a:extLst>
          </p:cNvPr>
          <p:cNvSpPr>
            <a:spLocks noGrp="1"/>
          </p:cNvSpPr>
          <p:nvPr>
            <p:ph idx="1"/>
          </p:nvPr>
        </p:nvSpPr>
        <p:spPr>
          <a:xfrm>
            <a:off x="838200" y="1825625"/>
            <a:ext cx="10515600" cy="4351338"/>
          </a:xfrm>
        </p:spPr>
        <p:txBody>
          <a:bodyPr>
            <a:normAutofit fontScale="92500" lnSpcReduction="20000"/>
          </a:bodyPr>
          <a:lstStyle/>
          <a:p>
            <a:r>
              <a:rPr lang="pt-BR" b="1" dirty="0"/>
              <a:t>Master:</a:t>
            </a:r>
            <a:r>
              <a:rPr lang="pt-BR" dirty="0"/>
              <a:t> a máquina que controla os nós do </a:t>
            </a:r>
            <a:r>
              <a:rPr lang="pt-BR" dirty="0" err="1"/>
              <a:t>Kubernetes</a:t>
            </a:r>
            <a:r>
              <a:rPr lang="pt-BR" dirty="0"/>
              <a:t>. É nela que todas as atribuições de tarefas se originam.</a:t>
            </a:r>
          </a:p>
          <a:p>
            <a:r>
              <a:rPr lang="pt-BR" b="1" dirty="0"/>
              <a:t>Nó:</a:t>
            </a:r>
            <a:r>
              <a:rPr lang="pt-BR" dirty="0"/>
              <a:t> são máquinas que realizam as tarefas solicitadas e atribuídas. A máquina mestre do </a:t>
            </a:r>
            <a:r>
              <a:rPr lang="pt-BR" dirty="0" err="1"/>
              <a:t>Kubernetes</a:t>
            </a:r>
            <a:r>
              <a:rPr lang="pt-BR" dirty="0"/>
              <a:t> controla os nós.</a:t>
            </a:r>
          </a:p>
          <a:p>
            <a:r>
              <a:rPr lang="pt-BR" b="1" dirty="0" err="1"/>
              <a:t>Pod</a:t>
            </a:r>
            <a:r>
              <a:rPr lang="pt-BR" b="1" dirty="0"/>
              <a:t>:</a:t>
            </a:r>
            <a:r>
              <a:rPr lang="pt-BR" dirty="0"/>
              <a:t> .</a:t>
            </a:r>
          </a:p>
          <a:p>
            <a:r>
              <a:rPr lang="pt-BR" b="1" dirty="0"/>
              <a:t>Controlador de replicações: </a:t>
            </a:r>
            <a:r>
              <a:rPr lang="pt-BR" dirty="0"/>
              <a:t>controla quantas cópias idênticas de um </a:t>
            </a:r>
            <a:r>
              <a:rPr lang="pt-BR" dirty="0" err="1"/>
              <a:t>pod</a:t>
            </a:r>
            <a:r>
              <a:rPr lang="pt-BR" dirty="0"/>
              <a:t> devem ser executadas em um determinado local do cluster.</a:t>
            </a:r>
          </a:p>
          <a:p>
            <a:r>
              <a:rPr lang="pt-BR" b="1" dirty="0"/>
              <a:t>Serviço:</a:t>
            </a:r>
            <a:r>
              <a:rPr lang="pt-BR" dirty="0"/>
              <a:t> desacopla as definições de trabalho dos </a:t>
            </a:r>
            <a:r>
              <a:rPr lang="pt-BR" dirty="0" err="1"/>
              <a:t>pods</a:t>
            </a:r>
            <a:r>
              <a:rPr lang="pt-BR" dirty="0"/>
              <a:t>. Os proxies de serviço do </a:t>
            </a:r>
            <a:r>
              <a:rPr lang="pt-BR" dirty="0" err="1"/>
              <a:t>Kubernetes</a:t>
            </a:r>
            <a:r>
              <a:rPr lang="pt-BR" dirty="0"/>
              <a:t> automaticamente levam as solicitações de serviço para o </a:t>
            </a:r>
            <a:r>
              <a:rPr lang="pt-BR" dirty="0" err="1"/>
              <a:t>pod</a:t>
            </a:r>
            <a:r>
              <a:rPr lang="pt-BR" dirty="0"/>
              <a:t> correto, independentemente do local do </a:t>
            </a:r>
            <a:r>
              <a:rPr lang="pt-BR" dirty="0" err="1"/>
              <a:t>pod</a:t>
            </a:r>
            <a:r>
              <a:rPr lang="pt-BR" dirty="0"/>
              <a:t> no cluster ou se foi substituído.</a:t>
            </a:r>
          </a:p>
          <a:p>
            <a:r>
              <a:rPr lang="pt-BR" b="1" dirty="0" err="1"/>
              <a:t>kubectl</a:t>
            </a:r>
            <a:r>
              <a:rPr lang="pt-BR" b="1" dirty="0"/>
              <a:t>:</a:t>
            </a:r>
            <a:r>
              <a:rPr lang="pt-BR" dirty="0"/>
              <a:t> a ferramenta de configuração da linha de comando do </a:t>
            </a:r>
            <a:r>
              <a:rPr lang="pt-BR" dirty="0" err="1"/>
              <a:t>Kubernetes</a:t>
            </a:r>
            <a:r>
              <a:rPr lang="pt-BR" dirty="0"/>
              <a:t>.</a:t>
            </a:r>
          </a:p>
        </p:txBody>
      </p:sp>
    </p:spTree>
    <p:extLst>
      <p:ext uri="{BB962C8B-B14F-4D97-AF65-F5344CB8AC3E}">
        <p14:creationId xmlns:p14="http://schemas.microsoft.com/office/powerpoint/2010/main" val="217741626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tângulo 34">
            <a:extLst>
              <a:ext uri="{FF2B5EF4-FFF2-40B4-BE49-F238E27FC236}">
                <a16:creationId xmlns:a16="http://schemas.microsoft.com/office/drawing/2014/main" id="{69464BBE-54F2-48F0-83E7-A8941DE73E15}"/>
              </a:ext>
            </a:extLst>
          </p:cNvPr>
          <p:cNvSpPr/>
          <p:nvPr/>
        </p:nvSpPr>
        <p:spPr>
          <a:xfrm>
            <a:off x="3456026" y="1879600"/>
            <a:ext cx="6200401" cy="2123728"/>
          </a:xfrm>
          <a:prstGeom prst="rect">
            <a:avLst/>
          </a:prstGeom>
          <a:solidFill>
            <a:schemeClr val="bg1">
              <a:lumMod val="95000"/>
            </a:schemeClr>
          </a:solidFill>
          <a:ln w="28575">
            <a:solidFill>
              <a:srgbClr val="CC339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b="1" dirty="0" err="1">
                <a:solidFill>
                  <a:srgbClr val="002060"/>
                </a:solidFill>
              </a:rPr>
              <a:t>Kubernetes</a:t>
            </a:r>
            <a:r>
              <a:rPr lang="pt-BR" sz="2400" b="1" dirty="0">
                <a:solidFill>
                  <a:srgbClr val="002060"/>
                </a:solidFill>
              </a:rPr>
              <a:t> Master</a:t>
            </a:r>
          </a:p>
        </p:txBody>
      </p:sp>
      <p:sp>
        <p:nvSpPr>
          <p:cNvPr id="2" name="Título 1">
            <a:extLst>
              <a:ext uri="{FF2B5EF4-FFF2-40B4-BE49-F238E27FC236}">
                <a16:creationId xmlns:a16="http://schemas.microsoft.com/office/drawing/2014/main" id="{7D9C5FF0-F430-429B-AEBF-DC11D1029BAC}"/>
              </a:ext>
            </a:extLst>
          </p:cNvPr>
          <p:cNvSpPr>
            <a:spLocks noGrp="1"/>
          </p:cNvSpPr>
          <p:nvPr>
            <p:ph type="title"/>
          </p:nvPr>
        </p:nvSpPr>
        <p:spPr>
          <a:xfrm>
            <a:off x="210241" y="1443037"/>
            <a:ext cx="4191000" cy="686805"/>
          </a:xfrm>
        </p:spPr>
        <p:txBody>
          <a:bodyPr>
            <a:normAutofit fontScale="90000"/>
          </a:bodyPr>
          <a:lstStyle/>
          <a:p>
            <a:r>
              <a:rPr lang="pt-BR" dirty="0" err="1"/>
              <a:t>Kubernetes</a:t>
            </a:r>
            <a:endParaRPr lang="pt-BR" dirty="0"/>
          </a:p>
        </p:txBody>
      </p:sp>
      <p:sp>
        <p:nvSpPr>
          <p:cNvPr id="17" name="CaixaDeTexto 16">
            <a:extLst>
              <a:ext uri="{FF2B5EF4-FFF2-40B4-BE49-F238E27FC236}">
                <a16:creationId xmlns:a16="http://schemas.microsoft.com/office/drawing/2014/main" id="{BA152941-9812-43E9-ADF9-1AC458CE920F}"/>
              </a:ext>
            </a:extLst>
          </p:cNvPr>
          <p:cNvSpPr txBox="1"/>
          <p:nvPr/>
        </p:nvSpPr>
        <p:spPr>
          <a:xfrm>
            <a:off x="10071725" y="2571795"/>
            <a:ext cx="2101148" cy="2031325"/>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Lê os manifestos do container e garante que os containers definidos foram iniciados e estão em execução.</a:t>
            </a:r>
          </a:p>
          <a:p>
            <a:pPr algn="ctr"/>
            <a:r>
              <a:rPr lang="pt-BR" dirty="0"/>
              <a:t>Gerencia o estado</a:t>
            </a:r>
          </a:p>
        </p:txBody>
      </p:sp>
      <p:sp>
        <p:nvSpPr>
          <p:cNvPr id="30" name="Texto Explicativo: Seta para a Esquerda e para a Direita 29">
            <a:extLst>
              <a:ext uri="{FF2B5EF4-FFF2-40B4-BE49-F238E27FC236}">
                <a16:creationId xmlns:a16="http://schemas.microsoft.com/office/drawing/2014/main" id="{AA90DF99-9E97-416A-A64E-666A54A1903D}"/>
              </a:ext>
            </a:extLst>
          </p:cNvPr>
          <p:cNvSpPr/>
          <p:nvPr/>
        </p:nvSpPr>
        <p:spPr>
          <a:xfrm rot="5400000">
            <a:off x="6282377" y="909773"/>
            <a:ext cx="572541" cy="5911710"/>
          </a:xfrm>
          <a:prstGeom prst="leftRightArrowCallout">
            <a:avLst>
              <a:gd name="adj1" fmla="val 48553"/>
              <a:gd name="adj2" fmla="val 236458"/>
              <a:gd name="adj3" fmla="val 18587"/>
              <a:gd name="adj4" fmla="val 50578"/>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pt-BR" dirty="0">
                <a:solidFill>
                  <a:schemeClr val="tx1"/>
                </a:solidFill>
              </a:rPr>
              <a:t>API SERVER</a:t>
            </a:r>
          </a:p>
        </p:txBody>
      </p:sp>
      <p:sp>
        <p:nvSpPr>
          <p:cNvPr id="43" name="Retângulo 42">
            <a:extLst>
              <a:ext uri="{FF2B5EF4-FFF2-40B4-BE49-F238E27FC236}">
                <a16:creationId xmlns:a16="http://schemas.microsoft.com/office/drawing/2014/main" id="{33239204-FC8D-4FBA-8497-46F5B1B788CA}"/>
              </a:ext>
            </a:extLst>
          </p:cNvPr>
          <p:cNvSpPr/>
          <p:nvPr/>
        </p:nvSpPr>
        <p:spPr>
          <a:xfrm>
            <a:off x="3633821" y="2278770"/>
            <a:ext cx="1780265" cy="1197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err="1"/>
              <a:t>Scheduler</a:t>
            </a:r>
            <a:endParaRPr lang="pt-BR" dirty="0"/>
          </a:p>
        </p:txBody>
      </p:sp>
      <p:sp>
        <p:nvSpPr>
          <p:cNvPr id="44" name="Retângulo 43">
            <a:extLst>
              <a:ext uri="{FF2B5EF4-FFF2-40B4-BE49-F238E27FC236}">
                <a16:creationId xmlns:a16="http://schemas.microsoft.com/office/drawing/2014/main" id="{1FF40C9C-B736-498D-BC53-CAB300789BAE}"/>
              </a:ext>
            </a:extLst>
          </p:cNvPr>
          <p:cNvSpPr/>
          <p:nvPr/>
        </p:nvSpPr>
        <p:spPr>
          <a:xfrm>
            <a:off x="5666095" y="2268284"/>
            <a:ext cx="1780265" cy="1197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err="1"/>
              <a:t>Controllers</a:t>
            </a:r>
            <a:endParaRPr lang="pt-BR" dirty="0"/>
          </a:p>
        </p:txBody>
      </p:sp>
      <p:sp>
        <p:nvSpPr>
          <p:cNvPr id="45" name="Retângulo 44">
            <a:extLst>
              <a:ext uri="{FF2B5EF4-FFF2-40B4-BE49-F238E27FC236}">
                <a16:creationId xmlns:a16="http://schemas.microsoft.com/office/drawing/2014/main" id="{8B13388D-96A0-410D-ABF9-3292AB47D95B}"/>
              </a:ext>
            </a:extLst>
          </p:cNvPr>
          <p:cNvSpPr/>
          <p:nvPr/>
        </p:nvSpPr>
        <p:spPr>
          <a:xfrm>
            <a:off x="7752079" y="2281374"/>
            <a:ext cx="1780265" cy="1197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err="1"/>
              <a:t>Etcd</a:t>
            </a:r>
            <a:endParaRPr lang="pt-BR" dirty="0"/>
          </a:p>
        </p:txBody>
      </p:sp>
      <p:sp>
        <p:nvSpPr>
          <p:cNvPr id="47" name="Retângulo 46">
            <a:extLst>
              <a:ext uri="{FF2B5EF4-FFF2-40B4-BE49-F238E27FC236}">
                <a16:creationId xmlns:a16="http://schemas.microsoft.com/office/drawing/2014/main" id="{1A837278-449E-45CB-A163-8B4D1ED63523}"/>
              </a:ext>
            </a:extLst>
          </p:cNvPr>
          <p:cNvSpPr/>
          <p:nvPr/>
        </p:nvSpPr>
        <p:spPr>
          <a:xfrm>
            <a:off x="3220805" y="1423883"/>
            <a:ext cx="6614075" cy="5196100"/>
          </a:xfrm>
          <a:prstGeom prst="rect">
            <a:avLst/>
          </a:prstGeom>
          <a:noFill/>
          <a:ln w="38100">
            <a:solidFill>
              <a:srgbClr val="CC33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pt-BR" sz="3200" b="1" dirty="0">
                <a:solidFill>
                  <a:srgbClr val="002060"/>
                </a:solidFill>
              </a:rPr>
              <a:t>Cluster</a:t>
            </a:r>
          </a:p>
        </p:txBody>
      </p:sp>
      <p:sp>
        <p:nvSpPr>
          <p:cNvPr id="114" name="CaixaDeTexto 113">
            <a:extLst>
              <a:ext uri="{FF2B5EF4-FFF2-40B4-BE49-F238E27FC236}">
                <a16:creationId xmlns:a16="http://schemas.microsoft.com/office/drawing/2014/main" id="{7B6507A3-FF95-402C-991F-BEBDD7E82368}"/>
              </a:ext>
            </a:extLst>
          </p:cNvPr>
          <p:cNvSpPr txBox="1"/>
          <p:nvPr/>
        </p:nvSpPr>
        <p:spPr>
          <a:xfrm>
            <a:off x="169880" y="3724453"/>
            <a:ext cx="2135861" cy="1200329"/>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NÓ - Máquinas que realizam as tarefas solicitadas e atribuídas</a:t>
            </a:r>
          </a:p>
        </p:txBody>
      </p:sp>
      <p:cxnSp>
        <p:nvCxnSpPr>
          <p:cNvPr id="115" name="Conector de Seta Reta 114">
            <a:extLst>
              <a:ext uri="{FF2B5EF4-FFF2-40B4-BE49-F238E27FC236}">
                <a16:creationId xmlns:a16="http://schemas.microsoft.com/office/drawing/2014/main" id="{89252D02-F9E3-4565-9441-B769045D43FE}"/>
              </a:ext>
            </a:extLst>
          </p:cNvPr>
          <p:cNvCxnSpPr>
            <a:cxnSpLocks/>
            <a:stCxn id="200" idx="1"/>
            <a:endCxn id="114" idx="3"/>
          </p:cNvCxnSpPr>
          <p:nvPr/>
        </p:nvCxnSpPr>
        <p:spPr>
          <a:xfrm flipH="1" flipV="1">
            <a:off x="2305741" y="4324618"/>
            <a:ext cx="1167760" cy="1092477"/>
          </a:xfrm>
          <a:prstGeom prst="straightConnector1">
            <a:avLst/>
          </a:prstGeom>
          <a:ln w="47625">
            <a:solidFill>
              <a:srgbClr val="CC3399"/>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7" name="Conector de Seta Reta 126">
            <a:extLst>
              <a:ext uri="{FF2B5EF4-FFF2-40B4-BE49-F238E27FC236}">
                <a16:creationId xmlns:a16="http://schemas.microsoft.com/office/drawing/2014/main" id="{C8722DBE-FFAF-4346-A36B-34259B23297D}"/>
              </a:ext>
            </a:extLst>
          </p:cNvPr>
          <p:cNvCxnSpPr>
            <a:cxnSpLocks/>
            <a:stCxn id="35" idx="1"/>
            <a:endCxn id="114" idx="3"/>
          </p:cNvCxnSpPr>
          <p:nvPr/>
        </p:nvCxnSpPr>
        <p:spPr>
          <a:xfrm flipH="1">
            <a:off x="2305741" y="2941464"/>
            <a:ext cx="1150285" cy="1383154"/>
          </a:xfrm>
          <a:prstGeom prst="straightConnector1">
            <a:avLst/>
          </a:prstGeom>
          <a:ln w="47625">
            <a:solidFill>
              <a:srgbClr val="CC3399"/>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 name="Retângulo 8">
            <a:extLst>
              <a:ext uri="{FF2B5EF4-FFF2-40B4-BE49-F238E27FC236}">
                <a16:creationId xmlns:a16="http://schemas.microsoft.com/office/drawing/2014/main" id="{F94843D4-97ED-4E1D-8341-71D97CDB8617}"/>
              </a:ext>
            </a:extLst>
          </p:cNvPr>
          <p:cNvSpPr/>
          <p:nvPr/>
        </p:nvSpPr>
        <p:spPr>
          <a:xfrm>
            <a:off x="8287908" y="3722773"/>
            <a:ext cx="1352511" cy="314283"/>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err="1"/>
              <a:t>kubectl</a:t>
            </a:r>
            <a:endParaRPr lang="pt-BR" dirty="0"/>
          </a:p>
        </p:txBody>
      </p:sp>
      <p:sp>
        <p:nvSpPr>
          <p:cNvPr id="134" name="CaixaDeTexto 133">
            <a:extLst>
              <a:ext uri="{FF2B5EF4-FFF2-40B4-BE49-F238E27FC236}">
                <a16:creationId xmlns:a16="http://schemas.microsoft.com/office/drawing/2014/main" id="{F6DCB450-C196-49A2-BBF1-BD581AB39E3D}"/>
              </a:ext>
            </a:extLst>
          </p:cNvPr>
          <p:cNvSpPr txBox="1"/>
          <p:nvPr/>
        </p:nvSpPr>
        <p:spPr>
          <a:xfrm>
            <a:off x="169881" y="2479799"/>
            <a:ext cx="2365692" cy="923330"/>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MASTER - Controla todos os nós e é a origem das solicitações</a:t>
            </a:r>
          </a:p>
        </p:txBody>
      </p:sp>
      <p:cxnSp>
        <p:nvCxnSpPr>
          <p:cNvPr id="137" name="Conector de Seta Reta 136">
            <a:extLst>
              <a:ext uri="{FF2B5EF4-FFF2-40B4-BE49-F238E27FC236}">
                <a16:creationId xmlns:a16="http://schemas.microsoft.com/office/drawing/2014/main" id="{3292819C-3FEE-4B8C-8A54-A4F223F37410}"/>
              </a:ext>
            </a:extLst>
          </p:cNvPr>
          <p:cNvCxnSpPr>
            <a:cxnSpLocks/>
            <a:stCxn id="35" idx="1"/>
            <a:endCxn id="134" idx="3"/>
          </p:cNvCxnSpPr>
          <p:nvPr/>
        </p:nvCxnSpPr>
        <p:spPr>
          <a:xfrm flipH="1">
            <a:off x="2535573" y="2941464"/>
            <a:ext cx="920453" cy="0"/>
          </a:xfrm>
          <a:prstGeom prst="straightConnector1">
            <a:avLst/>
          </a:prstGeom>
          <a:ln w="47625">
            <a:solidFill>
              <a:srgbClr val="CC3399"/>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40" name="CaixaDeTexto 139">
            <a:extLst>
              <a:ext uri="{FF2B5EF4-FFF2-40B4-BE49-F238E27FC236}">
                <a16:creationId xmlns:a16="http://schemas.microsoft.com/office/drawing/2014/main" id="{A38ED791-7739-4AC0-BF4C-88A804BF6EDB}"/>
              </a:ext>
            </a:extLst>
          </p:cNvPr>
          <p:cNvSpPr txBox="1"/>
          <p:nvPr/>
        </p:nvSpPr>
        <p:spPr>
          <a:xfrm>
            <a:off x="156553" y="5146323"/>
            <a:ext cx="2276655" cy="1477328"/>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POD - Grupo de um ou mais containers que compartilham IP, IPC, nome do host e outros recursos.</a:t>
            </a:r>
          </a:p>
        </p:txBody>
      </p:sp>
      <p:grpSp>
        <p:nvGrpSpPr>
          <p:cNvPr id="183" name="Agrupar 182">
            <a:extLst>
              <a:ext uri="{FF2B5EF4-FFF2-40B4-BE49-F238E27FC236}">
                <a16:creationId xmlns:a16="http://schemas.microsoft.com/office/drawing/2014/main" id="{A94A1A0E-37F2-4D74-A6B0-E85D5A0AB320}"/>
              </a:ext>
            </a:extLst>
          </p:cNvPr>
          <p:cNvGrpSpPr/>
          <p:nvPr/>
        </p:nvGrpSpPr>
        <p:grpSpPr>
          <a:xfrm>
            <a:off x="7683915" y="4316831"/>
            <a:ext cx="1972512" cy="2200529"/>
            <a:chOff x="3465481" y="4210431"/>
            <a:chExt cx="1972512" cy="2200529"/>
          </a:xfrm>
        </p:grpSpPr>
        <p:grpSp>
          <p:nvGrpSpPr>
            <p:cNvPr id="166" name="Agrupar 165">
              <a:extLst>
                <a:ext uri="{FF2B5EF4-FFF2-40B4-BE49-F238E27FC236}">
                  <a16:creationId xmlns:a16="http://schemas.microsoft.com/office/drawing/2014/main" id="{B285EF9A-6A67-466A-9DC9-EED01488CB7E}"/>
                </a:ext>
              </a:extLst>
            </p:cNvPr>
            <p:cNvGrpSpPr/>
            <p:nvPr/>
          </p:nvGrpSpPr>
          <p:grpSpPr>
            <a:xfrm>
              <a:off x="3465481" y="4210431"/>
              <a:ext cx="1972512" cy="2200529"/>
              <a:chOff x="3465481" y="4210431"/>
              <a:chExt cx="1972512" cy="2200529"/>
            </a:xfrm>
          </p:grpSpPr>
          <p:grpSp>
            <p:nvGrpSpPr>
              <p:cNvPr id="85" name="Agrupar 84">
                <a:extLst>
                  <a:ext uri="{FF2B5EF4-FFF2-40B4-BE49-F238E27FC236}">
                    <a16:creationId xmlns:a16="http://schemas.microsoft.com/office/drawing/2014/main" id="{C5813C3E-053E-4C76-B08F-F268785EE2FB}"/>
                  </a:ext>
                </a:extLst>
              </p:cNvPr>
              <p:cNvGrpSpPr/>
              <p:nvPr/>
            </p:nvGrpSpPr>
            <p:grpSpPr>
              <a:xfrm>
                <a:off x="3465481" y="4210431"/>
                <a:ext cx="1972512" cy="2200529"/>
                <a:chOff x="3465481" y="4210431"/>
                <a:chExt cx="1972512" cy="2200529"/>
              </a:xfrm>
            </p:grpSpPr>
            <p:sp>
              <p:nvSpPr>
                <p:cNvPr id="61" name="Retângulo 60">
                  <a:extLst>
                    <a:ext uri="{FF2B5EF4-FFF2-40B4-BE49-F238E27FC236}">
                      <a16:creationId xmlns:a16="http://schemas.microsoft.com/office/drawing/2014/main" id="{0318BF01-5EA3-4B32-B83C-AA1FFEC04649}"/>
                    </a:ext>
                  </a:extLst>
                </p:cNvPr>
                <p:cNvSpPr/>
                <p:nvPr/>
              </p:nvSpPr>
              <p:spPr>
                <a:xfrm>
                  <a:off x="3465481" y="4210431"/>
                  <a:ext cx="1972512" cy="2200529"/>
                </a:xfrm>
                <a:prstGeom prst="rect">
                  <a:avLst/>
                </a:prstGeom>
                <a:solidFill>
                  <a:schemeClr val="bg1">
                    <a:lumMod val="95000"/>
                  </a:schemeClr>
                </a:solidFill>
                <a:ln w="28575">
                  <a:solidFill>
                    <a:srgbClr val="CC339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b="1" dirty="0">
                      <a:solidFill>
                        <a:srgbClr val="002060"/>
                      </a:solidFill>
                    </a:rPr>
                    <a:t>Nó</a:t>
                  </a:r>
                </a:p>
              </p:txBody>
            </p:sp>
            <p:sp>
              <p:nvSpPr>
                <p:cNvPr id="62" name="Retângulo 61">
                  <a:extLst>
                    <a:ext uri="{FF2B5EF4-FFF2-40B4-BE49-F238E27FC236}">
                      <a16:creationId xmlns:a16="http://schemas.microsoft.com/office/drawing/2014/main" id="{40C65370-0AE0-48AD-8F69-EA4949051663}"/>
                    </a:ext>
                  </a:extLst>
                </p:cNvPr>
                <p:cNvSpPr/>
                <p:nvPr/>
              </p:nvSpPr>
              <p:spPr>
                <a:xfrm>
                  <a:off x="3612794" y="5487212"/>
                  <a:ext cx="1688168" cy="839590"/>
                </a:xfrm>
                <a:prstGeom prst="rect">
                  <a:avLst/>
                </a:prstGeom>
                <a:solidFill>
                  <a:srgbClr val="B4C7E7"/>
                </a:solidFill>
                <a:ln w="22225">
                  <a:solidFill>
                    <a:srgbClr val="CC339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b="1" dirty="0" err="1">
                      <a:solidFill>
                        <a:srgbClr val="002060"/>
                      </a:solidFill>
                    </a:rPr>
                    <a:t>Pod</a:t>
                  </a:r>
                  <a:endParaRPr lang="pt-BR" b="1" dirty="0">
                    <a:solidFill>
                      <a:srgbClr val="002060"/>
                    </a:solidFill>
                  </a:endParaRPr>
                </a:p>
              </p:txBody>
            </p:sp>
            <p:sp>
              <p:nvSpPr>
                <p:cNvPr id="66" name="Retângulo 65">
                  <a:extLst>
                    <a:ext uri="{FF2B5EF4-FFF2-40B4-BE49-F238E27FC236}">
                      <a16:creationId xmlns:a16="http://schemas.microsoft.com/office/drawing/2014/main" id="{C1F076B9-CAC2-4223-8BCB-68AF2C4874C3}"/>
                    </a:ext>
                  </a:extLst>
                </p:cNvPr>
                <p:cNvSpPr/>
                <p:nvPr/>
              </p:nvSpPr>
              <p:spPr>
                <a:xfrm>
                  <a:off x="3630190" y="5049206"/>
                  <a:ext cx="1660612" cy="384911"/>
                </a:xfrm>
                <a:prstGeom prst="rect">
                  <a:avLst/>
                </a:prstGeom>
                <a:solidFill>
                  <a:srgbClr val="7093D2"/>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err="1"/>
                    <a:t>Kube</a:t>
                  </a:r>
                  <a:r>
                    <a:rPr lang="pt-BR" sz="1600" dirty="0"/>
                    <a:t>-Proxy</a:t>
                  </a:r>
                </a:p>
              </p:txBody>
            </p:sp>
            <p:sp>
              <p:nvSpPr>
                <p:cNvPr id="67" name="Retângulo 66">
                  <a:extLst>
                    <a:ext uri="{FF2B5EF4-FFF2-40B4-BE49-F238E27FC236}">
                      <a16:creationId xmlns:a16="http://schemas.microsoft.com/office/drawing/2014/main" id="{7887086E-618B-4C58-A54D-16183D286581}"/>
                    </a:ext>
                  </a:extLst>
                </p:cNvPr>
                <p:cNvSpPr/>
                <p:nvPr/>
              </p:nvSpPr>
              <p:spPr>
                <a:xfrm>
                  <a:off x="3630190" y="4601078"/>
                  <a:ext cx="1660612" cy="396219"/>
                </a:xfrm>
                <a:prstGeom prst="rect">
                  <a:avLst/>
                </a:prstGeom>
                <a:solidFill>
                  <a:srgbClr val="7093D2"/>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err="1"/>
                    <a:t>Kubelet</a:t>
                  </a:r>
                  <a:endParaRPr lang="pt-BR" sz="1600" dirty="0"/>
                </a:p>
              </p:txBody>
            </p:sp>
          </p:grpSp>
          <p:pic>
            <p:nvPicPr>
              <p:cNvPr id="163" name="Imagem 162">
                <a:extLst>
                  <a:ext uri="{FF2B5EF4-FFF2-40B4-BE49-F238E27FC236}">
                    <a16:creationId xmlns:a16="http://schemas.microsoft.com/office/drawing/2014/main" id="{0CA203C6-C2CA-468E-BC6D-704CDE13EC9A}"/>
                  </a:ext>
                </a:extLst>
              </p:cNvPr>
              <p:cNvPicPr>
                <a:picLocks noChangeAspect="1"/>
              </p:cNvPicPr>
              <p:nvPr/>
            </p:nvPicPr>
            <p:blipFill>
              <a:blip r:embed="rId2"/>
              <a:stretch>
                <a:fillRect/>
              </a:stretch>
            </p:blipFill>
            <p:spPr>
              <a:xfrm>
                <a:off x="3670916" y="5855178"/>
                <a:ext cx="491332" cy="451629"/>
              </a:xfrm>
              <a:prstGeom prst="rect">
                <a:avLst/>
              </a:prstGeom>
            </p:spPr>
          </p:pic>
          <p:pic>
            <p:nvPicPr>
              <p:cNvPr id="164" name="Imagem 163">
                <a:extLst>
                  <a:ext uri="{FF2B5EF4-FFF2-40B4-BE49-F238E27FC236}">
                    <a16:creationId xmlns:a16="http://schemas.microsoft.com/office/drawing/2014/main" id="{77BF37C4-D590-414B-ABF8-C9D116005529}"/>
                  </a:ext>
                </a:extLst>
              </p:cNvPr>
              <p:cNvPicPr>
                <a:picLocks noChangeAspect="1"/>
              </p:cNvPicPr>
              <p:nvPr/>
            </p:nvPicPr>
            <p:blipFill>
              <a:blip r:embed="rId2"/>
              <a:stretch>
                <a:fillRect/>
              </a:stretch>
            </p:blipFill>
            <p:spPr>
              <a:xfrm>
                <a:off x="4212450" y="5851936"/>
                <a:ext cx="491332" cy="451629"/>
              </a:xfrm>
              <a:prstGeom prst="rect">
                <a:avLst/>
              </a:prstGeom>
            </p:spPr>
          </p:pic>
        </p:grpSp>
        <p:pic>
          <p:nvPicPr>
            <p:cNvPr id="165" name="Imagem 164">
              <a:extLst>
                <a:ext uri="{FF2B5EF4-FFF2-40B4-BE49-F238E27FC236}">
                  <a16:creationId xmlns:a16="http://schemas.microsoft.com/office/drawing/2014/main" id="{F68FCF7F-ADCB-4D80-87EB-0716E85A793F}"/>
                </a:ext>
              </a:extLst>
            </p:cNvPr>
            <p:cNvPicPr>
              <a:picLocks noChangeAspect="1"/>
            </p:cNvPicPr>
            <p:nvPr/>
          </p:nvPicPr>
          <p:blipFill>
            <a:blip r:embed="rId2"/>
            <a:stretch>
              <a:fillRect/>
            </a:stretch>
          </p:blipFill>
          <p:spPr>
            <a:xfrm>
              <a:off x="4769915" y="5851936"/>
              <a:ext cx="491332" cy="451629"/>
            </a:xfrm>
            <a:prstGeom prst="rect">
              <a:avLst/>
            </a:prstGeom>
          </p:spPr>
        </p:pic>
      </p:grpSp>
      <p:grpSp>
        <p:nvGrpSpPr>
          <p:cNvPr id="184" name="Agrupar 183">
            <a:extLst>
              <a:ext uri="{FF2B5EF4-FFF2-40B4-BE49-F238E27FC236}">
                <a16:creationId xmlns:a16="http://schemas.microsoft.com/office/drawing/2014/main" id="{B2FC4D45-CED7-404E-940A-C5BBB1B35313}"/>
              </a:ext>
            </a:extLst>
          </p:cNvPr>
          <p:cNvGrpSpPr/>
          <p:nvPr/>
        </p:nvGrpSpPr>
        <p:grpSpPr>
          <a:xfrm>
            <a:off x="5572808" y="4316829"/>
            <a:ext cx="1972512" cy="2200529"/>
            <a:chOff x="3465481" y="4210431"/>
            <a:chExt cx="1972512" cy="2200529"/>
          </a:xfrm>
        </p:grpSpPr>
        <p:grpSp>
          <p:nvGrpSpPr>
            <p:cNvPr id="185" name="Agrupar 184">
              <a:extLst>
                <a:ext uri="{FF2B5EF4-FFF2-40B4-BE49-F238E27FC236}">
                  <a16:creationId xmlns:a16="http://schemas.microsoft.com/office/drawing/2014/main" id="{8BD47308-D91D-4C53-B781-D12F15A536D7}"/>
                </a:ext>
              </a:extLst>
            </p:cNvPr>
            <p:cNvGrpSpPr/>
            <p:nvPr/>
          </p:nvGrpSpPr>
          <p:grpSpPr>
            <a:xfrm>
              <a:off x="3465481" y="4210431"/>
              <a:ext cx="1972512" cy="2200529"/>
              <a:chOff x="3465481" y="4210431"/>
              <a:chExt cx="1972512" cy="2200529"/>
            </a:xfrm>
          </p:grpSpPr>
          <p:grpSp>
            <p:nvGrpSpPr>
              <p:cNvPr id="187" name="Agrupar 186">
                <a:extLst>
                  <a:ext uri="{FF2B5EF4-FFF2-40B4-BE49-F238E27FC236}">
                    <a16:creationId xmlns:a16="http://schemas.microsoft.com/office/drawing/2014/main" id="{886FAB09-0602-4148-829F-5AD10C245868}"/>
                  </a:ext>
                </a:extLst>
              </p:cNvPr>
              <p:cNvGrpSpPr/>
              <p:nvPr/>
            </p:nvGrpSpPr>
            <p:grpSpPr>
              <a:xfrm>
                <a:off x="3465481" y="4210431"/>
                <a:ext cx="1972512" cy="2200529"/>
                <a:chOff x="3465481" y="4210431"/>
                <a:chExt cx="1972512" cy="2200529"/>
              </a:xfrm>
            </p:grpSpPr>
            <p:sp>
              <p:nvSpPr>
                <p:cNvPr id="190" name="Retângulo 189">
                  <a:extLst>
                    <a:ext uri="{FF2B5EF4-FFF2-40B4-BE49-F238E27FC236}">
                      <a16:creationId xmlns:a16="http://schemas.microsoft.com/office/drawing/2014/main" id="{7F876E8D-BAE3-4AB4-A5F9-99C722BB4388}"/>
                    </a:ext>
                  </a:extLst>
                </p:cNvPr>
                <p:cNvSpPr/>
                <p:nvPr/>
              </p:nvSpPr>
              <p:spPr>
                <a:xfrm>
                  <a:off x="3465481" y="4210431"/>
                  <a:ext cx="1972512" cy="2200529"/>
                </a:xfrm>
                <a:prstGeom prst="rect">
                  <a:avLst/>
                </a:prstGeom>
                <a:solidFill>
                  <a:schemeClr val="bg1">
                    <a:lumMod val="95000"/>
                  </a:schemeClr>
                </a:solidFill>
                <a:ln w="28575">
                  <a:solidFill>
                    <a:srgbClr val="CC339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b="1" dirty="0">
                      <a:solidFill>
                        <a:srgbClr val="002060"/>
                      </a:solidFill>
                    </a:rPr>
                    <a:t>Nó</a:t>
                  </a:r>
                </a:p>
              </p:txBody>
            </p:sp>
            <p:sp>
              <p:nvSpPr>
                <p:cNvPr id="191" name="Retângulo 190">
                  <a:extLst>
                    <a:ext uri="{FF2B5EF4-FFF2-40B4-BE49-F238E27FC236}">
                      <a16:creationId xmlns:a16="http://schemas.microsoft.com/office/drawing/2014/main" id="{198260DF-C059-43D3-8721-6744024BF0EE}"/>
                    </a:ext>
                  </a:extLst>
                </p:cNvPr>
                <p:cNvSpPr/>
                <p:nvPr/>
              </p:nvSpPr>
              <p:spPr>
                <a:xfrm>
                  <a:off x="3612794" y="5487212"/>
                  <a:ext cx="1688168" cy="839590"/>
                </a:xfrm>
                <a:prstGeom prst="rect">
                  <a:avLst/>
                </a:prstGeom>
                <a:solidFill>
                  <a:srgbClr val="B4C7E7"/>
                </a:solidFill>
                <a:ln w="22225">
                  <a:solidFill>
                    <a:srgbClr val="CC339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b="1" dirty="0" err="1">
                      <a:solidFill>
                        <a:srgbClr val="002060"/>
                      </a:solidFill>
                    </a:rPr>
                    <a:t>Pod</a:t>
                  </a:r>
                  <a:endParaRPr lang="pt-BR" b="1" dirty="0">
                    <a:solidFill>
                      <a:srgbClr val="002060"/>
                    </a:solidFill>
                  </a:endParaRPr>
                </a:p>
              </p:txBody>
            </p:sp>
            <p:sp>
              <p:nvSpPr>
                <p:cNvPr id="192" name="Retângulo 191">
                  <a:extLst>
                    <a:ext uri="{FF2B5EF4-FFF2-40B4-BE49-F238E27FC236}">
                      <a16:creationId xmlns:a16="http://schemas.microsoft.com/office/drawing/2014/main" id="{55FD8703-30C0-4271-BAC1-04EB13E63A02}"/>
                    </a:ext>
                  </a:extLst>
                </p:cNvPr>
                <p:cNvSpPr/>
                <p:nvPr/>
              </p:nvSpPr>
              <p:spPr>
                <a:xfrm>
                  <a:off x="3630190" y="5049206"/>
                  <a:ext cx="1660612" cy="384911"/>
                </a:xfrm>
                <a:prstGeom prst="rect">
                  <a:avLst/>
                </a:prstGeom>
                <a:solidFill>
                  <a:srgbClr val="7093D2"/>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err="1"/>
                    <a:t>Kube</a:t>
                  </a:r>
                  <a:r>
                    <a:rPr lang="pt-BR" sz="1600" dirty="0"/>
                    <a:t>-Proxy</a:t>
                  </a:r>
                </a:p>
              </p:txBody>
            </p:sp>
            <p:sp>
              <p:nvSpPr>
                <p:cNvPr id="193" name="Retângulo 192">
                  <a:extLst>
                    <a:ext uri="{FF2B5EF4-FFF2-40B4-BE49-F238E27FC236}">
                      <a16:creationId xmlns:a16="http://schemas.microsoft.com/office/drawing/2014/main" id="{6817A631-7DC6-4558-A2C7-E2747599C66C}"/>
                    </a:ext>
                  </a:extLst>
                </p:cNvPr>
                <p:cNvSpPr/>
                <p:nvPr/>
              </p:nvSpPr>
              <p:spPr>
                <a:xfrm>
                  <a:off x="3630190" y="4601078"/>
                  <a:ext cx="1660612" cy="396219"/>
                </a:xfrm>
                <a:prstGeom prst="rect">
                  <a:avLst/>
                </a:prstGeom>
                <a:solidFill>
                  <a:srgbClr val="7093D2"/>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err="1"/>
                    <a:t>Kubelet</a:t>
                  </a:r>
                  <a:endParaRPr lang="pt-BR" sz="1600" dirty="0"/>
                </a:p>
              </p:txBody>
            </p:sp>
          </p:grpSp>
          <p:pic>
            <p:nvPicPr>
              <p:cNvPr id="188" name="Imagem 187">
                <a:extLst>
                  <a:ext uri="{FF2B5EF4-FFF2-40B4-BE49-F238E27FC236}">
                    <a16:creationId xmlns:a16="http://schemas.microsoft.com/office/drawing/2014/main" id="{76C291FB-CBD6-4095-BF9F-DBD5354E978F}"/>
                  </a:ext>
                </a:extLst>
              </p:cNvPr>
              <p:cNvPicPr>
                <a:picLocks noChangeAspect="1"/>
              </p:cNvPicPr>
              <p:nvPr/>
            </p:nvPicPr>
            <p:blipFill>
              <a:blip r:embed="rId2"/>
              <a:stretch>
                <a:fillRect/>
              </a:stretch>
            </p:blipFill>
            <p:spPr>
              <a:xfrm>
                <a:off x="3670916" y="5855178"/>
                <a:ext cx="491332" cy="451629"/>
              </a:xfrm>
              <a:prstGeom prst="rect">
                <a:avLst/>
              </a:prstGeom>
            </p:spPr>
          </p:pic>
          <p:pic>
            <p:nvPicPr>
              <p:cNvPr id="189" name="Imagem 188">
                <a:extLst>
                  <a:ext uri="{FF2B5EF4-FFF2-40B4-BE49-F238E27FC236}">
                    <a16:creationId xmlns:a16="http://schemas.microsoft.com/office/drawing/2014/main" id="{1EDB5B07-B78B-4EF7-9912-85D45A3B561D}"/>
                  </a:ext>
                </a:extLst>
              </p:cNvPr>
              <p:cNvPicPr>
                <a:picLocks noChangeAspect="1"/>
              </p:cNvPicPr>
              <p:nvPr/>
            </p:nvPicPr>
            <p:blipFill>
              <a:blip r:embed="rId2"/>
              <a:stretch>
                <a:fillRect/>
              </a:stretch>
            </p:blipFill>
            <p:spPr>
              <a:xfrm>
                <a:off x="4212450" y="5851936"/>
                <a:ext cx="491332" cy="451629"/>
              </a:xfrm>
              <a:prstGeom prst="rect">
                <a:avLst/>
              </a:prstGeom>
            </p:spPr>
          </p:pic>
        </p:grpSp>
        <p:pic>
          <p:nvPicPr>
            <p:cNvPr id="186" name="Imagem 185">
              <a:extLst>
                <a:ext uri="{FF2B5EF4-FFF2-40B4-BE49-F238E27FC236}">
                  <a16:creationId xmlns:a16="http://schemas.microsoft.com/office/drawing/2014/main" id="{77B8173A-92BA-4F0B-8BFD-4532CC246761}"/>
                </a:ext>
              </a:extLst>
            </p:cNvPr>
            <p:cNvPicPr>
              <a:picLocks noChangeAspect="1"/>
            </p:cNvPicPr>
            <p:nvPr/>
          </p:nvPicPr>
          <p:blipFill>
            <a:blip r:embed="rId2"/>
            <a:stretch>
              <a:fillRect/>
            </a:stretch>
          </p:blipFill>
          <p:spPr>
            <a:xfrm>
              <a:off x="4769915" y="5851936"/>
              <a:ext cx="491332" cy="451629"/>
            </a:xfrm>
            <a:prstGeom prst="rect">
              <a:avLst/>
            </a:prstGeom>
          </p:spPr>
        </p:pic>
      </p:grpSp>
      <p:grpSp>
        <p:nvGrpSpPr>
          <p:cNvPr id="194" name="Agrupar 193">
            <a:extLst>
              <a:ext uri="{FF2B5EF4-FFF2-40B4-BE49-F238E27FC236}">
                <a16:creationId xmlns:a16="http://schemas.microsoft.com/office/drawing/2014/main" id="{EF5E6926-7C66-409B-9C85-1A19A715B50D}"/>
              </a:ext>
            </a:extLst>
          </p:cNvPr>
          <p:cNvGrpSpPr/>
          <p:nvPr/>
        </p:nvGrpSpPr>
        <p:grpSpPr>
          <a:xfrm>
            <a:off x="3473501" y="4316830"/>
            <a:ext cx="1972512" cy="2200529"/>
            <a:chOff x="3465481" y="4210431"/>
            <a:chExt cx="1972512" cy="2200529"/>
          </a:xfrm>
        </p:grpSpPr>
        <p:grpSp>
          <p:nvGrpSpPr>
            <p:cNvPr id="195" name="Agrupar 194">
              <a:extLst>
                <a:ext uri="{FF2B5EF4-FFF2-40B4-BE49-F238E27FC236}">
                  <a16:creationId xmlns:a16="http://schemas.microsoft.com/office/drawing/2014/main" id="{7BA631F1-0B35-4F66-AF95-5F2BD3565802}"/>
                </a:ext>
              </a:extLst>
            </p:cNvPr>
            <p:cNvGrpSpPr/>
            <p:nvPr/>
          </p:nvGrpSpPr>
          <p:grpSpPr>
            <a:xfrm>
              <a:off x="3465481" y="4210431"/>
              <a:ext cx="1972512" cy="2200529"/>
              <a:chOff x="3465481" y="4210431"/>
              <a:chExt cx="1972512" cy="2200529"/>
            </a:xfrm>
          </p:grpSpPr>
          <p:grpSp>
            <p:nvGrpSpPr>
              <p:cNvPr id="197" name="Agrupar 196">
                <a:extLst>
                  <a:ext uri="{FF2B5EF4-FFF2-40B4-BE49-F238E27FC236}">
                    <a16:creationId xmlns:a16="http://schemas.microsoft.com/office/drawing/2014/main" id="{92877D4D-CB68-45EE-A1FD-931915D172EC}"/>
                  </a:ext>
                </a:extLst>
              </p:cNvPr>
              <p:cNvGrpSpPr/>
              <p:nvPr/>
            </p:nvGrpSpPr>
            <p:grpSpPr>
              <a:xfrm>
                <a:off x="3465481" y="4210431"/>
                <a:ext cx="1972512" cy="2200529"/>
                <a:chOff x="3465481" y="4210431"/>
                <a:chExt cx="1972512" cy="2200529"/>
              </a:xfrm>
            </p:grpSpPr>
            <p:sp>
              <p:nvSpPr>
                <p:cNvPr id="200" name="Retângulo 199">
                  <a:extLst>
                    <a:ext uri="{FF2B5EF4-FFF2-40B4-BE49-F238E27FC236}">
                      <a16:creationId xmlns:a16="http://schemas.microsoft.com/office/drawing/2014/main" id="{548E2F83-24F8-4B3D-A4DB-AC58A79A0B5D}"/>
                    </a:ext>
                  </a:extLst>
                </p:cNvPr>
                <p:cNvSpPr/>
                <p:nvPr/>
              </p:nvSpPr>
              <p:spPr>
                <a:xfrm>
                  <a:off x="3465481" y="4210431"/>
                  <a:ext cx="1972512" cy="2200529"/>
                </a:xfrm>
                <a:prstGeom prst="rect">
                  <a:avLst/>
                </a:prstGeom>
                <a:solidFill>
                  <a:schemeClr val="bg1">
                    <a:lumMod val="95000"/>
                  </a:schemeClr>
                </a:solidFill>
                <a:ln w="28575">
                  <a:solidFill>
                    <a:srgbClr val="CC339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b="1" dirty="0">
                      <a:solidFill>
                        <a:srgbClr val="002060"/>
                      </a:solidFill>
                    </a:rPr>
                    <a:t>Nó</a:t>
                  </a:r>
                </a:p>
              </p:txBody>
            </p:sp>
            <p:sp>
              <p:nvSpPr>
                <p:cNvPr id="201" name="Retângulo 200">
                  <a:extLst>
                    <a:ext uri="{FF2B5EF4-FFF2-40B4-BE49-F238E27FC236}">
                      <a16:creationId xmlns:a16="http://schemas.microsoft.com/office/drawing/2014/main" id="{8033C258-CFC2-4305-809D-A54EB27AA50E}"/>
                    </a:ext>
                  </a:extLst>
                </p:cNvPr>
                <p:cNvSpPr/>
                <p:nvPr/>
              </p:nvSpPr>
              <p:spPr>
                <a:xfrm>
                  <a:off x="3612794" y="5487212"/>
                  <a:ext cx="1688168" cy="839590"/>
                </a:xfrm>
                <a:prstGeom prst="rect">
                  <a:avLst/>
                </a:prstGeom>
                <a:solidFill>
                  <a:srgbClr val="B4C7E7"/>
                </a:solidFill>
                <a:ln w="22225">
                  <a:solidFill>
                    <a:srgbClr val="CC339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b="1" dirty="0" err="1">
                      <a:solidFill>
                        <a:srgbClr val="002060"/>
                      </a:solidFill>
                    </a:rPr>
                    <a:t>Pod</a:t>
                  </a:r>
                  <a:endParaRPr lang="pt-BR" b="1" dirty="0">
                    <a:solidFill>
                      <a:srgbClr val="002060"/>
                    </a:solidFill>
                  </a:endParaRPr>
                </a:p>
              </p:txBody>
            </p:sp>
            <p:sp>
              <p:nvSpPr>
                <p:cNvPr id="202" name="Retângulo 201">
                  <a:extLst>
                    <a:ext uri="{FF2B5EF4-FFF2-40B4-BE49-F238E27FC236}">
                      <a16:creationId xmlns:a16="http://schemas.microsoft.com/office/drawing/2014/main" id="{9B8E6630-5A35-40FE-A992-DEABBDA8A2C6}"/>
                    </a:ext>
                  </a:extLst>
                </p:cNvPr>
                <p:cNvSpPr/>
                <p:nvPr/>
              </p:nvSpPr>
              <p:spPr>
                <a:xfrm>
                  <a:off x="3630190" y="5049206"/>
                  <a:ext cx="1660612" cy="384911"/>
                </a:xfrm>
                <a:prstGeom prst="rect">
                  <a:avLst/>
                </a:prstGeom>
                <a:solidFill>
                  <a:srgbClr val="7093D2"/>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err="1"/>
                    <a:t>Kube</a:t>
                  </a:r>
                  <a:r>
                    <a:rPr lang="pt-BR" sz="1600" dirty="0"/>
                    <a:t>-Proxy</a:t>
                  </a:r>
                </a:p>
              </p:txBody>
            </p:sp>
            <p:sp>
              <p:nvSpPr>
                <p:cNvPr id="203" name="Retângulo 202">
                  <a:extLst>
                    <a:ext uri="{FF2B5EF4-FFF2-40B4-BE49-F238E27FC236}">
                      <a16:creationId xmlns:a16="http://schemas.microsoft.com/office/drawing/2014/main" id="{34292223-8766-4403-801A-EAAC440D9D52}"/>
                    </a:ext>
                  </a:extLst>
                </p:cNvPr>
                <p:cNvSpPr/>
                <p:nvPr/>
              </p:nvSpPr>
              <p:spPr>
                <a:xfrm>
                  <a:off x="3630190" y="4601078"/>
                  <a:ext cx="1660612" cy="396219"/>
                </a:xfrm>
                <a:prstGeom prst="rect">
                  <a:avLst/>
                </a:prstGeom>
                <a:solidFill>
                  <a:srgbClr val="7093D2"/>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err="1"/>
                    <a:t>Kubelet</a:t>
                  </a:r>
                  <a:endParaRPr lang="pt-BR" sz="1600" dirty="0"/>
                </a:p>
              </p:txBody>
            </p:sp>
          </p:grpSp>
          <p:pic>
            <p:nvPicPr>
              <p:cNvPr id="198" name="Imagem 197">
                <a:extLst>
                  <a:ext uri="{FF2B5EF4-FFF2-40B4-BE49-F238E27FC236}">
                    <a16:creationId xmlns:a16="http://schemas.microsoft.com/office/drawing/2014/main" id="{6DECE9EC-EC31-48BA-BDB8-E953922C6814}"/>
                  </a:ext>
                </a:extLst>
              </p:cNvPr>
              <p:cNvPicPr>
                <a:picLocks noChangeAspect="1"/>
              </p:cNvPicPr>
              <p:nvPr/>
            </p:nvPicPr>
            <p:blipFill>
              <a:blip r:embed="rId2"/>
              <a:stretch>
                <a:fillRect/>
              </a:stretch>
            </p:blipFill>
            <p:spPr>
              <a:xfrm>
                <a:off x="3670916" y="5855178"/>
                <a:ext cx="491332" cy="451629"/>
              </a:xfrm>
              <a:prstGeom prst="rect">
                <a:avLst/>
              </a:prstGeom>
            </p:spPr>
          </p:pic>
          <p:pic>
            <p:nvPicPr>
              <p:cNvPr id="199" name="Imagem 198">
                <a:extLst>
                  <a:ext uri="{FF2B5EF4-FFF2-40B4-BE49-F238E27FC236}">
                    <a16:creationId xmlns:a16="http://schemas.microsoft.com/office/drawing/2014/main" id="{D7CFB639-0367-48BD-A2A0-A4042B5C0644}"/>
                  </a:ext>
                </a:extLst>
              </p:cNvPr>
              <p:cNvPicPr>
                <a:picLocks noChangeAspect="1"/>
              </p:cNvPicPr>
              <p:nvPr/>
            </p:nvPicPr>
            <p:blipFill>
              <a:blip r:embed="rId2"/>
              <a:stretch>
                <a:fillRect/>
              </a:stretch>
            </p:blipFill>
            <p:spPr>
              <a:xfrm>
                <a:off x="4212450" y="5851936"/>
                <a:ext cx="491332" cy="451629"/>
              </a:xfrm>
              <a:prstGeom prst="rect">
                <a:avLst/>
              </a:prstGeom>
            </p:spPr>
          </p:pic>
        </p:grpSp>
        <p:pic>
          <p:nvPicPr>
            <p:cNvPr id="196" name="Imagem 195">
              <a:extLst>
                <a:ext uri="{FF2B5EF4-FFF2-40B4-BE49-F238E27FC236}">
                  <a16:creationId xmlns:a16="http://schemas.microsoft.com/office/drawing/2014/main" id="{D41F5797-F12B-443F-A700-DFA91064B990}"/>
                </a:ext>
              </a:extLst>
            </p:cNvPr>
            <p:cNvPicPr>
              <a:picLocks noChangeAspect="1"/>
            </p:cNvPicPr>
            <p:nvPr/>
          </p:nvPicPr>
          <p:blipFill>
            <a:blip r:embed="rId2"/>
            <a:stretch>
              <a:fillRect/>
            </a:stretch>
          </p:blipFill>
          <p:spPr>
            <a:xfrm>
              <a:off x="4769915" y="5851936"/>
              <a:ext cx="491332" cy="451629"/>
            </a:xfrm>
            <a:prstGeom prst="rect">
              <a:avLst/>
            </a:prstGeom>
          </p:spPr>
        </p:pic>
      </p:grpSp>
      <p:cxnSp>
        <p:nvCxnSpPr>
          <p:cNvPr id="18" name="Conector de Seta Reta 17">
            <a:extLst>
              <a:ext uri="{FF2B5EF4-FFF2-40B4-BE49-F238E27FC236}">
                <a16:creationId xmlns:a16="http://schemas.microsoft.com/office/drawing/2014/main" id="{34AAB404-6A36-47DB-AC28-DBDC79C865A3}"/>
              </a:ext>
            </a:extLst>
          </p:cNvPr>
          <p:cNvCxnSpPr>
            <a:cxnSpLocks/>
            <a:stCxn id="67" idx="3"/>
            <a:endCxn id="17" idx="1"/>
          </p:cNvCxnSpPr>
          <p:nvPr/>
        </p:nvCxnSpPr>
        <p:spPr>
          <a:xfrm flipV="1">
            <a:off x="9509236" y="3587458"/>
            <a:ext cx="562489" cy="1318130"/>
          </a:xfrm>
          <a:prstGeom prst="straightConnector1">
            <a:avLst/>
          </a:prstGeom>
          <a:ln w="47625">
            <a:solidFill>
              <a:srgbClr val="CC3399"/>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1" name="Conector de Seta Reta 140">
            <a:extLst>
              <a:ext uri="{FF2B5EF4-FFF2-40B4-BE49-F238E27FC236}">
                <a16:creationId xmlns:a16="http://schemas.microsoft.com/office/drawing/2014/main" id="{AB95505D-A9CA-4FF7-9CEF-EF1D015ED7AA}"/>
              </a:ext>
            </a:extLst>
          </p:cNvPr>
          <p:cNvCxnSpPr>
            <a:cxnSpLocks/>
            <a:stCxn id="201" idx="1"/>
            <a:endCxn id="140" idx="3"/>
          </p:cNvCxnSpPr>
          <p:nvPr/>
        </p:nvCxnSpPr>
        <p:spPr>
          <a:xfrm flipH="1" flipV="1">
            <a:off x="2433208" y="5884987"/>
            <a:ext cx="1187606" cy="128419"/>
          </a:xfrm>
          <a:prstGeom prst="straightConnector1">
            <a:avLst/>
          </a:prstGeom>
          <a:ln w="47625">
            <a:solidFill>
              <a:srgbClr val="CC3399"/>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0" name="CaixaDeTexto 49">
            <a:extLst>
              <a:ext uri="{FF2B5EF4-FFF2-40B4-BE49-F238E27FC236}">
                <a16:creationId xmlns:a16="http://schemas.microsoft.com/office/drawing/2014/main" id="{49761A82-5879-474D-A5B4-CA2E5C279208}"/>
              </a:ext>
            </a:extLst>
          </p:cNvPr>
          <p:cNvSpPr txBox="1"/>
          <p:nvPr/>
        </p:nvSpPr>
        <p:spPr>
          <a:xfrm>
            <a:off x="211084" y="165247"/>
            <a:ext cx="4846721" cy="923330"/>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Rastreia e gerencia cargas de trabalho.</a:t>
            </a:r>
          </a:p>
          <a:p>
            <a:pPr algn="ctr"/>
            <a:r>
              <a:rPr lang="pt-BR" dirty="0"/>
              <a:t>Controla a capacidade e recursos dos nós.</a:t>
            </a:r>
          </a:p>
          <a:p>
            <a:pPr algn="ctr"/>
            <a:r>
              <a:rPr lang="pt-BR" dirty="0"/>
              <a:t>Atribui trabalho com base na disponibilidade.</a:t>
            </a:r>
          </a:p>
        </p:txBody>
      </p:sp>
      <p:sp>
        <p:nvSpPr>
          <p:cNvPr id="51" name="CaixaDeTexto 50">
            <a:extLst>
              <a:ext uri="{FF2B5EF4-FFF2-40B4-BE49-F238E27FC236}">
                <a16:creationId xmlns:a16="http://schemas.microsoft.com/office/drawing/2014/main" id="{49765B16-1AC7-4B48-A993-0998F7B96646}"/>
              </a:ext>
            </a:extLst>
          </p:cNvPr>
          <p:cNvSpPr txBox="1"/>
          <p:nvPr/>
        </p:nvSpPr>
        <p:spPr>
          <a:xfrm>
            <a:off x="10066712" y="4707476"/>
            <a:ext cx="2106161" cy="1754326"/>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Proxy de rede executado nos nós.</a:t>
            </a:r>
          </a:p>
          <a:p>
            <a:pPr algn="ctr"/>
            <a:r>
              <a:rPr lang="pt-BR" dirty="0"/>
              <a:t>Balanceador de carga para serviços em execução em um nó</a:t>
            </a:r>
          </a:p>
        </p:txBody>
      </p:sp>
      <p:cxnSp>
        <p:nvCxnSpPr>
          <p:cNvPr id="52" name="Conector de Seta Reta 51">
            <a:extLst>
              <a:ext uri="{FF2B5EF4-FFF2-40B4-BE49-F238E27FC236}">
                <a16:creationId xmlns:a16="http://schemas.microsoft.com/office/drawing/2014/main" id="{38DA8C69-4C2C-449C-9DF9-C5816373456C}"/>
              </a:ext>
            </a:extLst>
          </p:cNvPr>
          <p:cNvCxnSpPr>
            <a:cxnSpLocks/>
            <a:stCxn id="43" idx="0"/>
            <a:endCxn id="50" idx="2"/>
          </p:cNvCxnSpPr>
          <p:nvPr/>
        </p:nvCxnSpPr>
        <p:spPr>
          <a:xfrm flipH="1" flipV="1">
            <a:off x="2634445" y="1088577"/>
            <a:ext cx="1889509" cy="1190193"/>
          </a:xfrm>
          <a:prstGeom prst="straightConnector1">
            <a:avLst/>
          </a:prstGeom>
          <a:ln w="47625">
            <a:solidFill>
              <a:srgbClr val="CC3399"/>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Conector de Seta Reta 56">
            <a:extLst>
              <a:ext uri="{FF2B5EF4-FFF2-40B4-BE49-F238E27FC236}">
                <a16:creationId xmlns:a16="http://schemas.microsoft.com/office/drawing/2014/main" id="{B23F9081-6CD3-454D-8692-84421FC0D525}"/>
              </a:ext>
            </a:extLst>
          </p:cNvPr>
          <p:cNvCxnSpPr>
            <a:cxnSpLocks/>
            <a:stCxn id="66" idx="3"/>
            <a:endCxn id="51" idx="1"/>
          </p:cNvCxnSpPr>
          <p:nvPr/>
        </p:nvCxnSpPr>
        <p:spPr>
          <a:xfrm>
            <a:off x="9509236" y="5348062"/>
            <a:ext cx="557476" cy="236577"/>
          </a:xfrm>
          <a:prstGeom prst="straightConnector1">
            <a:avLst/>
          </a:prstGeom>
          <a:ln w="47625">
            <a:solidFill>
              <a:srgbClr val="CC3399"/>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 name="CaixaDeTexto 62">
            <a:extLst>
              <a:ext uri="{FF2B5EF4-FFF2-40B4-BE49-F238E27FC236}">
                <a16:creationId xmlns:a16="http://schemas.microsoft.com/office/drawing/2014/main" id="{7409CFDC-F3C6-4DCE-AD8E-06897FCF52FA}"/>
              </a:ext>
            </a:extLst>
          </p:cNvPr>
          <p:cNvSpPr txBox="1"/>
          <p:nvPr/>
        </p:nvSpPr>
        <p:spPr>
          <a:xfrm>
            <a:off x="5213902" y="161046"/>
            <a:ext cx="3774448" cy="923330"/>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Gerencia os loops de controle que gerenciam o estado do cluster como implantações, réplicas e nós.</a:t>
            </a:r>
          </a:p>
        </p:txBody>
      </p:sp>
      <p:cxnSp>
        <p:nvCxnSpPr>
          <p:cNvPr id="64" name="Conector de Seta Reta 63">
            <a:extLst>
              <a:ext uri="{FF2B5EF4-FFF2-40B4-BE49-F238E27FC236}">
                <a16:creationId xmlns:a16="http://schemas.microsoft.com/office/drawing/2014/main" id="{60EABAE5-BC59-4545-A1A7-8B6670512BFA}"/>
              </a:ext>
            </a:extLst>
          </p:cNvPr>
          <p:cNvCxnSpPr>
            <a:cxnSpLocks/>
            <a:stCxn id="44" idx="0"/>
            <a:endCxn id="63" idx="2"/>
          </p:cNvCxnSpPr>
          <p:nvPr/>
        </p:nvCxnSpPr>
        <p:spPr>
          <a:xfrm flipV="1">
            <a:off x="6556228" y="1084376"/>
            <a:ext cx="544898" cy="1183908"/>
          </a:xfrm>
          <a:prstGeom prst="straightConnector1">
            <a:avLst/>
          </a:prstGeom>
          <a:ln w="47625">
            <a:solidFill>
              <a:srgbClr val="CC3399"/>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5" name="CaixaDeTexto 64">
            <a:extLst>
              <a:ext uri="{FF2B5EF4-FFF2-40B4-BE49-F238E27FC236}">
                <a16:creationId xmlns:a16="http://schemas.microsoft.com/office/drawing/2014/main" id="{FE9CA440-4F77-48FA-9F6D-A4A5B23A972D}"/>
              </a:ext>
            </a:extLst>
          </p:cNvPr>
          <p:cNvSpPr txBox="1"/>
          <p:nvPr/>
        </p:nvSpPr>
        <p:spPr>
          <a:xfrm>
            <a:off x="10066711" y="161046"/>
            <a:ext cx="1978339" cy="2031325"/>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Armazenamento de dados de valor-chave persistente e distribuído.</a:t>
            </a:r>
          </a:p>
          <a:p>
            <a:pPr algn="ctr"/>
            <a:r>
              <a:rPr lang="pt-BR" dirty="0"/>
              <a:t>Dados de estado e configuração de todo o cluster </a:t>
            </a:r>
          </a:p>
        </p:txBody>
      </p:sp>
      <p:cxnSp>
        <p:nvCxnSpPr>
          <p:cNvPr id="68" name="Conector de Seta Reta 67">
            <a:extLst>
              <a:ext uri="{FF2B5EF4-FFF2-40B4-BE49-F238E27FC236}">
                <a16:creationId xmlns:a16="http://schemas.microsoft.com/office/drawing/2014/main" id="{4A57F7F5-BFBC-42D9-A66B-C34AD87BF3EF}"/>
              </a:ext>
            </a:extLst>
          </p:cNvPr>
          <p:cNvCxnSpPr>
            <a:cxnSpLocks/>
            <a:stCxn id="45" idx="0"/>
            <a:endCxn id="65" idx="1"/>
          </p:cNvCxnSpPr>
          <p:nvPr/>
        </p:nvCxnSpPr>
        <p:spPr>
          <a:xfrm flipV="1">
            <a:off x="8642212" y="1176709"/>
            <a:ext cx="1424499" cy="1104665"/>
          </a:xfrm>
          <a:prstGeom prst="straightConnector1">
            <a:avLst/>
          </a:prstGeom>
          <a:ln w="47625">
            <a:solidFill>
              <a:srgbClr val="CC3399"/>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40563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Cantos Arredondados 3">
            <a:extLst>
              <a:ext uri="{FF2B5EF4-FFF2-40B4-BE49-F238E27FC236}">
                <a16:creationId xmlns:a16="http://schemas.microsoft.com/office/drawing/2014/main" id="{3A3F9618-F452-A26D-9690-CD3DE5140477}"/>
              </a:ext>
            </a:extLst>
          </p:cNvPr>
          <p:cNvSpPr/>
          <p:nvPr/>
        </p:nvSpPr>
        <p:spPr>
          <a:xfrm>
            <a:off x="233680" y="243840"/>
            <a:ext cx="11785600" cy="6410960"/>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a:solidFill>
                  <a:schemeClr val="tx1"/>
                </a:solidFill>
              </a:rPr>
              <a:t>Cluster</a:t>
            </a:r>
          </a:p>
        </p:txBody>
      </p:sp>
      <p:sp>
        <p:nvSpPr>
          <p:cNvPr id="5" name="Retângulo: Cantos Arredondados 4">
            <a:extLst>
              <a:ext uri="{FF2B5EF4-FFF2-40B4-BE49-F238E27FC236}">
                <a16:creationId xmlns:a16="http://schemas.microsoft.com/office/drawing/2014/main" id="{2895BCC9-AE91-E254-FC95-0348DC51049E}"/>
              </a:ext>
            </a:extLst>
          </p:cNvPr>
          <p:cNvSpPr/>
          <p:nvPr/>
        </p:nvSpPr>
        <p:spPr>
          <a:xfrm>
            <a:off x="3850640" y="2174240"/>
            <a:ext cx="3992880" cy="4175760"/>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a:solidFill>
                  <a:schemeClr val="tx1"/>
                </a:solidFill>
              </a:rPr>
              <a:t>Nó 1</a:t>
            </a:r>
          </a:p>
        </p:txBody>
      </p:sp>
      <p:sp>
        <p:nvSpPr>
          <p:cNvPr id="6" name="Retângulo: Cantos Arredondados 5">
            <a:extLst>
              <a:ext uri="{FF2B5EF4-FFF2-40B4-BE49-F238E27FC236}">
                <a16:creationId xmlns:a16="http://schemas.microsoft.com/office/drawing/2014/main" id="{A42DB08E-2EFF-9C69-5CAB-6F15337976C6}"/>
              </a:ext>
            </a:extLst>
          </p:cNvPr>
          <p:cNvSpPr/>
          <p:nvPr/>
        </p:nvSpPr>
        <p:spPr>
          <a:xfrm>
            <a:off x="508000" y="487680"/>
            <a:ext cx="3048000" cy="5862320"/>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a:solidFill>
                  <a:schemeClr val="tx1"/>
                </a:solidFill>
              </a:rPr>
              <a:t>Painel de Controle</a:t>
            </a:r>
          </a:p>
        </p:txBody>
      </p:sp>
      <p:sp>
        <p:nvSpPr>
          <p:cNvPr id="7" name="Retângulo: Cantos Arredondados 6">
            <a:extLst>
              <a:ext uri="{FF2B5EF4-FFF2-40B4-BE49-F238E27FC236}">
                <a16:creationId xmlns:a16="http://schemas.microsoft.com/office/drawing/2014/main" id="{A0AAD89D-CFBC-B93A-0F34-90522ACDB561}"/>
              </a:ext>
            </a:extLst>
          </p:cNvPr>
          <p:cNvSpPr/>
          <p:nvPr/>
        </p:nvSpPr>
        <p:spPr>
          <a:xfrm>
            <a:off x="8046720" y="2174240"/>
            <a:ext cx="3911600" cy="4175760"/>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a:solidFill>
                  <a:schemeClr val="tx1"/>
                </a:solidFill>
              </a:rPr>
              <a:t>Nó 2</a:t>
            </a:r>
          </a:p>
        </p:txBody>
      </p:sp>
      <p:sp>
        <p:nvSpPr>
          <p:cNvPr id="8" name="Retângulo 7">
            <a:extLst>
              <a:ext uri="{FF2B5EF4-FFF2-40B4-BE49-F238E27FC236}">
                <a16:creationId xmlns:a16="http://schemas.microsoft.com/office/drawing/2014/main" id="{9842481E-BB18-150E-1B77-A89BB41E6682}"/>
              </a:ext>
            </a:extLst>
          </p:cNvPr>
          <p:cNvSpPr/>
          <p:nvPr/>
        </p:nvSpPr>
        <p:spPr>
          <a:xfrm>
            <a:off x="3982720" y="3931920"/>
            <a:ext cx="3728720" cy="20015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pt-BR">
              <a:solidFill>
                <a:schemeClr val="tx1"/>
              </a:solidFill>
            </a:endParaRPr>
          </a:p>
        </p:txBody>
      </p:sp>
      <p:sp>
        <p:nvSpPr>
          <p:cNvPr id="9" name="Retângulo 8">
            <a:extLst>
              <a:ext uri="{FF2B5EF4-FFF2-40B4-BE49-F238E27FC236}">
                <a16:creationId xmlns:a16="http://schemas.microsoft.com/office/drawing/2014/main" id="{7009FA16-CAD4-289A-EAF5-3AB885232DE8}"/>
              </a:ext>
            </a:extLst>
          </p:cNvPr>
          <p:cNvSpPr/>
          <p:nvPr/>
        </p:nvSpPr>
        <p:spPr>
          <a:xfrm>
            <a:off x="8138160" y="3931920"/>
            <a:ext cx="3728720" cy="20015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pt-BR">
              <a:solidFill>
                <a:schemeClr val="tx1"/>
              </a:solidFill>
            </a:endParaRPr>
          </a:p>
        </p:txBody>
      </p:sp>
      <p:sp>
        <p:nvSpPr>
          <p:cNvPr id="10" name="Retângulo 9">
            <a:extLst>
              <a:ext uri="{FF2B5EF4-FFF2-40B4-BE49-F238E27FC236}">
                <a16:creationId xmlns:a16="http://schemas.microsoft.com/office/drawing/2014/main" id="{9E9E68A2-2310-24F6-25D8-65D85AE74E71}"/>
              </a:ext>
            </a:extLst>
          </p:cNvPr>
          <p:cNvSpPr/>
          <p:nvPr/>
        </p:nvSpPr>
        <p:spPr>
          <a:xfrm>
            <a:off x="698500" y="1290320"/>
            <a:ext cx="2659380" cy="8839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a:solidFill>
                  <a:schemeClr val="tx1"/>
                </a:solidFill>
              </a:rPr>
              <a:t>Cloud </a:t>
            </a:r>
            <a:r>
              <a:rPr lang="pt-BR" dirty="0" err="1">
                <a:solidFill>
                  <a:schemeClr val="tx1"/>
                </a:solidFill>
              </a:rPr>
              <a:t>Controller</a:t>
            </a:r>
            <a:r>
              <a:rPr lang="pt-BR" dirty="0">
                <a:solidFill>
                  <a:schemeClr val="tx1"/>
                </a:solidFill>
              </a:rPr>
              <a:t>  Manager</a:t>
            </a:r>
          </a:p>
        </p:txBody>
      </p:sp>
      <p:sp>
        <p:nvSpPr>
          <p:cNvPr id="11" name="Retângulo 10">
            <a:extLst>
              <a:ext uri="{FF2B5EF4-FFF2-40B4-BE49-F238E27FC236}">
                <a16:creationId xmlns:a16="http://schemas.microsoft.com/office/drawing/2014/main" id="{6DF39602-E71C-43AF-5CF9-2A88AD33B37D}"/>
              </a:ext>
            </a:extLst>
          </p:cNvPr>
          <p:cNvSpPr/>
          <p:nvPr/>
        </p:nvSpPr>
        <p:spPr>
          <a:xfrm>
            <a:off x="2334260" y="3007360"/>
            <a:ext cx="1023620" cy="8839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err="1">
                <a:solidFill>
                  <a:schemeClr val="tx1"/>
                </a:solidFill>
              </a:rPr>
              <a:t>Kube</a:t>
            </a:r>
            <a:r>
              <a:rPr lang="pt-BR" dirty="0">
                <a:solidFill>
                  <a:schemeClr val="tx1"/>
                </a:solidFill>
              </a:rPr>
              <a:t> API SERVER</a:t>
            </a:r>
          </a:p>
        </p:txBody>
      </p:sp>
      <p:sp>
        <p:nvSpPr>
          <p:cNvPr id="12" name="Retângulo 11">
            <a:extLst>
              <a:ext uri="{FF2B5EF4-FFF2-40B4-BE49-F238E27FC236}">
                <a16:creationId xmlns:a16="http://schemas.microsoft.com/office/drawing/2014/main" id="{1CFD1E47-7242-7989-A9F2-AD8B3F4DDF79}"/>
              </a:ext>
            </a:extLst>
          </p:cNvPr>
          <p:cNvSpPr/>
          <p:nvPr/>
        </p:nvSpPr>
        <p:spPr>
          <a:xfrm>
            <a:off x="698500" y="3007360"/>
            <a:ext cx="1112520" cy="8839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a:solidFill>
                  <a:schemeClr val="tx1"/>
                </a:solidFill>
              </a:rPr>
              <a:t>ETCD</a:t>
            </a:r>
          </a:p>
        </p:txBody>
      </p:sp>
      <p:sp>
        <p:nvSpPr>
          <p:cNvPr id="13" name="Retângulo 12">
            <a:extLst>
              <a:ext uri="{FF2B5EF4-FFF2-40B4-BE49-F238E27FC236}">
                <a16:creationId xmlns:a16="http://schemas.microsoft.com/office/drawing/2014/main" id="{77E1CE84-A01A-E425-CA8B-05E32CD2D6B5}"/>
              </a:ext>
            </a:extLst>
          </p:cNvPr>
          <p:cNvSpPr/>
          <p:nvPr/>
        </p:nvSpPr>
        <p:spPr>
          <a:xfrm>
            <a:off x="698500" y="4612640"/>
            <a:ext cx="1254760" cy="8839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err="1">
                <a:solidFill>
                  <a:schemeClr val="tx1"/>
                </a:solidFill>
              </a:rPr>
              <a:t>Scheduler</a:t>
            </a:r>
            <a:endParaRPr lang="pt-BR" dirty="0">
              <a:solidFill>
                <a:schemeClr val="tx1"/>
              </a:solidFill>
            </a:endParaRPr>
          </a:p>
        </p:txBody>
      </p:sp>
      <p:sp>
        <p:nvSpPr>
          <p:cNvPr id="14" name="Retângulo 13">
            <a:extLst>
              <a:ext uri="{FF2B5EF4-FFF2-40B4-BE49-F238E27FC236}">
                <a16:creationId xmlns:a16="http://schemas.microsoft.com/office/drawing/2014/main" id="{E88B97C2-EA28-F2B9-9919-77D86621B01F}"/>
              </a:ext>
            </a:extLst>
          </p:cNvPr>
          <p:cNvSpPr/>
          <p:nvPr/>
        </p:nvSpPr>
        <p:spPr>
          <a:xfrm>
            <a:off x="2156460" y="4612640"/>
            <a:ext cx="1203960" cy="8839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err="1">
                <a:solidFill>
                  <a:schemeClr val="tx1"/>
                </a:solidFill>
              </a:rPr>
              <a:t>Controller</a:t>
            </a:r>
            <a:r>
              <a:rPr lang="pt-BR" dirty="0">
                <a:solidFill>
                  <a:schemeClr val="tx1"/>
                </a:solidFill>
              </a:rPr>
              <a:t> Manager</a:t>
            </a:r>
          </a:p>
        </p:txBody>
      </p:sp>
      <p:sp>
        <p:nvSpPr>
          <p:cNvPr id="2" name="Retângulo 1">
            <a:extLst>
              <a:ext uri="{FF2B5EF4-FFF2-40B4-BE49-F238E27FC236}">
                <a16:creationId xmlns:a16="http://schemas.microsoft.com/office/drawing/2014/main" id="{414861B8-A5CC-857D-3BE2-CE4CA6A74F1D}"/>
              </a:ext>
            </a:extLst>
          </p:cNvPr>
          <p:cNvSpPr/>
          <p:nvPr/>
        </p:nvSpPr>
        <p:spPr>
          <a:xfrm>
            <a:off x="3982720" y="2854960"/>
            <a:ext cx="1717040" cy="8839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err="1">
                <a:solidFill>
                  <a:schemeClr val="tx1"/>
                </a:solidFill>
              </a:rPr>
              <a:t>Kublet</a:t>
            </a:r>
            <a:endParaRPr lang="pt-BR" dirty="0">
              <a:solidFill>
                <a:schemeClr val="tx1"/>
              </a:solidFill>
            </a:endParaRPr>
          </a:p>
        </p:txBody>
      </p:sp>
      <p:sp>
        <p:nvSpPr>
          <p:cNvPr id="3" name="Retângulo 2">
            <a:extLst>
              <a:ext uri="{FF2B5EF4-FFF2-40B4-BE49-F238E27FC236}">
                <a16:creationId xmlns:a16="http://schemas.microsoft.com/office/drawing/2014/main" id="{089C0988-8403-5B98-A017-5DBF8E73C034}"/>
              </a:ext>
            </a:extLst>
          </p:cNvPr>
          <p:cNvSpPr/>
          <p:nvPr/>
        </p:nvSpPr>
        <p:spPr>
          <a:xfrm>
            <a:off x="5994400" y="2854960"/>
            <a:ext cx="1717040" cy="8839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err="1">
                <a:solidFill>
                  <a:schemeClr val="tx1"/>
                </a:solidFill>
              </a:rPr>
              <a:t>Kube</a:t>
            </a:r>
            <a:r>
              <a:rPr lang="pt-BR" dirty="0">
                <a:solidFill>
                  <a:schemeClr val="tx1"/>
                </a:solidFill>
              </a:rPr>
              <a:t>-Proxy</a:t>
            </a:r>
          </a:p>
        </p:txBody>
      </p:sp>
      <p:sp>
        <p:nvSpPr>
          <p:cNvPr id="15" name="Retângulo 14">
            <a:extLst>
              <a:ext uri="{FF2B5EF4-FFF2-40B4-BE49-F238E27FC236}">
                <a16:creationId xmlns:a16="http://schemas.microsoft.com/office/drawing/2014/main" id="{3B051452-E706-D30A-0786-1514C7B7C6F0}"/>
              </a:ext>
            </a:extLst>
          </p:cNvPr>
          <p:cNvSpPr/>
          <p:nvPr/>
        </p:nvSpPr>
        <p:spPr>
          <a:xfrm>
            <a:off x="8138160" y="2854960"/>
            <a:ext cx="1717040" cy="8839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err="1">
                <a:solidFill>
                  <a:schemeClr val="tx1"/>
                </a:solidFill>
              </a:rPr>
              <a:t>Kublet</a:t>
            </a:r>
            <a:endParaRPr lang="pt-BR" dirty="0">
              <a:solidFill>
                <a:schemeClr val="tx1"/>
              </a:solidFill>
            </a:endParaRPr>
          </a:p>
        </p:txBody>
      </p:sp>
      <p:sp>
        <p:nvSpPr>
          <p:cNvPr id="16" name="Retângulo 15">
            <a:extLst>
              <a:ext uri="{FF2B5EF4-FFF2-40B4-BE49-F238E27FC236}">
                <a16:creationId xmlns:a16="http://schemas.microsoft.com/office/drawing/2014/main" id="{C97749CE-2178-1995-37EB-9C686AC35303}"/>
              </a:ext>
            </a:extLst>
          </p:cNvPr>
          <p:cNvSpPr/>
          <p:nvPr/>
        </p:nvSpPr>
        <p:spPr>
          <a:xfrm>
            <a:off x="10149840" y="2854960"/>
            <a:ext cx="1717040" cy="8839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err="1">
                <a:solidFill>
                  <a:schemeClr val="tx1"/>
                </a:solidFill>
              </a:rPr>
              <a:t>Kube</a:t>
            </a:r>
            <a:r>
              <a:rPr lang="pt-BR" dirty="0">
                <a:solidFill>
                  <a:schemeClr val="tx1"/>
                </a:solidFill>
              </a:rPr>
              <a:t>-Proxy</a:t>
            </a:r>
          </a:p>
        </p:txBody>
      </p:sp>
      <p:sp>
        <p:nvSpPr>
          <p:cNvPr id="17" name="Retângulo 16">
            <a:extLst>
              <a:ext uri="{FF2B5EF4-FFF2-40B4-BE49-F238E27FC236}">
                <a16:creationId xmlns:a16="http://schemas.microsoft.com/office/drawing/2014/main" id="{FB9568AB-6015-D2A5-1C38-B99A30679499}"/>
              </a:ext>
            </a:extLst>
          </p:cNvPr>
          <p:cNvSpPr/>
          <p:nvPr/>
        </p:nvSpPr>
        <p:spPr>
          <a:xfrm>
            <a:off x="5523230" y="4912360"/>
            <a:ext cx="942340" cy="7569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a:solidFill>
                  <a:schemeClr val="tx1"/>
                </a:solidFill>
              </a:rPr>
              <a:t>POD</a:t>
            </a:r>
          </a:p>
        </p:txBody>
      </p:sp>
      <p:sp>
        <p:nvSpPr>
          <p:cNvPr id="18" name="Retângulo 17">
            <a:extLst>
              <a:ext uri="{FF2B5EF4-FFF2-40B4-BE49-F238E27FC236}">
                <a16:creationId xmlns:a16="http://schemas.microsoft.com/office/drawing/2014/main" id="{82ECDE69-7263-B115-275C-0FED32D4D55D}"/>
              </a:ext>
            </a:extLst>
          </p:cNvPr>
          <p:cNvSpPr/>
          <p:nvPr/>
        </p:nvSpPr>
        <p:spPr>
          <a:xfrm>
            <a:off x="4387850" y="4104640"/>
            <a:ext cx="942340" cy="7569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a:solidFill>
                  <a:schemeClr val="tx1"/>
                </a:solidFill>
              </a:rPr>
              <a:t>POD</a:t>
            </a:r>
          </a:p>
        </p:txBody>
      </p:sp>
      <p:sp>
        <p:nvSpPr>
          <p:cNvPr id="19" name="Retângulo 18">
            <a:extLst>
              <a:ext uri="{FF2B5EF4-FFF2-40B4-BE49-F238E27FC236}">
                <a16:creationId xmlns:a16="http://schemas.microsoft.com/office/drawing/2014/main" id="{5B3305B6-7BFE-2D17-78E2-4DD5828A25F3}"/>
              </a:ext>
            </a:extLst>
          </p:cNvPr>
          <p:cNvSpPr/>
          <p:nvPr/>
        </p:nvSpPr>
        <p:spPr>
          <a:xfrm>
            <a:off x="6678930" y="4104640"/>
            <a:ext cx="942340" cy="7569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a:solidFill>
                  <a:schemeClr val="tx1"/>
                </a:solidFill>
              </a:rPr>
              <a:t>POD</a:t>
            </a:r>
          </a:p>
        </p:txBody>
      </p:sp>
      <p:sp>
        <p:nvSpPr>
          <p:cNvPr id="20" name="Retângulo 19">
            <a:extLst>
              <a:ext uri="{FF2B5EF4-FFF2-40B4-BE49-F238E27FC236}">
                <a16:creationId xmlns:a16="http://schemas.microsoft.com/office/drawing/2014/main" id="{E28D8D80-7069-D186-007F-BD2FCF10DE63}"/>
              </a:ext>
            </a:extLst>
          </p:cNvPr>
          <p:cNvSpPr/>
          <p:nvPr/>
        </p:nvSpPr>
        <p:spPr>
          <a:xfrm>
            <a:off x="9678670" y="4688840"/>
            <a:ext cx="942340" cy="7569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dirty="0">
                <a:solidFill>
                  <a:schemeClr val="tx1"/>
                </a:solidFill>
              </a:rPr>
              <a:t>POD</a:t>
            </a:r>
          </a:p>
        </p:txBody>
      </p:sp>
    </p:spTree>
    <p:extLst>
      <p:ext uri="{BB962C8B-B14F-4D97-AF65-F5344CB8AC3E}">
        <p14:creationId xmlns:p14="http://schemas.microsoft.com/office/powerpoint/2010/main" val="223681247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B09087-0275-4B96-B451-C82A16D3551A}"/>
              </a:ext>
            </a:extLst>
          </p:cNvPr>
          <p:cNvSpPr>
            <a:spLocks noGrp="1"/>
          </p:cNvSpPr>
          <p:nvPr>
            <p:ph type="title"/>
          </p:nvPr>
        </p:nvSpPr>
        <p:spPr/>
        <p:txBody>
          <a:bodyPr/>
          <a:lstStyle/>
          <a:p>
            <a:r>
              <a:rPr lang="pt-BR" b="1" dirty="0"/>
              <a:t>Gateway de Aplicativo do Azure</a:t>
            </a:r>
            <a:endParaRPr lang="pt-BR" dirty="0"/>
          </a:p>
        </p:txBody>
      </p:sp>
      <p:sp>
        <p:nvSpPr>
          <p:cNvPr id="3" name="Espaço Reservado para Conteúdo 2">
            <a:extLst>
              <a:ext uri="{FF2B5EF4-FFF2-40B4-BE49-F238E27FC236}">
                <a16:creationId xmlns:a16="http://schemas.microsoft.com/office/drawing/2014/main" id="{A999B67E-107E-4597-869C-6DD71933AAD3}"/>
              </a:ext>
            </a:extLst>
          </p:cNvPr>
          <p:cNvSpPr>
            <a:spLocks noGrp="1"/>
          </p:cNvSpPr>
          <p:nvPr>
            <p:ph idx="1"/>
          </p:nvPr>
        </p:nvSpPr>
        <p:spPr/>
        <p:txBody>
          <a:bodyPr>
            <a:normAutofit fontScale="92500" lnSpcReduction="10000"/>
          </a:bodyPr>
          <a:lstStyle/>
          <a:p>
            <a:r>
              <a:rPr lang="pt-BR" dirty="0"/>
              <a:t>O que é: balanceador de carga do tráfego da Web que permite que você gerencie o tráfego para seus aplicativos Web.</a:t>
            </a:r>
          </a:p>
          <a:p>
            <a:r>
              <a:rPr lang="pt-BR" b="1" dirty="0"/>
              <a:t>Terminação do protocolo SSL/TLS (</a:t>
            </a:r>
            <a:r>
              <a:rPr lang="pt-BR" b="1" dirty="0" err="1"/>
              <a:t>Secure</a:t>
            </a:r>
            <a:r>
              <a:rPr lang="pt-BR" b="1" dirty="0"/>
              <a:t> Sockets </a:t>
            </a:r>
            <a:r>
              <a:rPr lang="pt-BR" b="1" dirty="0" err="1"/>
              <a:t>Layer</a:t>
            </a:r>
            <a:r>
              <a:rPr lang="pt-BR" b="1" dirty="0"/>
              <a:t>)</a:t>
            </a:r>
          </a:p>
          <a:p>
            <a:r>
              <a:rPr lang="pt-BR" b="1" dirty="0"/>
              <a:t>Redundância de zona</a:t>
            </a:r>
          </a:p>
          <a:p>
            <a:r>
              <a:rPr lang="pt-BR" b="1" dirty="0"/>
              <a:t>Firewall do aplicativo Web</a:t>
            </a:r>
          </a:p>
          <a:p>
            <a:r>
              <a:rPr lang="pt-BR" b="1" dirty="0"/>
              <a:t>Roteamento baseado em URL</a:t>
            </a:r>
          </a:p>
          <a:p>
            <a:r>
              <a:rPr lang="pt-BR" b="1" dirty="0"/>
              <a:t>Hospedagem de vários sites</a:t>
            </a:r>
          </a:p>
          <a:p>
            <a:r>
              <a:rPr lang="pt-BR" b="1" dirty="0"/>
              <a:t>Redirecionamento</a:t>
            </a:r>
          </a:p>
          <a:p>
            <a:r>
              <a:rPr lang="pt-BR" b="1" dirty="0"/>
              <a:t>Tráfego do </a:t>
            </a:r>
            <a:r>
              <a:rPr lang="pt-BR" b="1" dirty="0" err="1"/>
              <a:t>WebSocket</a:t>
            </a:r>
            <a:r>
              <a:rPr lang="pt-BR" b="1" dirty="0"/>
              <a:t> e HTTP/2</a:t>
            </a:r>
          </a:p>
          <a:p>
            <a:r>
              <a:rPr lang="pt-BR" b="1" dirty="0" err="1"/>
              <a:t>DimensionamentoReescrever</a:t>
            </a:r>
            <a:r>
              <a:rPr lang="pt-BR" b="1" dirty="0"/>
              <a:t> cabeçalhos HTTP</a:t>
            </a:r>
          </a:p>
          <a:p>
            <a:endParaRPr lang="pt-BR" dirty="0"/>
          </a:p>
          <a:p>
            <a:endParaRPr lang="pt-BR" dirty="0"/>
          </a:p>
        </p:txBody>
      </p:sp>
    </p:spTree>
    <p:extLst>
      <p:ext uri="{BB962C8B-B14F-4D97-AF65-F5344CB8AC3E}">
        <p14:creationId xmlns:p14="http://schemas.microsoft.com/office/powerpoint/2010/main" val="2458275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0EDFC5-84E2-40B1-800B-7AB36E4B4FBA}"/>
              </a:ext>
            </a:extLst>
          </p:cNvPr>
          <p:cNvSpPr>
            <a:spLocks noGrp="1"/>
          </p:cNvSpPr>
          <p:nvPr>
            <p:ph type="title"/>
          </p:nvPr>
        </p:nvSpPr>
        <p:spPr/>
        <p:txBody>
          <a:bodyPr/>
          <a:lstStyle/>
          <a:p>
            <a:r>
              <a:rPr lang="pt-BR" dirty="0"/>
              <a:t>AZURE MIGRATE</a:t>
            </a:r>
          </a:p>
        </p:txBody>
      </p:sp>
      <p:sp>
        <p:nvSpPr>
          <p:cNvPr id="3" name="Espaço Reservado para Conteúdo 2">
            <a:extLst>
              <a:ext uri="{FF2B5EF4-FFF2-40B4-BE49-F238E27FC236}">
                <a16:creationId xmlns:a16="http://schemas.microsoft.com/office/drawing/2014/main" id="{141A213B-9459-485B-B5EA-FC7EA886F90B}"/>
              </a:ext>
            </a:extLst>
          </p:cNvPr>
          <p:cNvSpPr>
            <a:spLocks noGrp="1"/>
          </p:cNvSpPr>
          <p:nvPr>
            <p:ph idx="1"/>
          </p:nvPr>
        </p:nvSpPr>
        <p:spPr>
          <a:xfrm>
            <a:off x="274320" y="1391920"/>
            <a:ext cx="11744960" cy="5100955"/>
          </a:xfrm>
        </p:spPr>
        <p:txBody>
          <a:bodyPr>
            <a:normAutofit fontScale="85000" lnSpcReduction="10000"/>
          </a:bodyPr>
          <a:lstStyle/>
          <a:p>
            <a:r>
              <a:rPr lang="pt-BR" dirty="0"/>
              <a:t>Ferramenta de apoio para migração do ambiente local para Cloud através de um hub centralizado para descobrir e avaliar e a migração de infraestrutura, aplicativos e dados locais.</a:t>
            </a:r>
          </a:p>
          <a:p>
            <a:r>
              <a:rPr lang="pt-BR" b="1" dirty="0"/>
              <a:t>Plataforma de migração unificada</a:t>
            </a:r>
            <a:r>
              <a:rPr lang="pt-BR" dirty="0"/>
              <a:t>: Portal único que inicia, executa e acompanha a migração.</a:t>
            </a:r>
          </a:p>
          <a:p>
            <a:r>
              <a:rPr lang="pt-BR" b="1" dirty="0"/>
              <a:t>Variedade de ferramentas</a:t>
            </a:r>
            <a:r>
              <a:rPr lang="pt-BR" dirty="0"/>
              <a:t>: Fornece avaliação e migração e se integra a outros serviços do Azure.</a:t>
            </a:r>
          </a:p>
          <a:p>
            <a:r>
              <a:rPr lang="pt-BR" b="1" dirty="0"/>
              <a:t>Cargas de trabalho</a:t>
            </a:r>
            <a:r>
              <a:rPr lang="pt-BR" dirty="0"/>
              <a:t>: fornece avaliação e migração para:</a:t>
            </a:r>
          </a:p>
          <a:p>
            <a:pPr lvl="1"/>
            <a:r>
              <a:rPr lang="pt-BR" b="1" dirty="0"/>
              <a:t>Servidores</a:t>
            </a:r>
            <a:r>
              <a:rPr lang="pt-BR" dirty="0"/>
              <a:t>: Use a Avaliação de Servidor das Migrações para Azure, a Migração de Servidor das Migrações para Azure e outras ferramentas para avaliação e migração de servidores para as </a:t>
            </a:r>
            <a:r>
              <a:rPr lang="pt-BR" dirty="0" err="1"/>
              <a:t>VMs</a:t>
            </a:r>
            <a:r>
              <a:rPr lang="pt-BR" dirty="0"/>
              <a:t> do Azure.</a:t>
            </a:r>
          </a:p>
          <a:p>
            <a:pPr lvl="1"/>
            <a:r>
              <a:rPr lang="pt-BR" b="1" dirty="0"/>
              <a:t>Bancos de dados</a:t>
            </a:r>
            <a:r>
              <a:rPr lang="pt-BR" dirty="0"/>
              <a:t>: Ferramentas Microsoft e de ISV (fornecedor independente de software) para avaliação e migração de bancos de dados.</a:t>
            </a:r>
          </a:p>
          <a:p>
            <a:pPr lvl="1"/>
            <a:r>
              <a:rPr lang="pt-BR" b="1" dirty="0"/>
              <a:t>Aplicativos Web</a:t>
            </a:r>
            <a:r>
              <a:rPr lang="pt-BR" dirty="0"/>
              <a:t>: Use o Assistente do Serviço de Aplicativo do Azure para avaliar sites locais para migração para o Serviço de Aplicativo do Azure.</a:t>
            </a:r>
          </a:p>
          <a:p>
            <a:pPr lvl="1"/>
            <a:r>
              <a:rPr lang="pt-BR" b="1" dirty="0"/>
              <a:t>Áreas de trabalho virtual</a:t>
            </a:r>
            <a:r>
              <a:rPr lang="pt-BR" dirty="0"/>
              <a:t>: Ferramentas de ISV para avaliar e migrar o Virtual Desktop </a:t>
            </a:r>
            <a:r>
              <a:rPr lang="pt-BR" dirty="0" err="1"/>
              <a:t>Infrastructure</a:t>
            </a:r>
            <a:r>
              <a:rPr lang="pt-BR" dirty="0"/>
              <a:t> (VDI).</a:t>
            </a:r>
          </a:p>
          <a:p>
            <a:pPr lvl="1"/>
            <a:r>
              <a:rPr lang="pt-BR" b="1" dirty="0"/>
              <a:t>Data</a:t>
            </a:r>
            <a:r>
              <a:rPr lang="pt-BR" dirty="0"/>
              <a:t>: Integra com Azure Data Box para grandes quantidades de dados.</a:t>
            </a:r>
          </a:p>
        </p:txBody>
      </p:sp>
    </p:spTree>
    <p:extLst>
      <p:ext uri="{BB962C8B-B14F-4D97-AF65-F5344CB8AC3E}">
        <p14:creationId xmlns:p14="http://schemas.microsoft.com/office/powerpoint/2010/main" val="204747998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0EDFC5-84E2-40B1-800B-7AB36E4B4FBA}"/>
              </a:ext>
            </a:extLst>
          </p:cNvPr>
          <p:cNvSpPr>
            <a:spLocks noGrp="1"/>
          </p:cNvSpPr>
          <p:nvPr>
            <p:ph type="title"/>
          </p:nvPr>
        </p:nvSpPr>
        <p:spPr/>
        <p:txBody>
          <a:bodyPr/>
          <a:lstStyle/>
          <a:p>
            <a:r>
              <a:rPr lang="pt-BR" dirty="0"/>
              <a:t>AZURE MIGRATE Ferramenta de Avaliação</a:t>
            </a:r>
          </a:p>
        </p:txBody>
      </p:sp>
      <p:sp>
        <p:nvSpPr>
          <p:cNvPr id="3" name="Espaço Reservado para Conteúdo 2">
            <a:extLst>
              <a:ext uri="{FF2B5EF4-FFF2-40B4-BE49-F238E27FC236}">
                <a16:creationId xmlns:a16="http://schemas.microsoft.com/office/drawing/2014/main" id="{141A213B-9459-485B-B5EA-FC7EA886F90B}"/>
              </a:ext>
            </a:extLst>
          </p:cNvPr>
          <p:cNvSpPr>
            <a:spLocks noGrp="1"/>
          </p:cNvSpPr>
          <p:nvPr>
            <p:ph idx="1"/>
          </p:nvPr>
        </p:nvSpPr>
        <p:spPr>
          <a:xfrm>
            <a:off x="213360" y="1690688"/>
            <a:ext cx="11785600" cy="5075872"/>
          </a:xfrm>
        </p:spPr>
        <p:txBody>
          <a:bodyPr>
            <a:normAutofit/>
          </a:bodyPr>
          <a:lstStyle/>
          <a:p>
            <a:r>
              <a:rPr lang="pt-BR" dirty="0"/>
              <a:t>Descobre e avalia </a:t>
            </a:r>
            <a:r>
              <a:rPr lang="pt-BR" dirty="0" err="1"/>
              <a:t>VMs</a:t>
            </a:r>
            <a:r>
              <a:rPr lang="pt-BR" dirty="0"/>
              <a:t> do VMware, </a:t>
            </a:r>
            <a:r>
              <a:rPr lang="pt-BR" dirty="0" err="1"/>
              <a:t>Hyper</a:t>
            </a:r>
            <a:r>
              <a:rPr lang="pt-BR" dirty="0"/>
              <a:t>-V locais e servidores físicos.</a:t>
            </a:r>
          </a:p>
          <a:p>
            <a:r>
              <a:rPr lang="pt-BR" b="1" dirty="0"/>
              <a:t>Azure </a:t>
            </a:r>
            <a:r>
              <a:rPr lang="pt-BR" b="1" dirty="0" err="1"/>
              <a:t>readiness</a:t>
            </a:r>
            <a:r>
              <a:rPr lang="pt-BR" dirty="0"/>
              <a:t> - </a:t>
            </a:r>
            <a:r>
              <a:rPr lang="pt-BR" b="1" dirty="0"/>
              <a:t>Preparação para o Azure:</a:t>
            </a:r>
            <a:r>
              <a:rPr lang="pt-BR" dirty="0"/>
              <a:t> Avalia compatibilidade dos computadores locais para a migração.</a:t>
            </a:r>
          </a:p>
          <a:p>
            <a:r>
              <a:rPr lang="pt-BR" b="1" dirty="0"/>
              <a:t>Azure </a:t>
            </a:r>
            <a:r>
              <a:rPr lang="pt-BR" b="1" dirty="0" err="1"/>
              <a:t>sizing</a:t>
            </a:r>
            <a:r>
              <a:rPr lang="pt-BR" dirty="0"/>
              <a:t> - </a:t>
            </a:r>
            <a:r>
              <a:rPr lang="pt-BR" b="1" dirty="0"/>
              <a:t>Dimensionamento do Azure:</a:t>
            </a:r>
            <a:r>
              <a:rPr lang="pt-BR" dirty="0"/>
              <a:t> Avalia dimensionamento físico das </a:t>
            </a:r>
            <a:r>
              <a:rPr lang="pt-BR" dirty="0" err="1"/>
              <a:t>VMs</a:t>
            </a:r>
            <a:r>
              <a:rPr lang="pt-BR" dirty="0"/>
              <a:t> e sugere dimensionamento em cloud.</a:t>
            </a:r>
          </a:p>
          <a:p>
            <a:r>
              <a:rPr lang="pt-BR" b="1" dirty="0"/>
              <a:t>Azure </a:t>
            </a:r>
            <a:r>
              <a:rPr lang="pt-BR" b="1" dirty="0" err="1"/>
              <a:t>cost</a:t>
            </a:r>
            <a:r>
              <a:rPr lang="pt-BR" b="1" dirty="0"/>
              <a:t> </a:t>
            </a:r>
            <a:r>
              <a:rPr lang="pt-BR" b="1" dirty="0" err="1"/>
              <a:t>estimation</a:t>
            </a:r>
            <a:r>
              <a:rPr lang="pt-BR" b="1" dirty="0"/>
              <a:t> </a:t>
            </a:r>
            <a:r>
              <a:rPr lang="pt-BR" dirty="0"/>
              <a:t>- </a:t>
            </a:r>
            <a:r>
              <a:rPr lang="pt-BR" b="1" dirty="0"/>
              <a:t>Estimativa de custo do Azure:</a:t>
            </a:r>
            <a:r>
              <a:rPr lang="pt-BR" dirty="0"/>
              <a:t> Compara os custos estimados no ambiente físico com o ambiente cloud.</a:t>
            </a:r>
          </a:p>
          <a:p>
            <a:r>
              <a:rPr lang="pt-BR" dirty="0" err="1"/>
              <a:t>Dependency</a:t>
            </a:r>
            <a:r>
              <a:rPr lang="pt-BR" dirty="0"/>
              <a:t> Mapping - </a:t>
            </a:r>
            <a:r>
              <a:rPr lang="pt-BR" b="1" dirty="0"/>
              <a:t>Visualização de dependências:</a:t>
            </a:r>
            <a:r>
              <a:rPr lang="pt-BR" dirty="0"/>
              <a:t> Avalia dependências entre servidores e </a:t>
            </a:r>
            <a:r>
              <a:rPr lang="pt-BR" dirty="0" err="1"/>
              <a:t>VMs</a:t>
            </a:r>
            <a:r>
              <a:rPr lang="pt-BR" dirty="0"/>
              <a:t> Mapeando estas dependências.</a:t>
            </a:r>
          </a:p>
        </p:txBody>
      </p:sp>
    </p:spTree>
    <p:extLst>
      <p:ext uri="{BB962C8B-B14F-4D97-AF65-F5344CB8AC3E}">
        <p14:creationId xmlns:p14="http://schemas.microsoft.com/office/powerpoint/2010/main" val="320101195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0EDFC5-84E2-40B1-800B-7AB36E4B4FBA}"/>
              </a:ext>
            </a:extLst>
          </p:cNvPr>
          <p:cNvSpPr>
            <a:spLocks noGrp="1"/>
          </p:cNvSpPr>
          <p:nvPr>
            <p:ph type="title"/>
          </p:nvPr>
        </p:nvSpPr>
        <p:spPr/>
        <p:txBody>
          <a:bodyPr/>
          <a:lstStyle/>
          <a:p>
            <a:r>
              <a:rPr lang="pt-BR" dirty="0"/>
              <a:t>AZURE MIGRATE Ferramenta de Avaliação</a:t>
            </a:r>
          </a:p>
        </p:txBody>
      </p:sp>
      <p:sp>
        <p:nvSpPr>
          <p:cNvPr id="5" name="Retângulo: Cantos Arredondados 4">
            <a:extLst>
              <a:ext uri="{FF2B5EF4-FFF2-40B4-BE49-F238E27FC236}">
                <a16:creationId xmlns:a16="http://schemas.microsoft.com/office/drawing/2014/main" id="{140859F1-D5BF-4BBB-AAE6-6491C5557CD2}"/>
              </a:ext>
            </a:extLst>
          </p:cNvPr>
          <p:cNvSpPr/>
          <p:nvPr/>
        </p:nvSpPr>
        <p:spPr>
          <a:xfrm>
            <a:off x="1424806" y="3133870"/>
            <a:ext cx="3132929" cy="3412910"/>
          </a:xfrm>
          <a:prstGeom prst="roundRect">
            <a:avLst/>
          </a:prstGeom>
          <a:no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r>
              <a:rPr lang="pt-BR" dirty="0">
                <a:ln>
                  <a:solidFill>
                    <a:schemeClr val="accent1">
                      <a:shade val="50000"/>
                    </a:schemeClr>
                  </a:solidFill>
                </a:ln>
                <a:solidFill>
                  <a:schemeClr val="tx1"/>
                </a:solidFill>
              </a:rPr>
              <a:t>Estrutura Física Atual</a:t>
            </a:r>
          </a:p>
          <a:p>
            <a:pPr algn="r"/>
            <a:endParaRPr lang="pt-BR" dirty="0">
              <a:solidFill>
                <a:schemeClr val="tx1"/>
              </a:solidFill>
            </a:endParaRPr>
          </a:p>
        </p:txBody>
      </p:sp>
      <p:cxnSp>
        <p:nvCxnSpPr>
          <p:cNvPr id="14" name="Conector de Seta Reta 13">
            <a:extLst>
              <a:ext uri="{FF2B5EF4-FFF2-40B4-BE49-F238E27FC236}">
                <a16:creationId xmlns:a16="http://schemas.microsoft.com/office/drawing/2014/main" id="{70FD9692-C154-4EB8-B4CE-568B6BFB5523}"/>
              </a:ext>
            </a:extLst>
          </p:cNvPr>
          <p:cNvCxnSpPr>
            <a:cxnSpLocks/>
            <a:stCxn id="43" idx="1"/>
            <a:endCxn id="37" idx="3"/>
          </p:cNvCxnSpPr>
          <p:nvPr/>
        </p:nvCxnSpPr>
        <p:spPr>
          <a:xfrm flipH="1">
            <a:off x="4351873" y="3911338"/>
            <a:ext cx="696324" cy="322993"/>
          </a:xfrm>
          <a:prstGeom prst="straightConnector1">
            <a:avLst/>
          </a:prstGeom>
          <a:noFill/>
          <a:ln w="50800">
            <a:solidFill>
              <a:srgbClr val="CC3399"/>
            </a:solidFill>
            <a:tailEnd type="triangle"/>
          </a:ln>
        </p:spPr>
        <p:style>
          <a:lnRef idx="2">
            <a:schemeClr val="accent1">
              <a:shade val="50000"/>
            </a:schemeClr>
          </a:lnRef>
          <a:fillRef idx="1">
            <a:schemeClr val="accent1"/>
          </a:fillRef>
          <a:effectRef idx="0">
            <a:schemeClr val="accent1"/>
          </a:effectRef>
          <a:fontRef idx="minor">
            <a:schemeClr val="lt1"/>
          </a:fontRef>
        </p:style>
      </p:cxnSp>
      <p:pic>
        <p:nvPicPr>
          <p:cNvPr id="22" name="Gráfico 21" descr="Computador">
            <a:extLst>
              <a:ext uri="{FF2B5EF4-FFF2-40B4-BE49-F238E27FC236}">
                <a16:creationId xmlns:a16="http://schemas.microsoft.com/office/drawing/2014/main" id="{C4F02AFE-91F7-4CCB-81F6-55630C186CA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29835" y="3261122"/>
            <a:ext cx="2043352" cy="2099051"/>
          </a:xfrm>
          <a:prstGeom prst="rect">
            <a:avLst/>
          </a:prstGeom>
        </p:spPr>
      </p:pic>
      <p:pic>
        <p:nvPicPr>
          <p:cNvPr id="23" name="Gráfico 22" descr="Engrenagens">
            <a:extLst>
              <a:ext uri="{FF2B5EF4-FFF2-40B4-BE49-F238E27FC236}">
                <a16:creationId xmlns:a16="http://schemas.microsoft.com/office/drawing/2014/main" id="{F715E15E-1C6A-4970-88F3-944B3E1219F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43133" y="3848300"/>
            <a:ext cx="628297" cy="628297"/>
          </a:xfrm>
          <a:prstGeom prst="rect">
            <a:avLst/>
          </a:prstGeom>
        </p:spPr>
      </p:pic>
      <p:pic>
        <p:nvPicPr>
          <p:cNvPr id="25" name="Gráfico 24" descr="Laptop">
            <a:extLst>
              <a:ext uri="{FF2B5EF4-FFF2-40B4-BE49-F238E27FC236}">
                <a16:creationId xmlns:a16="http://schemas.microsoft.com/office/drawing/2014/main" id="{5576E04E-0694-4C94-8836-95510880037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48567" y="5093497"/>
            <a:ext cx="588243" cy="588243"/>
          </a:xfrm>
          <a:prstGeom prst="rect">
            <a:avLst/>
          </a:prstGeom>
        </p:spPr>
      </p:pic>
      <p:pic>
        <p:nvPicPr>
          <p:cNvPr id="26" name="Gráfico 25" descr="Monitorar">
            <a:extLst>
              <a:ext uri="{FF2B5EF4-FFF2-40B4-BE49-F238E27FC236}">
                <a16:creationId xmlns:a16="http://schemas.microsoft.com/office/drawing/2014/main" id="{6C5EA1C1-52F2-4C3B-A8A4-CE927FD15EB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509878" y="5396312"/>
            <a:ext cx="588243" cy="588243"/>
          </a:xfrm>
          <a:prstGeom prst="rect">
            <a:avLst/>
          </a:prstGeom>
        </p:spPr>
      </p:pic>
      <p:pic>
        <p:nvPicPr>
          <p:cNvPr id="29" name="Gráfico 28" descr="Programa">
            <a:extLst>
              <a:ext uri="{FF2B5EF4-FFF2-40B4-BE49-F238E27FC236}">
                <a16:creationId xmlns:a16="http://schemas.microsoft.com/office/drawing/2014/main" id="{7E892492-C827-468E-B3A8-D8F8AD631DD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551838" y="3413936"/>
            <a:ext cx="1010218" cy="1010218"/>
          </a:xfrm>
          <a:prstGeom prst="rect">
            <a:avLst/>
          </a:prstGeom>
        </p:spPr>
      </p:pic>
      <p:pic>
        <p:nvPicPr>
          <p:cNvPr id="32" name="Gráfico 31" descr="Monitorar">
            <a:extLst>
              <a:ext uri="{FF2B5EF4-FFF2-40B4-BE49-F238E27FC236}">
                <a16:creationId xmlns:a16="http://schemas.microsoft.com/office/drawing/2014/main" id="{B525E833-0BC4-4F0D-8C5A-524C1685372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543133" y="5703708"/>
            <a:ext cx="588243" cy="588243"/>
          </a:xfrm>
          <a:prstGeom prst="rect">
            <a:avLst/>
          </a:prstGeom>
        </p:spPr>
      </p:pic>
      <p:pic>
        <p:nvPicPr>
          <p:cNvPr id="33" name="Gráfico 32" descr="Monitorar">
            <a:extLst>
              <a:ext uri="{FF2B5EF4-FFF2-40B4-BE49-F238E27FC236}">
                <a16:creationId xmlns:a16="http://schemas.microsoft.com/office/drawing/2014/main" id="{D268DE84-FF07-4A4B-80C1-77FD8B0DF40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94039" y="5958536"/>
            <a:ext cx="588243" cy="588243"/>
          </a:xfrm>
          <a:prstGeom prst="rect">
            <a:avLst/>
          </a:prstGeom>
        </p:spPr>
      </p:pic>
      <p:pic>
        <p:nvPicPr>
          <p:cNvPr id="37" name="Gráfico 36" descr="Monitorar">
            <a:extLst>
              <a:ext uri="{FF2B5EF4-FFF2-40B4-BE49-F238E27FC236}">
                <a16:creationId xmlns:a16="http://schemas.microsoft.com/office/drawing/2014/main" id="{A5BEC98C-D588-4EE8-982A-4642B7CF54B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196416" y="3656602"/>
            <a:ext cx="1155457" cy="1155457"/>
          </a:xfrm>
          <a:prstGeom prst="rect">
            <a:avLst/>
          </a:prstGeom>
        </p:spPr>
      </p:pic>
      <p:sp>
        <p:nvSpPr>
          <p:cNvPr id="43" name="CaixaDeTexto 42">
            <a:extLst>
              <a:ext uri="{FF2B5EF4-FFF2-40B4-BE49-F238E27FC236}">
                <a16:creationId xmlns:a16="http://schemas.microsoft.com/office/drawing/2014/main" id="{D11FA8E1-6CC7-4676-919C-3208464F7A79}"/>
              </a:ext>
            </a:extLst>
          </p:cNvPr>
          <p:cNvSpPr txBox="1"/>
          <p:nvPr/>
        </p:nvSpPr>
        <p:spPr>
          <a:xfrm>
            <a:off x="5048197" y="3172674"/>
            <a:ext cx="2200770" cy="1477328"/>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Coletor VM</a:t>
            </a:r>
          </a:p>
          <a:p>
            <a:pPr algn="ctr"/>
            <a:r>
              <a:rPr lang="pt-BR" dirty="0"/>
              <a:t>Dispositivo leve é implantado localmente somente no servidor.</a:t>
            </a:r>
          </a:p>
        </p:txBody>
      </p:sp>
      <p:pic>
        <p:nvPicPr>
          <p:cNvPr id="55" name="Gráfico 54" descr="Nuvem">
            <a:extLst>
              <a:ext uri="{FF2B5EF4-FFF2-40B4-BE49-F238E27FC236}">
                <a16:creationId xmlns:a16="http://schemas.microsoft.com/office/drawing/2014/main" id="{7D5CDDB1-7400-4F3F-8E32-472D6983DBE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503917" y="1002162"/>
            <a:ext cx="4102848" cy="1377051"/>
          </a:xfrm>
          <a:prstGeom prst="rect">
            <a:avLst/>
          </a:prstGeom>
        </p:spPr>
      </p:pic>
      <p:sp>
        <p:nvSpPr>
          <p:cNvPr id="64" name="CaixaDeTexto 63">
            <a:extLst>
              <a:ext uri="{FF2B5EF4-FFF2-40B4-BE49-F238E27FC236}">
                <a16:creationId xmlns:a16="http://schemas.microsoft.com/office/drawing/2014/main" id="{6187995F-4E4D-4CC0-A851-E06C1316AED7}"/>
              </a:ext>
            </a:extLst>
          </p:cNvPr>
          <p:cNvSpPr txBox="1"/>
          <p:nvPr/>
        </p:nvSpPr>
        <p:spPr>
          <a:xfrm>
            <a:off x="1330851" y="1665571"/>
            <a:ext cx="2895786" cy="307777"/>
          </a:xfrm>
          <a:prstGeom prst="rect">
            <a:avLst/>
          </a:prstGeom>
          <a:ln w="47625">
            <a:no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sz="1400" dirty="0"/>
              <a:t>Azure </a:t>
            </a:r>
            <a:r>
              <a:rPr lang="pt-BR" sz="1400" dirty="0" err="1"/>
              <a:t>Migrate</a:t>
            </a:r>
            <a:r>
              <a:rPr lang="pt-BR" sz="1400" dirty="0"/>
              <a:t> Service</a:t>
            </a:r>
          </a:p>
        </p:txBody>
      </p:sp>
      <p:pic>
        <p:nvPicPr>
          <p:cNvPr id="70" name="Gráfico 69" descr="Engrenagens">
            <a:extLst>
              <a:ext uri="{FF2B5EF4-FFF2-40B4-BE49-F238E27FC236}">
                <a16:creationId xmlns:a16="http://schemas.microsoft.com/office/drawing/2014/main" id="{B8F4ADB6-FA24-4093-9582-1E70EBB2BDB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98340" y="1442504"/>
            <a:ext cx="628297" cy="628297"/>
          </a:xfrm>
          <a:prstGeom prst="rect">
            <a:avLst/>
          </a:prstGeom>
        </p:spPr>
      </p:pic>
      <p:pic>
        <p:nvPicPr>
          <p:cNvPr id="71" name="Gráfico 70" descr="Engrenagens">
            <a:extLst>
              <a:ext uri="{FF2B5EF4-FFF2-40B4-BE49-F238E27FC236}">
                <a16:creationId xmlns:a16="http://schemas.microsoft.com/office/drawing/2014/main" id="{E62307E9-4B6C-4CF6-8AF2-6897272C7BC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4213649">
            <a:off x="4033074" y="1564489"/>
            <a:ext cx="628297" cy="628297"/>
          </a:xfrm>
          <a:prstGeom prst="rect">
            <a:avLst/>
          </a:prstGeom>
        </p:spPr>
      </p:pic>
      <p:cxnSp>
        <p:nvCxnSpPr>
          <p:cNvPr id="52" name="Conector de Seta Reta 51">
            <a:extLst>
              <a:ext uri="{FF2B5EF4-FFF2-40B4-BE49-F238E27FC236}">
                <a16:creationId xmlns:a16="http://schemas.microsoft.com/office/drawing/2014/main" id="{383BACEF-6B2B-4642-85C2-7F40C5AD00E6}"/>
              </a:ext>
            </a:extLst>
          </p:cNvPr>
          <p:cNvCxnSpPr>
            <a:cxnSpLocks/>
            <a:stCxn id="23" idx="0"/>
            <a:endCxn id="70" idx="2"/>
          </p:cNvCxnSpPr>
          <p:nvPr/>
        </p:nvCxnSpPr>
        <p:spPr>
          <a:xfrm flipV="1">
            <a:off x="3857282" y="2070801"/>
            <a:ext cx="55207" cy="1777499"/>
          </a:xfrm>
          <a:prstGeom prst="straightConnector1">
            <a:avLst/>
          </a:prstGeom>
          <a:noFill/>
          <a:ln w="50800">
            <a:solidFill>
              <a:srgbClr val="CC3399"/>
            </a:solidFill>
            <a:tailEnd type="triangle"/>
          </a:ln>
        </p:spPr>
        <p:style>
          <a:lnRef idx="2">
            <a:schemeClr val="accent1">
              <a:shade val="50000"/>
            </a:schemeClr>
          </a:lnRef>
          <a:fillRef idx="1">
            <a:schemeClr val="accent1"/>
          </a:fillRef>
          <a:effectRef idx="0">
            <a:schemeClr val="accent1"/>
          </a:effectRef>
          <a:fontRef idx="minor">
            <a:schemeClr val="lt1"/>
          </a:fontRef>
        </p:style>
      </p:cxnSp>
      <p:pic>
        <p:nvPicPr>
          <p:cNvPr id="76" name="Gráfico 75" descr="Nuvem">
            <a:extLst>
              <a:ext uri="{FF2B5EF4-FFF2-40B4-BE49-F238E27FC236}">
                <a16:creationId xmlns:a16="http://schemas.microsoft.com/office/drawing/2014/main" id="{875EF727-588C-4459-BF49-1107D5C1C88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138554" y="1129415"/>
            <a:ext cx="5275100" cy="1968991"/>
          </a:xfrm>
          <a:prstGeom prst="rect">
            <a:avLst/>
          </a:prstGeom>
        </p:spPr>
      </p:pic>
      <p:sp>
        <p:nvSpPr>
          <p:cNvPr id="77" name="CaixaDeTexto 76">
            <a:extLst>
              <a:ext uri="{FF2B5EF4-FFF2-40B4-BE49-F238E27FC236}">
                <a16:creationId xmlns:a16="http://schemas.microsoft.com/office/drawing/2014/main" id="{6FDF76B2-D8B4-4321-AFA6-A12EB08104D4}"/>
              </a:ext>
            </a:extLst>
          </p:cNvPr>
          <p:cNvSpPr txBox="1"/>
          <p:nvPr/>
        </p:nvSpPr>
        <p:spPr>
          <a:xfrm>
            <a:off x="8656759" y="2231828"/>
            <a:ext cx="2895786" cy="307777"/>
          </a:xfrm>
          <a:prstGeom prst="rect">
            <a:avLst/>
          </a:prstGeom>
          <a:ln w="47625">
            <a:no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sz="1400" dirty="0"/>
              <a:t>Azure </a:t>
            </a:r>
            <a:r>
              <a:rPr lang="pt-BR" sz="1400" dirty="0" err="1"/>
              <a:t>Migrate</a:t>
            </a:r>
            <a:r>
              <a:rPr lang="pt-BR" sz="1400" dirty="0"/>
              <a:t> Portal</a:t>
            </a:r>
          </a:p>
        </p:txBody>
      </p:sp>
      <p:pic>
        <p:nvPicPr>
          <p:cNvPr id="79" name="Gráfico 78" descr="Dinheiro">
            <a:extLst>
              <a:ext uri="{FF2B5EF4-FFF2-40B4-BE49-F238E27FC236}">
                <a16:creationId xmlns:a16="http://schemas.microsoft.com/office/drawing/2014/main" id="{72FAE50D-930A-4471-B782-275FCDAC066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250525" y="1670252"/>
            <a:ext cx="539837" cy="539837"/>
          </a:xfrm>
          <a:prstGeom prst="rect">
            <a:avLst/>
          </a:prstGeom>
        </p:spPr>
      </p:pic>
      <p:pic>
        <p:nvPicPr>
          <p:cNvPr id="81" name="Gráfico 80" descr="Gráfico de barras">
            <a:extLst>
              <a:ext uri="{FF2B5EF4-FFF2-40B4-BE49-F238E27FC236}">
                <a16:creationId xmlns:a16="http://schemas.microsoft.com/office/drawing/2014/main" id="{AF482AD9-4B13-42CC-9B57-18425D0E733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652761" y="2018989"/>
            <a:ext cx="597764" cy="597764"/>
          </a:xfrm>
          <a:prstGeom prst="rect">
            <a:avLst/>
          </a:prstGeom>
        </p:spPr>
      </p:pic>
      <p:pic>
        <p:nvPicPr>
          <p:cNvPr id="83" name="Gráfico 82" descr="Lista de verificação DPE">
            <a:extLst>
              <a:ext uri="{FF2B5EF4-FFF2-40B4-BE49-F238E27FC236}">
                <a16:creationId xmlns:a16="http://schemas.microsoft.com/office/drawing/2014/main" id="{E1B90849-3823-46ED-B5CF-E0577C5B211D}"/>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793975" y="2022799"/>
            <a:ext cx="525944" cy="525944"/>
          </a:xfrm>
          <a:prstGeom prst="rect">
            <a:avLst/>
          </a:prstGeom>
        </p:spPr>
      </p:pic>
      <p:cxnSp>
        <p:nvCxnSpPr>
          <p:cNvPr id="84" name="Conector de Seta Reta 83">
            <a:extLst>
              <a:ext uri="{FF2B5EF4-FFF2-40B4-BE49-F238E27FC236}">
                <a16:creationId xmlns:a16="http://schemas.microsoft.com/office/drawing/2014/main" id="{67F31945-6208-48D2-8D4B-838269BB773A}"/>
              </a:ext>
            </a:extLst>
          </p:cNvPr>
          <p:cNvCxnSpPr>
            <a:cxnSpLocks/>
            <a:stCxn id="71" idx="2"/>
          </p:cNvCxnSpPr>
          <p:nvPr/>
        </p:nvCxnSpPr>
        <p:spPr>
          <a:xfrm>
            <a:off x="4610373" y="1707053"/>
            <a:ext cx="2676497" cy="400354"/>
          </a:xfrm>
          <a:prstGeom prst="straightConnector1">
            <a:avLst/>
          </a:prstGeom>
          <a:noFill/>
          <a:ln w="50800">
            <a:solidFill>
              <a:srgbClr val="CC3399"/>
            </a:solidFill>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87" name="CaixaDeTexto 86">
            <a:extLst>
              <a:ext uri="{FF2B5EF4-FFF2-40B4-BE49-F238E27FC236}">
                <a16:creationId xmlns:a16="http://schemas.microsoft.com/office/drawing/2014/main" id="{F1705746-0FB0-4EAC-AC87-40995B342EC8}"/>
              </a:ext>
            </a:extLst>
          </p:cNvPr>
          <p:cNvSpPr txBox="1"/>
          <p:nvPr/>
        </p:nvSpPr>
        <p:spPr>
          <a:xfrm>
            <a:off x="5038169" y="5467089"/>
            <a:ext cx="2200770" cy="923330"/>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Descobre computadores locais automaticamente.</a:t>
            </a:r>
          </a:p>
        </p:txBody>
      </p:sp>
      <p:cxnSp>
        <p:nvCxnSpPr>
          <p:cNvPr id="89" name="Conector de Seta Reta 88">
            <a:extLst>
              <a:ext uri="{FF2B5EF4-FFF2-40B4-BE49-F238E27FC236}">
                <a16:creationId xmlns:a16="http://schemas.microsoft.com/office/drawing/2014/main" id="{DCE8683D-4FE2-4A14-84C9-129F8D0A1A73}"/>
              </a:ext>
            </a:extLst>
          </p:cNvPr>
          <p:cNvCxnSpPr>
            <a:cxnSpLocks/>
            <a:stCxn id="37" idx="2"/>
            <a:endCxn id="26" idx="0"/>
          </p:cNvCxnSpPr>
          <p:nvPr/>
        </p:nvCxnSpPr>
        <p:spPr>
          <a:xfrm flipH="1">
            <a:off x="2804000" y="4812059"/>
            <a:ext cx="970145" cy="584253"/>
          </a:xfrm>
          <a:prstGeom prst="straightConnector1">
            <a:avLst/>
          </a:prstGeom>
          <a:noFill/>
          <a:ln w="50800">
            <a:solidFill>
              <a:srgbClr val="CC3399"/>
            </a:solidFill>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92" name="Conector de Seta Reta 91">
            <a:extLst>
              <a:ext uri="{FF2B5EF4-FFF2-40B4-BE49-F238E27FC236}">
                <a16:creationId xmlns:a16="http://schemas.microsoft.com/office/drawing/2014/main" id="{7CA8344C-953A-454B-9DF5-B045E44A9C06}"/>
              </a:ext>
            </a:extLst>
          </p:cNvPr>
          <p:cNvCxnSpPr>
            <a:cxnSpLocks/>
            <a:stCxn id="37" idx="2"/>
            <a:endCxn id="25" idx="3"/>
          </p:cNvCxnSpPr>
          <p:nvPr/>
        </p:nvCxnSpPr>
        <p:spPr>
          <a:xfrm flipH="1">
            <a:off x="2436810" y="4812059"/>
            <a:ext cx="1337335" cy="575560"/>
          </a:xfrm>
          <a:prstGeom prst="straightConnector1">
            <a:avLst/>
          </a:prstGeom>
          <a:noFill/>
          <a:ln w="50800">
            <a:solidFill>
              <a:srgbClr val="CC3399"/>
            </a:solidFill>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95" name="Conector de Seta Reta 94">
            <a:extLst>
              <a:ext uri="{FF2B5EF4-FFF2-40B4-BE49-F238E27FC236}">
                <a16:creationId xmlns:a16="http://schemas.microsoft.com/office/drawing/2014/main" id="{A43E54C9-9B89-4905-A691-D87F3BFAE550}"/>
              </a:ext>
            </a:extLst>
          </p:cNvPr>
          <p:cNvCxnSpPr>
            <a:cxnSpLocks/>
            <a:stCxn id="37" idx="2"/>
            <a:endCxn id="32" idx="0"/>
          </p:cNvCxnSpPr>
          <p:nvPr/>
        </p:nvCxnSpPr>
        <p:spPr>
          <a:xfrm>
            <a:off x="3774145" y="4812059"/>
            <a:ext cx="63110" cy="891649"/>
          </a:xfrm>
          <a:prstGeom prst="straightConnector1">
            <a:avLst/>
          </a:prstGeom>
          <a:noFill/>
          <a:ln w="50800">
            <a:solidFill>
              <a:srgbClr val="CC3399"/>
            </a:solidFill>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98" name="Conector de Seta Reta 97">
            <a:extLst>
              <a:ext uri="{FF2B5EF4-FFF2-40B4-BE49-F238E27FC236}">
                <a16:creationId xmlns:a16="http://schemas.microsoft.com/office/drawing/2014/main" id="{608F6A6E-9258-4FF7-81E7-483BBA0CF6F4}"/>
              </a:ext>
            </a:extLst>
          </p:cNvPr>
          <p:cNvCxnSpPr>
            <a:cxnSpLocks/>
            <a:stCxn id="37" idx="2"/>
            <a:endCxn id="33" idx="3"/>
          </p:cNvCxnSpPr>
          <p:nvPr/>
        </p:nvCxnSpPr>
        <p:spPr>
          <a:xfrm flipH="1">
            <a:off x="2782282" y="4812059"/>
            <a:ext cx="991863" cy="1440599"/>
          </a:xfrm>
          <a:prstGeom prst="straightConnector1">
            <a:avLst/>
          </a:prstGeom>
          <a:noFill/>
          <a:ln w="50800">
            <a:solidFill>
              <a:srgbClr val="CC3399"/>
            </a:solidFill>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01" name="Conector de Seta Reta 100">
            <a:extLst>
              <a:ext uri="{FF2B5EF4-FFF2-40B4-BE49-F238E27FC236}">
                <a16:creationId xmlns:a16="http://schemas.microsoft.com/office/drawing/2014/main" id="{A563E2EE-CD26-4B5B-B08B-9D761328BBEC}"/>
              </a:ext>
            </a:extLst>
          </p:cNvPr>
          <p:cNvCxnSpPr>
            <a:cxnSpLocks/>
            <a:stCxn id="43" idx="2"/>
            <a:endCxn id="87" idx="0"/>
          </p:cNvCxnSpPr>
          <p:nvPr/>
        </p:nvCxnSpPr>
        <p:spPr>
          <a:xfrm flipH="1">
            <a:off x="6138554" y="4650002"/>
            <a:ext cx="10028" cy="817087"/>
          </a:xfrm>
          <a:prstGeom prst="straightConnector1">
            <a:avLst/>
          </a:prstGeom>
          <a:noFill/>
          <a:ln w="50800">
            <a:solidFill>
              <a:srgbClr val="CC3399"/>
            </a:solidFill>
            <a:tailEnd type="none"/>
          </a:ln>
        </p:spPr>
        <p:style>
          <a:lnRef idx="2">
            <a:schemeClr val="accent1">
              <a:shade val="50000"/>
            </a:schemeClr>
          </a:lnRef>
          <a:fillRef idx="1">
            <a:schemeClr val="accent1"/>
          </a:fillRef>
          <a:effectRef idx="0">
            <a:schemeClr val="accent1"/>
          </a:effectRef>
          <a:fontRef idx="minor">
            <a:schemeClr val="lt1"/>
          </a:fontRef>
        </p:style>
      </p:cxnSp>
      <p:sp>
        <p:nvSpPr>
          <p:cNvPr id="109" name="CaixaDeTexto 108">
            <a:extLst>
              <a:ext uri="{FF2B5EF4-FFF2-40B4-BE49-F238E27FC236}">
                <a16:creationId xmlns:a16="http://schemas.microsoft.com/office/drawing/2014/main" id="{09FF0BC1-E96B-46F4-BCE2-C611A0DCF483}"/>
              </a:ext>
            </a:extLst>
          </p:cNvPr>
          <p:cNvSpPr txBox="1"/>
          <p:nvPr/>
        </p:nvSpPr>
        <p:spPr>
          <a:xfrm>
            <a:off x="208749" y="2302622"/>
            <a:ext cx="3242299" cy="584775"/>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pt-BR" sz="1600" dirty="0"/>
              <a:t>Metadados de computadores e dados relacionados a desempenho</a:t>
            </a:r>
          </a:p>
        </p:txBody>
      </p:sp>
      <p:cxnSp>
        <p:nvCxnSpPr>
          <p:cNvPr id="119" name="Conector de Seta Reta 118">
            <a:extLst>
              <a:ext uri="{FF2B5EF4-FFF2-40B4-BE49-F238E27FC236}">
                <a16:creationId xmlns:a16="http://schemas.microsoft.com/office/drawing/2014/main" id="{2AC533AD-F1C9-46C4-BB04-CB452EED53B8}"/>
              </a:ext>
            </a:extLst>
          </p:cNvPr>
          <p:cNvCxnSpPr>
            <a:cxnSpLocks/>
            <a:stCxn id="109" idx="3"/>
          </p:cNvCxnSpPr>
          <p:nvPr/>
        </p:nvCxnSpPr>
        <p:spPr>
          <a:xfrm>
            <a:off x="3451048" y="2595010"/>
            <a:ext cx="406233" cy="5872"/>
          </a:xfrm>
          <a:prstGeom prst="straightConnector1">
            <a:avLst/>
          </a:prstGeom>
          <a:noFill/>
          <a:ln w="50800">
            <a:solidFill>
              <a:srgbClr val="CC3399"/>
            </a:solidFill>
            <a:tailEnd type="none"/>
          </a:ln>
        </p:spPr>
        <p:style>
          <a:lnRef idx="2">
            <a:schemeClr val="accent1">
              <a:shade val="50000"/>
            </a:schemeClr>
          </a:lnRef>
          <a:fillRef idx="1">
            <a:schemeClr val="accent1"/>
          </a:fillRef>
          <a:effectRef idx="0">
            <a:schemeClr val="accent1"/>
          </a:effectRef>
          <a:fontRef idx="minor">
            <a:schemeClr val="lt1"/>
          </a:fontRef>
        </p:style>
      </p:cxnSp>
      <p:sp>
        <p:nvSpPr>
          <p:cNvPr id="132" name="CaixaDeTexto 131">
            <a:extLst>
              <a:ext uri="{FF2B5EF4-FFF2-40B4-BE49-F238E27FC236}">
                <a16:creationId xmlns:a16="http://schemas.microsoft.com/office/drawing/2014/main" id="{902600F4-D1A0-4F74-98C2-234C1B617292}"/>
              </a:ext>
            </a:extLst>
          </p:cNvPr>
          <p:cNvSpPr txBox="1"/>
          <p:nvPr/>
        </p:nvSpPr>
        <p:spPr>
          <a:xfrm>
            <a:off x="7956562" y="4842826"/>
            <a:ext cx="2200770" cy="1477328"/>
          </a:xfrm>
          <a:prstGeom prst="rect">
            <a:avLst/>
          </a:prstGeom>
          <a:ln w="47625">
            <a:solidFill>
              <a:srgbClr val="CC3399"/>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pt-BR" dirty="0"/>
              <a:t>Permite a criação de grupos e avaliação em grupos estratégicos para migração</a:t>
            </a:r>
          </a:p>
        </p:txBody>
      </p:sp>
      <p:cxnSp>
        <p:nvCxnSpPr>
          <p:cNvPr id="135" name="Conector de Seta Reta 134">
            <a:extLst>
              <a:ext uri="{FF2B5EF4-FFF2-40B4-BE49-F238E27FC236}">
                <a16:creationId xmlns:a16="http://schemas.microsoft.com/office/drawing/2014/main" id="{D15EBBDC-F096-4439-9836-9766EACAC170}"/>
              </a:ext>
            </a:extLst>
          </p:cNvPr>
          <p:cNvCxnSpPr>
            <a:cxnSpLocks/>
            <a:stCxn id="43" idx="3"/>
            <a:endCxn id="132" idx="1"/>
          </p:cNvCxnSpPr>
          <p:nvPr/>
        </p:nvCxnSpPr>
        <p:spPr>
          <a:xfrm>
            <a:off x="7248967" y="3911338"/>
            <a:ext cx="707595" cy="1670152"/>
          </a:xfrm>
          <a:prstGeom prst="straightConnector1">
            <a:avLst/>
          </a:prstGeom>
          <a:noFill/>
          <a:ln w="50800">
            <a:solidFill>
              <a:srgbClr val="CC3399"/>
            </a:solidFill>
            <a:tailEnd type="none"/>
          </a:ln>
        </p:spPr>
        <p:style>
          <a:lnRef idx="2">
            <a:schemeClr val="accent1">
              <a:shade val="50000"/>
            </a:schemeClr>
          </a:lnRef>
          <a:fillRef idx="1">
            <a:schemeClr val="accent1"/>
          </a:fillRef>
          <a:effectRef idx="0">
            <a:schemeClr val="accent1"/>
          </a:effectRef>
          <a:fontRef idx="minor">
            <a:schemeClr val="lt1"/>
          </a:fontRef>
        </p:style>
      </p:cxnSp>
      <p:cxnSp>
        <p:nvCxnSpPr>
          <p:cNvPr id="139" name="Conector de Seta Reta 138">
            <a:extLst>
              <a:ext uri="{FF2B5EF4-FFF2-40B4-BE49-F238E27FC236}">
                <a16:creationId xmlns:a16="http://schemas.microsoft.com/office/drawing/2014/main" id="{B37D3744-B0A0-452D-A966-AF2F7476673C}"/>
              </a:ext>
            </a:extLst>
          </p:cNvPr>
          <p:cNvCxnSpPr>
            <a:cxnSpLocks/>
            <a:stCxn id="132" idx="0"/>
            <a:endCxn id="29" idx="2"/>
          </p:cNvCxnSpPr>
          <p:nvPr/>
        </p:nvCxnSpPr>
        <p:spPr>
          <a:xfrm flipV="1">
            <a:off x="9056947" y="4424154"/>
            <a:ext cx="0" cy="418672"/>
          </a:xfrm>
          <a:prstGeom prst="straightConnector1">
            <a:avLst/>
          </a:prstGeom>
          <a:noFill/>
          <a:ln w="50800">
            <a:solidFill>
              <a:srgbClr val="CC3399"/>
            </a:solidFill>
            <a:tailEnd type="none"/>
          </a:ln>
        </p:spPr>
        <p:style>
          <a:lnRef idx="2">
            <a:schemeClr val="accent1">
              <a:shade val="50000"/>
            </a:schemeClr>
          </a:lnRef>
          <a:fillRef idx="1">
            <a:schemeClr val="accent1"/>
          </a:fillRef>
          <a:effectRef idx="0">
            <a:schemeClr val="accent1"/>
          </a:effectRef>
          <a:fontRef idx="minor">
            <a:schemeClr val="lt1"/>
          </a:fontRef>
        </p:style>
      </p:cxnSp>
      <p:cxnSp>
        <p:nvCxnSpPr>
          <p:cNvPr id="144" name="Conector de Seta Reta 143">
            <a:extLst>
              <a:ext uri="{FF2B5EF4-FFF2-40B4-BE49-F238E27FC236}">
                <a16:creationId xmlns:a16="http://schemas.microsoft.com/office/drawing/2014/main" id="{352F6486-B4D3-4CD5-9D39-F1F8F8539873}"/>
              </a:ext>
            </a:extLst>
          </p:cNvPr>
          <p:cNvCxnSpPr>
            <a:cxnSpLocks/>
            <a:stCxn id="29" idx="0"/>
            <a:endCxn id="83" idx="2"/>
          </p:cNvCxnSpPr>
          <p:nvPr/>
        </p:nvCxnSpPr>
        <p:spPr>
          <a:xfrm flipV="1">
            <a:off x="9056947" y="2548743"/>
            <a:ext cx="0" cy="865193"/>
          </a:xfrm>
          <a:prstGeom prst="straightConnector1">
            <a:avLst/>
          </a:prstGeom>
          <a:noFill/>
          <a:ln w="50800">
            <a:solidFill>
              <a:srgbClr val="CC3399"/>
            </a:solidFill>
            <a:tailEnd type="triangle"/>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88792960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D77524-E852-45B8-B5B4-1E485EF9B085}"/>
              </a:ext>
            </a:extLst>
          </p:cNvPr>
          <p:cNvSpPr>
            <a:spLocks noGrp="1"/>
          </p:cNvSpPr>
          <p:nvPr>
            <p:ph type="title"/>
          </p:nvPr>
        </p:nvSpPr>
        <p:spPr/>
        <p:txBody>
          <a:bodyPr/>
          <a:lstStyle/>
          <a:p>
            <a:r>
              <a:rPr lang="pt-BR" dirty="0"/>
              <a:t>Azure Site Recovery</a:t>
            </a:r>
          </a:p>
        </p:txBody>
      </p:sp>
      <p:sp>
        <p:nvSpPr>
          <p:cNvPr id="3" name="Espaço Reservado para Conteúdo 2">
            <a:extLst>
              <a:ext uri="{FF2B5EF4-FFF2-40B4-BE49-F238E27FC236}">
                <a16:creationId xmlns:a16="http://schemas.microsoft.com/office/drawing/2014/main" id="{90EDD4A7-057E-4F8E-822E-FA095E6E31BD}"/>
              </a:ext>
            </a:extLst>
          </p:cNvPr>
          <p:cNvSpPr>
            <a:spLocks noGrp="1"/>
          </p:cNvSpPr>
          <p:nvPr>
            <p:ph idx="1"/>
          </p:nvPr>
        </p:nvSpPr>
        <p:spPr/>
        <p:txBody>
          <a:bodyPr>
            <a:normAutofit fontScale="92500" lnSpcReduction="20000"/>
          </a:bodyPr>
          <a:lstStyle/>
          <a:p>
            <a:r>
              <a:rPr lang="pt-BR" dirty="0"/>
              <a:t>BCDR - continuidade de negócios e recuperação de desastre.</a:t>
            </a:r>
          </a:p>
          <a:p>
            <a:r>
              <a:rPr lang="pt-BR" dirty="0"/>
              <a:t>Site Recovery garante continuidade nos negócios mantendo os aplicativos de negócios e as cargas de trabalho em execução.</a:t>
            </a:r>
          </a:p>
          <a:p>
            <a:r>
              <a:rPr lang="pt-BR" dirty="0"/>
              <a:t>O Site Recovery replica as cargas de trabalho em execução em máquinas físicas e virtuais.</a:t>
            </a:r>
          </a:p>
          <a:p>
            <a:r>
              <a:rPr lang="pt-BR" dirty="0"/>
              <a:t>Permite </a:t>
            </a:r>
            <a:r>
              <a:rPr lang="pt-BR" dirty="0" err="1"/>
              <a:t>failover</a:t>
            </a:r>
            <a:r>
              <a:rPr lang="pt-BR" dirty="0"/>
              <a:t> do site primário para o secundário. </a:t>
            </a:r>
          </a:p>
          <a:p>
            <a:r>
              <a:rPr lang="pt-BR" dirty="0"/>
              <a:t>Permite </a:t>
            </a:r>
            <a:r>
              <a:rPr lang="pt-BR" dirty="0" err="1"/>
              <a:t>failback</a:t>
            </a:r>
            <a:r>
              <a:rPr lang="pt-BR" dirty="0"/>
              <a:t>.</a:t>
            </a:r>
          </a:p>
          <a:p>
            <a:r>
              <a:rPr lang="pt-BR" dirty="0"/>
              <a:t>Gerencia replicação para:</a:t>
            </a:r>
          </a:p>
          <a:p>
            <a:pPr lvl="1"/>
            <a:r>
              <a:rPr lang="pt-BR" dirty="0" err="1"/>
              <a:t>VMs</a:t>
            </a:r>
            <a:r>
              <a:rPr lang="pt-BR" dirty="0"/>
              <a:t> do Azure que replicam entre regiões do Azure.</a:t>
            </a:r>
          </a:p>
          <a:p>
            <a:pPr lvl="1"/>
            <a:r>
              <a:rPr lang="pt-BR" dirty="0" err="1"/>
              <a:t>VMs</a:t>
            </a:r>
            <a:r>
              <a:rPr lang="pt-BR" dirty="0"/>
              <a:t> locais, </a:t>
            </a:r>
            <a:r>
              <a:rPr lang="pt-BR" dirty="0" err="1"/>
              <a:t>VMs</a:t>
            </a:r>
            <a:r>
              <a:rPr lang="pt-BR" dirty="0"/>
              <a:t> do Azure </a:t>
            </a:r>
            <a:r>
              <a:rPr lang="pt-BR" dirty="0" err="1"/>
              <a:t>Stack</a:t>
            </a:r>
            <a:r>
              <a:rPr lang="pt-BR" dirty="0"/>
              <a:t> e servidores físicos.</a:t>
            </a:r>
          </a:p>
          <a:p>
            <a:r>
              <a:rPr lang="pt-BR" dirty="0"/>
              <a:t>Backup do Azure mantém seus dados seguros e recuperáveis.</a:t>
            </a:r>
          </a:p>
          <a:p>
            <a:endParaRPr lang="pt-BR" dirty="0"/>
          </a:p>
        </p:txBody>
      </p:sp>
    </p:spTree>
    <p:extLst>
      <p:ext uri="{BB962C8B-B14F-4D97-AF65-F5344CB8AC3E}">
        <p14:creationId xmlns:p14="http://schemas.microsoft.com/office/powerpoint/2010/main" val="56291559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tângulo 36">
            <a:extLst>
              <a:ext uri="{FF2B5EF4-FFF2-40B4-BE49-F238E27FC236}">
                <a16:creationId xmlns:a16="http://schemas.microsoft.com/office/drawing/2014/main" id="{73258759-5149-4461-AD30-ECCDD76D41E4}"/>
              </a:ext>
            </a:extLst>
          </p:cNvPr>
          <p:cNvSpPr/>
          <p:nvPr/>
        </p:nvSpPr>
        <p:spPr>
          <a:xfrm>
            <a:off x="8365208" y="1690688"/>
            <a:ext cx="2458721" cy="1972387"/>
          </a:xfrm>
          <a:prstGeom prst="rect">
            <a:avLst/>
          </a:prstGeom>
          <a:solidFill>
            <a:srgbClr val="B4C7E7"/>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dirty="0">
                <a:solidFill>
                  <a:schemeClr val="tx1"/>
                </a:solidFill>
              </a:rPr>
              <a:t>Imagem VM</a:t>
            </a:r>
          </a:p>
          <a:p>
            <a:pPr algn="ctr"/>
            <a:r>
              <a:rPr lang="pt-BR" dirty="0">
                <a:solidFill>
                  <a:schemeClr val="tx1"/>
                </a:solidFill>
              </a:rPr>
              <a:t>Customizada</a:t>
            </a:r>
          </a:p>
        </p:txBody>
      </p:sp>
      <p:sp>
        <p:nvSpPr>
          <p:cNvPr id="2" name="Título 1">
            <a:extLst>
              <a:ext uri="{FF2B5EF4-FFF2-40B4-BE49-F238E27FC236}">
                <a16:creationId xmlns:a16="http://schemas.microsoft.com/office/drawing/2014/main" id="{E08408C8-8CDF-4DDC-A821-7DC72FFE1D0C}"/>
              </a:ext>
            </a:extLst>
          </p:cNvPr>
          <p:cNvSpPr>
            <a:spLocks noGrp="1"/>
          </p:cNvSpPr>
          <p:nvPr>
            <p:ph type="title"/>
          </p:nvPr>
        </p:nvSpPr>
        <p:spPr/>
        <p:txBody>
          <a:bodyPr/>
          <a:lstStyle/>
          <a:p>
            <a:r>
              <a:rPr lang="pt-BR" dirty="0" err="1"/>
              <a:t>Custom</a:t>
            </a:r>
            <a:r>
              <a:rPr lang="pt-BR" dirty="0"/>
              <a:t> </a:t>
            </a:r>
            <a:r>
              <a:rPr lang="pt-BR" dirty="0" err="1"/>
              <a:t>Images</a:t>
            </a:r>
            <a:endParaRPr lang="pt-BR" dirty="0"/>
          </a:p>
        </p:txBody>
      </p:sp>
      <p:pic>
        <p:nvPicPr>
          <p:cNvPr id="4" name="Imagem 3">
            <a:extLst>
              <a:ext uri="{FF2B5EF4-FFF2-40B4-BE49-F238E27FC236}">
                <a16:creationId xmlns:a16="http://schemas.microsoft.com/office/drawing/2014/main" id="{812A49C7-9CA1-4C41-A50C-201A689717B7}"/>
              </a:ext>
            </a:extLst>
          </p:cNvPr>
          <p:cNvPicPr>
            <a:picLocks noChangeAspect="1"/>
          </p:cNvPicPr>
          <p:nvPr/>
        </p:nvPicPr>
        <p:blipFill>
          <a:blip r:embed="rId2"/>
          <a:stretch>
            <a:fillRect/>
          </a:stretch>
        </p:blipFill>
        <p:spPr>
          <a:xfrm>
            <a:off x="1310653" y="2570480"/>
            <a:ext cx="1429432" cy="1166417"/>
          </a:xfrm>
          <a:prstGeom prst="rect">
            <a:avLst/>
          </a:prstGeom>
          <a:ln>
            <a:noFill/>
          </a:ln>
        </p:spPr>
      </p:pic>
      <p:cxnSp>
        <p:nvCxnSpPr>
          <p:cNvPr id="5" name="Conector de Seta Reta 4">
            <a:extLst>
              <a:ext uri="{FF2B5EF4-FFF2-40B4-BE49-F238E27FC236}">
                <a16:creationId xmlns:a16="http://schemas.microsoft.com/office/drawing/2014/main" id="{9D858FBE-3085-4FA5-A5A2-B8FDAE1D65B3}"/>
              </a:ext>
            </a:extLst>
          </p:cNvPr>
          <p:cNvCxnSpPr>
            <a:cxnSpLocks/>
            <a:stCxn id="7" idx="2"/>
            <a:endCxn id="6" idx="0"/>
          </p:cNvCxnSpPr>
          <p:nvPr/>
        </p:nvCxnSpPr>
        <p:spPr>
          <a:xfrm>
            <a:off x="3984846" y="1875354"/>
            <a:ext cx="0" cy="609900"/>
          </a:xfrm>
          <a:prstGeom prst="straightConnector1">
            <a:avLst/>
          </a:prstGeom>
          <a:ln w="47625">
            <a:solidFill>
              <a:srgbClr val="3865B6"/>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6" name="Gráfico 5" descr="Monitorar">
            <a:extLst>
              <a:ext uri="{FF2B5EF4-FFF2-40B4-BE49-F238E27FC236}">
                <a16:creationId xmlns:a16="http://schemas.microsoft.com/office/drawing/2014/main" id="{982BE14A-451E-49DE-AD26-005DB6986B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16412" y="2485254"/>
            <a:ext cx="1336868" cy="1336868"/>
          </a:xfrm>
          <a:prstGeom prst="rect">
            <a:avLst/>
          </a:prstGeom>
        </p:spPr>
      </p:pic>
      <p:sp>
        <p:nvSpPr>
          <p:cNvPr id="7" name="CaixaDeTexto 6">
            <a:extLst>
              <a:ext uri="{FF2B5EF4-FFF2-40B4-BE49-F238E27FC236}">
                <a16:creationId xmlns:a16="http://schemas.microsoft.com/office/drawing/2014/main" id="{0B419417-958F-4B3D-AD28-68B5A6E59656}"/>
              </a:ext>
            </a:extLst>
          </p:cNvPr>
          <p:cNvSpPr txBox="1"/>
          <p:nvPr/>
        </p:nvSpPr>
        <p:spPr>
          <a:xfrm>
            <a:off x="2884461" y="1506022"/>
            <a:ext cx="2200770" cy="369332"/>
          </a:xfrm>
          <a:prstGeom prst="rect">
            <a:avLst/>
          </a:prstGeom>
          <a:ln w="47625">
            <a:solidFill>
              <a:srgbClr val="3865B6"/>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a:t>VM Customizada</a:t>
            </a:r>
          </a:p>
        </p:txBody>
      </p:sp>
      <p:pic>
        <p:nvPicPr>
          <p:cNvPr id="11" name="Gráfico 10" descr="Engrenagens">
            <a:extLst>
              <a:ext uri="{FF2B5EF4-FFF2-40B4-BE49-F238E27FC236}">
                <a16:creationId xmlns:a16="http://schemas.microsoft.com/office/drawing/2014/main" id="{AFED3E5C-B0E2-49BF-96A1-2393F1027B4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7687" y="2728086"/>
            <a:ext cx="576329" cy="576329"/>
          </a:xfrm>
          <a:prstGeom prst="rect">
            <a:avLst/>
          </a:prstGeom>
        </p:spPr>
      </p:pic>
      <p:cxnSp>
        <p:nvCxnSpPr>
          <p:cNvPr id="18" name="Conector de Seta Reta 17">
            <a:extLst>
              <a:ext uri="{FF2B5EF4-FFF2-40B4-BE49-F238E27FC236}">
                <a16:creationId xmlns:a16="http://schemas.microsoft.com/office/drawing/2014/main" id="{A2943CDF-97FC-4A78-AAA5-B23B66EBFB80}"/>
              </a:ext>
            </a:extLst>
          </p:cNvPr>
          <p:cNvCxnSpPr>
            <a:cxnSpLocks/>
            <a:stCxn id="4" idx="3"/>
            <a:endCxn id="6" idx="1"/>
          </p:cNvCxnSpPr>
          <p:nvPr/>
        </p:nvCxnSpPr>
        <p:spPr>
          <a:xfrm flipV="1">
            <a:off x="2740085" y="3153688"/>
            <a:ext cx="576327" cy="1"/>
          </a:xfrm>
          <a:prstGeom prst="straightConnector1">
            <a:avLst/>
          </a:prstGeom>
          <a:ln w="47625">
            <a:solidFill>
              <a:srgbClr val="3865B6"/>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7" name="Conector de Seta Reta 26">
            <a:extLst>
              <a:ext uri="{FF2B5EF4-FFF2-40B4-BE49-F238E27FC236}">
                <a16:creationId xmlns:a16="http://schemas.microsoft.com/office/drawing/2014/main" id="{2E982188-986F-490A-835F-CE96945A9FC6}"/>
              </a:ext>
            </a:extLst>
          </p:cNvPr>
          <p:cNvCxnSpPr>
            <a:cxnSpLocks/>
            <a:stCxn id="6" idx="3"/>
          </p:cNvCxnSpPr>
          <p:nvPr/>
        </p:nvCxnSpPr>
        <p:spPr>
          <a:xfrm>
            <a:off x="4653280" y="3153688"/>
            <a:ext cx="833120" cy="275312"/>
          </a:xfrm>
          <a:prstGeom prst="straightConnector1">
            <a:avLst/>
          </a:prstGeom>
          <a:ln w="47625">
            <a:solidFill>
              <a:srgbClr val="3865B6"/>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Conector de Seta Reta 29">
            <a:extLst>
              <a:ext uri="{FF2B5EF4-FFF2-40B4-BE49-F238E27FC236}">
                <a16:creationId xmlns:a16="http://schemas.microsoft.com/office/drawing/2014/main" id="{1505C67D-F731-42A6-B446-7AC3A841CCFB}"/>
              </a:ext>
            </a:extLst>
          </p:cNvPr>
          <p:cNvCxnSpPr>
            <a:cxnSpLocks/>
            <a:stCxn id="6" idx="3"/>
          </p:cNvCxnSpPr>
          <p:nvPr/>
        </p:nvCxnSpPr>
        <p:spPr>
          <a:xfrm flipV="1">
            <a:off x="4653280" y="2831585"/>
            <a:ext cx="833120" cy="322103"/>
          </a:xfrm>
          <a:prstGeom prst="straightConnector1">
            <a:avLst/>
          </a:prstGeom>
          <a:ln w="47625">
            <a:solidFill>
              <a:srgbClr val="3865B6"/>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4" name="CaixaDeTexto 33">
            <a:extLst>
              <a:ext uri="{FF2B5EF4-FFF2-40B4-BE49-F238E27FC236}">
                <a16:creationId xmlns:a16="http://schemas.microsoft.com/office/drawing/2014/main" id="{B4F9B8BF-0DAB-421C-8063-9F126E4A3D01}"/>
              </a:ext>
            </a:extLst>
          </p:cNvPr>
          <p:cNvSpPr txBox="1"/>
          <p:nvPr/>
        </p:nvSpPr>
        <p:spPr>
          <a:xfrm>
            <a:off x="5605217" y="2483012"/>
            <a:ext cx="2200770" cy="369332"/>
          </a:xfrm>
          <a:prstGeom prst="rect">
            <a:avLst/>
          </a:prstGeom>
          <a:ln w="47625">
            <a:solidFill>
              <a:srgbClr val="3865B6"/>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err="1"/>
              <a:t>Sysprep</a:t>
            </a:r>
            <a:r>
              <a:rPr lang="pt-BR" dirty="0"/>
              <a:t> - Windows</a:t>
            </a:r>
          </a:p>
        </p:txBody>
      </p:sp>
      <p:sp>
        <p:nvSpPr>
          <p:cNvPr id="35" name="CaixaDeTexto 34">
            <a:extLst>
              <a:ext uri="{FF2B5EF4-FFF2-40B4-BE49-F238E27FC236}">
                <a16:creationId xmlns:a16="http://schemas.microsoft.com/office/drawing/2014/main" id="{F3DE88C3-3A8A-4723-960A-DC9B9C7C6A97}"/>
              </a:ext>
            </a:extLst>
          </p:cNvPr>
          <p:cNvSpPr txBox="1"/>
          <p:nvPr/>
        </p:nvSpPr>
        <p:spPr>
          <a:xfrm>
            <a:off x="5605217" y="3270517"/>
            <a:ext cx="2200770" cy="369332"/>
          </a:xfrm>
          <a:prstGeom prst="rect">
            <a:avLst/>
          </a:prstGeom>
          <a:ln w="47625">
            <a:solidFill>
              <a:srgbClr val="3865B6"/>
            </a:solidFill>
            <a:headEnd type="none"/>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pt-BR" dirty="0" err="1"/>
              <a:t>Waagent</a:t>
            </a:r>
            <a:r>
              <a:rPr lang="pt-BR" dirty="0"/>
              <a:t> Linux</a:t>
            </a:r>
          </a:p>
        </p:txBody>
      </p:sp>
      <p:pic>
        <p:nvPicPr>
          <p:cNvPr id="36" name="Imagem 35">
            <a:extLst>
              <a:ext uri="{FF2B5EF4-FFF2-40B4-BE49-F238E27FC236}">
                <a16:creationId xmlns:a16="http://schemas.microsoft.com/office/drawing/2014/main" id="{ACE39F54-9567-452E-B9C7-790C1F1FF1D4}"/>
              </a:ext>
            </a:extLst>
          </p:cNvPr>
          <p:cNvPicPr>
            <a:picLocks noChangeAspect="1"/>
          </p:cNvPicPr>
          <p:nvPr/>
        </p:nvPicPr>
        <p:blipFill>
          <a:blip r:embed="rId2"/>
          <a:stretch>
            <a:fillRect/>
          </a:stretch>
        </p:blipFill>
        <p:spPr>
          <a:xfrm>
            <a:off x="8879853" y="2409427"/>
            <a:ext cx="1429432" cy="1166417"/>
          </a:xfrm>
          <a:prstGeom prst="rect">
            <a:avLst/>
          </a:prstGeom>
          <a:ln>
            <a:noFill/>
          </a:ln>
        </p:spPr>
      </p:pic>
      <p:cxnSp>
        <p:nvCxnSpPr>
          <p:cNvPr id="38" name="Conector de Seta Reta 37">
            <a:extLst>
              <a:ext uri="{FF2B5EF4-FFF2-40B4-BE49-F238E27FC236}">
                <a16:creationId xmlns:a16="http://schemas.microsoft.com/office/drawing/2014/main" id="{F71FE7EB-F42E-401C-8ACF-05A7B9FED6F4}"/>
              </a:ext>
            </a:extLst>
          </p:cNvPr>
          <p:cNvCxnSpPr>
            <a:cxnSpLocks/>
            <a:stCxn id="34" idx="3"/>
            <a:endCxn id="36" idx="1"/>
          </p:cNvCxnSpPr>
          <p:nvPr/>
        </p:nvCxnSpPr>
        <p:spPr>
          <a:xfrm>
            <a:off x="7805987" y="2667678"/>
            <a:ext cx="1073866" cy="324958"/>
          </a:xfrm>
          <a:prstGeom prst="straightConnector1">
            <a:avLst/>
          </a:prstGeom>
          <a:ln w="47625">
            <a:solidFill>
              <a:srgbClr val="3865B6"/>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9" name="Conector de Seta Reta 38">
            <a:extLst>
              <a:ext uri="{FF2B5EF4-FFF2-40B4-BE49-F238E27FC236}">
                <a16:creationId xmlns:a16="http://schemas.microsoft.com/office/drawing/2014/main" id="{E34AF0F2-5D77-493E-AE46-801907A5FE66}"/>
              </a:ext>
            </a:extLst>
          </p:cNvPr>
          <p:cNvCxnSpPr>
            <a:cxnSpLocks/>
            <a:stCxn id="35" idx="3"/>
            <a:endCxn id="36" idx="1"/>
          </p:cNvCxnSpPr>
          <p:nvPr/>
        </p:nvCxnSpPr>
        <p:spPr>
          <a:xfrm flipV="1">
            <a:off x="7805987" y="2992636"/>
            <a:ext cx="1073866" cy="462547"/>
          </a:xfrm>
          <a:prstGeom prst="straightConnector1">
            <a:avLst/>
          </a:prstGeom>
          <a:ln w="47625">
            <a:solidFill>
              <a:srgbClr val="3865B6"/>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5707057"/>
      </p:ext>
    </p:extLst>
  </p:cSld>
  <p:clrMapOvr>
    <a:masterClrMapping/>
  </p:clrMapOvr>
</p:sld>
</file>

<file path=ppt/theme/theme1.xml><?xml version="1.0" encoding="utf-8"?>
<a:theme xmlns:a="http://schemas.openxmlformats.org/drawingml/2006/main" name="Office Them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Metadata/LabelInfo.xml><?xml version="1.0" encoding="utf-8"?>
<clbl:labelList xmlns:clbl="http://schemas.microsoft.com/office/2020/mipLabelMetadata">
  <clbl:label id="{4feff2ac-c3de-488c-99b2-c6384bfed2ea}" enabled="1" method="Standard" siteId="{9744600e-3e04-492e-baa1-25ec245c6f10}" removed="0"/>
</clbl:labelList>
</file>

<file path=docProps/app.xml><?xml version="1.0" encoding="utf-8"?>
<Properties xmlns="http://schemas.openxmlformats.org/officeDocument/2006/extended-properties" xmlns:vt="http://schemas.openxmlformats.org/officeDocument/2006/docPropsVTypes">
  <TotalTime>15166</TotalTime>
  <Words>9971</Words>
  <Application>Microsoft Office PowerPoint</Application>
  <PresentationFormat>Widescreen</PresentationFormat>
  <Paragraphs>1109</Paragraphs>
  <Slides>144</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144</vt:i4>
      </vt:variant>
    </vt:vector>
  </HeadingPairs>
  <TitlesOfParts>
    <vt:vector size="150" baseType="lpstr">
      <vt:lpstr>Aptos</vt:lpstr>
      <vt:lpstr>Arial</vt:lpstr>
      <vt:lpstr>az_ea_font</vt:lpstr>
      <vt:lpstr>Calibri</vt:lpstr>
      <vt:lpstr>Calibri Light</vt:lpstr>
      <vt:lpstr>Office Theme</vt:lpstr>
      <vt:lpstr>Apresentação do PowerPoint</vt:lpstr>
      <vt:lpstr>Certificação Azure – 6 Grupos.</vt:lpstr>
      <vt:lpstr>Cloud Computing</vt:lpstr>
      <vt:lpstr>Economia</vt:lpstr>
      <vt:lpstr>Escalonável</vt:lpstr>
      <vt:lpstr>Elástica, Atual e Global. </vt:lpstr>
      <vt:lpstr>Economias de escala</vt:lpstr>
      <vt:lpstr>CapEx X OpEx</vt:lpstr>
      <vt:lpstr>Tipos de Implantação</vt:lpstr>
      <vt:lpstr>PAAS, IAAS e SAAS</vt:lpstr>
      <vt:lpstr>Estrutura Geral do Azure</vt:lpstr>
      <vt:lpstr>Apresentação do PowerPoint</vt:lpstr>
      <vt:lpstr>Infraestrutura Global do Azure</vt:lpstr>
      <vt:lpstr>PowerShell</vt:lpstr>
      <vt:lpstr>Portal Azure</vt:lpstr>
      <vt:lpstr>Organizar recursos</vt:lpstr>
      <vt:lpstr>Organizar recursos</vt:lpstr>
      <vt:lpstr>Padrões de design de assinatura (Subscription)</vt:lpstr>
      <vt:lpstr>Subscription</vt:lpstr>
      <vt:lpstr>Azure Policy</vt:lpstr>
      <vt:lpstr>Subscription Policy</vt:lpstr>
      <vt:lpstr>Resource Group</vt:lpstr>
      <vt:lpstr>Resource Group</vt:lpstr>
      <vt:lpstr>Billing Alert</vt:lpstr>
      <vt:lpstr>Exemplo Pratico</vt:lpstr>
      <vt:lpstr>Armazenamento Azure</vt:lpstr>
      <vt:lpstr>Storage Accounts</vt:lpstr>
      <vt:lpstr>Blob Storage  Dados não estruturados</vt:lpstr>
      <vt:lpstr>File Storage  Protocolo SMB, Tokens SAS</vt:lpstr>
      <vt:lpstr>Table Storage Azure  Dados estruturados não relacionais, NoSQL, Azure Cosmo DB </vt:lpstr>
      <vt:lpstr>Queue Storage  Queue, Mensageria</vt:lpstr>
      <vt:lpstr>Tipos de Contas de Armazenamento Standard ou premium, recursos e preços diferentes. Criptografia usando a SSE (Storage Service Encryption)</vt:lpstr>
      <vt:lpstr>Apresentação do PowerPoint</vt:lpstr>
      <vt:lpstr>Redes Replicação, Redundância, Durabilidade</vt:lpstr>
      <vt:lpstr>Disks for Azure</vt:lpstr>
      <vt:lpstr>Storage Advanced</vt:lpstr>
      <vt:lpstr>Storage Account</vt:lpstr>
      <vt:lpstr>Azure Storage Explorer</vt:lpstr>
      <vt:lpstr>Conteiners</vt:lpstr>
      <vt:lpstr>SAS – Share Access Signature</vt:lpstr>
      <vt:lpstr>SAS – Share Access Signature</vt:lpstr>
      <vt:lpstr>SAS – Share Access Signature</vt:lpstr>
      <vt:lpstr>Acesso aos Dados</vt:lpstr>
      <vt:lpstr>Acesso aos Dados</vt:lpstr>
      <vt:lpstr>AzCopy – Aplicativo de Cópia</vt:lpstr>
      <vt:lpstr>Storage Custom Domain</vt:lpstr>
      <vt:lpstr>Import / Export</vt:lpstr>
      <vt:lpstr>Import / Export</vt:lpstr>
      <vt:lpstr>Import / Export</vt:lpstr>
      <vt:lpstr>WebSite Estático Storage</vt:lpstr>
      <vt:lpstr>Máquinas Virtuais</vt:lpstr>
      <vt:lpstr>Hypervisor</vt:lpstr>
      <vt:lpstr>Resumo VMs</vt:lpstr>
      <vt:lpstr>Virtual    Machine    Famílias</vt:lpstr>
      <vt:lpstr>Virtual    Machine    Famílias</vt:lpstr>
      <vt:lpstr>Família - Máquina Virtual</vt:lpstr>
      <vt:lpstr>AZURE COMPUTE UNITS ACU’s</vt:lpstr>
      <vt:lpstr>Máquinas Virtuais</vt:lpstr>
      <vt:lpstr>Availability Set - Contingencia</vt:lpstr>
      <vt:lpstr>Public inbound ports  </vt:lpstr>
      <vt:lpstr>Máquina Virtual</vt:lpstr>
      <vt:lpstr>Máquina Virtual</vt:lpstr>
      <vt:lpstr>Máquina Virtual</vt:lpstr>
      <vt:lpstr>Máquina Virtual</vt:lpstr>
      <vt:lpstr>Máquina Virtual</vt:lpstr>
      <vt:lpstr>Máquinas Virtuais e Storage</vt:lpstr>
      <vt:lpstr>Disco Virtual Machine</vt:lpstr>
      <vt:lpstr>Disk – Tipos – Máquinas Virtuais</vt:lpstr>
      <vt:lpstr>Virtual Machine - Disk</vt:lpstr>
      <vt:lpstr>Disco Virtual Machine</vt:lpstr>
      <vt:lpstr>Disco Virtual Machine</vt:lpstr>
      <vt:lpstr>Caching - Buffer</vt:lpstr>
      <vt:lpstr>Virtual Machine - Disk Caching</vt:lpstr>
      <vt:lpstr>Disk Caching – Opções – Máquinas Virtuais</vt:lpstr>
      <vt:lpstr>Virtual Machine - Disk Caching</vt:lpstr>
      <vt:lpstr>Scalonamento de Máquinas Virtuais</vt:lpstr>
      <vt:lpstr>Scaling Set</vt:lpstr>
      <vt:lpstr>Network – Máquinas Virtuais</vt:lpstr>
      <vt:lpstr>Network – Máquinas Virtuais</vt:lpstr>
      <vt:lpstr>Availability Set</vt:lpstr>
      <vt:lpstr>Máquina Virtual - Availability Set</vt:lpstr>
      <vt:lpstr>Máquina Virtual - Availability Set</vt:lpstr>
      <vt:lpstr>Scaling Set </vt:lpstr>
      <vt:lpstr>Virtual machine scale sets</vt:lpstr>
      <vt:lpstr>Virtual machine scale sets</vt:lpstr>
      <vt:lpstr>Redes Virtuais</vt:lpstr>
      <vt:lpstr>VNET – Virtual Networking</vt:lpstr>
      <vt:lpstr>Conceito VNET</vt:lpstr>
      <vt:lpstr>Virtual Network – VNET e SUBNET</vt:lpstr>
      <vt:lpstr>VNET</vt:lpstr>
      <vt:lpstr>SubNet- Conectividade Rota Implicita</vt:lpstr>
      <vt:lpstr>Route Tables</vt:lpstr>
      <vt:lpstr>Peer</vt:lpstr>
      <vt:lpstr>Network Security Group</vt:lpstr>
      <vt:lpstr>Network Watcher - Observador de Rede</vt:lpstr>
      <vt:lpstr>Network Watcher Monitoring</vt:lpstr>
      <vt:lpstr>Network Watcher - Topology capability</vt:lpstr>
      <vt:lpstr>IP Flow Verify</vt:lpstr>
      <vt:lpstr>Next Hop</vt:lpstr>
      <vt:lpstr>Effective security rules</vt:lpstr>
      <vt:lpstr>Packet capture</vt:lpstr>
      <vt:lpstr>Connection Troubleshoot</vt:lpstr>
      <vt:lpstr>Virtual Private Network/Site to Site/Point to Site. </vt:lpstr>
      <vt:lpstr>Express Route - Point to Point Ethernet Connection. </vt:lpstr>
      <vt:lpstr>Express Route – Cloud Exchenge Co-Location </vt:lpstr>
      <vt:lpstr>Express Route – Any to Any Connection</vt:lpstr>
      <vt:lpstr>Load Balancer</vt:lpstr>
      <vt:lpstr>Load Balancer</vt:lpstr>
      <vt:lpstr>Active Directory</vt:lpstr>
      <vt:lpstr>Contas - Active Directory</vt:lpstr>
      <vt:lpstr>LDAP - Lightweight Directory Access Protocol</vt:lpstr>
      <vt:lpstr>Active Directory</vt:lpstr>
      <vt:lpstr>MFA Autenticação Multifator Auto Atendimento Senha</vt:lpstr>
      <vt:lpstr>Ad Connect Sync – Identidade Hibrida</vt:lpstr>
      <vt:lpstr>AD Connect</vt:lpstr>
      <vt:lpstr>PIM - Privileged Identity Management</vt:lpstr>
      <vt:lpstr>PIM - Role-based access control (RBAC)</vt:lpstr>
      <vt:lpstr>Definição de Função (Role)</vt:lpstr>
      <vt:lpstr>Definição de Função (Role)</vt:lpstr>
      <vt:lpstr>RBAC - Policy</vt:lpstr>
      <vt:lpstr>RBAC - Locks</vt:lpstr>
      <vt:lpstr>Azure Slots</vt:lpstr>
      <vt:lpstr>Servless Sem Servidor</vt:lpstr>
      <vt:lpstr>APPS</vt:lpstr>
      <vt:lpstr>Docker Definições.</vt:lpstr>
      <vt:lpstr>Docker Definições.</vt:lpstr>
      <vt:lpstr>DockerFile</vt:lpstr>
      <vt:lpstr>Docker</vt:lpstr>
      <vt:lpstr>Ciclo de vida do Conteiner</vt:lpstr>
      <vt:lpstr>Armazenamento no Contêiner</vt:lpstr>
      <vt:lpstr>Rede de contêiner no Docker </vt:lpstr>
      <vt:lpstr>Rede de contêiner no Docker</vt:lpstr>
      <vt:lpstr>Comandos Basicos.</vt:lpstr>
      <vt:lpstr>O Kubernetes</vt:lpstr>
      <vt:lpstr>Kubernetes</vt:lpstr>
      <vt:lpstr>O Kubernetes</vt:lpstr>
      <vt:lpstr>Kubernetes</vt:lpstr>
      <vt:lpstr>Apresentação do PowerPoint</vt:lpstr>
      <vt:lpstr>Gateway de Aplicativo do Azure</vt:lpstr>
      <vt:lpstr>AZURE MIGRATE</vt:lpstr>
      <vt:lpstr>AZURE MIGRATE Ferramenta de Avaliação</vt:lpstr>
      <vt:lpstr>AZURE MIGRATE Ferramenta de Avaliação</vt:lpstr>
      <vt:lpstr>Azure Site Recovery</vt:lpstr>
      <vt:lpstr>Custom Images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Elder Gorayb</dc:creator>
  <cp:lastModifiedBy>Elder Gorayb</cp:lastModifiedBy>
  <cp:revision>123</cp:revision>
  <dcterms:created xsi:type="dcterms:W3CDTF">2019-12-28T17:44:48Z</dcterms:created>
  <dcterms:modified xsi:type="dcterms:W3CDTF">2026-10-07T00:43:43Z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36020b0-6d69-48c1-9bb5-c586c1062b70_Enabled">
    <vt:lpwstr>True</vt:lpwstr>
  </property>
  <property fmtid="{D5CDD505-2E9C-101B-9397-08002B2CF9AE}" pid="3" name="MSIP_Label_236020b0-6d69-48c1-9bb5-c586c1062b70_SiteId">
    <vt:lpwstr>cf36141c-ddd7-45a7-b073-111f66d0b30c</vt:lpwstr>
  </property>
  <property fmtid="{D5CDD505-2E9C-101B-9397-08002B2CF9AE}" pid="4" name="MSIP_Label_236020b0-6d69-48c1-9bb5-c586c1062b70_Owner">
    <vt:lpwstr>elder.gorayb@avanade.com</vt:lpwstr>
  </property>
  <property fmtid="{D5CDD505-2E9C-101B-9397-08002B2CF9AE}" pid="5" name="MSIP_Label_236020b0-6d69-48c1-9bb5-c586c1062b70_SetDate">
    <vt:lpwstr>2019-12-28T17:53:21.4304091Z</vt:lpwstr>
  </property>
  <property fmtid="{D5CDD505-2E9C-101B-9397-08002B2CF9AE}" pid="6" name="MSIP_Label_236020b0-6d69-48c1-9bb5-c586c1062b70_Name">
    <vt:lpwstr>Confidential</vt:lpwstr>
  </property>
  <property fmtid="{D5CDD505-2E9C-101B-9397-08002B2CF9AE}" pid="7" name="MSIP_Label_236020b0-6d69-48c1-9bb5-c586c1062b70_Application">
    <vt:lpwstr>Microsoft Azure Information Protection</vt:lpwstr>
  </property>
  <property fmtid="{D5CDD505-2E9C-101B-9397-08002B2CF9AE}" pid="8" name="MSIP_Label_236020b0-6d69-48c1-9bb5-c586c1062b70_ActionId">
    <vt:lpwstr>99100a9b-44d7-46c3-a09c-f8f3aa54c062</vt:lpwstr>
  </property>
  <property fmtid="{D5CDD505-2E9C-101B-9397-08002B2CF9AE}" pid="9" name="MSIP_Label_236020b0-6d69-48c1-9bb5-c586c1062b70_Extended_MSFT_Method">
    <vt:lpwstr>Automatic</vt:lpwstr>
  </property>
  <property fmtid="{D5CDD505-2E9C-101B-9397-08002B2CF9AE}" pid="10" name="MSIP_Label_5fae8262-b78e-4366-8929-a5d6aac95320_Enabled">
    <vt:lpwstr>True</vt:lpwstr>
  </property>
  <property fmtid="{D5CDD505-2E9C-101B-9397-08002B2CF9AE}" pid="11" name="MSIP_Label_5fae8262-b78e-4366-8929-a5d6aac95320_SiteId">
    <vt:lpwstr>cf36141c-ddd7-45a7-b073-111f66d0b30c</vt:lpwstr>
  </property>
  <property fmtid="{D5CDD505-2E9C-101B-9397-08002B2CF9AE}" pid="12" name="MSIP_Label_5fae8262-b78e-4366-8929-a5d6aac95320_Owner">
    <vt:lpwstr>elder.gorayb@avanade.com</vt:lpwstr>
  </property>
  <property fmtid="{D5CDD505-2E9C-101B-9397-08002B2CF9AE}" pid="13" name="MSIP_Label_5fae8262-b78e-4366-8929-a5d6aac95320_SetDate">
    <vt:lpwstr>2019-12-28T17:53:21.4304091Z</vt:lpwstr>
  </property>
  <property fmtid="{D5CDD505-2E9C-101B-9397-08002B2CF9AE}" pid="14" name="MSIP_Label_5fae8262-b78e-4366-8929-a5d6aac95320_Name">
    <vt:lpwstr>Recipients Have Full Control</vt:lpwstr>
  </property>
  <property fmtid="{D5CDD505-2E9C-101B-9397-08002B2CF9AE}" pid="15" name="MSIP_Label_5fae8262-b78e-4366-8929-a5d6aac95320_Application">
    <vt:lpwstr>Microsoft Azure Information Protection</vt:lpwstr>
  </property>
  <property fmtid="{D5CDD505-2E9C-101B-9397-08002B2CF9AE}" pid="16" name="MSIP_Label_5fae8262-b78e-4366-8929-a5d6aac95320_ActionId">
    <vt:lpwstr>99100a9b-44d7-46c3-a09c-f8f3aa54c062</vt:lpwstr>
  </property>
  <property fmtid="{D5CDD505-2E9C-101B-9397-08002B2CF9AE}" pid="17" name="MSIP_Label_5fae8262-b78e-4366-8929-a5d6aac95320_Parent">
    <vt:lpwstr>236020b0-6d69-48c1-9bb5-c586c1062b70</vt:lpwstr>
  </property>
  <property fmtid="{D5CDD505-2E9C-101B-9397-08002B2CF9AE}" pid="18" name="MSIP_Label_5fae8262-b78e-4366-8929-a5d6aac95320_Extended_MSFT_Method">
    <vt:lpwstr>Automatic</vt:lpwstr>
  </property>
  <property fmtid="{D5CDD505-2E9C-101B-9397-08002B2CF9AE}" pid="19" name="Sensitivity">
    <vt:lpwstr>Confidential Recipients Have Full Control</vt:lpwstr>
  </property>
  <property fmtid="{D5CDD505-2E9C-101B-9397-08002B2CF9AE}" pid="20" name="ClassificationContentMarkingFooterLocations">
    <vt:lpwstr>Office Theme:8</vt:lpwstr>
  </property>
  <property fmtid="{D5CDD505-2E9C-101B-9397-08002B2CF9AE}" pid="21" name="ClassificationContentMarkingFooterText">
    <vt:lpwstr>*** Clasificado CORPORATIVO por TELEFÓNICA. *** Classified CORPORATE by TELEFÓNICA.
*** Classificado como CORPORATIVO pela TELEFÓNICA. *** Von TELEFÓNICA als UNTERNEHMENSINTERN eingestuft.</vt:lpwstr>
  </property>
</Properties>
</file>