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405" r:id="rId3"/>
    <p:sldId id="410" r:id="rId4"/>
    <p:sldId id="406" r:id="rId5"/>
    <p:sldId id="411" r:id="rId6"/>
    <p:sldId id="407" r:id="rId7"/>
    <p:sldId id="408" r:id="rId8"/>
    <p:sldId id="409" r:id="rId9"/>
    <p:sldId id="412" r:id="rId10"/>
    <p:sldId id="413" r:id="rId11"/>
    <p:sldId id="414" r:id="rId12"/>
    <p:sldId id="415" r:id="rId13"/>
    <p:sldId id="416" r:id="rId14"/>
    <p:sldId id="417" r:id="rId15"/>
    <p:sldId id="418" r:id="rId16"/>
    <p:sldId id="419" r:id="rId17"/>
    <p:sldId id="420" r:id="rId18"/>
    <p:sldId id="421" r:id="rId19"/>
    <p:sldId id="431" r:id="rId20"/>
    <p:sldId id="427" r:id="rId21"/>
    <p:sldId id="432" r:id="rId22"/>
    <p:sldId id="433" r:id="rId23"/>
    <p:sldId id="434" r:id="rId24"/>
    <p:sldId id="426" r:id="rId25"/>
    <p:sldId id="425" r:id="rId26"/>
    <p:sldId id="422" r:id="rId27"/>
    <p:sldId id="435" r:id="rId28"/>
    <p:sldId id="423" r:id="rId29"/>
    <p:sldId id="424" r:id="rId30"/>
    <p:sldId id="42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9D6"/>
    <a:srgbClr val="3865B6"/>
    <a:srgbClr val="B4C7E7"/>
    <a:srgbClr val="CC3399"/>
    <a:srgbClr val="7093D2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der Gorayb" userId="2b36c9a13f8b2c09" providerId="LiveId" clId="{11155AE9-D1A6-4DDE-B530-3430856E27A2}"/>
    <pc:docChg chg="undo custSel addSld delSld">
      <pc:chgData name="Elder Gorayb" userId="2b36c9a13f8b2c09" providerId="LiveId" clId="{11155AE9-D1A6-4DDE-B530-3430856E27A2}" dt="2026-10-07T00:41:03.938" v="5" actId="47"/>
      <pc:docMkLst>
        <pc:docMk/>
      </pc:docMkLst>
      <pc:sldChg chg="add del">
        <pc:chgData name="Elder Gorayb" userId="2b36c9a13f8b2c09" providerId="LiveId" clId="{11155AE9-D1A6-4DDE-B530-3430856E27A2}" dt="2026-10-07T00:41:00.552" v="4" actId="47"/>
        <pc:sldMkLst>
          <pc:docMk/>
          <pc:sldMk cId="3745072875" sldId="256"/>
        </pc:sldMkLst>
      </pc:sldChg>
      <pc:sldChg chg="del">
        <pc:chgData name="Elder Gorayb" userId="2b36c9a13f8b2c09" providerId="LiveId" clId="{11155AE9-D1A6-4DDE-B530-3430856E27A2}" dt="2026-10-07T00:41:03.938" v="5" actId="47"/>
        <pc:sldMkLst>
          <pc:docMk/>
          <pc:sldMk cId="2383082746" sldId="25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91333496" sldId="25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416490030" sldId="25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08306287" sldId="26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24484851" sldId="26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566814794" sldId="26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186820116" sldId="26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0239382" sldId="26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742177076" sldId="26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169453082" sldId="26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911729358" sldId="26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863971661" sldId="27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845416587" sldId="27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703336308" sldId="27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224481648" sldId="27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338904982" sldId="27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329194033" sldId="27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626019925" sldId="27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978337716" sldId="27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827053445" sldId="27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83471102" sldId="27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659196302" sldId="28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548500981" sldId="28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938278854" sldId="28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08120224" sldId="28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441881571" sldId="28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868348238" sldId="28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404884232" sldId="28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240108907" sldId="28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847271111" sldId="28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60784468" sldId="29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62817341" sldId="29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218923132" sldId="29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102572104" sldId="29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588556195" sldId="29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45484757" sldId="29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305529462" sldId="29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458056265" sldId="29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103260688" sldId="29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315295861" sldId="29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123694588" sldId="30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954255871" sldId="30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547981781" sldId="30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657705692" sldId="30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609110636" sldId="30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40762888" sldId="30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707585134" sldId="30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798807919" sldId="30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782398198" sldId="30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78745551" sldId="30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814120745" sldId="31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418586617" sldId="31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49412457" sldId="31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524103217" sldId="31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518214365" sldId="31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333880541" sldId="31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121634702" sldId="31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285412963" sldId="31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246980578" sldId="31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854304515" sldId="31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096593338" sldId="32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713963866" sldId="32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529624254" sldId="32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654523696" sldId="32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1043791" sldId="32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935975196" sldId="32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846255048" sldId="32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443147951" sldId="32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04567210" sldId="32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01011951" sldId="32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047479983" sldId="33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87929604" sldId="331"/>
        </pc:sldMkLst>
      </pc:sldChg>
      <pc:sldChg chg="del">
        <pc:chgData name="Elder Gorayb" userId="2b36c9a13f8b2c09" providerId="LiveId" clId="{11155AE9-D1A6-4DDE-B530-3430856E27A2}" dt="2026-10-07T00:40:53.501" v="2" actId="47"/>
        <pc:sldMkLst>
          <pc:docMk/>
          <pc:sldMk cId="562915597" sldId="332"/>
        </pc:sldMkLst>
      </pc:sldChg>
      <pc:sldChg chg="del">
        <pc:chgData name="Elder Gorayb" userId="2b36c9a13f8b2c09" providerId="LiveId" clId="{11155AE9-D1A6-4DDE-B530-3430856E27A2}" dt="2026-10-07T00:40:50.798" v="1" actId="47"/>
        <pc:sldMkLst>
          <pc:docMk/>
          <pc:sldMk cId="2495707057" sldId="33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689243604" sldId="33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471771683" sldId="33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043405637" sldId="33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177416264" sldId="33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4582758" sldId="34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04825281" sldId="34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63450184" sldId="34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458160554" sldId="34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50548547" sldId="34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21057430" sldId="34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658112071" sldId="34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351546681" sldId="34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592099523" sldId="35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042340276" sldId="35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109869674" sldId="35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873839988" sldId="35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52607462" sldId="35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469602158" sldId="35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698596156" sldId="35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323413865" sldId="35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38720394" sldId="35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803459180" sldId="35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76598576" sldId="36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830989778" sldId="36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258829207" sldId="36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246519248" sldId="36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381169705" sldId="36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022599909" sldId="36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295437425" sldId="36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34332611" sldId="36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369416593" sldId="36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879198912" sldId="36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232682571" sldId="37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181954488" sldId="37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110332151" sldId="37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051075400" sldId="37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405610197" sldId="37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753689981" sldId="37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397366376" sldId="37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969270097" sldId="37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408327101" sldId="37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030164526" sldId="37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544343297" sldId="38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767734976" sldId="38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381666243" sldId="38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914104510" sldId="38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911004663" sldId="38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927317514" sldId="38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459433006" sldId="38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884816106" sldId="38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56201918" sldId="38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725730005" sldId="38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050269907" sldId="39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529287104" sldId="39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772208268" sldId="39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838500846" sldId="39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007223738" sldId="39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143812356" sldId="395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760548235" sldId="396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4149764170" sldId="397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501735033" sldId="39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750430270" sldId="399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792025688" sldId="400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807703116" sldId="401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442137660" sldId="402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995671067" sldId="403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1774710524" sldId="404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2236812477" sldId="428"/>
        </pc:sldMkLst>
      </pc:sldChg>
      <pc:sldChg chg="del">
        <pc:chgData name="Elder Gorayb" userId="2b36c9a13f8b2c09" providerId="LiveId" clId="{11155AE9-D1A6-4DDE-B530-3430856E27A2}" dt="2026-10-07T00:40:43.198" v="0" actId="47"/>
        <pc:sldMkLst>
          <pc:docMk/>
          <pc:sldMk cId="3882092390" sldId="4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D76E-AC94-4464-BAEC-8BF9F434F6A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6DC42-D1A9-431F-8E87-BBFCB9F914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613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939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54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033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522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59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668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45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20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0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44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39D1C-2AC7-4DF3-8496-25A29988A7E0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BADA9-1FE0-45D6-B921-B01F58A53E74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AE055C-6FA7-01B8-BC95-7D3CE78EF8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39195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6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Clasificado CORPORATIVO por TELEFÓNICA. *** Classified CORPORATE by TELEFÓNICA.
*** Classificado como CORPORATIVO pela TELEFÓNICA. *** Von TELEFÓNICA als UNTERNEHMENSINTERN eingestuft.</a:t>
            </a:r>
          </a:p>
        </p:txBody>
      </p:sp>
    </p:spTree>
    <p:extLst>
      <p:ext uri="{BB962C8B-B14F-4D97-AF65-F5344CB8AC3E}">
        <p14:creationId xmlns:p14="http://schemas.microsoft.com/office/powerpoint/2010/main" val="203202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intensivacursos.com.br/wp-content/uploads/Curso-de-Simulado-Microsoft-Azure-Architect-Technologies-AZ-300.jpg">
            <a:extLst>
              <a:ext uri="{FF2B5EF4-FFF2-40B4-BE49-F238E27FC236}">
                <a16:creationId xmlns:a16="http://schemas.microsoft.com/office/drawing/2014/main" id="{045D5A63-DF30-41FF-B3D5-4E7C9CE36A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07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D3F4C96-8DF7-75AF-66F9-4C39B0B6A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73200"/>
            <a:ext cx="881888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A24C82-A7AD-95AE-7AE4-8DD4703BA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Exame AZURE IA 900 COPILOT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1040B81-5FEE-7966-02B4-543419B03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10577"/>
            <a:ext cx="6780700" cy="403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7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CFB10-6129-B5E3-8452-E0091A78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Modulo 1 – Visão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5605D-BE48-3D45-5B86-C8D905911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Pensar?</a:t>
            </a:r>
          </a:p>
          <a:p>
            <a:pPr fontAlgn="base"/>
            <a:r>
              <a:rPr lang="pt-BR" dirty="0"/>
              <a:t>Qual o papel da IA Generativa na criação de repositórios de conhecimento pesquisáveis a partir de dados não estruturados?</a:t>
            </a:r>
          </a:p>
          <a:p>
            <a:pPr lvl="1" fontAlgn="base"/>
            <a:r>
              <a:rPr lang="pt-BR" dirty="0"/>
              <a:t>A IA Generativa transforma dados não estruturados em informações acessíveis e pesquisáveis, criando repositórios de conhecimento.</a:t>
            </a:r>
          </a:p>
          <a:p>
            <a:pPr lvl="1" fontAlgn="base"/>
            <a:r>
              <a:rPr lang="pt-BR" dirty="0"/>
              <a:t>A IA Generativa não é limitada a dados estruturados.</a:t>
            </a:r>
          </a:p>
          <a:p>
            <a:pPr lvl="1" fontAlgn="base"/>
            <a:r>
              <a:rPr lang="pt-BR" dirty="0"/>
              <a:t>A IA Generativa não depende de interferência humana para criar repositórios estruturados.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980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24D73-B7DA-2C6F-9252-E62FE4BA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7F6A60-A92B-279F-2F23-E1FD4230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Vamos pensar – O que é inteligência?</a:t>
            </a:r>
          </a:p>
          <a:p>
            <a:pPr lvl="1"/>
            <a:r>
              <a:rPr lang="pt-BR" dirty="0"/>
              <a:t>É a capacidade de pensar, aprender, resolver problemas, e se adaptar ao novo.</a:t>
            </a:r>
          </a:p>
          <a:p>
            <a:pPr lvl="1"/>
            <a:r>
              <a:rPr lang="pt-BR" dirty="0"/>
              <a:t>Aprendemos por reforça, repetição a padrões.</a:t>
            </a:r>
          </a:p>
          <a:p>
            <a:r>
              <a:rPr lang="pt-BR" dirty="0"/>
              <a:t>O que é Inteligência artificial?</a:t>
            </a:r>
          </a:p>
          <a:p>
            <a:pPr lvl="1"/>
            <a:r>
              <a:rPr lang="pt-BR" dirty="0"/>
              <a:t>São máquinas e sistemas que são programados para realizar tarefas que exigiam inteligência humana(entender linguagem falada, reconhecer imagens e decidir baseados em dados).</a:t>
            </a:r>
          </a:p>
          <a:p>
            <a:r>
              <a:rPr lang="pt-BR" dirty="0"/>
              <a:t>Existe inteligência artificial forte e fraca:</a:t>
            </a:r>
          </a:p>
          <a:p>
            <a:pPr lvl="1"/>
            <a:r>
              <a:rPr lang="pt-BR" dirty="0"/>
              <a:t>Fraca – tenta representar a inteligência humana.</a:t>
            </a:r>
          </a:p>
          <a:p>
            <a:pPr lvl="1"/>
            <a:r>
              <a:rPr lang="pt-BR" dirty="0"/>
              <a:t>Forte – Tenta superar a inteligência humana.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011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1606-90C1-840E-4B55-1CBE5C9C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5DCE7-E9CF-B209-5056-AE1498A0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Modulo 1 – Visão Geral no Azure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15CB7F-D716-B979-47F0-F29E395F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341120"/>
            <a:ext cx="11856720" cy="5151755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Vamos Pensar?</a:t>
            </a:r>
          </a:p>
          <a:p>
            <a:pPr fontAlgn="base"/>
            <a:r>
              <a:rPr lang="pt-BR" dirty="0"/>
              <a:t>Aprendizado de máquina é um dos campos da Inteligência Artificial. Dentro desse campo, existem vários algoritmos que são utilizados, para resolver diferentes problemas.</a:t>
            </a:r>
          </a:p>
          <a:p>
            <a:pPr fontAlgn="base"/>
            <a:r>
              <a:rPr lang="pt-BR" dirty="0"/>
              <a:t>Regressão: É usada quando o objetivo é prever um valor numérico contínuo. </a:t>
            </a:r>
          </a:p>
          <a:p>
            <a:pPr lvl="1" fontAlgn="base"/>
            <a:r>
              <a:rPr lang="pt-BR" dirty="0"/>
              <a:t>(Prever o preço de uma casa, Estimar a temperatura amanhã, Calcular o salário com base na experiência)</a:t>
            </a:r>
          </a:p>
          <a:p>
            <a:pPr lvl="1" fontAlgn="base"/>
            <a:r>
              <a:rPr lang="pt-BR" dirty="0"/>
              <a:t>Diferente da classificação, aqui a resposta não é uma classe, é um número.</a:t>
            </a:r>
          </a:p>
          <a:p>
            <a:pPr fontAlgn="base"/>
            <a:r>
              <a:rPr lang="pt-BR" dirty="0" err="1"/>
              <a:t>Clustering</a:t>
            </a:r>
            <a:r>
              <a:rPr lang="pt-BR" dirty="0"/>
              <a:t> (Agrupamento): É uma técnica que agrupa dados semelhantes, sem rótulos prévios.</a:t>
            </a:r>
          </a:p>
          <a:p>
            <a:pPr lvl="1" fontAlgn="base"/>
            <a:r>
              <a:rPr lang="pt-BR" dirty="0"/>
              <a:t>(Agrupar clientes por comportamento de compra, Separar usuários por padrão de navegação, Organizar documentos por assunto automaticamente)</a:t>
            </a:r>
          </a:p>
          <a:p>
            <a:pPr lvl="1" fontAlgn="base"/>
            <a:r>
              <a:rPr lang="pt-BR" dirty="0"/>
              <a:t>O algoritmo descobre os grupos sozinho, sem ninguém dizer o que é certo ou errado.</a:t>
            </a:r>
          </a:p>
          <a:p>
            <a:pPr fontAlgn="base"/>
            <a:r>
              <a:rPr lang="pt-BR" dirty="0"/>
              <a:t>Classificação </a:t>
            </a:r>
            <a:r>
              <a:rPr lang="pt-BR" dirty="0" err="1"/>
              <a:t>Multiclasse</a:t>
            </a:r>
            <a:r>
              <a:rPr lang="pt-BR" dirty="0"/>
              <a:t>: Semelhante à classificação binária, mas com mais de duas classes possíveis.</a:t>
            </a:r>
          </a:p>
          <a:p>
            <a:pPr lvl="1" fontAlgn="base"/>
            <a:r>
              <a:rPr lang="pt-BR" dirty="0"/>
              <a:t>(Identificar dígitos: 0, 1, 2, ..., 9, Classificar tipo de animal: gato, cachorro, pássaro, Reconhecer sentimento: positivo, neutro, negativo)</a:t>
            </a:r>
          </a:p>
          <a:p>
            <a:pPr lvl="1" fontAlgn="base"/>
            <a:r>
              <a:rPr lang="pt-BR" dirty="0"/>
              <a:t>A saída pertence a uma entre várias categorias.</a:t>
            </a:r>
          </a:p>
          <a:p>
            <a:pPr fontAlgn="base"/>
            <a:r>
              <a:rPr lang="pt-BR" dirty="0"/>
              <a:t>Aprendizado Supervisionado: É um tipo de aprendizado em que o modelo é treinado com dados rotulados (entrada + resposta correta).</a:t>
            </a:r>
          </a:p>
          <a:p>
            <a:pPr lvl="1" fontAlgn="base"/>
            <a:r>
              <a:rPr lang="pt-BR" dirty="0"/>
              <a:t>(Classificação binária, Classificação </a:t>
            </a:r>
            <a:r>
              <a:rPr lang="pt-BR" dirty="0" err="1"/>
              <a:t>multiclasse</a:t>
            </a:r>
            <a:r>
              <a:rPr lang="pt-BR" dirty="0"/>
              <a:t>, Regressão)</a:t>
            </a:r>
          </a:p>
          <a:p>
            <a:pPr lvl="1" fontAlgn="base"/>
            <a:r>
              <a:rPr lang="pt-BR" dirty="0"/>
              <a:t>Você mostra milhares de imagens já identificadas como “gato” ou “cachorro” para o modelo aprender a diferença. O modelo aprende comparando o que ele previu com a resposta correta.</a:t>
            </a:r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877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EAFC-9D50-C133-F9B6-496FDE8B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C0A172-141D-597B-C667-1A9EA904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Modulo 1 – Visão Geral no Azure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0D41E5-734E-A1ED-04E5-5A5FB0DB6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341120"/>
            <a:ext cx="11856720" cy="5151755"/>
          </a:xfrm>
        </p:spPr>
        <p:txBody>
          <a:bodyPr>
            <a:normAutofit/>
          </a:bodyPr>
          <a:lstStyle/>
          <a:p>
            <a:r>
              <a:rPr lang="pt-BR" dirty="0"/>
              <a:t>Vamos Pensar?</a:t>
            </a:r>
          </a:p>
          <a:p>
            <a:pPr fontAlgn="base"/>
            <a:r>
              <a:rPr lang="pt-BR" dirty="0"/>
              <a:t>O que é o DALL·E?</a:t>
            </a:r>
          </a:p>
          <a:p>
            <a:pPr lvl="1" fontAlgn="base"/>
            <a:r>
              <a:rPr lang="pt-BR" dirty="0"/>
              <a:t>O DALL·E é um modelo de IA generativa desenvolvido pela OpenAI que consegue criar imagens inéditas com base em um prompt (descrição textual). O nome vem da junção de: DALI (referência ao artista Salvador Dalí) E (de GPT, modelo de linguagem)</a:t>
            </a:r>
          </a:p>
          <a:p>
            <a:pPr fontAlgn="base"/>
            <a:r>
              <a:rPr lang="pt-BR" dirty="0"/>
              <a:t>O que o DALL·E consegue fazer?</a:t>
            </a:r>
          </a:p>
          <a:p>
            <a:pPr lvl="1" fontAlgn="base"/>
            <a:r>
              <a:rPr lang="pt-BR" dirty="0"/>
              <a:t>Com um texto, ele pode: Criar ilustrações, Gerar imagens realistas, Fazer arte digital, Modificar imagens existentes (edição, variação, expansão), Criar estilos artísticos diferentes</a:t>
            </a:r>
          </a:p>
        </p:txBody>
      </p:sp>
    </p:spTree>
    <p:extLst>
      <p:ext uri="{BB962C8B-B14F-4D97-AF65-F5344CB8AC3E}">
        <p14:creationId xmlns:p14="http://schemas.microsoft.com/office/powerpoint/2010/main" val="137564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8435-700C-8F40-3D2C-190B3D4E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D4662-E687-0C7B-2A8F-2F68B311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Modulo 1 – Visão Geral no Azure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233308-922F-731D-7143-0A0E2756C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341120"/>
            <a:ext cx="11856720" cy="5151755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Machine learning automatizado:</a:t>
            </a:r>
          </a:p>
          <a:p>
            <a:r>
              <a:rPr lang="pt-BR" dirty="0"/>
              <a:t>Esse recurso permite que quem não é especialista crie rapidamente</a:t>
            </a:r>
          </a:p>
          <a:p>
            <a:r>
              <a:rPr lang="pt-BR" dirty="0"/>
              <a:t>um modelo de machine learning eficaz com base nos dados.</a:t>
            </a:r>
          </a:p>
          <a:p>
            <a:r>
              <a:rPr lang="en-US" b="1" dirty="0"/>
              <a:t>Designer do Azure Machine Learning:</a:t>
            </a:r>
          </a:p>
          <a:p>
            <a:r>
              <a:rPr lang="pt-BR" dirty="0"/>
              <a:t>Uma interface gráfica que permite o desenvolvimento sem código</a:t>
            </a:r>
          </a:p>
          <a:p>
            <a:r>
              <a:rPr lang="pt-BR" dirty="0"/>
              <a:t>de soluções de machine learning.</a:t>
            </a:r>
          </a:p>
          <a:p>
            <a:r>
              <a:rPr lang="pt-BR" b="1" dirty="0"/>
              <a:t>Visualização de métricas de dados:</a:t>
            </a:r>
          </a:p>
          <a:p>
            <a:r>
              <a:rPr lang="pt-BR" dirty="0"/>
              <a:t>analisar e otimizar seus experimentos com visualização.</a:t>
            </a:r>
          </a:p>
          <a:p>
            <a:r>
              <a:rPr lang="pt-BR" b="1" dirty="0"/>
              <a:t>Notebooks:</a:t>
            </a:r>
          </a:p>
          <a:p>
            <a:r>
              <a:rPr lang="pt-BR" dirty="0"/>
              <a:t>escreva e execute seu próprio código em servidores gerenciados</a:t>
            </a:r>
          </a:p>
          <a:p>
            <a:r>
              <a:rPr lang="pt-BR" dirty="0"/>
              <a:t>do </a:t>
            </a:r>
            <a:r>
              <a:rPr lang="pt-BR" dirty="0" err="1"/>
              <a:t>Jupyter</a:t>
            </a:r>
            <a:r>
              <a:rPr lang="pt-BR" dirty="0"/>
              <a:t> Notebook que estão diretamente integrados ao estúdio.</a:t>
            </a:r>
          </a:p>
        </p:txBody>
      </p:sp>
    </p:spTree>
    <p:extLst>
      <p:ext uri="{BB962C8B-B14F-4D97-AF65-F5344CB8AC3E}">
        <p14:creationId xmlns:p14="http://schemas.microsoft.com/office/powerpoint/2010/main" val="285390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57399-EC25-7058-A92F-B33905F3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Geral.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C00CD-37DF-1B0C-22F2-0DA9C4D6A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pensar? </a:t>
            </a:r>
          </a:p>
          <a:p>
            <a:r>
              <a:rPr lang="pt-BR" dirty="0"/>
              <a:t>História da Inteligência.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5E4460-D6D6-BA04-7B5D-C36004B65B7B}"/>
              </a:ext>
            </a:extLst>
          </p:cNvPr>
          <p:cNvSpPr/>
          <p:nvPr/>
        </p:nvSpPr>
        <p:spPr>
          <a:xfrm>
            <a:off x="1356360" y="2804160"/>
            <a:ext cx="10515600" cy="3372803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1956 – </a:t>
            </a:r>
            <a:r>
              <a:rPr lang="pt-BR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Artificial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Campo da ciência da computação que busca criar máquinas que replica inteligência humana.</a:t>
            </a: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2AD5966-57CD-D317-BB59-0C6F5E149785}"/>
              </a:ext>
            </a:extLst>
          </p:cNvPr>
          <p:cNvSpPr/>
          <p:nvPr/>
        </p:nvSpPr>
        <p:spPr>
          <a:xfrm>
            <a:off x="1587500" y="3429000"/>
            <a:ext cx="9984740" cy="25857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1997 – Machine Learning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Aprendem com os dados para tomar decisões ou previsões assertivas.</a:t>
            </a: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5A2836-12D7-4F1D-DFE8-6732CBC8E2BC}"/>
              </a:ext>
            </a:extLst>
          </p:cNvPr>
          <p:cNvSpPr/>
          <p:nvPr/>
        </p:nvSpPr>
        <p:spPr>
          <a:xfrm>
            <a:off x="1828800" y="3835400"/>
            <a:ext cx="9428480" cy="20167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 – </a:t>
            </a:r>
            <a:r>
              <a:rPr lang="pt-BR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Learning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Técnica de machine learning que usar camadas de redes neurais para processamento e tomada de decisão.</a:t>
            </a: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593BEAC-8DCF-34B6-8E0C-22CD48A5C27F}"/>
              </a:ext>
            </a:extLst>
          </p:cNvPr>
          <p:cNvSpPr/>
          <p:nvPr/>
        </p:nvSpPr>
        <p:spPr>
          <a:xfrm>
            <a:off x="2032000" y="4419600"/>
            <a:ext cx="8879840" cy="12903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– IA Generativa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ria conteúdo visual, auditivo, escrito através de prompts, com acesso a várias fontes para formular resposta.</a:t>
            </a: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62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8109-B8FB-DA89-645C-153DA09F7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1285F-3B37-3F6C-8DA1-C1D10E09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– Visão Geral Fonte Microsoft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53CBF6C-EEC5-B89B-4F01-F75FB1A3A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566"/>
            <a:ext cx="10515600" cy="4660397"/>
          </a:xfrm>
        </p:spPr>
        <p:txBody>
          <a:bodyPr/>
          <a:lstStyle/>
          <a:p>
            <a:r>
              <a:rPr lang="pt-BR" dirty="0"/>
              <a:t>Vamos Pensar?</a:t>
            </a:r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5252721-18BD-4FED-76EA-7F6032962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455" y="2056242"/>
            <a:ext cx="7750098" cy="443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8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387E6-856B-6111-639E-D03FA212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Workloads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19D914-4589-21DB-E3AE-0978CE97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5" y="1361633"/>
            <a:ext cx="11146970" cy="50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94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2227A-0289-4B15-EED7-3AC62567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Principios</a:t>
            </a:r>
            <a:r>
              <a:rPr lang="pt-BR" dirty="0"/>
              <a:t> de IA responsável.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4E36A0-E141-0EC5-815B-769202AF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Imparcialidade – Ninguém pode ser privilegiado ou prejudicado por um algoritmo, tratando imparcialmente grupos, raças, classes sociais e outros.</a:t>
            </a:r>
          </a:p>
          <a:p>
            <a:r>
              <a:rPr lang="pt-BR" dirty="0"/>
              <a:t>Confiabilidade e segurança – Coisas que possam nos afetar fisicamente, um algoritmo não pode causar danos a saúde e integridade física.</a:t>
            </a:r>
          </a:p>
          <a:p>
            <a:r>
              <a:rPr lang="pt-BR" dirty="0"/>
              <a:t>Privacidade e segurança – Coisas que possam nos afetar que não seja físico, um algoritmo não pode expor dados que sejam provados.</a:t>
            </a:r>
          </a:p>
          <a:p>
            <a:r>
              <a:rPr lang="pt-BR" dirty="0"/>
              <a:t>Inclusão – Acessível a todos independente de deficiência ou limitações.</a:t>
            </a:r>
          </a:p>
          <a:p>
            <a:r>
              <a:rPr lang="pt-BR" dirty="0"/>
              <a:t>Transparência – Ia deve mostrar porque tomou a decisão, informar a origem e ser transparente. Deve ser claro como o algoritmo chegou na resposta.</a:t>
            </a:r>
          </a:p>
          <a:p>
            <a:r>
              <a:rPr lang="pt-BR" dirty="0"/>
              <a:t>Responsabilidade – A ia não é responsável por uma decisão errada, o responsável é o desenvolvedor ou operador.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9550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0D8F-43C1-515C-AFA8-FE958AC1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7DD4B-2AD8-0078-1F98-74994E91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Principios</a:t>
            </a:r>
            <a:r>
              <a:rPr lang="pt-BR" dirty="0"/>
              <a:t> de IA responsável.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9AFEF32-4049-FF7F-E52E-A5E109ADE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253" y="1690688"/>
            <a:ext cx="11472689" cy="476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1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6ED6C6C-11A9-8981-F8E5-603FCA22D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1743" y="84087"/>
            <a:ext cx="10932695" cy="643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2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2DFF68-B63F-E28A-8EC3-23AACCCE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05DBB-6418-7708-16A5-74AA1094C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Features (características):</a:t>
            </a:r>
          </a:p>
          <a:p>
            <a:pPr lvl="1"/>
            <a:r>
              <a:rPr lang="pt-BR" dirty="0"/>
              <a:t>O objeto em questão tem várias características, exemplo (cor, tamanho, formato)</a:t>
            </a:r>
          </a:p>
          <a:p>
            <a:r>
              <a:rPr lang="pt-BR" dirty="0" err="1"/>
              <a:t>Label</a:t>
            </a:r>
            <a:r>
              <a:rPr lang="pt-BR" dirty="0"/>
              <a:t> (classe):</a:t>
            </a:r>
          </a:p>
          <a:p>
            <a:pPr lvl="1"/>
            <a:r>
              <a:rPr lang="pt-BR" dirty="0"/>
              <a:t>É o agrupamento de características iguais, exemplo (conjunto de objetos com mesma cor e mesmo formato)</a:t>
            </a:r>
          </a:p>
          <a:p>
            <a:r>
              <a:rPr lang="pt-BR" dirty="0"/>
              <a:t>Model (modelo):</a:t>
            </a:r>
          </a:p>
          <a:p>
            <a:pPr lvl="1"/>
            <a:r>
              <a:rPr lang="pt-BR" dirty="0"/>
              <a:t>É a maneira de predizer a </a:t>
            </a:r>
            <a:r>
              <a:rPr lang="pt-BR" dirty="0" err="1"/>
              <a:t>label</a:t>
            </a:r>
            <a:r>
              <a:rPr lang="pt-BR" dirty="0"/>
              <a:t> ou classe baseado nas característica ou features, exemplo (novo objeto com mesma cor e mesmo formato, tem a mesma </a:t>
            </a:r>
            <a:r>
              <a:rPr lang="pt-BR" dirty="0" err="1"/>
              <a:t>label</a:t>
            </a:r>
            <a:r>
              <a:rPr lang="pt-BR" dirty="0"/>
              <a:t> que seus representantes na base).</a:t>
            </a:r>
          </a:p>
        </p:txBody>
      </p:sp>
    </p:spTree>
    <p:extLst>
      <p:ext uri="{BB962C8B-B14F-4D97-AF65-F5344CB8AC3E}">
        <p14:creationId xmlns:p14="http://schemas.microsoft.com/office/powerpoint/2010/main" val="1973681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F95C7D3-B2C9-0261-BE51-ED3F3C503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2480" y="186915"/>
            <a:ext cx="11013439" cy="64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41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F904B-77C0-701C-2418-12C78C2F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49DC537-DFB1-86D7-5800-746C2A7B7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70" y="326571"/>
            <a:ext cx="11603259" cy="617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52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C9117-AF81-5312-5939-34EBD97D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60440-5DEC-6C05-7CDF-16381414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Supervisionado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9A1DA9-39D0-9EFA-1E47-5E2EB92D1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O modelo é treinado com dados rotulados (que sabemos o resultado com base nas features(características)).</a:t>
            </a:r>
          </a:p>
          <a:p>
            <a:r>
              <a:rPr lang="pt-BR" dirty="0"/>
              <a:t>Em uma </a:t>
            </a:r>
            <a:r>
              <a:rPr lang="pt-BR" dirty="0" err="1"/>
              <a:t>dataset</a:t>
            </a:r>
            <a:r>
              <a:rPr lang="pt-BR" dirty="0"/>
              <a:t> é identificado as colunas (features) que são relevantes para o treinamento e então é dado o rotulo (</a:t>
            </a:r>
            <a:r>
              <a:rPr lang="pt-BR" dirty="0" err="1"/>
              <a:t>label</a:t>
            </a:r>
            <a:r>
              <a:rPr lang="pt-BR" dirty="0"/>
              <a:t> - o que se quer encontrar).</a:t>
            </a:r>
          </a:p>
          <a:p>
            <a:r>
              <a:rPr lang="pt-BR" dirty="0"/>
              <a:t>Normalmente se divide o </a:t>
            </a:r>
            <a:r>
              <a:rPr lang="pt-BR" dirty="0" err="1"/>
              <a:t>dataset</a:t>
            </a:r>
            <a:r>
              <a:rPr lang="pt-BR" dirty="0"/>
              <a:t> em 2, se treina uma parte através de inferência e insere o restante dos dados para validar o resultado (acurácia).</a:t>
            </a:r>
          </a:p>
          <a:p>
            <a:r>
              <a:rPr lang="pt-BR" dirty="0"/>
              <a:t>Se divide em regressão ou Classificação.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449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5ACB7-9829-8E49-4DBB-2C76E7B7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Supervisionado - Regressão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4CA46B-E6A4-ABB8-7CB3-FA9125A4D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Regressão são valores contínuos (relação entre variáveis </a:t>
            </a:r>
            <a:r>
              <a:rPr lang="pt-BR"/>
              <a:t>independentes e </a:t>
            </a:r>
            <a:r>
              <a:rPr lang="pt-BR" dirty="0"/>
              <a:t>variável dependente).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63E893-94B1-FE16-2558-505AD6752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289" y="2961653"/>
            <a:ext cx="9726268" cy="337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5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E25F-60DD-7DFF-F8E0-036DDB109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8816D-6C6A-8156-0945-036FFE36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Supervisionado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A45661-610D-FC6B-3FD0-CD1075B9E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Classificação são categorias ou classes. São binários (sim ou não) ou </a:t>
            </a:r>
            <a:r>
              <a:rPr lang="pt-BR" dirty="0" err="1"/>
              <a:t>multi-classe</a:t>
            </a:r>
            <a:r>
              <a:rPr lang="pt-BR" dirty="0"/>
              <a:t>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5BA78B-5A98-83B3-969D-E58C80CB6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01" y="2716099"/>
            <a:ext cx="9606998" cy="33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11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195F-10A0-9598-CDFC-7929436E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F82A2-6670-9375-65AD-F8081C95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8C066D-AB32-84CC-DC66-707807CDC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298713"/>
            <a:ext cx="11410122" cy="4921793"/>
          </a:xfrm>
        </p:spPr>
        <p:txBody>
          <a:bodyPr>
            <a:normAutofit/>
          </a:bodyPr>
          <a:lstStyle/>
          <a:p>
            <a:r>
              <a:rPr lang="pt-BR" dirty="0"/>
              <a:t>É uma tabela que compara os  resultados de uma IA, com os resultados reais (erro ou acerto do modelo).</a:t>
            </a:r>
          </a:p>
          <a:p>
            <a:pPr lvl="1"/>
            <a:r>
              <a:rPr lang="pt-BR" dirty="0"/>
              <a:t>VP (</a:t>
            </a:r>
            <a:r>
              <a:rPr lang="pt-BR" dirty="0" err="1"/>
              <a:t>True</a:t>
            </a:r>
            <a:r>
              <a:rPr lang="pt-BR" dirty="0"/>
              <a:t> Positive): casos corretamente classificados como positivos.</a:t>
            </a:r>
          </a:p>
          <a:p>
            <a:pPr lvl="1"/>
            <a:r>
              <a:rPr lang="pt-BR" dirty="0"/>
              <a:t>VN (</a:t>
            </a:r>
            <a:r>
              <a:rPr lang="pt-BR" dirty="0" err="1"/>
              <a:t>True</a:t>
            </a:r>
            <a:r>
              <a:rPr lang="pt-BR" dirty="0"/>
              <a:t> Negative): casos corretamente classificados como negativos.</a:t>
            </a:r>
          </a:p>
          <a:p>
            <a:pPr lvl="1"/>
            <a:r>
              <a:rPr lang="pt-BR" dirty="0"/>
              <a:t>FP (False Positive): casos negativos que o modelo classificou como positivos.</a:t>
            </a:r>
          </a:p>
          <a:p>
            <a:pPr lvl="1"/>
            <a:r>
              <a:rPr lang="pt-BR" dirty="0"/>
              <a:t>FN (False Negative): casos positivos que o modelo classificou como negativos.</a:t>
            </a:r>
          </a:p>
          <a:p>
            <a:endParaRPr lang="pt-BR" dirty="0"/>
          </a:p>
          <a:p>
            <a:endParaRPr lang="ar-AE" b="0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AA4A507-FE2A-0154-A997-1D1DD983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14" y="3972606"/>
            <a:ext cx="694440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25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2BE0-3B58-65B8-CCCE-739CAA5E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DB46C-AD5B-B8BC-D983-B5A4CA9B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67AB5DD-4A7E-A738-DE17-16712F68C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7078" y="1298713"/>
                <a:ext cx="11410122" cy="492179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pt-BR" b="1" dirty="0" err="1"/>
                  <a:t>Curácia</a:t>
                </a:r>
                <a:r>
                  <a:rPr lang="pt-BR" dirty="0">
                    <a:effectLst/>
                  </a:rPr>
                  <a:t>: proporção de acertos totais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b="0"/>
                        <m:t>Acur</m:t>
                      </m:r>
                      <m:limUpp>
                        <m:limUp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m:rPr>
                              <m:nor/>
                            </m:rPr>
                            <a:rPr lang="pt-BR" b="0" i="1"/>
                            <m:t>a</m:t>
                          </m:r>
                        </m:e>
                        <m:lim>
                          <m:r>
                            <a:rPr lang="ar-AE">
                              <a:latin typeface="Cambria Math" panose="02040503050406030204" pitchFamily="18" charset="0"/>
                            </a:rPr>
                            <m:t>ˊ</m:t>
                          </m:r>
                        </m:lim>
                      </m:limUpp>
                      <m:r>
                        <m:rPr>
                          <m:nor/>
                        </m:rPr>
                        <a:rPr lang="pt-BR" i="1"/>
                        <m:t>cia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𝑉𝑁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pt-BR" b="1" dirty="0">
                    <a:effectLst/>
                  </a:rPr>
                  <a:t>Precisão (</a:t>
                </a:r>
                <a:r>
                  <a:rPr lang="pt-BR" b="1" dirty="0" err="1">
                    <a:effectLst/>
                  </a:rPr>
                  <a:t>Precision</a:t>
                </a:r>
                <a:r>
                  <a:rPr lang="pt-BR" b="1" dirty="0">
                    <a:effectLst/>
                  </a:rPr>
                  <a:t>)</a:t>
                </a:r>
                <a:r>
                  <a:rPr lang="pt-BR" dirty="0">
                    <a:effectLst/>
                  </a:rPr>
                  <a:t>: entre os classificados como positivos, quantos realmente são positivos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b="0"/>
                        <m:t>Precis</m:t>
                      </m:r>
                      <m:acc>
                        <m:accPr>
                          <m:chr m:val="̃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pt-BR" b="0" i="1"/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lang="pt-BR" i="1"/>
                        <m:t>o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pt-BR" b="1" dirty="0" err="1">
                    <a:effectLst/>
                  </a:rPr>
                  <a:t>Revocação</a:t>
                </a:r>
                <a:r>
                  <a:rPr lang="pt-BR" b="1" dirty="0">
                    <a:effectLst/>
                  </a:rPr>
                  <a:t> (Recall ou Sensibilidade)</a:t>
                </a:r>
                <a:r>
                  <a:rPr lang="pt-BR" dirty="0">
                    <a:effectLst/>
                  </a:rPr>
                  <a:t>: entre os positivos reais, quantos foram corretamente identificados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b="0"/>
                        <m:t>Recall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𝑉𝑃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pt-BR" b="1" dirty="0">
                    <a:effectLst/>
                  </a:rPr>
                  <a:t>Especificidade</a:t>
                </a:r>
                <a:r>
                  <a:rPr lang="pt-BR" dirty="0">
                    <a:effectLst/>
                  </a:rPr>
                  <a:t>: entre os negativos reais, quantos foram corretamente identificados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b="0"/>
                        <m:t>Especificidade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𝑉𝑁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pt-BR" b="1" dirty="0">
                    <a:effectLst/>
                  </a:rPr>
                  <a:t>F1-Score</a:t>
                </a:r>
                <a:r>
                  <a:rPr lang="pt-BR" dirty="0">
                    <a:effectLst/>
                  </a:rPr>
                  <a:t>: equilíbrio entre precisão e recall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i="1"/>
                            <m:t>Precis</m:t>
                          </m:r>
                          <m:acc>
                            <m:accPr>
                              <m:chr m:val="̃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pt-BR" i="1"/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pt-BR" i="1"/>
                            <m:t>o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pt-BR" i="1"/>
                            <m:t>Recall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i="1"/>
                            <m:t>Precis</m:t>
                          </m:r>
                          <m:acc>
                            <m:accPr>
                              <m:chr m:val="̃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pt-BR" i="1"/>
                                <m:t>a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pt-BR" i="1"/>
                            <m:t>o</m:t>
                          </m:r>
                          <m:r>
                            <a:rPr lang="pt-BR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pt-BR" i="1"/>
                            <m:t>Recall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67AB5DD-4A7E-A738-DE17-16712F68C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7078" y="1298713"/>
                <a:ext cx="11410122" cy="4921793"/>
              </a:xfrm>
              <a:blipFill>
                <a:blip r:embed="rId2"/>
                <a:stretch>
                  <a:fillRect l="-588" t="-26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2046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0C71-6000-CF00-DCCA-7C15EDB1C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06945-36BC-92A9-D20B-84E2A812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Aprendizado Não Supervisionado (</a:t>
            </a:r>
            <a:r>
              <a:rPr lang="pt-BR" b="1" dirty="0" err="1"/>
              <a:t>Clustering</a:t>
            </a:r>
            <a:r>
              <a:rPr lang="pt-BR" b="1" dirty="0"/>
              <a:t>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59B64-E7C5-2FBC-AAC2-3A76454A3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298713"/>
            <a:ext cx="11410122" cy="4921793"/>
          </a:xfrm>
        </p:spPr>
        <p:txBody>
          <a:bodyPr>
            <a:normAutofit/>
          </a:bodyPr>
          <a:lstStyle/>
          <a:p>
            <a:r>
              <a:rPr lang="pt-BR" dirty="0"/>
              <a:t>O modelo </a:t>
            </a:r>
            <a:r>
              <a:rPr lang="pt-BR" b="1" dirty="0"/>
              <a:t>não recebe rótulos</a:t>
            </a:r>
            <a:r>
              <a:rPr lang="pt-BR" dirty="0"/>
              <a:t> (classes) durante o treinamento.</a:t>
            </a:r>
          </a:p>
          <a:p>
            <a:r>
              <a:rPr lang="pt-BR" dirty="0"/>
              <a:t>Ele tenta </a:t>
            </a:r>
            <a:r>
              <a:rPr lang="pt-BR" b="1" dirty="0"/>
              <a:t>descobrir padrões ocultos</a:t>
            </a:r>
            <a:r>
              <a:rPr lang="pt-BR" dirty="0"/>
              <a:t> nos dados por conta própria.</a:t>
            </a:r>
          </a:p>
          <a:p>
            <a:r>
              <a:rPr lang="pt-BR" dirty="0"/>
              <a:t>Uso típico: segmentar clientes sem saber previamente os grupos, detectar anomalias, organizar dados sem categorias definidas.</a:t>
            </a:r>
          </a:p>
          <a:p>
            <a:endParaRPr lang="pt-BR" dirty="0"/>
          </a:p>
          <a:p>
            <a:r>
              <a:rPr lang="pt-BR" dirty="0" err="1"/>
              <a:t>rendizado</a:t>
            </a:r>
            <a:r>
              <a:rPr lang="pt-BR" dirty="0"/>
              <a:t> não supervisionado X supervisionado </a:t>
            </a:r>
            <a:r>
              <a:rPr lang="pt-BR" dirty="0" err="1"/>
              <a:t>multicasse</a:t>
            </a:r>
            <a:r>
              <a:rPr lang="pt-BR" dirty="0"/>
              <a:t>: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A6EF94-8888-C910-8548-C7D99687E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8" y="4124738"/>
            <a:ext cx="10446182" cy="19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00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0263-81E0-EA20-E603-ABA46BF1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45AA9-78A3-E773-4ED3-EAEBF883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Neurais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42D32B-AABD-6ACE-AC89-81325186B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Rede neural é um sistema de inteligência artificial capaz de aprender a partir de exemplos, ajustando conexões internas para reconhecer padrões, fazer previsões ou tomar decisões.</a:t>
            </a:r>
          </a:p>
          <a:p>
            <a:r>
              <a:rPr lang="pt-BR" dirty="0"/>
              <a:t>Cada neurônio artificial recebe entradas (dados)</a:t>
            </a:r>
          </a:p>
          <a:p>
            <a:r>
              <a:rPr lang="pt-BR" dirty="0"/>
              <a:t>Essas entradas são ponderadas por pesos</a:t>
            </a:r>
          </a:p>
          <a:p>
            <a:r>
              <a:rPr lang="pt-BR" dirty="0"/>
              <a:t>O resultado passa por uma função de ativação</a:t>
            </a:r>
          </a:p>
          <a:p>
            <a:r>
              <a:rPr lang="pt-BR" dirty="0"/>
              <a:t>A informação segue para a próxima camada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3591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2D97-2B61-1E3E-BBCD-45ECA972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35964-6E1F-16B8-A57B-169CE81D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Neurais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3A111D0-9B75-3FEB-3716-198094A65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2366325"/>
            <a:ext cx="10515600" cy="4491675"/>
          </a:xfrm>
          <a:prstGeom prst="rect">
            <a:avLst/>
          </a:prstGeom>
        </p:spPr>
      </p:pic>
      <p:sp>
        <p:nvSpPr>
          <p:cNvPr id="6" name="AutoShape 2" descr="Estrutura de uma Rede Neural Artificial. | Download Scientific Diagram">
            <a:extLst>
              <a:ext uri="{FF2B5EF4-FFF2-40B4-BE49-F238E27FC236}">
                <a16:creationId xmlns:a16="http://schemas.microsoft.com/office/drawing/2014/main" id="{A5DCD8BC-1495-9A41-321D-BE314F06FA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28" name="Picture 4" descr="Estrutura de uma Rede Neural Artificial. | Download Scientific Diagram">
            <a:extLst>
              <a:ext uri="{FF2B5EF4-FFF2-40B4-BE49-F238E27FC236}">
                <a16:creationId xmlns:a16="http://schemas.microsoft.com/office/drawing/2014/main" id="{8CE50EFE-96D8-1827-B6BF-B04B8C295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618" y="365125"/>
            <a:ext cx="3519390" cy="188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806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F89E-969E-2E8E-7929-1F7324F6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5C7C6-E616-AE7C-9368-F7524629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Machine </a:t>
            </a:r>
            <a:r>
              <a:rPr lang="pt-BR"/>
              <a:t>Learning - Azure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2D696-55C2-4AFD-013A-AE8A62566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São os olhos de um computador.</a:t>
            </a:r>
          </a:p>
          <a:p>
            <a:r>
              <a:rPr lang="pt-BR" dirty="0"/>
              <a:t>Campo da inteligência artificial que ensina computadores no campo visual, imagens e vídeos.</a:t>
            </a:r>
          </a:p>
          <a:p>
            <a:r>
              <a:rPr lang="pt-BR" dirty="0" err="1"/>
              <a:t>Video</a:t>
            </a:r>
            <a:r>
              <a:rPr lang="pt-BR" dirty="0"/>
              <a:t> é um sequencia de imagens medidas em FPS, frames por segundo, isso quer dizer que uma imagem gravada a 30 </a:t>
            </a:r>
            <a:r>
              <a:rPr lang="pt-BR" dirty="0" err="1"/>
              <a:t>fps</a:t>
            </a:r>
            <a:r>
              <a:rPr lang="pt-BR" dirty="0"/>
              <a:t> é uma sequencia de 30 frames por segundo.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3595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13E2-602F-D440-963A-D5A50BAD5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1FA52-D094-13D6-8BA8-94A77EB9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Computacional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3F3941-615C-ADAC-734C-CC6AF9A9E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São os olhos de um computador.</a:t>
            </a:r>
          </a:p>
          <a:p>
            <a:r>
              <a:rPr lang="pt-BR" dirty="0"/>
              <a:t>Campo da inteligência artificial que ensina computadores no campo visual, imagens e vídeos.</a:t>
            </a:r>
          </a:p>
          <a:p>
            <a:r>
              <a:rPr lang="pt-BR" dirty="0" err="1"/>
              <a:t>Video</a:t>
            </a:r>
            <a:r>
              <a:rPr lang="pt-BR" dirty="0"/>
              <a:t> é um sequencia de imagens medidas em FPS, frames por segundo, isso quer dizer que uma imagem gravada a 30 </a:t>
            </a:r>
            <a:r>
              <a:rPr lang="pt-BR" dirty="0" err="1"/>
              <a:t>fps</a:t>
            </a:r>
            <a:r>
              <a:rPr lang="pt-BR" dirty="0"/>
              <a:t> é uma sequencia de 30 frames por segundo.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2845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F477-3B2F-DF50-1D32-200A5A845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0C12E-0B7B-E6BD-95E5-101A34F5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de uso.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36FBF1-2BDE-D89B-D01F-C763766ED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Inteligência artificial analisando exames, raio-X, ressonância magnética, entre outros, trazendo velocidade e precisão.</a:t>
            </a:r>
          </a:p>
          <a:p>
            <a:r>
              <a:rPr lang="pt-BR" dirty="0"/>
              <a:t>Aplicativos de compras, permitem que através de uma foto do produto, permitindo a busca de produtos semelhantes.</a:t>
            </a:r>
          </a:p>
          <a:p>
            <a:r>
              <a:rPr lang="pt-BR" dirty="0"/>
              <a:t>Tradução de texto em tempo real, com aplicativos que leem textos através da câmera, como placa de rua, documentos, e outros a respondem com a tradução (Também conhecido como OCR).</a:t>
            </a:r>
          </a:p>
          <a:p>
            <a:r>
              <a:rPr lang="pt-BR" dirty="0"/>
              <a:t>Reconhecimento facial, usado para identificar pessoas lendo rostos, e autorizando entradas ou desbloqueios. O sistema tira uma foto e consegue identificar pessoas.</a:t>
            </a:r>
          </a:p>
          <a:p>
            <a:r>
              <a:rPr lang="pt-BR" dirty="0"/>
              <a:t>Veiculos autônomos, são veículos que tem câmeras e conseguem ajudar o motorista a dirigir. Detectam sinais de transito, pessoas e outros.</a:t>
            </a:r>
          </a:p>
          <a:p>
            <a:r>
              <a:rPr lang="pt-BR" dirty="0"/>
              <a:t>Segurança, sistemas de câmeras captam imagens do ambiente e conseguem identificar atividades incomum ou suspeitas.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7007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4949-FED5-770E-BBC0-6768F9E56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ABC1B-2BCF-53F7-F236-3B43D517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Pixels.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6F27CE-503B-7D08-06F6-0E10C805E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5230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07D81-111B-D5B1-36F9-C6423FB27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F5F42-7E4C-18CA-8C5A-31C49C97B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62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feff2ac-c3de-488c-99b2-c6384bfed2ea}" enabled="1" method="Standar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15170</TotalTime>
  <Words>1607</Words>
  <Application>Microsoft Office PowerPoint</Application>
  <PresentationFormat>Widescreen</PresentationFormat>
  <Paragraphs>130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Cambria Math</vt:lpstr>
      <vt:lpstr>Office Theme</vt:lpstr>
      <vt:lpstr>Apresentação do PowerPoint</vt:lpstr>
      <vt:lpstr>Apresentação do PowerPoint</vt:lpstr>
      <vt:lpstr>Exame AZURE IA 900 COPILOT</vt:lpstr>
      <vt:lpstr>Modulo 1 – Visão Geral</vt:lpstr>
      <vt:lpstr>Visão Geral</vt:lpstr>
      <vt:lpstr>Modulo 1 – Visão Geral no Azure</vt:lpstr>
      <vt:lpstr>Modulo 1 – Visão Geral no Azure</vt:lpstr>
      <vt:lpstr>Modulo 1 – Visão Geral no Azure</vt:lpstr>
      <vt:lpstr>Visão Geral.</vt:lpstr>
      <vt:lpstr> – Visão Geral Fonte Microsoft</vt:lpstr>
      <vt:lpstr>Workloads</vt:lpstr>
      <vt:lpstr>Principios de IA responsável.</vt:lpstr>
      <vt:lpstr>Principios de IA responsável.</vt:lpstr>
      <vt:lpstr>Apresentação do PowerPoint</vt:lpstr>
      <vt:lpstr>Tipos de Algoritmos</vt:lpstr>
      <vt:lpstr>Apresentação do PowerPoint</vt:lpstr>
      <vt:lpstr>Apresentação do PowerPoint</vt:lpstr>
      <vt:lpstr>Aprendizado Supervisionado</vt:lpstr>
      <vt:lpstr>Supervisionado - Regressão</vt:lpstr>
      <vt:lpstr>Supervisionado - Classificação</vt:lpstr>
      <vt:lpstr>Matriz de Confusão</vt:lpstr>
      <vt:lpstr>Matriz de Confusão</vt:lpstr>
      <vt:lpstr>Aprendizado Não Supervisionado (Clustering)</vt:lpstr>
      <vt:lpstr>Redes Neurais</vt:lpstr>
      <vt:lpstr>Redes Neurais</vt:lpstr>
      <vt:lpstr>Machine Learning - Azure</vt:lpstr>
      <vt:lpstr>Visão Computacional</vt:lpstr>
      <vt:lpstr>Caso de uso.</vt:lpstr>
      <vt:lpstr>Pixels.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Elder Gorayb</dc:creator>
  <cp:lastModifiedBy>Elder Gorayb</cp:lastModifiedBy>
  <cp:revision>124</cp:revision>
  <dcterms:created xsi:type="dcterms:W3CDTF">2019-12-28T17:44:48Z</dcterms:created>
  <dcterms:modified xsi:type="dcterms:W3CDTF">2026-10-07T00:41:16Z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6020b0-6d69-48c1-9bb5-c586c1062b70_Enabled">
    <vt:lpwstr>True</vt:lpwstr>
  </property>
  <property fmtid="{D5CDD505-2E9C-101B-9397-08002B2CF9AE}" pid="3" name="MSIP_Label_236020b0-6d69-48c1-9bb5-c586c1062b70_SiteId">
    <vt:lpwstr>cf36141c-ddd7-45a7-b073-111f66d0b30c</vt:lpwstr>
  </property>
  <property fmtid="{D5CDD505-2E9C-101B-9397-08002B2CF9AE}" pid="4" name="MSIP_Label_236020b0-6d69-48c1-9bb5-c586c1062b70_Owner">
    <vt:lpwstr>elder.gorayb@avanade.com</vt:lpwstr>
  </property>
  <property fmtid="{D5CDD505-2E9C-101B-9397-08002B2CF9AE}" pid="5" name="MSIP_Label_236020b0-6d69-48c1-9bb5-c586c1062b70_SetDate">
    <vt:lpwstr>2019-12-28T17:53:21.4304091Z</vt:lpwstr>
  </property>
  <property fmtid="{D5CDD505-2E9C-101B-9397-08002B2CF9AE}" pid="6" name="MSIP_Label_236020b0-6d69-48c1-9bb5-c586c1062b70_Name">
    <vt:lpwstr>Confidential</vt:lpwstr>
  </property>
  <property fmtid="{D5CDD505-2E9C-101B-9397-08002B2CF9AE}" pid="7" name="MSIP_Label_236020b0-6d69-48c1-9bb5-c586c1062b70_Application">
    <vt:lpwstr>Microsoft Azure Information Protection</vt:lpwstr>
  </property>
  <property fmtid="{D5CDD505-2E9C-101B-9397-08002B2CF9AE}" pid="8" name="MSIP_Label_236020b0-6d69-48c1-9bb5-c586c1062b70_ActionId">
    <vt:lpwstr>99100a9b-44d7-46c3-a09c-f8f3aa54c062</vt:lpwstr>
  </property>
  <property fmtid="{D5CDD505-2E9C-101B-9397-08002B2CF9AE}" pid="9" name="MSIP_Label_236020b0-6d69-48c1-9bb5-c586c1062b70_Extended_MSFT_Method">
    <vt:lpwstr>Automatic</vt:lpwstr>
  </property>
  <property fmtid="{D5CDD505-2E9C-101B-9397-08002B2CF9AE}" pid="10" name="MSIP_Label_5fae8262-b78e-4366-8929-a5d6aac95320_Enabled">
    <vt:lpwstr>True</vt:lpwstr>
  </property>
  <property fmtid="{D5CDD505-2E9C-101B-9397-08002B2CF9AE}" pid="11" name="MSIP_Label_5fae8262-b78e-4366-8929-a5d6aac95320_SiteId">
    <vt:lpwstr>cf36141c-ddd7-45a7-b073-111f66d0b30c</vt:lpwstr>
  </property>
  <property fmtid="{D5CDD505-2E9C-101B-9397-08002B2CF9AE}" pid="12" name="MSIP_Label_5fae8262-b78e-4366-8929-a5d6aac95320_Owner">
    <vt:lpwstr>elder.gorayb@avanade.com</vt:lpwstr>
  </property>
  <property fmtid="{D5CDD505-2E9C-101B-9397-08002B2CF9AE}" pid="13" name="MSIP_Label_5fae8262-b78e-4366-8929-a5d6aac95320_SetDate">
    <vt:lpwstr>2019-12-28T17:53:21.4304091Z</vt:lpwstr>
  </property>
  <property fmtid="{D5CDD505-2E9C-101B-9397-08002B2CF9AE}" pid="14" name="MSIP_Label_5fae8262-b78e-4366-8929-a5d6aac95320_Name">
    <vt:lpwstr>Recipients Have Full Control</vt:lpwstr>
  </property>
  <property fmtid="{D5CDD505-2E9C-101B-9397-08002B2CF9AE}" pid="15" name="MSIP_Label_5fae8262-b78e-4366-8929-a5d6aac95320_Application">
    <vt:lpwstr>Microsoft Azure Information Protection</vt:lpwstr>
  </property>
  <property fmtid="{D5CDD505-2E9C-101B-9397-08002B2CF9AE}" pid="16" name="MSIP_Label_5fae8262-b78e-4366-8929-a5d6aac95320_ActionId">
    <vt:lpwstr>99100a9b-44d7-46c3-a09c-f8f3aa54c062</vt:lpwstr>
  </property>
  <property fmtid="{D5CDD505-2E9C-101B-9397-08002B2CF9AE}" pid="17" name="MSIP_Label_5fae8262-b78e-4366-8929-a5d6aac95320_Parent">
    <vt:lpwstr>236020b0-6d69-48c1-9bb5-c586c1062b70</vt:lpwstr>
  </property>
  <property fmtid="{D5CDD505-2E9C-101B-9397-08002B2CF9AE}" pid="18" name="MSIP_Label_5fae8262-b78e-4366-8929-a5d6aac95320_Extended_MSFT_Method">
    <vt:lpwstr>Automatic</vt:lpwstr>
  </property>
  <property fmtid="{D5CDD505-2E9C-101B-9397-08002B2CF9AE}" pid="19" name="Sensitivity">
    <vt:lpwstr>Confidential Recipients Have Full Control</vt:lpwstr>
  </property>
  <property fmtid="{D5CDD505-2E9C-101B-9397-08002B2CF9AE}" pid="20" name="ClassificationContentMarkingFooterLocations">
    <vt:lpwstr>Office Theme:8</vt:lpwstr>
  </property>
  <property fmtid="{D5CDD505-2E9C-101B-9397-08002B2CF9AE}" pid="21" name="ClassificationContentMarkingFooterText">
    <vt:lpwstr>*** Clasificado CORPORATIVO por TELEFÓNICA. *** Classified CORPORATE by TELEFÓNICA.
*** Classificado como CORPORATIVO pela TELEFÓNICA. *** Von TELEFÓNICA als UNTERNEHMENSINTERN eingestuft.</vt:lpwstr>
  </property>
</Properties>
</file>