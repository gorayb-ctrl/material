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369" r:id="rId3"/>
    <p:sldId id="296" r:id="rId4"/>
    <p:sldId id="297" r:id="rId5"/>
    <p:sldId id="298" r:id="rId6"/>
    <p:sldId id="299" r:id="rId7"/>
    <p:sldId id="300" r:id="rId8"/>
    <p:sldId id="278" r:id="rId9"/>
    <p:sldId id="263" r:id="rId10"/>
    <p:sldId id="370" r:id="rId11"/>
    <p:sldId id="281" r:id="rId12"/>
    <p:sldId id="301" r:id="rId13"/>
    <p:sldId id="267" r:id="rId14"/>
    <p:sldId id="261" r:id="rId15"/>
    <p:sldId id="262" r:id="rId16"/>
    <p:sldId id="258" r:id="rId17"/>
    <p:sldId id="257" r:id="rId18"/>
    <p:sldId id="304" r:id="rId19"/>
    <p:sldId id="305" r:id="rId20"/>
    <p:sldId id="306" r:id="rId21"/>
    <p:sldId id="259" r:id="rId22"/>
    <p:sldId id="303" r:id="rId23"/>
    <p:sldId id="302" r:id="rId24"/>
    <p:sldId id="279" r:id="rId25"/>
    <p:sldId id="275" r:id="rId26"/>
    <p:sldId id="277" r:id="rId27"/>
    <p:sldId id="307" r:id="rId28"/>
    <p:sldId id="308" r:id="rId29"/>
    <p:sldId id="309" r:id="rId30"/>
    <p:sldId id="310" r:id="rId31"/>
    <p:sldId id="312" r:id="rId32"/>
    <p:sldId id="269" r:id="rId33"/>
    <p:sldId id="268" r:id="rId34"/>
    <p:sldId id="311" r:id="rId35"/>
    <p:sldId id="314" r:id="rId36"/>
    <p:sldId id="313" r:id="rId37"/>
    <p:sldId id="315" r:id="rId38"/>
    <p:sldId id="316" r:id="rId39"/>
    <p:sldId id="376" r:id="rId40"/>
    <p:sldId id="318" r:id="rId41"/>
    <p:sldId id="367" r:id="rId42"/>
    <p:sldId id="359" r:id="rId43"/>
    <p:sldId id="317" r:id="rId44"/>
    <p:sldId id="364" r:id="rId45"/>
    <p:sldId id="368" r:id="rId46"/>
    <p:sldId id="365" r:id="rId47"/>
    <p:sldId id="366" r:id="rId48"/>
    <p:sldId id="319" r:id="rId49"/>
    <p:sldId id="342" r:id="rId50"/>
    <p:sldId id="343" r:id="rId51"/>
    <p:sldId id="345" r:id="rId52"/>
    <p:sldId id="374" r:id="rId53"/>
    <p:sldId id="375" r:id="rId54"/>
    <p:sldId id="320" r:id="rId55"/>
    <p:sldId id="352" r:id="rId56"/>
    <p:sldId id="354" r:id="rId57"/>
    <p:sldId id="353" r:id="rId58"/>
    <p:sldId id="355" r:id="rId59"/>
    <p:sldId id="356" r:id="rId60"/>
    <p:sldId id="357" r:id="rId61"/>
    <p:sldId id="358" r:id="rId62"/>
    <p:sldId id="322" r:id="rId63"/>
    <p:sldId id="346" r:id="rId64"/>
    <p:sldId id="347" r:id="rId65"/>
    <p:sldId id="350" r:id="rId66"/>
    <p:sldId id="351" r:id="rId67"/>
    <p:sldId id="348" r:id="rId68"/>
    <p:sldId id="349" r:id="rId69"/>
    <p:sldId id="323" r:id="rId70"/>
    <p:sldId id="371" r:id="rId71"/>
    <p:sldId id="321" r:id="rId72"/>
    <p:sldId id="377" r:id="rId73"/>
    <p:sldId id="335" r:id="rId74"/>
    <p:sldId id="360" r:id="rId75"/>
    <p:sldId id="336" r:id="rId76"/>
    <p:sldId id="337" r:id="rId77"/>
    <p:sldId id="338" r:id="rId78"/>
    <p:sldId id="339" r:id="rId79"/>
    <p:sldId id="340" r:id="rId80"/>
    <p:sldId id="341" r:id="rId81"/>
    <p:sldId id="324" r:id="rId82"/>
    <p:sldId id="327" r:id="rId83"/>
    <p:sldId id="328" r:id="rId84"/>
    <p:sldId id="362" r:id="rId85"/>
    <p:sldId id="361" r:id="rId86"/>
    <p:sldId id="363" r:id="rId87"/>
    <p:sldId id="326" r:id="rId88"/>
    <p:sldId id="330" r:id="rId89"/>
    <p:sldId id="329" r:id="rId90"/>
    <p:sldId id="331" r:id="rId91"/>
    <p:sldId id="332" r:id="rId92"/>
    <p:sldId id="334" r:id="rId93"/>
    <p:sldId id="373" r:id="rId94"/>
    <p:sldId id="325" r:id="rId95"/>
    <p:sldId id="273" r:id="rId96"/>
    <p:sldId id="271" r:id="rId97"/>
    <p:sldId id="272" r:id="rId98"/>
    <p:sldId id="270" r:id="rId99"/>
    <p:sldId id="282" r:id="rId100"/>
    <p:sldId id="283" r:id="rId101"/>
    <p:sldId id="295" r:id="rId102"/>
    <p:sldId id="284" r:id="rId103"/>
    <p:sldId id="286" r:id="rId104"/>
    <p:sldId id="287" r:id="rId105"/>
    <p:sldId id="288" r:id="rId106"/>
    <p:sldId id="289" r:id="rId107"/>
    <p:sldId id="291" r:id="rId108"/>
    <p:sldId id="292" r:id="rId109"/>
    <p:sldId id="293" r:id="rId110"/>
    <p:sldId id="294" r:id="rId1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der Gorayb" userId="2b36c9a13f8b2c09" providerId="LiveId" clId="{C58D4192-71D8-41E1-BD99-505AF2E14732}"/>
    <pc:docChg chg="undo custSel addSld delSld modSld">
      <pc:chgData name="Elder Gorayb" userId="2b36c9a13f8b2c09" providerId="LiveId" clId="{C58D4192-71D8-41E1-BD99-505AF2E14732}" dt="2025-05-19T20:45:10.063" v="3992" actId="20577"/>
      <pc:docMkLst>
        <pc:docMk/>
      </pc:docMkLst>
      <pc:sldChg chg="modSp mod">
        <pc:chgData name="Elder Gorayb" userId="2b36c9a13f8b2c09" providerId="LiveId" clId="{C58D4192-71D8-41E1-BD99-505AF2E14732}" dt="2025-05-13T17:23:27.917" v="2226" actId="20577"/>
        <pc:sldMkLst>
          <pc:docMk/>
          <pc:sldMk cId="3308577286" sldId="319"/>
        </pc:sldMkLst>
        <pc:spChg chg="mod">
          <ac:chgData name="Elder Gorayb" userId="2b36c9a13f8b2c09" providerId="LiveId" clId="{C58D4192-71D8-41E1-BD99-505AF2E14732}" dt="2025-05-13T17:23:27.917" v="2226" actId="20577"/>
          <ac:spMkLst>
            <pc:docMk/>
            <pc:sldMk cId="3308577286" sldId="319"/>
            <ac:spMk id="2" creationId="{F3EF1A80-F533-A3AD-4736-CBDDD42473E3}"/>
          </ac:spMkLst>
        </pc:spChg>
      </pc:sldChg>
      <pc:sldChg chg="delSp mod">
        <pc:chgData name="Elder Gorayb" userId="2b36c9a13f8b2c09" providerId="LiveId" clId="{C58D4192-71D8-41E1-BD99-505AF2E14732}" dt="2025-05-05T20:27:42.719" v="1710" actId="478"/>
        <pc:sldMkLst>
          <pc:docMk/>
          <pc:sldMk cId="2795332514" sldId="323"/>
        </pc:sldMkLst>
      </pc:sldChg>
      <pc:sldChg chg="modSp mod">
        <pc:chgData name="Elder Gorayb" userId="2b36c9a13f8b2c09" providerId="LiveId" clId="{C58D4192-71D8-41E1-BD99-505AF2E14732}" dt="2025-04-28T14:14:40.550" v="3" actId="27636"/>
        <pc:sldMkLst>
          <pc:docMk/>
          <pc:sldMk cId="4205902837" sldId="364"/>
        </pc:sldMkLst>
        <pc:spChg chg="mod">
          <ac:chgData name="Elder Gorayb" userId="2b36c9a13f8b2c09" providerId="LiveId" clId="{C58D4192-71D8-41E1-BD99-505AF2E14732}" dt="2025-04-28T14:14:40.550" v="3" actId="27636"/>
          <ac:spMkLst>
            <pc:docMk/>
            <pc:sldMk cId="4205902837" sldId="364"/>
            <ac:spMk id="3" creationId="{08B2C66F-9CBA-09B6-0B6D-65C2A93715F0}"/>
          </ac:spMkLst>
        </pc:spChg>
      </pc:sldChg>
      <pc:sldChg chg="modSp mod">
        <pc:chgData name="Elder Gorayb" userId="2b36c9a13f8b2c09" providerId="LiveId" clId="{C58D4192-71D8-41E1-BD99-505AF2E14732}" dt="2025-05-05T20:27:09.394" v="1709" actId="20577"/>
        <pc:sldMkLst>
          <pc:docMk/>
          <pc:sldMk cId="3788967203" sldId="366"/>
        </pc:sldMkLst>
        <pc:spChg chg="mod">
          <ac:chgData name="Elder Gorayb" userId="2b36c9a13f8b2c09" providerId="LiveId" clId="{C58D4192-71D8-41E1-BD99-505AF2E14732}" dt="2025-05-05T20:27:09.394" v="1709" actId="20577"/>
          <ac:spMkLst>
            <pc:docMk/>
            <pc:sldMk cId="3788967203" sldId="366"/>
            <ac:spMk id="3" creationId="{D57F75B1-F7B4-D6CE-1BEF-0914DDBF3B7D}"/>
          </ac:spMkLst>
        </pc:spChg>
      </pc:sldChg>
      <pc:sldChg chg="modSp new mod">
        <pc:chgData name="Elder Gorayb" userId="2b36c9a13f8b2c09" providerId="LiveId" clId="{C58D4192-71D8-41E1-BD99-505AF2E14732}" dt="2025-04-28T14:18:55.597" v="197" actId="5793"/>
        <pc:sldMkLst>
          <pc:docMk/>
          <pc:sldMk cId="1097133182" sldId="368"/>
        </pc:sldMkLst>
        <pc:spChg chg="mod">
          <ac:chgData name="Elder Gorayb" userId="2b36c9a13f8b2c09" providerId="LiveId" clId="{C58D4192-71D8-41E1-BD99-505AF2E14732}" dt="2025-04-28T14:14:34.238" v="1"/>
          <ac:spMkLst>
            <pc:docMk/>
            <pc:sldMk cId="1097133182" sldId="368"/>
            <ac:spMk id="2" creationId="{B1BDB11D-881C-9EEE-2A34-2CF23CA76486}"/>
          </ac:spMkLst>
        </pc:spChg>
        <pc:spChg chg="mod">
          <ac:chgData name="Elder Gorayb" userId="2b36c9a13f8b2c09" providerId="LiveId" clId="{C58D4192-71D8-41E1-BD99-505AF2E14732}" dt="2025-04-28T14:18:55.597" v="197" actId="5793"/>
          <ac:spMkLst>
            <pc:docMk/>
            <pc:sldMk cId="1097133182" sldId="368"/>
            <ac:spMk id="3" creationId="{77A38DFF-5220-711A-96C3-B8CE5C7FDEB3}"/>
          </ac:spMkLst>
        </pc:spChg>
      </pc:sldChg>
      <pc:sldChg chg="new">
        <pc:chgData name="Elder Gorayb" userId="2b36c9a13f8b2c09" providerId="LiveId" clId="{C58D4192-71D8-41E1-BD99-505AF2E14732}" dt="2025-04-28T21:12:34.550" v="198" actId="680"/>
        <pc:sldMkLst>
          <pc:docMk/>
          <pc:sldMk cId="2496913805" sldId="369"/>
        </pc:sldMkLst>
      </pc:sldChg>
      <pc:sldChg chg="modSp new mod">
        <pc:chgData name="Elder Gorayb" userId="2b36c9a13f8b2c09" providerId="LiveId" clId="{C58D4192-71D8-41E1-BD99-505AF2E14732}" dt="2025-04-28T23:58:36.897" v="943" actId="20577"/>
        <pc:sldMkLst>
          <pc:docMk/>
          <pc:sldMk cId="1649650989" sldId="370"/>
        </pc:sldMkLst>
        <pc:spChg chg="mod">
          <ac:chgData name="Elder Gorayb" userId="2b36c9a13f8b2c09" providerId="LiveId" clId="{C58D4192-71D8-41E1-BD99-505AF2E14732}" dt="2025-04-28T23:02:42.967" v="221" actId="20577"/>
          <ac:spMkLst>
            <pc:docMk/>
            <pc:sldMk cId="1649650989" sldId="370"/>
            <ac:spMk id="2" creationId="{B611B08B-6ECC-51CF-C30C-B961F4126282}"/>
          </ac:spMkLst>
        </pc:spChg>
        <pc:spChg chg="mod">
          <ac:chgData name="Elder Gorayb" userId="2b36c9a13f8b2c09" providerId="LiveId" clId="{C58D4192-71D8-41E1-BD99-505AF2E14732}" dt="2025-04-28T23:58:36.897" v="943" actId="20577"/>
          <ac:spMkLst>
            <pc:docMk/>
            <pc:sldMk cId="1649650989" sldId="370"/>
            <ac:spMk id="3" creationId="{8400B730-57F4-B74F-1C36-61D418038AED}"/>
          </ac:spMkLst>
        </pc:spChg>
      </pc:sldChg>
      <pc:sldChg chg="modSp new mod">
        <pc:chgData name="Elder Gorayb" userId="2b36c9a13f8b2c09" providerId="LiveId" clId="{C58D4192-71D8-41E1-BD99-505AF2E14732}" dt="2025-05-19T20:31:56.986" v="3237" actId="5793"/>
        <pc:sldMkLst>
          <pc:docMk/>
          <pc:sldMk cId="1867796574" sldId="371"/>
        </pc:sldMkLst>
        <pc:spChg chg="mod">
          <ac:chgData name="Elder Gorayb" userId="2b36c9a13f8b2c09" providerId="LiveId" clId="{C58D4192-71D8-41E1-BD99-505AF2E14732}" dt="2025-05-05T20:28:53.502" v="1744" actId="20577"/>
          <ac:spMkLst>
            <pc:docMk/>
            <pc:sldMk cId="1867796574" sldId="371"/>
            <ac:spMk id="2" creationId="{C721BF37-7599-DAAC-184F-F4655E2E26A7}"/>
          </ac:spMkLst>
        </pc:spChg>
        <pc:spChg chg="mod">
          <ac:chgData name="Elder Gorayb" userId="2b36c9a13f8b2c09" providerId="LiveId" clId="{C58D4192-71D8-41E1-BD99-505AF2E14732}" dt="2025-05-19T20:31:56.986" v="3237" actId="5793"/>
          <ac:spMkLst>
            <pc:docMk/>
            <pc:sldMk cId="1867796574" sldId="371"/>
            <ac:spMk id="3" creationId="{C7CF27B7-04DA-5187-8A37-DCD5486C520A}"/>
          </ac:spMkLst>
        </pc:spChg>
      </pc:sldChg>
      <pc:sldChg chg="addSp modSp new del mod">
        <pc:chgData name="Elder Gorayb" userId="2b36c9a13f8b2c09" providerId="LiveId" clId="{C58D4192-71D8-41E1-BD99-505AF2E14732}" dt="2025-05-08T15:03:13.011" v="1876" actId="2696"/>
        <pc:sldMkLst>
          <pc:docMk/>
          <pc:sldMk cId="1934572352" sldId="372"/>
        </pc:sldMkLst>
      </pc:sldChg>
      <pc:sldChg chg="modSp new mod">
        <pc:chgData name="Elder Gorayb" userId="2b36c9a13f8b2c09" providerId="LiveId" clId="{C58D4192-71D8-41E1-BD99-505AF2E14732}" dt="2025-05-08T15:16:17.987" v="1878" actId="14100"/>
        <pc:sldMkLst>
          <pc:docMk/>
          <pc:sldMk cId="1312406704" sldId="373"/>
        </pc:sldMkLst>
        <pc:spChg chg="mod">
          <ac:chgData name="Elder Gorayb" userId="2b36c9a13f8b2c09" providerId="LiveId" clId="{C58D4192-71D8-41E1-BD99-505AF2E14732}" dt="2025-05-08T15:03:04.982" v="1874" actId="14100"/>
          <ac:spMkLst>
            <pc:docMk/>
            <pc:sldMk cId="1312406704" sldId="373"/>
            <ac:spMk id="2" creationId="{FAC0D539-7997-1853-5883-9515366D4DE2}"/>
          </ac:spMkLst>
        </pc:spChg>
        <pc:spChg chg="mod">
          <ac:chgData name="Elder Gorayb" userId="2b36c9a13f8b2c09" providerId="LiveId" clId="{C58D4192-71D8-41E1-BD99-505AF2E14732}" dt="2025-05-08T15:16:17.987" v="1878" actId="14100"/>
          <ac:spMkLst>
            <pc:docMk/>
            <pc:sldMk cId="1312406704" sldId="373"/>
            <ac:spMk id="3" creationId="{EC98EC89-4D91-81CB-019F-1CCD0E1E1751}"/>
          </ac:spMkLst>
        </pc:spChg>
      </pc:sldChg>
      <pc:sldChg chg="addSp modSp new mod">
        <pc:chgData name="Elder Gorayb" userId="2b36c9a13f8b2c09" providerId="LiveId" clId="{C58D4192-71D8-41E1-BD99-505AF2E14732}" dt="2025-05-13T17:41:56.423" v="2564" actId="27636"/>
        <pc:sldMkLst>
          <pc:docMk/>
          <pc:sldMk cId="1645285952" sldId="374"/>
        </pc:sldMkLst>
        <pc:spChg chg="mod">
          <ac:chgData name="Elder Gorayb" userId="2b36c9a13f8b2c09" providerId="LiveId" clId="{C58D4192-71D8-41E1-BD99-505AF2E14732}" dt="2025-05-13T17:28:04.406" v="2248" actId="20577"/>
          <ac:spMkLst>
            <pc:docMk/>
            <pc:sldMk cId="1645285952" sldId="374"/>
            <ac:spMk id="2" creationId="{DFD3692F-5692-C849-ABA2-CDA8F4784217}"/>
          </ac:spMkLst>
        </pc:spChg>
        <pc:spChg chg="mod">
          <ac:chgData name="Elder Gorayb" userId="2b36c9a13f8b2c09" providerId="LiveId" clId="{C58D4192-71D8-41E1-BD99-505AF2E14732}" dt="2025-05-13T17:41:56.423" v="2564" actId="27636"/>
          <ac:spMkLst>
            <pc:docMk/>
            <pc:sldMk cId="1645285952" sldId="374"/>
            <ac:spMk id="3" creationId="{E88EBE99-DAB0-E6C3-A838-0D3B3009D962}"/>
          </ac:spMkLst>
        </pc:spChg>
      </pc:sldChg>
      <pc:sldChg chg="modSp add mod">
        <pc:chgData name="Elder Gorayb" userId="2b36c9a13f8b2c09" providerId="LiveId" clId="{C58D4192-71D8-41E1-BD99-505AF2E14732}" dt="2025-05-13T19:04:33.952" v="2787" actId="20577"/>
        <pc:sldMkLst>
          <pc:docMk/>
          <pc:sldMk cId="187240597" sldId="375"/>
        </pc:sldMkLst>
        <pc:spChg chg="mod">
          <ac:chgData name="Elder Gorayb" userId="2b36c9a13f8b2c09" providerId="LiveId" clId="{C58D4192-71D8-41E1-BD99-505AF2E14732}" dt="2025-05-13T18:51:22.941" v="2578" actId="20577"/>
          <ac:spMkLst>
            <pc:docMk/>
            <pc:sldMk cId="187240597" sldId="375"/>
            <ac:spMk id="2" creationId="{F19FCDB7-8A0F-75A1-ABC6-F6FD016AD43E}"/>
          </ac:spMkLst>
        </pc:spChg>
        <pc:spChg chg="mod">
          <ac:chgData name="Elder Gorayb" userId="2b36c9a13f8b2c09" providerId="LiveId" clId="{C58D4192-71D8-41E1-BD99-505AF2E14732}" dt="2025-05-13T19:04:33.952" v="2787" actId="20577"/>
          <ac:spMkLst>
            <pc:docMk/>
            <pc:sldMk cId="187240597" sldId="375"/>
            <ac:spMk id="3" creationId="{85A46069-B790-6FF9-CE40-360E373957E3}"/>
          </ac:spMkLst>
        </pc:spChg>
      </pc:sldChg>
      <pc:sldChg chg="modSp new mod">
        <pc:chgData name="Elder Gorayb" userId="2b36c9a13f8b2c09" providerId="LiveId" clId="{C58D4192-71D8-41E1-BD99-505AF2E14732}" dt="2025-05-15T18:47:51.562" v="2989" actId="20577"/>
        <pc:sldMkLst>
          <pc:docMk/>
          <pc:sldMk cId="1024429323" sldId="376"/>
        </pc:sldMkLst>
        <pc:spChg chg="mod">
          <ac:chgData name="Elder Gorayb" userId="2b36c9a13f8b2c09" providerId="LiveId" clId="{C58D4192-71D8-41E1-BD99-505AF2E14732}" dt="2025-05-15T18:46:56.249" v="2827" actId="20577"/>
          <ac:spMkLst>
            <pc:docMk/>
            <pc:sldMk cId="1024429323" sldId="376"/>
            <ac:spMk id="2" creationId="{27FAD4DC-75A8-261E-10C2-4FE071D1ABAD}"/>
          </ac:spMkLst>
        </pc:spChg>
        <pc:spChg chg="mod">
          <ac:chgData name="Elder Gorayb" userId="2b36c9a13f8b2c09" providerId="LiveId" clId="{C58D4192-71D8-41E1-BD99-505AF2E14732}" dt="2025-05-15T18:47:51.562" v="2989" actId="20577"/>
          <ac:spMkLst>
            <pc:docMk/>
            <pc:sldMk cId="1024429323" sldId="376"/>
            <ac:spMk id="3" creationId="{76A1411B-F41D-5137-3BF0-ACF08FBD248A}"/>
          </ac:spMkLst>
        </pc:spChg>
      </pc:sldChg>
      <pc:sldChg chg="modSp new mod">
        <pc:chgData name="Elder Gorayb" userId="2b36c9a13f8b2c09" providerId="LiveId" clId="{C58D4192-71D8-41E1-BD99-505AF2E14732}" dt="2025-05-19T20:45:10.063" v="3992" actId="20577"/>
        <pc:sldMkLst>
          <pc:docMk/>
          <pc:sldMk cId="510138071" sldId="377"/>
        </pc:sldMkLst>
        <pc:spChg chg="mod">
          <ac:chgData name="Elder Gorayb" userId="2b36c9a13f8b2c09" providerId="LiveId" clId="{C58D4192-71D8-41E1-BD99-505AF2E14732}" dt="2025-05-19T20:37:14.449" v="3255" actId="20577"/>
          <ac:spMkLst>
            <pc:docMk/>
            <pc:sldMk cId="510138071" sldId="377"/>
            <ac:spMk id="2" creationId="{283D8B0F-91D8-F16A-3788-0FDB556BE526}"/>
          </ac:spMkLst>
        </pc:spChg>
        <pc:spChg chg="mod">
          <ac:chgData name="Elder Gorayb" userId="2b36c9a13f8b2c09" providerId="LiveId" clId="{C58D4192-71D8-41E1-BD99-505AF2E14732}" dt="2025-05-19T20:45:10.063" v="3992" actId="20577"/>
          <ac:spMkLst>
            <pc:docMk/>
            <pc:sldMk cId="510138071" sldId="377"/>
            <ac:spMk id="3" creationId="{74A93EAF-8FDF-1804-8423-EB7D7EBF58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41F2-C11F-4500-991A-7367DC2A8CE9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A5D1-F2FE-49AD-8539-08825AED11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674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41F2-C11F-4500-991A-7367DC2A8CE9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A5D1-F2FE-49AD-8539-08825AED11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364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41F2-C11F-4500-991A-7367DC2A8CE9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A5D1-F2FE-49AD-8539-08825AED11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101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41F2-C11F-4500-991A-7367DC2A8CE9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A5D1-F2FE-49AD-8539-08825AED11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342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41F2-C11F-4500-991A-7367DC2A8CE9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A5D1-F2FE-49AD-8539-08825AED11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816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41F2-C11F-4500-991A-7367DC2A8CE9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A5D1-F2FE-49AD-8539-08825AED11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395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41F2-C11F-4500-991A-7367DC2A8CE9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A5D1-F2FE-49AD-8539-08825AED11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288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41F2-C11F-4500-991A-7367DC2A8CE9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A5D1-F2FE-49AD-8539-08825AED11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316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41F2-C11F-4500-991A-7367DC2A8CE9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A5D1-F2FE-49AD-8539-08825AED11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41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41F2-C11F-4500-991A-7367DC2A8CE9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A5D1-F2FE-49AD-8539-08825AED11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36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41F2-C11F-4500-991A-7367DC2A8CE9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A5D1-F2FE-49AD-8539-08825AED11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288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041F2-C11F-4500-991A-7367DC2A8CE9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7A5D1-F2FE-49AD-8539-08825AED11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4328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cli/latest/userguide/install-windows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pt/" TargetMode="External"/><Relationship Id="rId4" Type="http://schemas.openxmlformats.org/officeDocument/2006/relationships/hyperlink" Target="https://docs.aws.amazon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ws.amazon.com/pt/about-aws/global-infrastructure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https://it4us.com.br/mfa-microsoft/" TargetMode="External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pt/" TargetMode="External"/><Relationship Id="rId4" Type="http://schemas.openxmlformats.org/officeDocument/2006/relationships/hyperlink" Target="https://docs.aws.amazon.com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pt/" TargetMode="External"/><Relationship Id="rId4" Type="http://schemas.openxmlformats.org/officeDocument/2006/relationships/hyperlink" Target="https://docs.aws.amazon.com/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pt/" TargetMode="External"/><Relationship Id="rId4" Type="http://schemas.openxmlformats.org/officeDocument/2006/relationships/hyperlink" Target="https://docs.aws.amazon.com/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pt/" TargetMode="External"/><Relationship Id="rId4" Type="http://schemas.openxmlformats.org/officeDocument/2006/relationships/hyperlink" Target="https://docs.aws.amazon.com/" TargetMode="Externa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pt/" TargetMode="External"/><Relationship Id="rId4" Type="http://schemas.openxmlformats.org/officeDocument/2006/relationships/hyperlink" Target="https://docs.aws.amazon.com/" TargetMode="Externa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pt/" TargetMode="External"/><Relationship Id="rId4" Type="http://schemas.openxmlformats.org/officeDocument/2006/relationships/hyperlink" Target="https://docs.aws.amazon.com/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pt/" TargetMode="External"/><Relationship Id="rId4" Type="http://schemas.openxmlformats.org/officeDocument/2006/relationships/hyperlink" Target="https://docs.aws.amazon.com/" TargetMode="Externa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pt/" TargetMode="External"/><Relationship Id="rId4" Type="http://schemas.openxmlformats.org/officeDocument/2006/relationships/hyperlink" Target="https://docs.aws.amazon.com/" TargetMode="Externa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pt/" TargetMode="External"/><Relationship Id="rId4" Type="http://schemas.openxmlformats.org/officeDocument/2006/relationships/hyperlink" Target="https://docs.aws.amazon.com/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pt/" TargetMode="External"/><Relationship Id="rId4" Type="http://schemas.openxmlformats.org/officeDocument/2006/relationships/hyperlink" Target="https://docs.aws.amazon.com/" TargetMode="Externa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pt/" TargetMode="External"/><Relationship Id="rId4" Type="http://schemas.openxmlformats.org/officeDocument/2006/relationships/hyperlink" Target="https://docs.aws.amazon.com/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pt/" TargetMode="External"/><Relationship Id="rId4" Type="http://schemas.openxmlformats.org/officeDocument/2006/relationships/hyperlink" Target="https://docs.aws.amazon.com/" TargetMode="Externa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011" y="1893195"/>
            <a:ext cx="6429198" cy="375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94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CED45-317F-6251-117E-D4895B6E7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04C727-EB95-F617-F267-E67D49E2D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691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CE827-468A-E18D-2F34-FFEB5B35A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Vantagens Cloud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5DD46D-9858-5C46-EDDB-0B114666F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Agilidade-Velocidade – Facilidade de apresentar soluções para o cliente.</a:t>
            </a:r>
          </a:p>
          <a:p>
            <a:r>
              <a:rPr lang="pt-BR" noProof="0" dirty="0"/>
              <a:t>Update-Atualização – Facilidade em aplicar atualizações sem interromper o serviço. </a:t>
            </a:r>
          </a:p>
          <a:p>
            <a:r>
              <a:rPr lang="pt-BR" noProof="0" dirty="0"/>
              <a:t>Custo mais baixo que </a:t>
            </a:r>
            <a:r>
              <a:rPr lang="pt-BR" noProof="0" dirty="0" err="1"/>
              <a:t>on-pr</a:t>
            </a:r>
            <a:r>
              <a:rPr lang="pt-BR" dirty="0"/>
              <a:t>e</a:t>
            </a:r>
            <a:r>
              <a:rPr lang="pt-BR" noProof="0" dirty="0"/>
              <a:t>misse, negociação por período (x anos).</a:t>
            </a:r>
          </a:p>
          <a:p>
            <a:r>
              <a:rPr lang="pt-BR" noProof="0" dirty="0"/>
              <a:t>Data Security – Backup automático</a:t>
            </a:r>
          </a:p>
          <a:p>
            <a:r>
              <a:rPr lang="pt-BR" noProof="0" dirty="0"/>
              <a:t>Escalabilidade – Facilidade de crescimento, memória, cpu, disco. Pode ser automática ou manual.</a:t>
            </a:r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6012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D93B6-F8A1-FD1C-F25A-455C5804E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7B903-604A-8C80-7D55-9477A4F2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Tipos de Cloud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11DEBC-BA9E-1598-9CBD-EDC699359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IAAS -  </a:t>
            </a:r>
            <a:r>
              <a:rPr lang="pt-BR" noProof="0" dirty="0" err="1"/>
              <a:t>Infrastructure</a:t>
            </a:r>
            <a:r>
              <a:rPr lang="pt-BR" noProof="0" dirty="0"/>
              <a:t> as a </a:t>
            </a:r>
            <a:r>
              <a:rPr lang="pt-BR" noProof="0" dirty="0" err="1"/>
              <a:t>service</a:t>
            </a:r>
            <a:r>
              <a:rPr lang="pt-BR" noProof="0" dirty="0"/>
              <a:t> (network, </a:t>
            </a:r>
            <a:r>
              <a:rPr lang="pt-BR" noProof="0" dirty="0" err="1"/>
              <a:t>storage</a:t>
            </a:r>
            <a:r>
              <a:rPr lang="pt-BR" noProof="0" dirty="0"/>
              <a:t>, servers, </a:t>
            </a:r>
            <a:r>
              <a:rPr lang="pt-BR" noProof="0" dirty="0" err="1"/>
              <a:t>virtualization</a:t>
            </a:r>
            <a:r>
              <a:rPr lang="pt-BR" noProof="0" dirty="0"/>
              <a:t>).</a:t>
            </a:r>
          </a:p>
          <a:p>
            <a:r>
              <a:rPr lang="pt-BR" noProof="0" dirty="0"/>
              <a:t>PAAS – Platform as a </a:t>
            </a:r>
            <a:r>
              <a:rPr lang="pt-BR" noProof="0" dirty="0" err="1"/>
              <a:t>service</a:t>
            </a:r>
            <a:r>
              <a:rPr lang="pt-BR" noProof="0" dirty="0"/>
              <a:t> (IAAS, O/S, middleware, </a:t>
            </a:r>
            <a:r>
              <a:rPr lang="pt-BR" noProof="0" dirty="0" err="1"/>
              <a:t>runtime</a:t>
            </a:r>
            <a:r>
              <a:rPr lang="pt-BR" noProof="0" dirty="0"/>
              <a:t>).</a:t>
            </a:r>
          </a:p>
          <a:p>
            <a:r>
              <a:rPr lang="pt-BR" noProof="0" dirty="0"/>
              <a:t>SAAS – Software as a </a:t>
            </a:r>
            <a:r>
              <a:rPr lang="pt-BR" noProof="0" dirty="0" err="1"/>
              <a:t>service</a:t>
            </a:r>
            <a:r>
              <a:rPr lang="pt-BR" noProof="0" dirty="0"/>
              <a:t> (IAAS, PAAS, data, </a:t>
            </a:r>
            <a:r>
              <a:rPr lang="pt-BR" noProof="0" dirty="0" err="1"/>
              <a:t>aplications</a:t>
            </a:r>
            <a:r>
              <a:rPr lang="pt-BR" noProof="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15202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5BAC6-CE71-22A3-0946-97F94E036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D2ED1-0774-8D28-56E4-FC6F8C19E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Tipos de Cloud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5AF639-EDDE-41FA-E455-D66D961FC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 err="1"/>
              <a:t>Public</a:t>
            </a:r>
            <a:r>
              <a:rPr lang="pt-BR" noProof="0" dirty="0"/>
              <a:t> – O provedor de cloud oferece os serviços para todos os públicos. Os dados não são públicos mais qualquer pessoa pode comprar serviços e estes serviços são privados. O cloud publico é dividido por camadas de segurança.</a:t>
            </a:r>
          </a:p>
          <a:p>
            <a:r>
              <a:rPr lang="pt-BR" noProof="0" dirty="0"/>
              <a:t>Private – O provedor de cloud aluga um servidor físico especifico. A hospedagem de seus serviços tem uma estrutura física especifica para cada cliente.</a:t>
            </a:r>
          </a:p>
          <a:p>
            <a:r>
              <a:rPr lang="pt-BR" noProof="0" dirty="0" err="1"/>
              <a:t>Hibrid</a:t>
            </a:r>
            <a:r>
              <a:rPr lang="pt-BR" noProof="0" dirty="0"/>
              <a:t> – É a combinação do </a:t>
            </a:r>
            <a:r>
              <a:rPr lang="pt-BR" noProof="0" dirty="0" err="1"/>
              <a:t>Public</a:t>
            </a:r>
            <a:r>
              <a:rPr lang="pt-BR" noProof="0" dirty="0"/>
              <a:t> com o Private.</a:t>
            </a:r>
          </a:p>
        </p:txBody>
      </p:sp>
    </p:spTree>
    <p:extLst>
      <p:ext uri="{BB962C8B-B14F-4D97-AF65-F5344CB8AC3E}">
        <p14:creationId xmlns:p14="http://schemas.microsoft.com/office/powerpoint/2010/main" val="958316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53572-91DB-3AE2-520E-BED2F91F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C2891-64EC-AE24-2FFD-2EC39D17D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Serviços AWS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EDD89D-0868-EE99-C4E0-389FB6834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Serviço é tudo que você pode iniciar, configurar, pausar e </a:t>
            </a:r>
            <a:r>
              <a:rPr lang="pt-BR" noProof="0" dirty="0" err="1"/>
              <a:t>finalizer</a:t>
            </a:r>
            <a:r>
              <a:rPr lang="pt-BR" noProof="0" dirty="0"/>
              <a:t> é um serviço.</a:t>
            </a:r>
          </a:p>
          <a:p>
            <a:r>
              <a:rPr lang="pt-BR" noProof="0" dirty="0"/>
              <a:t>Exemplo:</a:t>
            </a:r>
          </a:p>
          <a:p>
            <a:r>
              <a:rPr lang="pt-BR" noProof="0" dirty="0"/>
              <a:t>EC2</a:t>
            </a:r>
          </a:p>
          <a:p>
            <a:r>
              <a:rPr lang="pt-BR" noProof="0" dirty="0" err="1"/>
              <a:t>Kubernetes</a:t>
            </a:r>
            <a:endParaRPr lang="pt-BR" noProof="0" dirty="0"/>
          </a:p>
          <a:p>
            <a:r>
              <a:rPr lang="pt-BR" noProof="0" dirty="0" err="1"/>
              <a:t>Fargate</a:t>
            </a:r>
            <a:endParaRPr lang="pt-BR" noProof="0" dirty="0"/>
          </a:p>
          <a:p>
            <a:r>
              <a:rPr lang="pt-BR" noProof="0" dirty="0" err="1"/>
              <a:t>MongoDB</a:t>
            </a:r>
            <a:endParaRPr lang="pt-BR" noProof="0" dirty="0"/>
          </a:p>
          <a:p>
            <a:r>
              <a:rPr lang="pt-BR" noProof="0" dirty="0"/>
              <a:t>S3</a:t>
            </a:r>
          </a:p>
        </p:txBody>
      </p:sp>
    </p:spTree>
    <p:extLst>
      <p:ext uri="{BB962C8B-B14F-4D97-AF65-F5344CB8AC3E}">
        <p14:creationId xmlns:p14="http://schemas.microsoft.com/office/powerpoint/2010/main" val="3659261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4B4D7-EB5A-371C-D30C-EC0EC248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534B5-D84A-2752-4BCC-52583F17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Shared</a:t>
            </a:r>
            <a:r>
              <a:rPr lang="pt-BR" noProof="0" dirty="0"/>
              <a:t> </a:t>
            </a:r>
            <a:r>
              <a:rPr lang="pt-BR" noProof="0" dirty="0" err="1"/>
              <a:t>Responsibility</a:t>
            </a:r>
            <a:r>
              <a:rPr lang="pt-BR" noProof="0" dirty="0"/>
              <a:t> Model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D89EAD8B-D1E4-9BAA-6A1C-3C31AFF7D9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514443"/>
              </p:ext>
            </p:extLst>
          </p:nvPr>
        </p:nvGraphicFramePr>
        <p:xfrm>
          <a:off x="838200" y="1825625"/>
          <a:ext cx="10515600" cy="440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8082286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03966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noProof="0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noProof="0" dirty="0"/>
                        <a:t>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57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noProof="0" dirty="0"/>
                        <a:t>Segurança da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noProof="0" dirty="0"/>
                        <a:t>Segurança na cloud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603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noProof="0" dirty="0"/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noProof="0" dirty="0"/>
                        <a:t>dados do 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162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noProof="0" dirty="0"/>
                        <a:t>Computação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noProof="0" dirty="0"/>
                        <a:t>Armazenamento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noProof="0" dirty="0"/>
                        <a:t>banco de dados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noProof="0" dirty="0"/>
                        <a:t>rede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noProof="0" dirty="0"/>
                        <a:t>plataforma, aplicações, identidade e gestor de acesso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348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noProof="0" dirty="0"/>
                        <a:t>hardware/</a:t>
                      </a:r>
                      <a:r>
                        <a:rPr lang="pt-BR" noProof="0" dirty="0" err="1"/>
                        <a:t>aws</a:t>
                      </a:r>
                      <a:r>
                        <a:rPr lang="pt-BR" noProof="0" dirty="0"/>
                        <a:t> infraestrutura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noProof="0" dirty="0"/>
                        <a:t>sistema operacional, configuração de rede e firewall.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164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noProof="0" dirty="0" err="1"/>
                        <a:t>regions</a:t>
                      </a:r>
                      <a:endParaRPr lang="pt-BR" noProof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noProof="0" dirty="0" err="1"/>
                        <a:t>availability</a:t>
                      </a:r>
                      <a:r>
                        <a:rPr lang="pt-BR" noProof="0" dirty="0"/>
                        <a:t> zones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noProof="0" dirty="0" err="1"/>
                        <a:t>edge</a:t>
                      </a:r>
                      <a:r>
                        <a:rPr lang="pt-BR" noProof="0" dirty="0"/>
                        <a:t> </a:t>
                      </a:r>
                      <a:r>
                        <a:rPr lang="pt-BR" noProof="0" dirty="0" err="1"/>
                        <a:t>locations</a:t>
                      </a:r>
                      <a:endParaRPr lang="pt-B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noProof="0" dirty="0"/>
                        <a:t>criptografia de dados do lado do cliente e autenticação de integridade de dados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noProof="0" dirty="0"/>
                        <a:t>criptografia do lado do servidor (sistema de arquivos e dados)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noProof="0" dirty="0"/>
                        <a:t>proteção de tráfego de rede (criptografia, integridade, identidade)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700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071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Conta Amazon.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89166"/>
            <a:ext cx="10515600" cy="4687797"/>
          </a:xfrm>
        </p:spPr>
        <p:txBody>
          <a:bodyPr>
            <a:normAutofit fontScale="92500" lnSpcReduction="10000"/>
          </a:bodyPr>
          <a:lstStyle/>
          <a:p>
            <a:r>
              <a:rPr lang="pt-BR" noProof="0" dirty="0"/>
              <a:t>Sistemas de </a:t>
            </a:r>
            <a:r>
              <a:rPr lang="pt-BR" noProof="0" dirty="0" err="1"/>
              <a:t>Tier</a:t>
            </a:r>
            <a:r>
              <a:rPr lang="pt-BR" noProof="0" dirty="0"/>
              <a:t> – Camadas de cobrança.</a:t>
            </a:r>
          </a:p>
          <a:p>
            <a:r>
              <a:rPr lang="pt-BR" noProof="0" dirty="0"/>
              <a:t>Camadas menores são gratuitas por 12 meses.</a:t>
            </a:r>
          </a:p>
          <a:p>
            <a:pPr lvl="1"/>
            <a:r>
              <a:rPr lang="pt-BR" noProof="0" dirty="0"/>
              <a:t>https://aws.amazon.com/pt/free</a:t>
            </a:r>
          </a:p>
          <a:p>
            <a:r>
              <a:rPr lang="pt-BR" noProof="0" dirty="0"/>
              <a:t>Conta Amazon</a:t>
            </a:r>
          </a:p>
          <a:p>
            <a:pPr lvl="1"/>
            <a:r>
              <a:rPr lang="pt-BR" noProof="0" dirty="0"/>
              <a:t>E-mail.</a:t>
            </a:r>
          </a:p>
          <a:p>
            <a:pPr lvl="1"/>
            <a:r>
              <a:rPr lang="pt-BR" noProof="0" dirty="0"/>
              <a:t>Cartão de crédito.</a:t>
            </a:r>
          </a:p>
          <a:p>
            <a:pPr lvl="1"/>
            <a:r>
              <a:rPr lang="pt-BR" noProof="0" dirty="0"/>
              <a:t>Acesso ao site </a:t>
            </a:r>
            <a:r>
              <a:rPr lang="pt-BR" noProof="0" dirty="0">
                <a:hlinkClick r:id="rId2"/>
              </a:rPr>
              <a:t>https://aws.amazon.com</a:t>
            </a:r>
            <a:endParaRPr lang="pt-BR" noProof="0" dirty="0"/>
          </a:p>
          <a:p>
            <a:r>
              <a:rPr lang="pt-BR" noProof="0" dirty="0"/>
              <a:t>Suporte 3 tipos:</a:t>
            </a:r>
          </a:p>
          <a:p>
            <a:pPr lvl="1"/>
            <a:r>
              <a:rPr lang="pt-BR" noProof="0" dirty="0"/>
              <a:t>Basic </a:t>
            </a:r>
            <a:r>
              <a:rPr lang="pt-BR" noProof="0" dirty="0" err="1"/>
              <a:t>Plan</a:t>
            </a:r>
            <a:r>
              <a:rPr lang="pt-BR" noProof="0" dirty="0"/>
              <a:t> (Plano Free) </a:t>
            </a:r>
          </a:p>
          <a:p>
            <a:pPr lvl="1"/>
            <a:r>
              <a:rPr lang="pt-BR" noProof="0" dirty="0"/>
              <a:t>Suporte ao desenvolvedor da AWS (Suporte Intermediário)</a:t>
            </a:r>
          </a:p>
          <a:p>
            <a:pPr lvl="1"/>
            <a:r>
              <a:rPr lang="pt-BR" noProof="0" dirty="0"/>
              <a:t>AWS Business </a:t>
            </a:r>
            <a:r>
              <a:rPr lang="pt-BR" noProof="0" dirty="0" err="1"/>
              <a:t>Support</a:t>
            </a:r>
            <a:r>
              <a:rPr lang="pt-BR" noProof="0" dirty="0"/>
              <a:t>, suporte empresarial da AWS (Suporte completo + chat imediato)</a:t>
            </a:r>
          </a:p>
          <a:p>
            <a:pPr lvl="1"/>
            <a:r>
              <a:rPr lang="pt-BR" noProof="0" dirty="0"/>
              <a:t>Criar Alerta de Cobrança</a:t>
            </a:r>
          </a:p>
          <a:p>
            <a:pPr lvl="1"/>
            <a:endParaRPr lang="pt-BR" noProof="0" dirty="0"/>
          </a:p>
          <a:p>
            <a:pPr lvl="1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28082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4408" y="462678"/>
            <a:ext cx="2587580" cy="5520520"/>
          </a:xfrm>
        </p:spPr>
        <p:txBody>
          <a:bodyPr/>
          <a:lstStyle/>
          <a:p>
            <a:pPr algn="ctr"/>
            <a:r>
              <a:rPr lang="pt-BR" noProof="0" dirty="0"/>
              <a:t>Tela Inicial AWS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596" y="260663"/>
            <a:ext cx="8534400" cy="592455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742F2FE3-4C6C-410A-9014-10F65252A639}"/>
              </a:ext>
            </a:extLst>
          </p:cNvPr>
          <p:cNvSpPr/>
          <p:nvPr/>
        </p:nvSpPr>
        <p:spPr>
          <a:xfrm>
            <a:off x="3541691" y="2675216"/>
            <a:ext cx="7656640" cy="905688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B4FE1A5-4520-47F5-A7C3-9CA36B44AF2F}"/>
              </a:ext>
            </a:extLst>
          </p:cNvPr>
          <p:cNvSpPr/>
          <p:nvPr/>
        </p:nvSpPr>
        <p:spPr>
          <a:xfrm>
            <a:off x="9345122" y="1403142"/>
            <a:ext cx="2153920" cy="7389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Busca por Serviços</a:t>
            </a:r>
          </a:p>
        </p:txBody>
      </p:sp>
      <p:cxnSp>
        <p:nvCxnSpPr>
          <p:cNvPr id="7" name="Conector de Seta Reta 39">
            <a:extLst>
              <a:ext uri="{FF2B5EF4-FFF2-40B4-BE49-F238E27FC236}">
                <a16:creationId xmlns:a16="http://schemas.microsoft.com/office/drawing/2014/main" id="{9914430C-841A-4C83-9724-3ABCE001BB89}"/>
              </a:ext>
            </a:extLst>
          </p:cNvPr>
          <p:cNvCxnSpPr>
            <a:cxnSpLocks/>
            <a:stCxn id="6" idx="2"/>
            <a:endCxn id="5" idx="7"/>
          </p:cNvCxnSpPr>
          <p:nvPr/>
        </p:nvCxnSpPr>
        <p:spPr>
          <a:xfrm flipH="1">
            <a:off x="10077042" y="2142063"/>
            <a:ext cx="345040" cy="665788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AB4FE1A5-4520-47F5-A7C3-9CA36B44AF2F}"/>
              </a:ext>
            </a:extLst>
          </p:cNvPr>
          <p:cNvSpPr/>
          <p:nvPr/>
        </p:nvSpPr>
        <p:spPr>
          <a:xfrm>
            <a:off x="1449988" y="1520216"/>
            <a:ext cx="2153920" cy="7389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Menu de Serviços</a:t>
            </a:r>
          </a:p>
        </p:txBody>
      </p:sp>
      <p:cxnSp>
        <p:nvCxnSpPr>
          <p:cNvPr id="10" name="Conector de Seta Reta 39">
            <a:extLst>
              <a:ext uri="{FF2B5EF4-FFF2-40B4-BE49-F238E27FC236}">
                <a16:creationId xmlns:a16="http://schemas.microsoft.com/office/drawing/2014/main" id="{9914430C-841A-4C83-9724-3ABCE001BB89}"/>
              </a:ext>
            </a:extLst>
          </p:cNvPr>
          <p:cNvCxnSpPr>
            <a:cxnSpLocks/>
            <a:stCxn id="9" idx="0"/>
            <a:endCxn id="13" idx="3"/>
          </p:cNvCxnSpPr>
          <p:nvPr/>
        </p:nvCxnSpPr>
        <p:spPr>
          <a:xfrm flipV="1">
            <a:off x="2526948" y="615994"/>
            <a:ext cx="1675771" cy="904222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742F2FE3-4C6C-410A-9014-10F65252A639}"/>
              </a:ext>
            </a:extLst>
          </p:cNvPr>
          <p:cNvSpPr/>
          <p:nvPr/>
        </p:nvSpPr>
        <p:spPr>
          <a:xfrm>
            <a:off x="4031087" y="167426"/>
            <a:ext cx="1171977" cy="525530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B4FE1A5-4520-47F5-A7C3-9CA36B44AF2F}"/>
              </a:ext>
            </a:extLst>
          </p:cNvPr>
          <p:cNvSpPr/>
          <p:nvPr/>
        </p:nvSpPr>
        <p:spPr>
          <a:xfrm>
            <a:off x="7401322" y="1622738"/>
            <a:ext cx="1675846" cy="474978"/>
          </a:xfrm>
          <a:custGeom>
            <a:avLst/>
            <a:gdLst>
              <a:gd name="connsiteX0" fmla="*/ 0 w 1675846"/>
              <a:gd name="connsiteY0" fmla="*/ 0 h 463130"/>
              <a:gd name="connsiteX1" fmla="*/ 1675846 w 1675846"/>
              <a:gd name="connsiteY1" fmla="*/ 0 h 463130"/>
              <a:gd name="connsiteX2" fmla="*/ 1675846 w 1675846"/>
              <a:gd name="connsiteY2" fmla="*/ 463130 h 463130"/>
              <a:gd name="connsiteX3" fmla="*/ 0 w 1675846"/>
              <a:gd name="connsiteY3" fmla="*/ 463130 h 463130"/>
              <a:gd name="connsiteX4" fmla="*/ 0 w 1675846"/>
              <a:gd name="connsiteY4" fmla="*/ 0 h 463130"/>
              <a:gd name="connsiteX0" fmla="*/ 0 w 1675846"/>
              <a:gd name="connsiteY0" fmla="*/ 11848 h 474978"/>
              <a:gd name="connsiteX1" fmla="*/ 1240402 w 1675846"/>
              <a:gd name="connsiteY1" fmla="*/ 0 h 474978"/>
              <a:gd name="connsiteX2" fmla="*/ 1675846 w 1675846"/>
              <a:gd name="connsiteY2" fmla="*/ 11848 h 474978"/>
              <a:gd name="connsiteX3" fmla="*/ 1675846 w 1675846"/>
              <a:gd name="connsiteY3" fmla="*/ 474978 h 474978"/>
              <a:gd name="connsiteX4" fmla="*/ 0 w 1675846"/>
              <a:gd name="connsiteY4" fmla="*/ 474978 h 474978"/>
              <a:gd name="connsiteX5" fmla="*/ 0 w 1675846"/>
              <a:gd name="connsiteY5" fmla="*/ 11848 h 474978"/>
              <a:gd name="connsiteX0" fmla="*/ 0 w 1675846"/>
              <a:gd name="connsiteY0" fmla="*/ 11848 h 474978"/>
              <a:gd name="connsiteX1" fmla="*/ 1240402 w 1675846"/>
              <a:gd name="connsiteY1" fmla="*/ 0 h 474978"/>
              <a:gd name="connsiteX2" fmla="*/ 1227523 w 1675846"/>
              <a:gd name="connsiteY2" fmla="*/ 0 h 474978"/>
              <a:gd name="connsiteX3" fmla="*/ 1675846 w 1675846"/>
              <a:gd name="connsiteY3" fmla="*/ 11848 h 474978"/>
              <a:gd name="connsiteX4" fmla="*/ 1675846 w 1675846"/>
              <a:gd name="connsiteY4" fmla="*/ 474978 h 474978"/>
              <a:gd name="connsiteX5" fmla="*/ 0 w 1675846"/>
              <a:gd name="connsiteY5" fmla="*/ 474978 h 474978"/>
              <a:gd name="connsiteX6" fmla="*/ 0 w 1675846"/>
              <a:gd name="connsiteY6" fmla="*/ 11848 h 47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5846" h="474978">
                <a:moveTo>
                  <a:pt x="0" y="11848"/>
                </a:moveTo>
                <a:lnTo>
                  <a:pt x="1240402" y="0"/>
                </a:lnTo>
                <a:lnTo>
                  <a:pt x="1227523" y="0"/>
                </a:lnTo>
                <a:lnTo>
                  <a:pt x="1675846" y="11848"/>
                </a:lnTo>
                <a:lnTo>
                  <a:pt x="1675846" y="474978"/>
                </a:lnTo>
                <a:lnTo>
                  <a:pt x="0" y="474978"/>
                </a:lnTo>
                <a:lnTo>
                  <a:pt x="0" y="11848"/>
                </a:lnTo>
                <a:close/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Regions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12" name="Conector de Seta Reta 39">
            <a:extLst>
              <a:ext uri="{FF2B5EF4-FFF2-40B4-BE49-F238E27FC236}">
                <a16:creationId xmlns:a16="http://schemas.microsoft.com/office/drawing/2014/main" id="{9914430C-841A-4C83-9724-3ABCE001BB89}"/>
              </a:ext>
            </a:extLst>
          </p:cNvPr>
          <p:cNvCxnSpPr>
            <a:cxnSpLocks/>
            <a:stCxn id="11" idx="1"/>
            <a:endCxn id="14" idx="3"/>
          </p:cNvCxnSpPr>
          <p:nvPr/>
        </p:nvCxnSpPr>
        <p:spPr>
          <a:xfrm flipV="1">
            <a:off x="8641724" y="615994"/>
            <a:ext cx="1366001" cy="1006744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742F2FE3-4C6C-410A-9014-10F65252A639}"/>
              </a:ext>
            </a:extLst>
          </p:cNvPr>
          <p:cNvSpPr/>
          <p:nvPr/>
        </p:nvSpPr>
        <p:spPr>
          <a:xfrm>
            <a:off x="9836093" y="167426"/>
            <a:ext cx="1171977" cy="525530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51925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1B08B-6ECC-51CF-C30C-B961F4126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Pagamento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00B730-57F4-B74F-1C36-61D418038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Pagamento Conforme Uso: é baseado no uso diário que o usuário pratica na cloud, é flexível e </a:t>
            </a:r>
            <a:r>
              <a:rPr lang="pt-BR" dirty="0" err="1"/>
              <a:t>adaptavel</a:t>
            </a:r>
            <a:r>
              <a:rPr lang="pt-BR" dirty="0"/>
              <a:t> pois a cobrança é feita conforme os serviços são usados, sem reserva ou compromisso.</a:t>
            </a:r>
          </a:p>
          <a:p>
            <a:r>
              <a:rPr lang="pt-BR" dirty="0"/>
              <a:t>Pagamento com Compromisso: é baseado em um </a:t>
            </a:r>
            <a:r>
              <a:rPr lang="pt-BR" dirty="0" err="1"/>
              <a:t>saving</a:t>
            </a:r>
            <a:r>
              <a:rPr lang="pt-BR" dirty="0"/>
              <a:t> </a:t>
            </a:r>
            <a:r>
              <a:rPr lang="pt-BR" dirty="0" err="1"/>
              <a:t>plans</a:t>
            </a:r>
            <a:r>
              <a:rPr lang="pt-BR" dirty="0"/>
              <a:t> de 1 a três anos, onde o usuário assume um compromisso de usar o serviço em certa quantidade por esse período.</a:t>
            </a:r>
          </a:p>
          <a:p>
            <a:r>
              <a:rPr lang="pt-BR" dirty="0"/>
              <a:t>Pague menos </a:t>
            </a:r>
            <a:r>
              <a:rPr lang="pt-BR"/>
              <a:t>por mais: </a:t>
            </a:r>
            <a:r>
              <a:rPr lang="pt-BR" dirty="0"/>
              <a:t>é possível conseguir descontos conforme os volumes aumentam substancialmente.</a:t>
            </a:r>
          </a:p>
          <a:p>
            <a:r>
              <a:rPr lang="pt-BR" dirty="0"/>
              <a:t>Os preços variam por região.</a:t>
            </a:r>
          </a:p>
          <a:p>
            <a:r>
              <a:rPr lang="pt-BR" dirty="0"/>
              <a:t>AWS </a:t>
            </a:r>
            <a:r>
              <a:rPr lang="pt-BR" dirty="0" err="1"/>
              <a:t>Cost</a:t>
            </a:r>
            <a:r>
              <a:rPr lang="pt-BR" dirty="0"/>
              <a:t> Explorer, você consegue visualizar e analisar os custos. </a:t>
            </a:r>
          </a:p>
        </p:txBody>
      </p:sp>
    </p:spTree>
    <p:extLst>
      <p:ext uri="{BB962C8B-B14F-4D97-AF65-F5344CB8AC3E}">
        <p14:creationId xmlns:p14="http://schemas.microsoft.com/office/powerpoint/2010/main" val="1649650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Billing</a:t>
            </a:r>
            <a:r>
              <a:rPr lang="pt-BR" noProof="0" dirty="0"/>
              <a:t> e </a:t>
            </a:r>
            <a:r>
              <a:rPr lang="pt-BR" noProof="0" dirty="0" err="1"/>
              <a:t>Cost</a:t>
            </a:r>
            <a:r>
              <a:rPr lang="pt-BR" noProof="0" dirty="0"/>
              <a:t> </a:t>
            </a:r>
            <a:r>
              <a:rPr lang="pt-BR" noProof="0" dirty="0" err="1"/>
              <a:t>Alert</a:t>
            </a:r>
            <a:r>
              <a:rPr lang="pt-BR" noProof="0" dirty="0"/>
              <a:t> - Budgets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06828"/>
            <a:ext cx="10515600" cy="4670135"/>
          </a:xfrm>
        </p:spPr>
        <p:txBody>
          <a:bodyPr/>
          <a:lstStyle/>
          <a:p>
            <a:r>
              <a:rPr lang="pt-BR" noProof="0" dirty="0"/>
              <a:t>Menu Services – </a:t>
            </a:r>
            <a:r>
              <a:rPr lang="pt-BR" noProof="0" dirty="0" err="1"/>
              <a:t>Billing</a:t>
            </a:r>
            <a:endParaRPr lang="pt-BR" noProof="0" dirty="0"/>
          </a:p>
          <a:p>
            <a:r>
              <a:rPr lang="pt-BR" noProof="0" dirty="0" err="1"/>
              <a:t>Cost</a:t>
            </a:r>
            <a:r>
              <a:rPr lang="pt-BR" noProof="0" dirty="0"/>
              <a:t> Explorer: visão dos gastos, onde e como.</a:t>
            </a:r>
          </a:p>
          <a:p>
            <a:r>
              <a:rPr lang="pt-BR" noProof="0" dirty="0"/>
              <a:t>Budgets: Budgets é o equivalente a orçamento.</a:t>
            </a:r>
          </a:p>
          <a:p>
            <a:pPr lvl="1"/>
            <a:r>
              <a:rPr lang="pt-BR" noProof="0" dirty="0" err="1"/>
              <a:t>Cost</a:t>
            </a:r>
            <a:r>
              <a:rPr lang="pt-BR" noProof="0" dirty="0"/>
              <a:t> budgets: Especifica um valor em dólar e recebe alertas.</a:t>
            </a:r>
          </a:p>
          <a:p>
            <a:pPr lvl="2"/>
            <a:r>
              <a:rPr lang="pt-BR" noProof="0" dirty="0"/>
              <a:t>Mensal, quatro meses, ou anual.</a:t>
            </a:r>
          </a:p>
          <a:p>
            <a:pPr lvl="2"/>
            <a:r>
              <a:rPr lang="pt-BR" noProof="0" dirty="0"/>
              <a:t>Recorrente ou </a:t>
            </a:r>
            <a:r>
              <a:rPr lang="pt-BR" noProof="0" dirty="0" err="1"/>
              <a:t>expiravel</a:t>
            </a:r>
            <a:r>
              <a:rPr lang="pt-BR" noProof="0" dirty="0"/>
              <a:t>.</a:t>
            </a:r>
          </a:p>
          <a:p>
            <a:pPr lvl="2"/>
            <a:r>
              <a:rPr lang="pt-BR" noProof="0" dirty="0"/>
              <a:t>Valor fixo mensal ou reprogramado todo mês. </a:t>
            </a:r>
          </a:p>
          <a:p>
            <a:pPr lvl="1"/>
            <a:r>
              <a:rPr lang="pt-BR" noProof="0" dirty="0" err="1"/>
              <a:t>Usage</a:t>
            </a:r>
            <a:r>
              <a:rPr lang="pt-BR" noProof="0" dirty="0"/>
              <a:t> budgets: Especifica um valor pela utilização.</a:t>
            </a:r>
          </a:p>
          <a:p>
            <a:pPr lvl="1"/>
            <a:r>
              <a:rPr lang="pt-BR" noProof="0" dirty="0" err="1"/>
              <a:t>Reservation</a:t>
            </a:r>
            <a:r>
              <a:rPr lang="pt-BR" noProof="0" dirty="0"/>
              <a:t> budgets: Baseado em uma reserva financeira para utilização.</a:t>
            </a:r>
          </a:p>
          <a:p>
            <a:pPr lvl="1"/>
            <a:r>
              <a:rPr lang="pt-BR" noProof="0" dirty="0" err="1"/>
              <a:t>Saving</a:t>
            </a:r>
            <a:r>
              <a:rPr lang="pt-BR" noProof="0" dirty="0"/>
              <a:t> </a:t>
            </a:r>
            <a:r>
              <a:rPr lang="pt-BR" noProof="0" dirty="0" err="1"/>
              <a:t>Plans</a:t>
            </a:r>
            <a:r>
              <a:rPr lang="pt-BR" noProof="0" dirty="0"/>
              <a:t> budgets: Baseado em economia.</a:t>
            </a:r>
          </a:p>
          <a:p>
            <a:endParaRPr lang="pt-BR" noProof="0" dirty="0"/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02711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03CD8-202C-D7C5-3E24-CCD5DB42D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CONSOLE, CLI e CLOUDSHEL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CC571D-53AC-669E-BAD3-43259FD14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Console – é a interface </a:t>
            </a:r>
            <a:r>
              <a:rPr lang="pt-BR" noProof="0" dirty="0" err="1"/>
              <a:t>grafica</a:t>
            </a:r>
            <a:r>
              <a:rPr lang="pt-BR" noProof="0" dirty="0"/>
              <a:t> de comandos que permite acesso pela internet.</a:t>
            </a:r>
          </a:p>
          <a:p>
            <a:r>
              <a:rPr lang="pt-BR" noProof="0" dirty="0"/>
              <a:t>CLI – </a:t>
            </a:r>
            <a:r>
              <a:rPr lang="pt-BR" noProof="0" dirty="0" err="1"/>
              <a:t>Comand</a:t>
            </a:r>
            <a:r>
              <a:rPr lang="pt-BR" noProof="0" dirty="0"/>
              <a:t> </a:t>
            </a:r>
            <a:r>
              <a:rPr lang="pt-BR" noProof="0" dirty="0" err="1"/>
              <a:t>line</a:t>
            </a:r>
            <a:r>
              <a:rPr lang="pt-BR" noProof="0" dirty="0"/>
              <a:t> interface, é uma interface de comandos que pode ser instalada em qualquer computador.</a:t>
            </a:r>
          </a:p>
          <a:p>
            <a:r>
              <a:rPr lang="pt-BR" noProof="0" dirty="0" err="1"/>
              <a:t>CloudShell</a:t>
            </a:r>
            <a:r>
              <a:rPr lang="pt-BR" noProof="0" dirty="0"/>
              <a:t> – É uma interface de comandos que fica dentro da plataforma cloud.</a:t>
            </a:r>
          </a:p>
        </p:txBody>
      </p:sp>
    </p:spTree>
    <p:extLst>
      <p:ext uri="{BB962C8B-B14F-4D97-AF65-F5344CB8AC3E}">
        <p14:creationId xmlns:p14="http://schemas.microsoft.com/office/powerpoint/2010/main" val="3628147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330" y="752340"/>
            <a:ext cx="8353425" cy="54483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1079" y="128789"/>
            <a:ext cx="10515600" cy="733559"/>
          </a:xfrm>
        </p:spPr>
        <p:txBody>
          <a:bodyPr/>
          <a:lstStyle/>
          <a:p>
            <a:r>
              <a:rPr lang="pt-BR" noProof="0" dirty="0"/>
              <a:t>Command </a:t>
            </a:r>
            <a:r>
              <a:rPr lang="pt-BR" noProof="0" dirty="0" err="1"/>
              <a:t>Line</a:t>
            </a:r>
            <a:r>
              <a:rPr lang="pt-BR" noProof="0" dirty="0"/>
              <a:t> Interface – CLI AWS</a:t>
            </a:r>
          </a:p>
        </p:txBody>
      </p:sp>
      <p:sp>
        <p:nvSpPr>
          <p:cNvPr id="3" name="Retângulo 2"/>
          <p:cNvSpPr/>
          <p:nvPr/>
        </p:nvSpPr>
        <p:spPr>
          <a:xfrm>
            <a:off x="5151549" y="6364190"/>
            <a:ext cx="71477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noProof="0" dirty="0">
                <a:hlinkClick r:id="rId3"/>
              </a:rPr>
              <a:t>https://docs.aws.amazon.com/cli/latest/userguide/install-windows.html</a:t>
            </a:r>
            <a:endParaRPr lang="pt-BR" noProof="0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03" y="862348"/>
            <a:ext cx="5392693" cy="3060519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AB4FE1A5-4520-47F5-A7C3-9CA36B44AF2F}"/>
              </a:ext>
            </a:extLst>
          </p:cNvPr>
          <p:cNvSpPr/>
          <p:nvPr/>
        </p:nvSpPr>
        <p:spPr>
          <a:xfrm>
            <a:off x="973470" y="5385665"/>
            <a:ext cx="2153920" cy="7389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Cria os acessos</a:t>
            </a:r>
          </a:p>
        </p:txBody>
      </p:sp>
      <p:cxnSp>
        <p:nvCxnSpPr>
          <p:cNvPr id="11" name="Conector de Seta Reta 39">
            <a:extLst>
              <a:ext uri="{FF2B5EF4-FFF2-40B4-BE49-F238E27FC236}">
                <a16:creationId xmlns:a16="http://schemas.microsoft.com/office/drawing/2014/main" id="{9914430C-841A-4C83-9724-3ABCE001BB89}"/>
              </a:ext>
            </a:extLst>
          </p:cNvPr>
          <p:cNvCxnSpPr>
            <a:cxnSpLocks/>
            <a:stCxn id="10" idx="0"/>
            <a:endCxn id="12" idx="3"/>
          </p:cNvCxnSpPr>
          <p:nvPr/>
        </p:nvCxnSpPr>
        <p:spPr>
          <a:xfrm flipV="1">
            <a:off x="2050430" y="4408938"/>
            <a:ext cx="1753100" cy="976727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742F2FE3-4C6C-410A-9014-10F65252A639}"/>
              </a:ext>
            </a:extLst>
          </p:cNvPr>
          <p:cNvSpPr/>
          <p:nvPr/>
        </p:nvSpPr>
        <p:spPr>
          <a:xfrm>
            <a:off x="3554569" y="4134118"/>
            <a:ext cx="1700011" cy="321972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77621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3545E-7840-435A-ADDF-B0B0369C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7" y="2187743"/>
            <a:ext cx="7789333" cy="248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6000" noProof="0" dirty="0"/>
              <a:t>Estrutura Geral da AWS</a:t>
            </a:r>
            <a:endParaRPr lang="pt-BR" sz="60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52314E5-8253-48A5-859B-129F94E805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1" y="2743201"/>
            <a:ext cx="1371600" cy="1371600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76297" y="6488668"/>
            <a:ext cx="3531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noProof="0" dirty="0">
                <a:hlinkClick r:id="rId4"/>
              </a:rPr>
              <a:t>https://docs.aws.amazon.com/</a:t>
            </a:r>
            <a:endParaRPr lang="pt-BR" noProof="0" dirty="0"/>
          </a:p>
        </p:txBody>
      </p:sp>
      <p:sp>
        <p:nvSpPr>
          <p:cNvPr id="4" name="Retângulo 3"/>
          <p:cNvSpPr/>
          <p:nvPr/>
        </p:nvSpPr>
        <p:spPr>
          <a:xfrm>
            <a:off x="76297" y="6119336"/>
            <a:ext cx="289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noProof="0" dirty="0">
                <a:hlinkClick r:id="rId5"/>
              </a:rPr>
              <a:t>https://aws.amazon.com/pt/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18608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3095B-FF66-4395-8C77-9C1BFB34D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175607"/>
            <a:ext cx="10515599" cy="709370"/>
          </a:xfrm>
          <a:prstGeom prst="ellipse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pt-BR" sz="38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Infraestrutura Global AWS – 04/2025</a:t>
            </a:r>
            <a:br>
              <a:rPr lang="pt-BR" sz="38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pt-BR" sz="2200" noProof="0" dirty="0">
                <a:hlinkClick r:id="rId2"/>
              </a:rPr>
              <a:t>https://aws.amazon.com/pt/about-aws/global-infrastructure/</a:t>
            </a:r>
            <a:endParaRPr lang="pt-BR" sz="2200" kern="1200" noProof="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C620FB-01DE-47CA-866C-10D60C94B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6124" cy="6858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329C722-7222-D3D8-C6AF-07E682DDB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1171575"/>
            <a:ext cx="93154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21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m 78">
            <a:extLst>
              <a:ext uri="{FF2B5EF4-FFF2-40B4-BE49-F238E27FC236}">
                <a16:creationId xmlns:a16="http://schemas.microsoft.com/office/drawing/2014/main" id="{387D7252-821D-1A96-CE0E-53F11E5CE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767" y="5402850"/>
            <a:ext cx="533400" cy="790575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15" y="3965021"/>
            <a:ext cx="3072081" cy="254706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B4FE1A5-4520-47F5-A7C3-9CA36B44AF2F}"/>
              </a:ext>
            </a:extLst>
          </p:cNvPr>
          <p:cNvSpPr/>
          <p:nvPr/>
        </p:nvSpPr>
        <p:spPr>
          <a:xfrm>
            <a:off x="99458" y="83501"/>
            <a:ext cx="11501728" cy="1053432"/>
          </a:xfrm>
          <a:custGeom>
            <a:avLst/>
            <a:gdLst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0 w 2153920"/>
              <a:gd name="connsiteY3" fmla="*/ 738921 h 738921"/>
              <a:gd name="connsiteX4" fmla="*/ 0 w 2153920"/>
              <a:gd name="connsiteY4" fmla="*/ 0 h 738921"/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201697 w 2153920"/>
              <a:gd name="connsiteY3" fmla="*/ 730541 h 738921"/>
              <a:gd name="connsiteX4" fmla="*/ 0 w 2153920"/>
              <a:gd name="connsiteY4" fmla="*/ 738921 h 738921"/>
              <a:gd name="connsiteX5" fmla="*/ 0 w 2153920"/>
              <a:gd name="connsiteY5" fmla="*/ 0 h 738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3920" h="738921">
                <a:moveTo>
                  <a:pt x="0" y="0"/>
                </a:moveTo>
                <a:lnTo>
                  <a:pt x="2153920" y="0"/>
                </a:lnTo>
                <a:lnTo>
                  <a:pt x="2153920" y="738921"/>
                </a:lnTo>
                <a:lnTo>
                  <a:pt x="201697" y="730541"/>
                </a:lnTo>
                <a:lnTo>
                  <a:pt x="0" y="738921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8" name="Conector de Seta Reta 39">
            <a:extLst>
              <a:ext uri="{FF2B5EF4-FFF2-40B4-BE49-F238E27FC236}">
                <a16:creationId xmlns:a16="http://schemas.microsoft.com/office/drawing/2014/main" id="{9914430C-841A-4C83-9724-3ABCE001BB89}"/>
              </a:ext>
            </a:extLst>
          </p:cNvPr>
          <p:cNvCxnSpPr>
            <a:cxnSpLocks/>
            <a:stCxn id="7" idx="4"/>
            <a:endCxn id="9" idx="1"/>
          </p:cNvCxnSpPr>
          <p:nvPr/>
        </p:nvCxnSpPr>
        <p:spPr>
          <a:xfrm>
            <a:off x="99458" y="1136933"/>
            <a:ext cx="793405" cy="2915564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742F2FE3-4C6C-410A-9014-10F65252A639}"/>
              </a:ext>
            </a:extLst>
          </p:cNvPr>
          <p:cNvSpPr/>
          <p:nvPr/>
        </p:nvSpPr>
        <p:spPr>
          <a:xfrm>
            <a:off x="210427" y="3631842"/>
            <a:ext cx="4659966" cy="2872411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Retângulo 6">
            <a:extLst>
              <a:ext uri="{FF2B5EF4-FFF2-40B4-BE49-F238E27FC236}">
                <a16:creationId xmlns:a16="http://schemas.microsoft.com/office/drawing/2014/main" id="{AB4FE1A5-4520-47F5-A7C3-9CA36B44AF2F}"/>
              </a:ext>
            </a:extLst>
          </p:cNvPr>
          <p:cNvSpPr/>
          <p:nvPr/>
        </p:nvSpPr>
        <p:spPr>
          <a:xfrm>
            <a:off x="496160" y="1190276"/>
            <a:ext cx="10957133" cy="1200329"/>
          </a:xfrm>
          <a:custGeom>
            <a:avLst/>
            <a:gdLst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0 w 2153920"/>
              <a:gd name="connsiteY3" fmla="*/ 738921 h 738921"/>
              <a:gd name="connsiteX4" fmla="*/ 0 w 2153920"/>
              <a:gd name="connsiteY4" fmla="*/ 0 h 738921"/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201697 w 2153920"/>
              <a:gd name="connsiteY3" fmla="*/ 730541 h 738921"/>
              <a:gd name="connsiteX4" fmla="*/ 0 w 2153920"/>
              <a:gd name="connsiteY4" fmla="*/ 738921 h 738921"/>
              <a:gd name="connsiteX5" fmla="*/ 0 w 2153920"/>
              <a:gd name="connsiteY5" fmla="*/ 0 h 738921"/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2020595 w 2153920"/>
              <a:gd name="connsiteY3" fmla="*/ 736467 h 738921"/>
              <a:gd name="connsiteX4" fmla="*/ 201697 w 2153920"/>
              <a:gd name="connsiteY4" fmla="*/ 730541 h 738921"/>
              <a:gd name="connsiteX5" fmla="*/ 0 w 2153920"/>
              <a:gd name="connsiteY5" fmla="*/ 738921 h 738921"/>
              <a:gd name="connsiteX6" fmla="*/ 0 w 2153920"/>
              <a:gd name="connsiteY6" fmla="*/ 0 h 738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3920" h="738921">
                <a:moveTo>
                  <a:pt x="0" y="0"/>
                </a:moveTo>
                <a:lnTo>
                  <a:pt x="2153920" y="0"/>
                </a:lnTo>
                <a:lnTo>
                  <a:pt x="2153920" y="738921"/>
                </a:lnTo>
                <a:lnTo>
                  <a:pt x="2020595" y="736467"/>
                </a:lnTo>
                <a:lnTo>
                  <a:pt x="201697" y="730541"/>
                </a:lnTo>
                <a:lnTo>
                  <a:pt x="0" y="738921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800" noProof="0" dirty="0">
              <a:solidFill>
                <a:schemeClr val="tx1"/>
              </a:solidFill>
            </a:endParaRPr>
          </a:p>
          <a:p>
            <a:r>
              <a:rPr lang="pt-BR" sz="1800" noProof="0" dirty="0" err="1">
                <a:solidFill>
                  <a:schemeClr val="tx1"/>
                </a:solidFill>
              </a:rPr>
              <a:t>Availability</a:t>
            </a:r>
            <a:r>
              <a:rPr lang="pt-BR" sz="1800" noProof="0" dirty="0">
                <a:solidFill>
                  <a:schemeClr val="tx1"/>
                </a:solidFill>
              </a:rPr>
              <a:t> Zone - </a:t>
            </a:r>
            <a:r>
              <a:rPr lang="pt-BR" noProof="0" dirty="0">
                <a:solidFill>
                  <a:schemeClr val="tx1"/>
                </a:solidFill>
              </a:rPr>
              <a:t>As zonas de disponibilidade são locais fisicamente separados em uma região. Cada zona de disponibilidade é composta por um ou mais datacenters equipados com energia, refrigeração e rede independentes (Data Center). Permitem que os clientes executem aplicativos de missão crítica com alta disponibilidade e replicação de baixa latência.</a:t>
            </a:r>
          </a:p>
          <a:p>
            <a:pPr lvl="0"/>
            <a:endParaRPr lang="pt-BR" noProof="0" dirty="0">
              <a:solidFill>
                <a:schemeClr val="tx1"/>
              </a:solidFill>
            </a:endParaRPr>
          </a:p>
        </p:txBody>
      </p:sp>
      <p:cxnSp>
        <p:nvCxnSpPr>
          <p:cNvPr id="29" name="Conector de Seta Reta 39">
            <a:extLst>
              <a:ext uri="{FF2B5EF4-FFF2-40B4-BE49-F238E27FC236}">
                <a16:creationId xmlns:a16="http://schemas.microsoft.com/office/drawing/2014/main" id="{9914430C-841A-4C83-9724-3ABCE001BB89}"/>
              </a:ext>
            </a:extLst>
          </p:cNvPr>
          <p:cNvCxnSpPr>
            <a:cxnSpLocks/>
            <a:stCxn id="28" idx="4"/>
          </p:cNvCxnSpPr>
          <p:nvPr/>
        </p:nvCxnSpPr>
        <p:spPr>
          <a:xfrm flipH="1">
            <a:off x="1089867" y="2376992"/>
            <a:ext cx="432339" cy="1841832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742F2FE3-4C6C-410A-9014-10F65252A639}"/>
              </a:ext>
            </a:extLst>
          </p:cNvPr>
          <p:cNvSpPr/>
          <p:nvPr/>
        </p:nvSpPr>
        <p:spPr>
          <a:xfrm>
            <a:off x="275321" y="4224631"/>
            <a:ext cx="1141999" cy="981126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riângulo isósceles 38"/>
          <p:cNvSpPr/>
          <p:nvPr/>
        </p:nvSpPr>
        <p:spPr>
          <a:xfrm>
            <a:off x="2358377" y="5534168"/>
            <a:ext cx="485472" cy="55234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0" name="Triângulo isósceles 39"/>
          <p:cNvSpPr/>
          <p:nvPr/>
        </p:nvSpPr>
        <p:spPr>
          <a:xfrm>
            <a:off x="1448852" y="3815592"/>
            <a:ext cx="485472" cy="55234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1" name="Triângulo isósceles 40"/>
          <p:cNvSpPr/>
          <p:nvPr/>
        </p:nvSpPr>
        <p:spPr>
          <a:xfrm>
            <a:off x="733177" y="5376044"/>
            <a:ext cx="485472" cy="55234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Retângulo 6">
            <a:extLst>
              <a:ext uri="{FF2B5EF4-FFF2-40B4-BE49-F238E27FC236}">
                <a16:creationId xmlns:a16="http://schemas.microsoft.com/office/drawing/2014/main" id="{AB4FE1A5-4520-47F5-A7C3-9CA36B44AF2F}"/>
              </a:ext>
            </a:extLst>
          </p:cNvPr>
          <p:cNvSpPr/>
          <p:nvPr/>
        </p:nvSpPr>
        <p:spPr>
          <a:xfrm>
            <a:off x="2509344" y="2444016"/>
            <a:ext cx="9023433" cy="933825"/>
          </a:xfrm>
          <a:custGeom>
            <a:avLst/>
            <a:gdLst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0 w 2153920"/>
              <a:gd name="connsiteY3" fmla="*/ 738921 h 738921"/>
              <a:gd name="connsiteX4" fmla="*/ 0 w 2153920"/>
              <a:gd name="connsiteY4" fmla="*/ 0 h 738921"/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201697 w 2153920"/>
              <a:gd name="connsiteY3" fmla="*/ 730541 h 738921"/>
              <a:gd name="connsiteX4" fmla="*/ 0 w 2153920"/>
              <a:gd name="connsiteY4" fmla="*/ 738921 h 738921"/>
              <a:gd name="connsiteX5" fmla="*/ 0 w 2153920"/>
              <a:gd name="connsiteY5" fmla="*/ 0 h 738921"/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2020595 w 2153920"/>
              <a:gd name="connsiteY3" fmla="*/ 736467 h 738921"/>
              <a:gd name="connsiteX4" fmla="*/ 201697 w 2153920"/>
              <a:gd name="connsiteY4" fmla="*/ 730541 h 738921"/>
              <a:gd name="connsiteX5" fmla="*/ 0 w 2153920"/>
              <a:gd name="connsiteY5" fmla="*/ 738921 h 738921"/>
              <a:gd name="connsiteX6" fmla="*/ 0 w 2153920"/>
              <a:gd name="connsiteY6" fmla="*/ 0 h 738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3920" h="738921">
                <a:moveTo>
                  <a:pt x="0" y="0"/>
                </a:moveTo>
                <a:lnTo>
                  <a:pt x="2153920" y="0"/>
                </a:lnTo>
                <a:lnTo>
                  <a:pt x="2153920" y="738921"/>
                </a:lnTo>
                <a:lnTo>
                  <a:pt x="2020595" y="736467"/>
                </a:lnTo>
                <a:lnTo>
                  <a:pt x="201697" y="730541"/>
                </a:lnTo>
                <a:lnTo>
                  <a:pt x="0" y="738921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43" name="Conector de Seta Reta 39">
            <a:extLst>
              <a:ext uri="{FF2B5EF4-FFF2-40B4-BE49-F238E27FC236}">
                <a16:creationId xmlns:a16="http://schemas.microsoft.com/office/drawing/2014/main" id="{9914430C-841A-4C83-9724-3ABCE001BB89}"/>
              </a:ext>
            </a:extLst>
          </p:cNvPr>
          <p:cNvCxnSpPr>
            <a:cxnSpLocks/>
            <a:stCxn id="42" idx="4"/>
          </p:cNvCxnSpPr>
          <p:nvPr/>
        </p:nvCxnSpPr>
        <p:spPr>
          <a:xfrm flipH="1">
            <a:off x="2075834" y="3367251"/>
            <a:ext cx="1278481" cy="776029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742F2FE3-4C6C-410A-9014-10F65252A639}"/>
              </a:ext>
            </a:extLst>
          </p:cNvPr>
          <p:cNvSpPr/>
          <p:nvPr/>
        </p:nvSpPr>
        <p:spPr>
          <a:xfrm>
            <a:off x="1262129" y="3762933"/>
            <a:ext cx="813705" cy="770430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0CEBAC-726E-58BF-BC8D-DE24E805F609}"/>
              </a:ext>
            </a:extLst>
          </p:cNvPr>
          <p:cNvSpPr txBox="1"/>
          <p:nvPr/>
        </p:nvSpPr>
        <p:spPr>
          <a:xfrm>
            <a:off x="281205" y="97414"/>
            <a:ext cx="99912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 err="1"/>
              <a:t>Regions</a:t>
            </a:r>
            <a:r>
              <a:rPr lang="pt-BR" noProof="0" dirty="0"/>
              <a:t> - Uma região é um conjunto de datacenters implantados em um perímetro definido pela latência e conectados por meio de uma rede regional de baixa latência dedicada. É</a:t>
            </a:r>
            <a:r>
              <a:rPr lang="pt-BR" b="0" i="0" noProof="0" dirty="0"/>
              <a:t> projetada para ser isolada das outras regiões.</a:t>
            </a:r>
            <a:endParaRPr lang="pt-BR" noProof="0" dirty="0"/>
          </a:p>
          <a:p>
            <a:pPr lvl="0"/>
            <a:endParaRPr lang="pt-BR" noProof="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711B41E-A4E5-D523-9B80-EC143D063C13}"/>
              </a:ext>
            </a:extLst>
          </p:cNvPr>
          <p:cNvSpPr txBox="1"/>
          <p:nvPr/>
        </p:nvSpPr>
        <p:spPr>
          <a:xfrm>
            <a:off x="3313096" y="2439149"/>
            <a:ext cx="83007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Edge </a:t>
            </a:r>
            <a:r>
              <a:rPr lang="pt-BR" noProof="0" dirty="0" err="1"/>
              <a:t>Locations</a:t>
            </a:r>
            <a:r>
              <a:rPr lang="pt-BR" noProof="0" dirty="0"/>
              <a:t> - Zona Local ou locais de borda são locais fisicamente separados e conectados as zonas de disponibilidade. Cada locais de borda tem como principal função </a:t>
            </a:r>
            <a:r>
              <a:rPr lang="pt-BR" noProof="0" dirty="0" err="1"/>
              <a:t>caching</a:t>
            </a:r>
            <a:r>
              <a:rPr lang="pt-BR" noProof="0" dirty="0"/>
              <a:t>, </a:t>
            </a:r>
            <a:r>
              <a:rPr lang="pt-BR" noProof="0" dirty="0" err="1"/>
              <a:t>cdn</a:t>
            </a:r>
            <a:r>
              <a:rPr lang="pt-BR" noProof="0" dirty="0"/>
              <a:t> e </a:t>
            </a:r>
            <a:r>
              <a:rPr lang="pt-BR" noProof="0" dirty="0" err="1"/>
              <a:t>cloudfront</a:t>
            </a:r>
            <a:r>
              <a:rPr lang="pt-BR" noProof="0" dirty="0"/>
              <a:t> ou seja informações estáticas.</a:t>
            </a:r>
          </a:p>
          <a:p>
            <a:endParaRPr lang="pt-BR" noProof="0" dirty="0"/>
          </a:p>
          <a:p>
            <a:endParaRPr lang="pt-BR" noProof="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7965996-9E55-E23A-2FB9-8B1F4F514685}"/>
              </a:ext>
            </a:extLst>
          </p:cNvPr>
          <p:cNvSpPr txBox="1"/>
          <p:nvPr/>
        </p:nvSpPr>
        <p:spPr>
          <a:xfrm>
            <a:off x="5517385" y="3480160"/>
            <a:ext cx="64755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0" i="0" noProof="0" dirty="0" err="1"/>
              <a:t>Wavelength</a:t>
            </a:r>
            <a:r>
              <a:rPr lang="pt-BR" b="0" i="0" noProof="0" dirty="0"/>
              <a:t> - implanta serviços de computação e armazenamento padrão da AWS na borda das redes 5G das operadoras de telecomunicações, para executar aplicativos que exigem latência ultrabaixa e uma conexão com os serviços da AWS na região</a:t>
            </a:r>
            <a:endParaRPr lang="pt-BR" noProof="0" dirty="0"/>
          </a:p>
          <a:p>
            <a:endParaRPr lang="pt-BR" noProof="0" dirty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73809BE-FF0A-2C77-F864-3C5F0B26E211}"/>
              </a:ext>
            </a:extLst>
          </p:cNvPr>
          <p:cNvSpPr txBox="1"/>
          <p:nvPr/>
        </p:nvSpPr>
        <p:spPr>
          <a:xfrm>
            <a:off x="5420995" y="5138024"/>
            <a:ext cx="67495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0" i="0" noProof="0" dirty="0" err="1"/>
              <a:t>Outposts</a:t>
            </a:r>
            <a:r>
              <a:rPr lang="pt-BR" b="0" i="0" noProof="0" dirty="0"/>
              <a:t> - é uma família de soluções totalmente gerenciadas que fornecem infraestrutura e serviços da AWS para praticamente qualquer local da borda ou </a:t>
            </a:r>
            <a:r>
              <a:rPr lang="pt-BR" b="0" i="0" noProof="0" dirty="0" err="1"/>
              <a:t>on-premises</a:t>
            </a:r>
            <a:r>
              <a:rPr lang="pt-BR" b="0" i="0" noProof="0" dirty="0"/>
              <a:t> para uma experiência híbrida verdadeiramente consistente.</a:t>
            </a:r>
            <a:endParaRPr lang="pt-BR" noProof="0" dirty="0"/>
          </a:p>
          <a:p>
            <a:endParaRPr lang="pt-BR" noProof="0" dirty="0"/>
          </a:p>
        </p:txBody>
      </p:sp>
      <p:pic>
        <p:nvPicPr>
          <p:cNvPr id="63" name="Imagem 62">
            <a:extLst>
              <a:ext uri="{FF2B5EF4-FFF2-40B4-BE49-F238E27FC236}">
                <a16:creationId xmlns:a16="http://schemas.microsoft.com/office/drawing/2014/main" id="{70D8DF0E-D907-A2D0-3AB0-8AC6D81E1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0023" y="4290094"/>
            <a:ext cx="727307" cy="869220"/>
          </a:xfrm>
          <a:prstGeom prst="rect">
            <a:avLst/>
          </a:prstGeom>
        </p:spPr>
      </p:pic>
      <p:sp>
        <p:nvSpPr>
          <p:cNvPr id="64" name="Retângulo 6">
            <a:extLst>
              <a:ext uri="{FF2B5EF4-FFF2-40B4-BE49-F238E27FC236}">
                <a16:creationId xmlns:a16="http://schemas.microsoft.com/office/drawing/2014/main" id="{99AE4B6C-E7B0-94BB-9347-E7CEA3864507}"/>
              </a:ext>
            </a:extLst>
          </p:cNvPr>
          <p:cNvSpPr/>
          <p:nvPr/>
        </p:nvSpPr>
        <p:spPr>
          <a:xfrm>
            <a:off x="5346876" y="3486671"/>
            <a:ext cx="6417102" cy="1348753"/>
          </a:xfrm>
          <a:custGeom>
            <a:avLst/>
            <a:gdLst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0 w 2153920"/>
              <a:gd name="connsiteY3" fmla="*/ 738921 h 738921"/>
              <a:gd name="connsiteX4" fmla="*/ 0 w 2153920"/>
              <a:gd name="connsiteY4" fmla="*/ 0 h 738921"/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201697 w 2153920"/>
              <a:gd name="connsiteY3" fmla="*/ 730541 h 738921"/>
              <a:gd name="connsiteX4" fmla="*/ 0 w 2153920"/>
              <a:gd name="connsiteY4" fmla="*/ 738921 h 738921"/>
              <a:gd name="connsiteX5" fmla="*/ 0 w 2153920"/>
              <a:gd name="connsiteY5" fmla="*/ 0 h 738921"/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2020595 w 2153920"/>
              <a:gd name="connsiteY3" fmla="*/ 736467 h 738921"/>
              <a:gd name="connsiteX4" fmla="*/ 201697 w 2153920"/>
              <a:gd name="connsiteY4" fmla="*/ 730541 h 738921"/>
              <a:gd name="connsiteX5" fmla="*/ 0 w 2153920"/>
              <a:gd name="connsiteY5" fmla="*/ 738921 h 738921"/>
              <a:gd name="connsiteX6" fmla="*/ 0 w 2153920"/>
              <a:gd name="connsiteY6" fmla="*/ 0 h 738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3920" h="738921">
                <a:moveTo>
                  <a:pt x="0" y="0"/>
                </a:moveTo>
                <a:lnTo>
                  <a:pt x="2153920" y="0"/>
                </a:lnTo>
                <a:lnTo>
                  <a:pt x="2153920" y="738921"/>
                </a:lnTo>
                <a:lnTo>
                  <a:pt x="2020595" y="736467"/>
                </a:lnTo>
                <a:lnTo>
                  <a:pt x="201697" y="730541"/>
                </a:lnTo>
                <a:lnTo>
                  <a:pt x="0" y="738921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65" name="Conector de Seta Reta 39">
            <a:extLst>
              <a:ext uri="{FF2B5EF4-FFF2-40B4-BE49-F238E27FC236}">
                <a16:creationId xmlns:a16="http://schemas.microsoft.com/office/drawing/2014/main" id="{A2896115-3AFC-D14A-44DA-637673A7B842}"/>
              </a:ext>
            </a:extLst>
          </p:cNvPr>
          <p:cNvCxnSpPr>
            <a:cxnSpLocks/>
            <a:endCxn id="66" idx="6"/>
          </p:cNvCxnSpPr>
          <p:nvPr/>
        </p:nvCxnSpPr>
        <p:spPr>
          <a:xfrm flipH="1">
            <a:off x="4068394" y="4282266"/>
            <a:ext cx="1278482" cy="435159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>
            <a:extLst>
              <a:ext uri="{FF2B5EF4-FFF2-40B4-BE49-F238E27FC236}">
                <a16:creationId xmlns:a16="http://schemas.microsoft.com/office/drawing/2014/main" id="{F7C3CC24-B8F9-3CAB-248F-174298181A3E}"/>
              </a:ext>
            </a:extLst>
          </p:cNvPr>
          <p:cNvSpPr/>
          <p:nvPr/>
        </p:nvSpPr>
        <p:spPr>
          <a:xfrm>
            <a:off x="3028263" y="4161047"/>
            <a:ext cx="1040131" cy="1112756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1" name="Retângulo 6">
            <a:extLst>
              <a:ext uri="{FF2B5EF4-FFF2-40B4-BE49-F238E27FC236}">
                <a16:creationId xmlns:a16="http://schemas.microsoft.com/office/drawing/2014/main" id="{D5BC7675-4631-7950-4E8E-5BD95FE59F3D}"/>
              </a:ext>
            </a:extLst>
          </p:cNvPr>
          <p:cNvSpPr/>
          <p:nvPr/>
        </p:nvSpPr>
        <p:spPr>
          <a:xfrm>
            <a:off x="5249438" y="5059807"/>
            <a:ext cx="6847001" cy="1348753"/>
          </a:xfrm>
          <a:custGeom>
            <a:avLst/>
            <a:gdLst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0 w 2153920"/>
              <a:gd name="connsiteY3" fmla="*/ 738921 h 738921"/>
              <a:gd name="connsiteX4" fmla="*/ 0 w 2153920"/>
              <a:gd name="connsiteY4" fmla="*/ 0 h 738921"/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201697 w 2153920"/>
              <a:gd name="connsiteY3" fmla="*/ 730541 h 738921"/>
              <a:gd name="connsiteX4" fmla="*/ 0 w 2153920"/>
              <a:gd name="connsiteY4" fmla="*/ 738921 h 738921"/>
              <a:gd name="connsiteX5" fmla="*/ 0 w 2153920"/>
              <a:gd name="connsiteY5" fmla="*/ 0 h 738921"/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2020595 w 2153920"/>
              <a:gd name="connsiteY3" fmla="*/ 736467 h 738921"/>
              <a:gd name="connsiteX4" fmla="*/ 201697 w 2153920"/>
              <a:gd name="connsiteY4" fmla="*/ 730541 h 738921"/>
              <a:gd name="connsiteX5" fmla="*/ 0 w 2153920"/>
              <a:gd name="connsiteY5" fmla="*/ 738921 h 738921"/>
              <a:gd name="connsiteX6" fmla="*/ 0 w 2153920"/>
              <a:gd name="connsiteY6" fmla="*/ 0 h 738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3920" h="738921">
                <a:moveTo>
                  <a:pt x="0" y="0"/>
                </a:moveTo>
                <a:lnTo>
                  <a:pt x="2153920" y="0"/>
                </a:lnTo>
                <a:lnTo>
                  <a:pt x="2153920" y="738921"/>
                </a:lnTo>
                <a:lnTo>
                  <a:pt x="2020595" y="736467"/>
                </a:lnTo>
                <a:lnTo>
                  <a:pt x="201697" y="730541"/>
                </a:lnTo>
                <a:lnTo>
                  <a:pt x="0" y="738921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72" name="Conector de Seta Reta 39">
            <a:extLst>
              <a:ext uri="{FF2B5EF4-FFF2-40B4-BE49-F238E27FC236}">
                <a16:creationId xmlns:a16="http://schemas.microsoft.com/office/drawing/2014/main" id="{79A27640-2AB0-5D96-A195-0A9DBFC850D1}"/>
              </a:ext>
            </a:extLst>
          </p:cNvPr>
          <p:cNvCxnSpPr>
            <a:cxnSpLocks/>
            <a:endCxn id="74" idx="6"/>
          </p:cNvCxnSpPr>
          <p:nvPr/>
        </p:nvCxnSpPr>
        <p:spPr>
          <a:xfrm flipH="1">
            <a:off x="4024807" y="5667724"/>
            <a:ext cx="1208889" cy="118738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Elipse 73">
            <a:extLst>
              <a:ext uri="{FF2B5EF4-FFF2-40B4-BE49-F238E27FC236}">
                <a16:creationId xmlns:a16="http://schemas.microsoft.com/office/drawing/2014/main" id="{41B861B7-3F35-7822-ED49-FEA61E40EE14}"/>
              </a:ext>
            </a:extLst>
          </p:cNvPr>
          <p:cNvSpPr/>
          <p:nvPr/>
        </p:nvSpPr>
        <p:spPr>
          <a:xfrm>
            <a:off x="2984676" y="5322347"/>
            <a:ext cx="1040131" cy="928229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75759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IAM - </a:t>
            </a:r>
            <a:r>
              <a:rPr lang="pt-BR" noProof="0" dirty="0" err="1"/>
              <a:t>Identity</a:t>
            </a:r>
            <a:r>
              <a:rPr lang="pt-BR" noProof="0" dirty="0"/>
              <a:t> Access Management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noProof="0" dirty="0"/>
              <a:t>Menu Services – IAM</a:t>
            </a:r>
          </a:p>
          <a:p>
            <a:r>
              <a:rPr lang="pt-BR" noProof="0" dirty="0"/>
              <a:t>Acesso compartilhado à sua conta da AWS (gerenciamento de usuários)</a:t>
            </a:r>
          </a:p>
          <a:p>
            <a:r>
              <a:rPr lang="pt-BR" noProof="0" dirty="0"/>
              <a:t>Permissões granulares (gerenciamento acesso a plataforma)</a:t>
            </a:r>
          </a:p>
          <a:p>
            <a:pPr>
              <a:lnSpc>
                <a:spcPct val="100000"/>
              </a:lnSpc>
            </a:pPr>
            <a:r>
              <a:rPr lang="pt-BR" noProof="0" dirty="0"/>
              <a:t>Acesso seguro a AWS para aplicativos executados no Amazon EC2 (Roles)</a:t>
            </a:r>
          </a:p>
          <a:p>
            <a:pPr>
              <a:lnSpc>
                <a:spcPct val="100000"/>
              </a:lnSpc>
            </a:pPr>
            <a:r>
              <a:rPr lang="pt-BR" noProof="0" dirty="0"/>
              <a:t>Federação de identidades</a:t>
            </a:r>
          </a:p>
          <a:p>
            <a:pPr>
              <a:lnSpc>
                <a:spcPct val="100000"/>
              </a:lnSpc>
            </a:pPr>
            <a:r>
              <a:rPr lang="pt-BR" noProof="0" dirty="0"/>
              <a:t>Informações de identidade na usabilidade (AWS </a:t>
            </a:r>
            <a:r>
              <a:rPr lang="pt-BR" noProof="0" dirty="0" err="1"/>
              <a:t>CloudTrail</a:t>
            </a:r>
            <a:r>
              <a:rPr lang="pt-BR" noProof="0" dirty="0"/>
              <a:t>)</a:t>
            </a:r>
          </a:p>
          <a:p>
            <a:pPr>
              <a:lnSpc>
                <a:spcPct val="100000"/>
              </a:lnSpc>
            </a:pPr>
            <a:r>
              <a:rPr lang="pt-BR" noProof="0" dirty="0"/>
              <a:t>IBP – </a:t>
            </a:r>
            <a:r>
              <a:rPr lang="pt-BR" noProof="0" dirty="0" err="1"/>
              <a:t>Identity</a:t>
            </a:r>
            <a:r>
              <a:rPr lang="pt-BR" noProof="0" dirty="0"/>
              <a:t> </a:t>
            </a:r>
            <a:r>
              <a:rPr lang="pt-BR" noProof="0" dirty="0" err="1"/>
              <a:t>Based</a:t>
            </a:r>
            <a:r>
              <a:rPr lang="pt-BR" noProof="0" dirty="0"/>
              <a:t> Police.</a:t>
            </a:r>
          </a:p>
          <a:p>
            <a:pPr>
              <a:lnSpc>
                <a:spcPct val="100000"/>
              </a:lnSpc>
            </a:pPr>
            <a:r>
              <a:rPr lang="pt-BR" noProof="0" dirty="0"/>
              <a:t>RBP – </a:t>
            </a:r>
            <a:r>
              <a:rPr lang="pt-BR" noProof="0" dirty="0" err="1"/>
              <a:t>Resource</a:t>
            </a:r>
            <a:r>
              <a:rPr lang="pt-BR" noProof="0" dirty="0"/>
              <a:t> </a:t>
            </a:r>
            <a:r>
              <a:rPr lang="pt-BR" noProof="0" dirty="0" err="1"/>
              <a:t>Based</a:t>
            </a:r>
            <a:r>
              <a:rPr lang="pt-BR" noProof="0" dirty="0"/>
              <a:t> Police.</a:t>
            </a:r>
          </a:p>
          <a:p>
            <a:r>
              <a:rPr lang="pt-BR" noProof="0" dirty="0"/>
              <a:t>Conformidade com PCI DSS.</a:t>
            </a:r>
          </a:p>
          <a:p>
            <a:pPr lvl="1"/>
            <a:r>
              <a:rPr lang="pt-BR" noProof="0" dirty="0"/>
              <a:t>Data Security Standard (DSS – Padrão de segurança de dados) da </a:t>
            </a:r>
            <a:r>
              <a:rPr lang="pt-BR" noProof="0" dirty="0" err="1"/>
              <a:t>Payment</a:t>
            </a:r>
            <a:r>
              <a:rPr lang="pt-BR" noProof="0" dirty="0"/>
              <a:t> Card </a:t>
            </a:r>
            <a:r>
              <a:rPr lang="pt-BR" noProof="0" dirty="0" err="1"/>
              <a:t>Industry</a:t>
            </a:r>
            <a:r>
              <a:rPr lang="pt-BR" noProof="0" dirty="0"/>
              <a:t> (PCI – Setor de cartão de crédito)</a:t>
            </a:r>
          </a:p>
          <a:p>
            <a:r>
              <a:rPr lang="pt-BR" noProof="0" dirty="0"/>
              <a:t>Integração com serviços da AWS</a:t>
            </a:r>
          </a:p>
          <a:p>
            <a:r>
              <a:rPr lang="pt-BR" noProof="0" dirty="0"/>
              <a:t>Configuração de tipos de autenticação, </a:t>
            </a:r>
            <a:r>
              <a:rPr lang="pt-BR" noProof="0" dirty="0" err="1"/>
              <a:t>password</a:t>
            </a:r>
            <a:r>
              <a:rPr lang="pt-BR" noProof="0" dirty="0"/>
              <a:t> </a:t>
            </a:r>
            <a:r>
              <a:rPr lang="pt-BR" noProof="0" dirty="0" err="1"/>
              <a:t>rotation</a:t>
            </a:r>
            <a:r>
              <a:rPr lang="pt-BR" noProof="0" dirty="0"/>
              <a:t>.</a:t>
            </a:r>
          </a:p>
          <a:p>
            <a:r>
              <a:rPr lang="pt-BR" noProof="0" dirty="0"/>
              <a:t>MFA – </a:t>
            </a:r>
            <a:r>
              <a:rPr lang="pt-BR" noProof="0" dirty="0" err="1"/>
              <a:t>Multi</a:t>
            </a:r>
            <a:r>
              <a:rPr lang="pt-BR" noProof="0" dirty="0"/>
              <a:t> Factor </a:t>
            </a:r>
            <a:r>
              <a:rPr lang="pt-BR" noProof="0" dirty="0" err="1"/>
              <a:t>Autenticator</a:t>
            </a:r>
            <a:r>
              <a:rPr lang="pt-BR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8746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67F30-0D41-EB9D-EE82-707CEC21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EFC69-73C5-F67B-86D7-5A2BD696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IAM - </a:t>
            </a:r>
            <a:r>
              <a:rPr lang="pt-BR" noProof="0" dirty="0" err="1"/>
              <a:t>Identity</a:t>
            </a:r>
            <a:r>
              <a:rPr lang="pt-BR" noProof="0" dirty="0"/>
              <a:t> Access Management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AF6AF2-F763-02F3-12E6-5118D7F3B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noProof="0" dirty="0"/>
              <a:t>Usuários – Usuários podem acessar a plataforma </a:t>
            </a:r>
            <a:r>
              <a:rPr lang="pt-BR" noProof="0" dirty="0" err="1"/>
              <a:t>aws</a:t>
            </a:r>
            <a:r>
              <a:rPr lang="pt-BR" noProof="0" dirty="0"/>
              <a:t>, quando criado um usuário com nome ele já tem acesso, autenticação. O usuário apesar de autenticado não tem autorização, ou seja não consegue fazer nada além de logar na plataforma, pode dizer que o usuário é criado sem privilégios.</a:t>
            </a:r>
          </a:p>
          <a:p>
            <a:r>
              <a:rPr lang="pt-BR" noProof="0" dirty="0"/>
              <a:t>Grupos – É a maneira de unir vários usuários com objetivos de dar permissões iguais a todos eles. </a:t>
            </a:r>
          </a:p>
          <a:p>
            <a:r>
              <a:rPr lang="pt-BR" noProof="0" dirty="0"/>
              <a:t>Police – São regras para permitir ou bloquear acesso de grupos ou usuários.</a:t>
            </a:r>
          </a:p>
          <a:p>
            <a:r>
              <a:rPr lang="pt-BR" noProof="0" dirty="0"/>
              <a:t>Roles – São regras de autorização entre serviços da </a:t>
            </a:r>
            <a:r>
              <a:rPr lang="pt-BR" noProof="0" dirty="0" err="1"/>
              <a:t>aws</a:t>
            </a:r>
            <a:r>
              <a:rPr lang="pt-BR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7475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0FF59-1915-5FBA-ABE8-21B5CB87C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29244-41C9-54F6-73F0-4F6EDBA56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IAM – Tipos de Usuários.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D303B7-9E99-273C-F95A-CC903D6C9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noProof="0" dirty="0" err="1"/>
              <a:t>Acess</a:t>
            </a:r>
            <a:r>
              <a:rPr lang="pt-BR" noProof="0" dirty="0"/>
              <a:t> </a:t>
            </a:r>
            <a:r>
              <a:rPr lang="pt-BR" noProof="0" dirty="0" err="1"/>
              <a:t>key</a:t>
            </a:r>
            <a:r>
              <a:rPr lang="pt-BR" noProof="0" dirty="0"/>
              <a:t> – Acesso via chave é o acesso </a:t>
            </a:r>
            <a:r>
              <a:rPr lang="pt-BR" noProof="0" dirty="0" err="1"/>
              <a:t>programatico</a:t>
            </a:r>
            <a:r>
              <a:rPr lang="pt-BR" noProof="0" dirty="0"/>
              <a:t>, é uma chave que os sistemas usam para acessar outro Sistema.</a:t>
            </a:r>
          </a:p>
          <a:p>
            <a:endParaRPr lang="pt-BR" noProof="0" dirty="0"/>
          </a:p>
          <a:p>
            <a:r>
              <a:rPr lang="pt-BR" noProof="0" dirty="0" err="1"/>
              <a:t>Password</a:t>
            </a:r>
            <a:r>
              <a:rPr lang="pt-BR" noProof="0" dirty="0"/>
              <a:t> – Acesso via </a:t>
            </a:r>
            <a:r>
              <a:rPr lang="pt-BR" noProof="0" dirty="0" err="1"/>
              <a:t>password</a:t>
            </a:r>
            <a:r>
              <a:rPr lang="pt-BR" noProof="0" dirty="0"/>
              <a:t> é a maneira de dar acesso a console, de forma administrativa com </a:t>
            </a:r>
            <a:r>
              <a:rPr lang="pt-BR" noProof="0" dirty="0" err="1"/>
              <a:t>caracteristicas</a:t>
            </a:r>
            <a:r>
              <a:rPr lang="pt-BR" noProof="0" dirty="0"/>
              <a:t> de gerenciamento. O usuário desde tipo tem uma </a:t>
            </a:r>
            <a:r>
              <a:rPr lang="pt-BR" noProof="0" dirty="0" err="1"/>
              <a:t>url</a:t>
            </a:r>
            <a:r>
              <a:rPr lang="pt-BR" noProof="0" dirty="0"/>
              <a:t> de acesso a conta e esta </a:t>
            </a:r>
            <a:r>
              <a:rPr lang="pt-BR" noProof="0" dirty="0" err="1"/>
              <a:t>url</a:t>
            </a:r>
            <a:r>
              <a:rPr lang="pt-BR" noProof="0" dirty="0"/>
              <a:t> é </a:t>
            </a:r>
            <a:r>
              <a:rPr lang="pt-BR" noProof="0" dirty="0" err="1"/>
              <a:t>monstrada</a:t>
            </a:r>
            <a:r>
              <a:rPr lang="pt-BR" noProof="0" dirty="0"/>
              <a:t> durante a criação deste usuário.</a:t>
            </a:r>
          </a:p>
        </p:txBody>
      </p:sp>
    </p:spTree>
    <p:extLst>
      <p:ext uri="{BB962C8B-B14F-4D97-AF65-F5344CB8AC3E}">
        <p14:creationId xmlns:p14="http://schemas.microsoft.com/office/powerpoint/2010/main" val="1524476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26A9E-F9F1-757E-3C62-9D2F9A648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Permissões de Usuário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E59C52-6EE7-1825-C975-18F167CDF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Criar um grupo – É possível criar um grupo e colocar o usuário ou colocar o usuário a um grupo existente e atribuir politicas ao grupo todo.</a:t>
            </a:r>
          </a:p>
          <a:p>
            <a:r>
              <a:rPr lang="pt-BR" noProof="0" dirty="0"/>
              <a:t>Copiar permissão de usuário existente – é possível também com base em outro usuário já existente e com politicas já aplicadas, colocar este novo usuários como uma cópia deste antigo assim dando os mesmos privilégios.</a:t>
            </a:r>
          </a:p>
          <a:p>
            <a:r>
              <a:rPr lang="pt-BR" noProof="0" dirty="0"/>
              <a:t>Colocar politica existente – Existem politicas criadas pela </a:t>
            </a:r>
            <a:r>
              <a:rPr lang="pt-BR" noProof="0" dirty="0" err="1"/>
              <a:t>aws</a:t>
            </a:r>
            <a:r>
              <a:rPr lang="pt-BR" noProof="0" dirty="0"/>
              <a:t>, ou que foram criadas anteriormente, estas politicas podem ser </a:t>
            </a:r>
            <a:r>
              <a:rPr lang="pt-BR" noProof="0" dirty="0" err="1"/>
              <a:t>atribuidas</a:t>
            </a:r>
            <a:r>
              <a:rPr lang="pt-BR" noProof="0" dirty="0"/>
              <a:t> diretamente ao usuário. </a:t>
            </a:r>
          </a:p>
        </p:txBody>
      </p:sp>
    </p:spTree>
    <p:extLst>
      <p:ext uri="{BB962C8B-B14F-4D97-AF65-F5344CB8AC3E}">
        <p14:creationId xmlns:p14="http://schemas.microsoft.com/office/powerpoint/2010/main" val="2059381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Imagem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027" y="4304755"/>
            <a:ext cx="4343044" cy="2485361"/>
          </a:xfrm>
          <a:prstGeom prst="rect">
            <a:avLst/>
          </a:prstGeom>
        </p:spPr>
      </p:pic>
      <p:pic>
        <p:nvPicPr>
          <p:cNvPr id="22" name="Gráfico 21" descr="Banco de dados">
            <a:extLst>
              <a:ext uri="{FF2B5EF4-FFF2-40B4-BE49-F238E27FC236}">
                <a16:creationId xmlns:a16="http://schemas.microsoft.com/office/drawing/2014/main" id="{645D2C67-EAF5-445E-9674-61DB1985B5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7366">
            <a:off x="7212206" y="2306841"/>
            <a:ext cx="163744" cy="73231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C6EC640-E25A-4E61-90D3-ADC96967A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19" y="20360"/>
            <a:ext cx="6697013" cy="770148"/>
          </a:xfrm>
        </p:spPr>
        <p:txBody>
          <a:bodyPr/>
          <a:lstStyle/>
          <a:p>
            <a:r>
              <a:rPr lang="pt-BR" noProof="0" dirty="0"/>
              <a:t>MFA Autenticação Multifator</a:t>
            </a:r>
            <a:endParaRPr lang="pt-BR" noProof="0" dirty="0">
              <a:hlinkClick r:id="rId4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BE17CEE-AA0B-4666-B1FE-52661C795365}"/>
              </a:ext>
            </a:extLst>
          </p:cNvPr>
          <p:cNvSpPr/>
          <p:nvPr/>
        </p:nvSpPr>
        <p:spPr>
          <a:xfrm>
            <a:off x="7975599" y="772160"/>
            <a:ext cx="4053841" cy="572071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Console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pic>
        <p:nvPicPr>
          <p:cNvPr id="6" name="Gráfico 5" descr="Internet">
            <a:extLst>
              <a:ext uri="{FF2B5EF4-FFF2-40B4-BE49-F238E27FC236}">
                <a16:creationId xmlns:a16="http://schemas.microsoft.com/office/drawing/2014/main" id="{C65CDFC8-E447-4DF7-B11F-6ED679A7EE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9120" y="2026919"/>
            <a:ext cx="914400" cy="914400"/>
          </a:xfrm>
          <a:prstGeom prst="rect">
            <a:avLst/>
          </a:prstGeom>
        </p:spPr>
      </p:pic>
      <p:pic>
        <p:nvPicPr>
          <p:cNvPr id="7" name="Gráfico 6" descr="Internet">
            <a:extLst>
              <a:ext uri="{FF2B5EF4-FFF2-40B4-BE49-F238E27FC236}">
                <a16:creationId xmlns:a16="http://schemas.microsoft.com/office/drawing/2014/main" id="{16BC6263-2F72-46E8-8E63-3B0CC85EEF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727" y="2300037"/>
            <a:ext cx="914400" cy="914400"/>
          </a:xfrm>
          <a:prstGeom prst="rect">
            <a:avLst/>
          </a:prstGeom>
        </p:spPr>
      </p:pic>
      <p:pic>
        <p:nvPicPr>
          <p:cNvPr id="8" name="Gráfico 7" descr="Internet">
            <a:extLst>
              <a:ext uri="{FF2B5EF4-FFF2-40B4-BE49-F238E27FC236}">
                <a16:creationId xmlns:a16="http://schemas.microsoft.com/office/drawing/2014/main" id="{DA8E17CD-84D4-4955-BC20-6CD20839B3E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458" y="5305409"/>
            <a:ext cx="914400" cy="914400"/>
          </a:xfrm>
          <a:prstGeom prst="rect">
            <a:avLst/>
          </a:prstGeom>
        </p:spPr>
      </p:pic>
      <p:pic>
        <p:nvPicPr>
          <p:cNvPr id="9" name="Gráfico 8" descr="Internet">
            <a:extLst>
              <a:ext uri="{FF2B5EF4-FFF2-40B4-BE49-F238E27FC236}">
                <a16:creationId xmlns:a16="http://schemas.microsoft.com/office/drawing/2014/main" id="{0956314A-7EEA-4EF6-9576-F6B0577B4E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192" y="4974227"/>
            <a:ext cx="914400" cy="914400"/>
          </a:xfrm>
          <a:prstGeom prst="rect">
            <a:avLst/>
          </a:prstGeom>
        </p:spPr>
      </p:pic>
      <p:pic>
        <p:nvPicPr>
          <p:cNvPr id="15" name="Gráfico 14" descr="Programa">
            <a:extLst>
              <a:ext uri="{FF2B5EF4-FFF2-40B4-BE49-F238E27FC236}">
                <a16:creationId xmlns:a16="http://schemas.microsoft.com/office/drawing/2014/main" id="{3096F4B3-587E-4AD6-991A-02D745BFF97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210" y="3632517"/>
            <a:ext cx="965200" cy="965200"/>
          </a:xfrm>
          <a:prstGeom prst="rect">
            <a:avLst/>
          </a:prstGeom>
        </p:spPr>
      </p:pic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9833C6F8-DC32-41F4-8C68-080F990492E6}"/>
              </a:ext>
            </a:extLst>
          </p:cNvPr>
          <p:cNvCxnSpPr>
            <a:cxnSpLocks/>
            <a:stCxn id="15" idx="3"/>
            <a:endCxn id="22" idx="2"/>
          </p:cNvCxnSpPr>
          <p:nvPr/>
        </p:nvCxnSpPr>
        <p:spPr>
          <a:xfrm flipV="1">
            <a:off x="6118410" y="3025909"/>
            <a:ext cx="1078088" cy="1089208"/>
          </a:xfrm>
          <a:prstGeom prst="line">
            <a:avLst/>
          </a:prstGeom>
          <a:ln w="47625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áfico 19" descr="Smartphone">
            <a:extLst>
              <a:ext uri="{FF2B5EF4-FFF2-40B4-BE49-F238E27FC236}">
                <a16:creationId xmlns:a16="http://schemas.microsoft.com/office/drawing/2014/main" id="{7D5C75AC-94F5-4D3A-9C3C-1F8EAC31D20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346" y="2122651"/>
            <a:ext cx="914400" cy="914400"/>
          </a:xfrm>
          <a:prstGeom prst="rect">
            <a:avLst/>
          </a:prstGeom>
        </p:spPr>
      </p:pic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194727F-989F-424C-B357-008046F12127}"/>
              </a:ext>
            </a:extLst>
          </p:cNvPr>
          <p:cNvCxnSpPr>
            <a:cxnSpLocks/>
            <a:stCxn id="22" idx="1"/>
            <a:endCxn id="20" idx="3"/>
          </p:cNvCxnSpPr>
          <p:nvPr/>
        </p:nvCxnSpPr>
        <p:spPr>
          <a:xfrm flipH="1" flipV="1">
            <a:off x="6005746" y="2579851"/>
            <a:ext cx="1209421" cy="71326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Gráfico 48" descr="Banco de dados">
            <a:extLst>
              <a:ext uri="{FF2B5EF4-FFF2-40B4-BE49-F238E27FC236}">
                <a16:creationId xmlns:a16="http://schemas.microsoft.com/office/drawing/2014/main" id="{F2CAC708-6D3F-4E67-9582-ABBA2415D9A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767" y="3461013"/>
            <a:ext cx="771842" cy="843742"/>
          </a:xfrm>
          <a:prstGeom prst="rect">
            <a:avLst/>
          </a:prstGeom>
        </p:spPr>
      </p:pic>
      <p:pic>
        <p:nvPicPr>
          <p:cNvPr id="50" name="Gráfico 49" descr="Banco de dados">
            <a:extLst>
              <a:ext uri="{FF2B5EF4-FFF2-40B4-BE49-F238E27FC236}">
                <a16:creationId xmlns:a16="http://schemas.microsoft.com/office/drawing/2014/main" id="{4BFBBD82-BA92-4070-A79A-AA40FA2E459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286" y="5486025"/>
            <a:ext cx="771842" cy="843742"/>
          </a:xfrm>
          <a:prstGeom prst="rect">
            <a:avLst/>
          </a:prstGeom>
        </p:spPr>
      </p:pic>
      <p:cxnSp>
        <p:nvCxnSpPr>
          <p:cNvPr id="82" name="Conector: Angulado 81">
            <a:extLst>
              <a:ext uri="{FF2B5EF4-FFF2-40B4-BE49-F238E27FC236}">
                <a16:creationId xmlns:a16="http://schemas.microsoft.com/office/drawing/2014/main" id="{936A99D0-9D5C-482B-B4CB-48FDD4F541BE}"/>
              </a:ext>
            </a:extLst>
          </p:cNvPr>
          <p:cNvCxnSpPr>
            <a:cxnSpLocks/>
            <a:stCxn id="20" idx="1"/>
            <a:endCxn id="15" idx="1"/>
          </p:cNvCxnSpPr>
          <p:nvPr/>
        </p:nvCxnSpPr>
        <p:spPr>
          <a:xfrm rot="10800000" flipH="1" flipV="1">
            <a:off x="5091346" y="2579851"/>
            <a:ext cx="61864" cy="1535266"/>
          </a:xfrm>
          <a:prstGeom prst="bentConnector3">
            <a:avLst>
              <a:gd name="adj1" fmla="val -369520"/>
            </a:avLst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1F27EB2E-7C3E-441A-8C33-71EC76F87EAB}"/>
              </a:ext>
            </a:extLst>
          </p:cNvPr>
          <p:cNvGrpSpPr/>
          <p:nvPr/>
        </p:nvGrpSpPr>
        <p:grpSpPr>
          <a:xfrm>
            <a:off x="7258226" y="2187641"/>
            <a:ext cx="2133600" cy="1139191"/>
            <a:chOff x="3535680" y="2941319"/>
            <a:chExt cx="2133600" cy="1139191"/>
          </a:xfrm>
        </p:grpSpPr>
        <p:sp>
          <p:nvSpPr>
            <p:cNvPr id="134" name="Retângulo 133">
              <a:extLst>
                <a:ext uri="{FF2B5EF4-FFF2-40B4-BE49-F238E27FC236}">
                  <a16:creationId xmlns:a16="http://schemas.microsoft.com/office/drawing/2014/main" id="{27D0E2C6-563E-4F48-8ED3-04EE4D8BFF46}"/>
                </a:ext>
              </a:extLst>
            </p:cNvPr>
            <p:cNvSpPr/>
            <p:nvPr/>
          </p:nvSpPr>
          <p:spPr>
            <a:xfrm>
              <a:off x="3535680" y="2941319"/>
              <a:ext cx="2133600" cy="1139191"/>
            </a:xfrm>
            <a:custGeom>
              <a:avLst/>
              <a:gdLst>
                <a:gd name="connsiteX0" fmla="*/ 0 w 2133600"/>
                <a:gd name="connsiteY0" fmla="*/ 0 h 1139191"/>
                <a:gd name="connsiteX1" fmla="*/ 2133600 w 2133600"/>
                <a:gd name="connsiteY1" fmla="*/ 0 h 1139191"/>
                <a:gd name="connsiteX2" fmla="*/ 2133600 w 2133600"/>
                <a:gd name="connsiteY2" fmla="*/ 1139191 h 1139191"/>
                <a:gd name="connsiteX3" fmla="*/ 0 w 2133600"/>
                <a:gd name="connsiteY3" fmla="*/ 1139191 h 1139191"/>
                <a:gd name="connsiteX4" fmla="*/ 0 w 2133600"/>
                <a:gd name="connsiteY4" fmla="*/ 0 h 1139191"/>
                <a:gd name="connsiteX0" fmla="*/ 0 w 2133600"/>
                <a:gd name="connsiteY0" fmla="*/ 0 h 1139191"/>
                <a:gd name="connsiteX1" fmla="*/ 2133600 w 2133600"/>
                <a:gd name="connsiteY1" fmla="*/ 0 h 1139191"/>
                <a:gd name="connsiteX2" fmla="*/ 2133600 w 2133600"/>
                <a:gd name="connsiteY2" fmla="*/ 1139191 h 1139191"/>
                <a:gd name="connsiteX3" fmla="*/ 0 w 2133600"/>
                <a:gd name="connsiteY3" fmla="*/ 1139191 h 1139191"/>
                <a:gd name="connsiteX4" fmla="*/ 703 w 2133600"/>
                <a:gd name="connsiteY4" fmla="*/ 808777 h 1139191"/>
                <a:gd name="connsiteX5" fmla="*/ 0 w 2133600"/>
                <a:gd name="connsiteY5" fmla="*/ 0 h 1139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600" h="1139191">
                  <a:moveTo>
                    <a:pt x="0" y="0"/>
                  </a:moveTo>
                  <a:lnTo>
                    <a:pt x="2133600" y="0"/>
                  </a:lnTo>
                  <a:lnTo>
                    <a:pt x="2133600" y="1139191"/>
                  </a:lnTo>
                  <a:lnTo>
                    <a:pt x="0" y="1139191"/>
                  </a:lnTo>
                  <a:cubicBezTo>
                    <a:pt x="234" y="1029053"/>
                    <a:pt x="469" y="918915"/>
                    <a:pt x="703" y="808777"/>
                  </a:cubicBezTo>
                  <a:cubicBezTo>
                    <a:pt x="469" y="539185"/>
                    <a:pt x="234" y="269592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rtlCol="0" anchor="t"/>
            <a:lstStyle/>
            <a:p>
              <a:r>
                <a:rPr lang="pt-BR" noProof="0" dirty="0">
                  <a:solidFill>
                    <a:schemeClr val="tx1"/>
                  </a:solidFill>
                </a:rPr>
                <a:t>Usuário:</a:t>
              </a:r>
            </a:p>
            <a:p>
              <a:r>
                <a:rPr lang="pt-BR" noProof="0" dirty="0">
                  <a:solidFill>
                    <a:schemeClr val="tx1"/>
                  </a:solidFill>
                </a:rPr>
                <a:t>   Senha:</a:t>
              </a:r>
            </a:p>
          </p:txBody>
        </p:sp>
        <p:sp>
          <p:nvSpPr>
            <p:cNvPr id="135" name="Retângulo 134">
              <a:extLst>
                <a:ext uri="{FF2B5EF4-FFF2-40B4-BE49-F238E27FC236}">
                  <a16:creationId xmlns:a16="http://schemas.microsoft.com/office/drawing/2014/main" id="{C3939F8D-DAD1-40F5-B62F-40DF4E762A5D}"/>
                </a:ext>
              </a:extLst>
            </p:cNvPr>
            <p:cNvSpPr/>
            <p:nvPr/>
          </p:nvSpPr>
          <p:spPr>
            <a:xfrm>
              <a:off x="4574540" y="3018588"/>
              <a:ext cx="944880" cy="2930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36" name="Retângulo 135">
              <a:extLst>
                <a:ext uri="{FF2B5EF4-FFF2-40B4-BE49-F238E27FC236}">
                  <a16:creationId xmlns:a16="http://schemas.microsoft.com/office/drawing/2014/main" id="{F66E425F-66CC-42A0-87EF-EA95B74B8497}"/>
                </a:ext>
              </a:extLst>
            </p:cNvPr>
            <p:cNvSpPr/>
            <p:nvPr/>
          </p:nvSpPr>
          <p:spPr>
            <a:xfrm>
              <a:off x="4574540" y="3359129"/>
              <a:ext cx="944880" cy="2930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37" name="Retângulo: Cantos Arredondados 136">
              <a:extLst>
                <a:ext uri="{FF2B5EF4-FFF2-40B4-BE49-F238E27FC236}">
                  <a16:creationId xmlns:a16="http://schemas.microsoft.com/office/drawing/2014/main" id="{06750B2F-B02A-4B93-923F-4E92BBC16F89}"/>
                </a:ext>
              </a:extLst>
            </p:cNvPr>
            <p:cNvSpPr/>
            <p:nvPr/>
          </p:nvSpPr>
          <p:spPr>
            <a:xfrm>
              <a:off x="4574540" y="3721417"/>
              <a:ext cx="924560" cy="300991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noProof="0" dirty="0">
                  <a:solidFill>
                    <a:schemeClr val="tx1"/>
                  </a:solidFill>
                </a:rPr>
                <a:t>Entrar</a:t>
              </a:r>
            </a:p>
          </p:txBody>
        </p:sp>
      </p:grpSp>
      <p:cxnSp>
        <p:nvCxnSpPr>
          <p:cNvPr id="177" name="Conector reto 176">
            <a:extLst>
              <a:ext uri="{FF2B5EF4-FFF2-40B4-BE49-F238E27FC236}">
                <a16:creationId xmlns:a16="http://schemas.microsoft.com/office/drawing/2014/main" id="{2C3441CD-BF7C-42E2-BA91-BF8903C9A787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 flipV="1">
            <a:off x="6118410" y="3930607"/>
            <a:ext cx="1388863" cy="18451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30D32E9E-CF17-4A98-923B-A6D18E6A1498}"/>
              </a:ext>
            </a:extLst>
          </p:cNvPr>
          <p:cNvGrpSpPr/>
          <p:nvPr/>
        </p:nvGrpSpPr>
        <p:grpSpPr>
          <a:xfrm>
            <a:off x="7507273" y="3473407"/>
            <a:ext cx="3029826" cy="914400"/>
            <a:chOff x="3939934" y="4403725"/>
            <a:chExt cx="3029826" cy="914400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7CAC63A-778C-448D-AEB2-996D451A336A}"/>
                </a:ext>
              </a:extLst>
            </p:cNvPr>
            <p:cNvSpPr/>
            <p:nvPr/>
          </p:nvSpPr>
          <p:spPr>
            <a:xfrm>
              <a:off x="3939934" y="4403725"/>
              <a:ext cx="3029826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rtlCol="0" anchor="t"/>
            <a:lstStyle/>
            <a:p>
              <a:r>
                <a:rPr lang="pt-BR" noProof="0" dirty="0">
                  <a:solidFill>
                    <a:schemeClr val="tx1"/>
                  </a:solidFill>
                </a:rPr>
                <a:t>Código Verificação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904159E5-67F5-4151-AD8F-162BE0B454C4}"/>
                </a:ext>
              </a:extLst>
            </p:cNvPr>
            <p:cNvSpPr/>
            <p:nvPr/>
          </p:nvSpPr>
          <p:spPr>
            <a:xfrm>
              <a:off x="5824543" y="4490961"/>
              <a:ext cx="944880" cy="2930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67882010-C9B9-48F3-9A9D-580BC56E6536}"/>
                </a:ext>
              </a:extLst>
            </p:cNvPr>
            <p:cNvSpPr/>
            <p:nvPr/>
          </p:nvSpPr>
          <p:spPr>
            <a:xfrm>
              <a:off x="5800090" y="4871294"/>
              <a:ext cx="924560" cy="300991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31750">
              <a:solidFill>
                <a:schemeClr val="bg1">
                  <a:lumMod val="50000"/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noProof="0" dirty="0">
                  <a:solidFill>
                    <a:schemeClr val="tx1"/>
                  </a:solidFill>
                </a:rPr>
                <a:t>Entrar</a:t>
              </a:r>
            </a:p>
          </p:txBody>
        </p:sp>
      </p:grpSp>
      <p:sp>
        <p:nvSpPr>
          <p:cNvPr id="52" name="Título 1">
            <a:extLst>
              <a:ext uri="{FF2B5EF4-FFF2-40B4-BE49-F238E27FC236}">
                <a16:creationId xmlns:a16="http://schemas.microsoft.com/office/drawing/2014/main" id="{DC6EC640-E25A-4E61-90D3-ADC96967A543}"/>
              </a:ext>
            </a:extLst>
          </p:cNvPr>
          <p:cNvSpPr txBox="1">
            <a:spLocks/>
          </p:cNvSpPr>
          <p:nvPr/>
        </p:nvSpPr>
        <p:spPr>
          <a:xfrm>
            <a:off x="728422" y="26652"/>
            <a:ext cx="4786854" cy="7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noProof="0" dirty="0"/>
              <a:t>IAM Grupos</a:t>
            </a:r>
            <a:endParaRPr lang="pt-BR" noProof="0" dirty="0">
              <a:hlinkClick r:id="rId4"/>
            </a:endParaRPr>
          </a:p>
        </p:txBody>
      </p:sp>
      <p:sp>
        <p:nvSpPr>
          <p:cNvPr id="40" name="Retângulo de cantos arredondados 39"/>
          <p:cNvSpPr/>
          <p:nvPr/>
        </p:nvSpPr>
        <p:spPr>
          <a:xfrm>
            <a:off x="1111347" y="1300106"/>
            <a:ext cx="1730327" cy="50056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>
                <a:solidFill>
                  <a:schemeClr val="accent5">
                    <a:lumMod val="75000"/>
                  </a:schemeClr>
                </a:solidFill>
              </a:rPr>
              <a:t>Usuário Raiz</a:t>
            </a:r>
          </a:p>
        </p:txBody>
      </p:sp>
      <p:sp>
        <p:nvSpPr>
          <p:cNvPr id="54" name="Retângulo de cantos arredondados 53"/>
          <p:cNvSpPr/>
          <p:nvPr/>
        </p:nvSpPr>
        <p:spPr>
          <a:xfrm>
            <a:off x="2950034" y="2307726"/>
            <a:ext cx="1096210" cy="50056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>
                <a:solidFill>
                  <a:schemeClr val="accent5">
                    <a:lumMod val="75000"/>
                  </a:schemeClr>
                </a:solidFill>
              </a:rPr>
              <a:t>Grupo 2</a:t>
            </a:r>
          </a:p>
        </p:txBody>
      </p:sp>
      <p:sp>
        <p:nvSpPr>
          <p:cNvPr id="55" name="Retângulo de cantos arredondados 54"/>
          <p:cNvSpPr/>
          <p:nvPr/>
        </p:nvSpPr>
        <p:spPr>
          <a:xfrm>
            <a:off x="388493" y="2231782"/>
            <a:ext cx="1096210" cy="50056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>
                <a:solidFill>
                  <a:schemeClr val="accent5">
                    <a:lumMod val="75000"/>
                  </a:schemeClr>
                </a:solidFill>
              </a:rPr>
              <a:t>Grupo 1</a:t>
            </a:r>
          </a:p>
        </p:txBody>
      </p:sp>
      <p:sp>
        <p:nvSpPr>
          <p:cNvPr id="64" name="Retângulo de cantos arredondados 63"/>
          <p:cNvSpPr/>
          <p:nvPr/>
        </p:nvSpPr>
        <p:spPr>
          <a:xfrm>
            <a:off x="355805" y="3840580"/>
            <a:ext cx="861218" cy="50056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 err="1">
                <a:solidFill>
                  <a:schemeClr val="accent5">
                    <a:lumMod val="75000"/>
                  </a:schemeClr>
                </a:solidFill>
              </a:rPr>
              <a:t>User</a:t>
            </a:r>
            <a:r>
              <a:rPr lang="pt-BR" noProof="0" dirty="0">
                <a:solidFill>
                  <a:schemeClr val="accent5">
                    <a:lumMod val="75000"/>
                  </a:schemeClr>
                </a:solidFill>
              </a:rPr>
              <a:t> 2</a:t>
            </a:r>
          </a:p>
        </p:txBody>
      </p:sp>
      <p:sp>
        <p:nvSpPr>
          <p:cNvPr id="69" name="Retângulo de cantos arredondados 68"/>
          <p:cNvSpPr/>
          <p:nvPr/>
        </p:nvSpPr>
        <p:spPr>
          <a:xfrm>
            <a:off x="1737290" y="2485730"/>
            <a:ext cx="861218" cy="50056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 err="1">
                <a:solidFill>
                  <a:schemeClr val="accent5">
                    <a:lumMod val="75000"/>
                  </a:schemeClr>
                </a:solidFill>
              </a:rPr>
              <a:t>User</a:t>
            </a:r>
            <a:r>
              <a:rPr lang="pt-BR" noProof="0" dirty="0">
                <a:solidFill>
                  <a:schemeClr val="accent5">
                    <a:lumMod val="75000"/>
                  </a:schemeClr>
                </a:solidFill>
              </a:rPr>
              <a:t> 3</a:t>
            </a:r>
          </a:p>
        </p:txBody>
      </p:sp>
      <p:sp>
        <p:nvSpPr>
          <p:cNvPr id="70" name="Retângulo de cantos arredondados 69"/>
          <p:cNvSpPr/>
          <p:nvPr/>
        </p:nvSpPr>
        <p:spPr>
          <a:xfrm>
            <a:off x="2040080" y="3707727"/>
            <a:ext cx="861218" cy="50056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 err="1">
                <a:solidFill>
                  <a:schemeClr val="accent5">
                    <a:lumMod val="75000"/>
                  </a:schemeClr>
                </a:solidFill>
              </a:rPr>
              <a:t>User</a:t>
            </a:r>
            <a:r>
              <a:rPr lang="pt-BR" noProof="0" dirty="0">
                <a:solidFill>
                  <a:schemeClr val="accent5">
                    <a:lumMod val="75000"/>
                  </a:schemeClr>
                </a:solidFill>
              </a:rPr>
              <a:t> 4</a:t>
            </a:r>
          </a:p>
        </p:txBody>
      </p:sp>
      <p:sp>
        <p:nvSpPr>
          <p:cNvPr id="71" name="Retângulo de cantos arredondados 70"/>
          <p:cNvSpPr/>
          <p:nvPr/>
        </p:nvSpPr>
        <p:spPr>
          <a:xfrm>
            <a:off x="3466661" y="3315346"/>
            <a:ext cx="861218" cy="50056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 err="1">
                <a:solidFill>
                  <a:schemeClr val="accent5">
                    <a:lumMod val="75000"/>
                  </a:schemeClr>
                </a:solidFill>
              </a:rPr>
              <a:t>User</a:t>
            </a:r>
            <a:r>
              <a:rPr lang="pt-BR" noProof="0" dirty="0">
                <a:solidFill>
                  <a:schemeClr val="accent5">
                    <a:lumMod val="75000"/>
                  </a:schemeClr>
                </a:solidFill>
              </a:rPr>
              <a:t> 5</a:t>
            </a:r>
          </a:p>
        </p:txBody>
      </p:sp>
      <p:sp>
        <p:nvSpPr>
          <p:cNvPr id="72" name="Retângulo de cantos arredondados 71"/>
          <p:cNvSpPr/>
          <p:nvPr/>
        </p:nvSpPr>
        <p:spPr>
          <a:xfrm>
            <a:off x="278389" y="3430047"/>
            <a:ext cx="861218" cy="50056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 err="1">
                <a:solidFill>
                  <a:schemeClr val="accent5">
                    <a:lumMod val="75000"/>
                  </a:schemeClr>
                </a:solidFill>
              </a:rPr>
              <a:t>User</a:t>
            </a:r>
            <a:r>
              <a:rPr lang="pt-BR" noProof="0" dirty="0">
                <a:solidFill>
                  <a:schemeClr val="accent5">
                    <a:lumMod val="75000"/>
                  </a:schemeClr>
                </a:solidFill>
              </a:rPr>
              <a:t> 1</a:t>
            </a:r>
          </a:p>
        </p:txBody>
      </p: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E194727F-989F-424C-B357-008046F12127}"/>
              </a:ext>
            </a:extLst>
          </p:cNvPr>
          <p:cNvCxnSpPr>
            <a:cxnSpLocks/>
            <a:stCxn id="55" idx="2"/>
            <a:endCxn id="72" idx="0"/>
          </p:cNvCxnSpPr>
          <p:nvPr/>
        </p:nvCxnSpPr>
        <p:spPr>
          <a:xfrm flipH="1">
            <a:off x="708998" y="2732342"/>
            <a:ext cx="227600" cy="697705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Imagem 8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592" y="4929724"/>
            <a:ext cx="1990678" cy="1928951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5C5AC3EC-1BCC-B0F8-AB63-8D6CD0135058}"/>
              </a:ext>
            </a:extLst>
          </p:cNvPr>
          <p:cNvCxnSpPr>
            <a:cxnSpLocks/>
            <a:stCxn id="54" idx="2"/>
            <a:endCxn id="71" idx="0"/>
          </p:cNvCxnSpPr>
          <p:nvPr/>
        </p:nvCxnSpPr>
        <p:spPr>
          <a:xfrm>
            <a:off x="3498139" y="2808286"/>
            <a:ext cx="399131" cy="50706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B7423B1A-ED05-72AE-3074-96672E77A153}"/>
              </a:ext>
            </a:extLst>
          </p:cNvPr>
          <p:cNvCxnSpPr>
            <a:cxnSpLocks/>
            <a:stCxn id="40" idx="2"/>
            <a:endCxn id="69" idx="0"/>
          </p:cNvCxnSpPr>
          <p:nvPr/>
        </p:nvCxnSpPr>
        <p:spPr>
          <a:xfrm>
            <a:off x="1976511" y="1800666"/>
            <a:ext cx="191388" cy="685064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DF903962-3871-0AB5-60FA-DF7F15E562AF}"/>
              </a:ext>
            </a:extLst>
          </p:cNvPr>
          <p:cNvCxnSpPr>
            <a:cxnSpLocks/>
            <a:stCxn id="40" idx="2"/>
            <a:endCxn id="55" idx="0"/>
          </p:cNvCxnSpPr>
          <p:nvPr/>
        </p:nvCxnSpPr>
        <p:spPr>
          <a:xfrm flipH="1">
            <a:off x="936598" y="1800666"/>
            <a:ext cx="1039913" cy="431116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2501D8EC-F7D7-0A82-0599-86290C44692F}"/>
              </a:ext>
            </a:extLst>
          </p:cNvPr>
          <p:cNvCxnSpPr>
            <a:cxnSpLocks/>
            <a:stCxn id="40" idx="2"/>
            <a:endCxn id="54" idx="0"/>
          </p:cNvCxnSpPr>
          <p:nvPr/>
        </p:nvCxnSpPr>
        <p:spPr>
          <a:xfrm>
            <a:off x="1976511" y="1800666"/>
            <a:ext cx="1521628" cy="50706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E8566C42-A73E-D9E0-3C1C-0AA82409F3FB}"/>
              </a:ext>
            </a:extLst>
          </p:cNvPr>
          <p:cNvCxnSpPr>
            <a:cxnSpLocks/>
            <a:stCxn id="55" idx="2"/>
            <a:endCxn id="70" idx="0"/>
          </p:cNvCxnSpPr>
          <p:nvPr/>
        </p:nvCxnSpPr>
        <p:spPr>
          <a:xfrm>
            <a:off x="936598" y="2732342"/>
            <a:ext cx="1534091" cy="975385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06E1A9F8-1EB5-51E0-BEF6-4515B2F4DED6}"/>
              </a:ext>
            </a:extLst>
          </p:cNvPr>
          <p:cNvCxnSpPr>
            <a:cxnSpLocks/>
            <a:stCxn id="54" idx="2"/>
            <a:endCxn id="70" idx="0"/>
          </p:cNvCxnSpPr>
          <p:nvPr/>
        </p:nvCxnSpPr>
        <p:spPr>
          <a:xfrm flipH="1">
            <a:off x="2470689" y="2808286"/>
            <a:ext cx="1027450" cy="899441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tângulo de cantos arredondados 53">
            <a:extLst>
              <a:ext uri="{FF2B5EF4-FFF2-40B4-BE49-F238E27FC236}">
                <a16:creationId xmlns:a16="http://schemas.microsoft.com/office/drawing/2014/main" id="{5947B368-82DE-BE30-EFB2-4E5D325D4AA1}"/>
              </a:ext>
            </a:extLst>
          </p:cNvPr>
          <p:cNvSpPr/>
          <p:nvPr/>
        </p:nvSpPr>
        <p:spPr>
          <a:xfrm>
            <a:off x="3390922" y="1205287"/>
            <a:ext cx="1096210" cy="5005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>
                <a:solidFill>
                  <a:schemeClr val="accent5">
                    <a:lumMod val="75000"/>
                  </a:schemeClr>
                </a:solidFill>
              </a:rPr>
              <a:t>Police</a:t>
            </a:r>
          </a:p>
        </p:txBody>
      </p:sp>
      <p:sp>
        <p:nvSpPr>
          <p:cNvPr id="61" name="Retângulo de cantos arredondados 53">
            <a:extLst>
              <a:ext uri="{FF2B5EF4-FFF2-40B4-BE49-F238E27FC236}">
                <a16:creationId xmlns:a16="http://schemas.microsoft.com/office/drawing/2014/main" id="{60F661B9-2AD7-26CC-84DD-80503A135CE3}"/>
              </a:ext>
            </a:extLst>
          </p:cNvPr>
          <p:cNvSpPr/>
          <p:nvPr/>
        </p:nvSpPr>
        <p:spPr>
          <a:xfrm>
            <a:off x="141735" y="685360"/>
            <a:ext cx="1096210" cy="5005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>
                <a:solidFill>
                  <a:schemeClr val="accent5">
                    <a:lumMod val="75000"/>
                  </a:schemeClr>
                </a:solidFill>
              </a:rPr>
              <a:t>Police</a:t>
            </a:r>
          </a:p>
        </p:txBody>
      </p: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9DE3C33-1522-718D-0962-9F98F47F1FEC}"/>
              </a:ext>
            </a:extLst>
          </p:cNvPr>
          <p:cNvCxnSpPr>
            <a:cxnSpLocks/>
            <a:stCxn id="60" idx="2"/>
            <a:endCxn id="54" idx="0"/>
          </p:cNvCxnSpPr>
          <p:nvPr/>
        </p:nvCxnSpPr>
        <p:spPr>
          <a:xfrm flipH="1">
            <a:off x="3498139" y="1705847"/>
            <a:ext cx="440888" cy="601879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CA32819B-73A8-780E-990A-CECD990121D6}"/>
              </a:ext>
            </a:extLst>
          </p:cNvPr>
          <p:cNvCxnSpPr>
            <a:cxnSpLocks/>
            <a:stCxn id="61" idx="2"/>
            <a:endCxn id="55" idx="0"/>
          </p:cNvCxnSpPr>
          <p:nvPr/>
        </p:nvCxnSpPr>
        <p:spPr>
          <a:xfrm>
            <a:off x="689840" y="1185920"/>
            <a:ext cx="246758" cy="1045862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B6844B4F-D246-AD68-51D6-90A18E0F53B5}"/>
              </a:ext>
            </a:extLst>
          </p:cNvPr>
          <p:cNvCxnSpPr>
            <a:cxnSpLocks/>
            <a:stCxn id="60" idx="2"/>
            <a:endCxn id="69" idx="0"/>
          </p:cNvCxnSpPr>
          <p:nvPr/>
        </p:nvCxnSpPr>
        <p:spPr>
          <a:xfrm flipH="1">
            <a:off x="2167899" y="1705847"/>
            <a:ext cx="1771128" cy="779883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020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de cantos arredondados 53">
            <a:extLst>
              <a:ext uri="{FF2B5EF4-FFF2-40B4-BE49-F238E27FC236}">
                <a16:creationId xmlns:a16="http://schemas.microsoft.com/office/drawing/2014/main" id="{AB3888CE-C9C2-DB5F-8205-116E95AA7B63}"/>
              </a:ext>
            </a:extLst>
          </p:cNvPr>
          <p:cNvSpPr/>
          <p:nvPr/>
        </p:nvSpPr>
        <p:spPr>
          <a:xfrm>
            <a:off x="8682720" y="4503985"/>
            <a:ext cx="1200377" cy="74032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B984D2-94AF-05FD-959E-B85B61A35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STS – Security Token Service - Role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284707-CD6D-AC98-2188-27D1ACABF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97262" cy="4351338"/>
          </a:xfrm>
        </p:spPr>
        <p:txBody>
          <a:bodyPr/>
          <a:lstStyle/>
          <a:p>
            <a:r>
              <a:rPr lang="pt-BR" noProof="0" dirty="0"/>
              <a:t>Permite acesso entre serviços.</a:t>
            </a:r>
          </a:p>
          <a:p>
            <a:r>
              <a:rPr lang="pt-BR" noProof="0" dirty="0"/>
              <a:t>STS – gera </a:t>
            </a:r>
            <a:r>
              <a:rPr lang="pt-BR" noProof="0" dirty="0" err="1"/>
              <a:t>acess</a:t>
            </a:r>
            <a:r>
              <a:rPr lang="pt-BR" noProof="0" dirty="0"/>
              <a:t> </a:t>
            </a:r>
            <a:r>
              <a:rPr lang="pt-BR" noProof="0" dirty="0" err="1"/>
              <a:t>key</a:t>
            </a:r>
            <a:r>
              <a:rPr lang="pt-BR" noProof="0" dirty="0"/>
              <a:t> e </a:t>
            </a:r>
            <a:r>
              <a:rPr lang="pt-BR" noProof="0" dirty="0" err="1"/>
              <a:t>security</a:t>
            </a:r>
            <a:r>
              <a:rPr lang="pt-BR" noProof="0" dirty="0"/>
              <a:t> </a:t>
            </a:r>
            <a:r>
              <a:rPr lang="pt-BR" noProof="0" dirty="0" err="1"/>
              <a:t>key</a:t>
            </a:r>
            <a:r>
              <a:rPr lang="pt-BR" noProof="0" dirty="0"/>
              <a:t>, </a:t>
            </a:r>
            <a:r>
              <a:rPr lang="pt-BR" noProof="0" dirty="0" err="1"/>
              <a:t>temporario</a:t>
            </a:r>
            <a:r>
              <a:rPr lang="pt-BR" noProof="0" dirty="0"/>
              <a:t>.</a:t>
            </a:r>
          </a:p>
          <a:p>
            <a:r>
              <a:rPr lang="pt-BR" noProof="0" dirty="0"/>
              <a:t>STS – Para segurança fica fora do serviço.</a:t>
            </a:r>
          </a:p>
          <a:p>
            <a:endParaRPr lang="pt-BR" noProof="0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06FF486-1AFE-B3BA-26D3-DB9989CB2EF3}"/>
              </a:ext>
            </a:extLst>
          </p:cNvPr>
          <p:cNvSpPr/>
          <p:nvPr/>
        </p:nvSpPr>
        <p:spPr>
          <a:xfrm>
            <a:off x="8501063" y="1076326"/>
            <a:ext cx="3556952" cy="48021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Console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pic>
        <p:nvPicPr>
          <p:cNvPr id="5" name="Gráfico 5" descr="Internet">
            <a:extLst>
              <a:ext uri="{FF2B5EF4-FFF2-40B4-BE49-F238E27FC236}">
                <a16:creationId xmlns:a16="http://schemas.microsoft.com/office/drawing/2014/main" id="{8CF3BCE0-6A6C-2975-C7E9-5A7B4B5D1B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8889" y="4472986"/>
            <a:ext cx="802320" cy="802320"/>
          </a:xfrm>
          <a:prstGeom prst="rect">
            <a:avLst/>
          </a:prstGeom>
        </p:spPr>
      </p:pic>
      <p:pic>
        <p:nvPicPr>
          <p:cNvPr id="6" name="Gráfico 48" descr="Banco de dados">
            <a:extLst>
              <a:ext uri="{FF2B5EF4-FFF2-40B4-BE49-F238E27FC236}">
                <a16:creationId xmlns:a16="http://schemas.microsoft.com/office/drawing/2014/main" id="{B9FC1DBD-EDEC-E064-B695-DCAF5BCA37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6292" y="4494735"/>
            <a:ext cx="677235" cy="740322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F019A32-57DB-34F6-159B-AC96DB894286}"/>
              </a:ext>
            </a:extLst>
          </p:cNvPr>
          <p:cNvCxnSpPr>
            <a:cxnSpLocks/>
            <a:stCxn id="14" idx="3"/>
            <a:endCxn id="6" idx="1"/>
          </p:cNvCxnSpPr>
          <p:nvPr/>
        </p:nvCxnSpPr>
        <p:spPr>
          <a:xfrm flipV="1">
            <a:off x="9883097" y="4864896"/>
            <a:ext cx="1193195" cy="925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de cantos arredondados 53">
            <a:extLst>
              <a:ext uri="{FF2B5EF4-FFF2-40B4-BE49-F238E27FC236}">
                <a16:creationId xmlns:a16="http://schemas.microsoft.com/office/drawing/2014/main" id="{3E87FBAE-99B1-D13B-07E4-2DA0E4A9D17E}"/>
              </a:ext>
            </a:extLst>
          </p:cNvPr>
          <p:cNvSpPr/>
          <p:nvPr/>
        </p:nvSpPr>
        <p:spPr>
          <a:xfrm>
            <a:off x="8721944" y="3366546"/>
            <a:ext cx="1096210" cy="5005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>
                <a:solidFill>
                  <a:schemeClr val="accent5">
                    <a:lumMod val="75000"/>
                  </a:schemeClr>
                </a:solidFill>
              </a:rPr>
              <a:t>ROLE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196E9F14-57E8-87D9-01B9-490A0CA9F30A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9270049" y="3867106"/>
            <a:ext cx="0" cy="605880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de cantos arredondados 53">
            <a:extLst>
              <a:ext uri="{FF2B5EF4-FFF2-40B4-BE49-F238E27FC236}">
                <a16:creationId xmlns:a16="http://schemas.microsoft.com/office/drawing/2014/main" id="{BDF45C5C-226B-9CBE-1CC8-52D9FFC2FEFE}"/>
              </a:ext>
            </a:extLst>
          </p:cNvPr>
          <p:cNvSpPr/>
          <p:nvPr/>
        </p:nvSpPr>
        <p:spPr>
          <a:xfrm>
            <a:off x="10202729" y="2014308"/>
            <a:ext cx="1096210" cy="50056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>
                <a:solidFill>
                  <a:schemeClr val="accent5">
                    <a:lumMod val="75000"/>
                  </a:schemeClr>
                </a:solidFill>
              </a:rPr>
              <a:t>STS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2255247-A015-BD97-9870-EB6AB6143B1F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9717308" y="2514868"/>
            <a:ext cx="1033526" cy="1979867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de cantos arredondados 53">
            <a:extLst>
              <a:ext uri="{FF2B5EF4-FFF2-40B4-BE49-F238E27FC236}">
                <a16:creationId xmlns:a16="http://schemas.microsoft.com/office/drawing/2014/main" id="{83D81974-0740-BC8F-F08F-00D1D9F3A45E}"/>
              </a:ext>
            </a:extLst>
          </p:cNvPr>
          <p:cNvSpPr/>
          <p:nvPr/>
        </p:nvSpPr>
        <p:spPr>
          <a:xfrm>
            <a:off x="8932136" y="1962936"/>
            <a:ext cx="1129458" cy="5005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>
                <a:solidFill>
                  <a:schemeClr val="accent5">
                    <a:lumMod val="75000"/>
                  </a:schemeClr>
                </a:solidFill>
              </a:rPr>
              <a:t>Police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47278598-F2A8-BF44-AB6E-A7D6EBBEE187}"/>
              </a:ext>
            </a:extLst>
          </p:cNvPr>
          <p:cNvCxnSpPr>
            <a:cxnSpLocks/>
            <a:stCxn id="21" idx="2"/>
            <a:endCxn id="10" idx="0"/>
          </p:cNvCxnSpPr>
          <p:nvPr/>
        </p:nvCxnSpPr>
        <p:spPr>
          <a:xfrm flipH="1">
            <a:off x="9270049" y="2463496"/>
            <a:ext cx="226816" cy="903050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6">
            <a:extLst>
              <a:ext uri="{FF2B5EF4-FFF2-40B4-BE49-F238E27FC236}">
                <a16:creationId xmlns:a16="http://schemas.microsoft.com/office/drawing/2014/main" id="{BFA555C0-7834-841A-FC72-E0A942C3B0DF}"/>
              </a:ext>
            </a:extLst>
          </p:cNvPr>
          <p:cNvSpPr/>
          <p:nvPr/>
        </p:nvSpPr>
        <p:spPr>
          <a:xfrm>
            <a:off x="10444097" y="3356486"/>
            <a:ext cx="1395124" cy="713854"/>
          </a:xfrm>
          <a:custGeom>
            <a:avLst/>
            <a:gdLst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0 w 2153920"/>
              <a:gd name="connsiteY3" fmla="*/ 738921 h 738921"/>
              <a:gd name="connsiteX4" fmla="*/ 0 w 2153920"/>
              <a:gd name="connsiteY4" fmla="*/ 0 h 738921"/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201697 w 2153920"/>
              <a:gd name="connsiteY3" fmla="*/ 730541 h 738921"/>
              <a:gd name="connsiteX4" fmla="*/ 0 w 2153920"/>
              <a:gd name="connsiteY4" fmla="*/ 738921 h 738921"/>
              <a:gd name="connsiteX5" fmla="*/ 0 w 2153920"/>
              <a:gd name="connsiteY5" fmla="*/ 0 h 738921"/>
              <a:gd name="connsiteX0" fmla="*/ 0 w 2153920"/>
              <a:gd name="connsiteY0" fmla="*/ 0 h 738921"/>
              <a:gd name="connsiteX1" fmla="*/ 2153920 w 2153920"/>
              <a:gd name="connsiteY1" fmla="*/ 0 h 738921"/>
              <a:gd name="connsiteX2" fmla="*/ 2153920 w 2153920"/>
              <a:gd name="connsiteY2" fmla="*/ 738921 h 738921"/>
              <a:gd name="connsiteX3" fmla="*/ 2020595 w 2153920"/>
              <a:gd name="connsiteY3" fmla="*/ 736467 h 738921"/>
              <a:gd name="connsiteX4" fmla="*/ 201697 w 2153920"/>
              <a:gd name="connsiteY4" fmla="*/ 730541 h 738921"/>
              <a:gd name="connsiteX5" fmla="*/ 0 w 2153920"/>
              <a:gd name="connsiteY5" fmla="*/ 738921 h 738921"/>
              <a:gd name="connsiteX6" fmla="*/ 0 w 2153920"/>
              <a:gd name="connsiteY6" fmla="*/ 0 h 738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3920" h="738921">
                <a:moveTo>
                  <a:pt x="0" y="0"/>
                </a:moveTo>
                <a:lnTo>
                  <a:pt x="2153920" y="0"/>
                </a:lnTo>
                <a:lnTo>
                  <a:pt x="2153920" y="738921"/>
                </a:lnTo>
                <a:lnTo>
                  <a:pt x="2020595" y="736467"/>
                </a:lnTo>
                <a:lnTo>
                  <a:pt x="201697" y="730541"/>
                </a:lnTo>
                <a:lnTo>
                  <a:pt x="0" y="738921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noProof="0" dirty="0">
              <a:solidFill>
                <a:srgbClr val="3865B6"/>
              </a:solidFill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A480740-69CB-9A7B-7B9F-768E9D7E11C9}"/>
              </a:ext>
            </a:extLst>
          </p:cNvPr>
          <p:cNvSpPr txBox="1"/>
          <p:nvPr/>
        </p:nvSpPr>
        <p:spPr>
          <a:xfrm>
            <a:off x="10587140" y="3355066"/>
            <a:ext cx="13074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 err="1"/>
              <a:t>Acess</a:t>
            </a:r>
            <a:r>
              <a:rPr lang="pt-BR" noProof="0" dirty="0"/>
              <a:t> Key </a:t>
            </a:r>
          </a:p>
          <a:p>
            <a:r>
              <a:rPr lang="pt-BR" noProof="0" dirty="0"/>
              <a:t>Security </a:t>
            </a:r>
            <a:r>
              <a:rPr lang="pt-BR" noProof="0" dirty="0" err="1"/>
              <a:t>key</a:t>
            </a:r>
            <a:endParaRPr lang="pt-BR" noProof="0" dirty="0"/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91E15B80-7668-CF92-22FB-69B7C62699BF}"/>
              </a:ext>
            </a:extLst>
          </p:cNvPr>
          <p:cNvCxnSpPr>
            <a:cxnSpLocks/>
            <a:stCxn id="13" idx="2"/>
            <a:endCxn id="29" idx="0"/>
          </p:cNvCxnSpPr>
          <p:nvPr/>
        </p:nvCxnSpPr>
        <p:spPr>
          <a:xfrm>
            <a:off x="10750834" y="2514868"/>
            <a:ext cx="490043" cy="840198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6259946A-9E47-A22E-917D-FBC41DEED3F1}"/>
              </a:ext>
            </a:extLst>
          </p:cNvPr>
          <p:cNvCxnSpPr>
            <a:cxnSpLocks/>
            <a:stCxn id="29" idx="2"/>
            <a:endCxn id="14" idx="3"/>
          </p:cNvCxnSpPr>
          <p:nvPr/>
        </p:nvCxnSpPr>
        <p:spPr>
          <a:xfrm flipH="1">
            <a:off x="9883097" y="4001397"/>
            <a:ext cx="1357780" cy="872749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291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97066-D561-66F3-E151-9D62D8FCF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Resources</a:t>
            </a:r>
            <a:r>
              <a:rPr lang="pt-BR" noProof="0" dirty="0"/>
              <a:t> </a:t>
            </a:r>
            <a:r>
              <a:rPr lang="pt-BR" noProof="0" dirty="0" err="1"/>
              <a:t>Policy</a:t>
            </a:r>
            <a:r>
              <a:rPr lang="pt-BR" noProof="0" dirty="0"/>
              <a:t> X </a:t>
            </a:r>
            <a:r>
              <a:rPr lang="pt-BR" noProof="0" dirty="0" err="1"/>
              <a:t>Identity</a:t>
            </a:r>
            <a:r>
              <a:rPr lang="pt-BR" noProof="0" dirty="0"/>
              <a:t> </a:t>
            </a:r>
            <a:r>
              <a:rPr lang="pt-BR" noProof="0" dirty="0" err="1"/>
              <a:t>Policy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78A51A-305E-6047-BF9D-DB9FD214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 err="1"/>
              <a:t>Identity</a:t>
            </a:r>
            <a:r>
              <a:rPr lang="pt-BR" noProof="0" dirty="0"/>
              <a:t> - </a:t>
            </a:r>
            <a:r>
              <a:rPr lang="pt-BR" noProof="0" dirty="0" err="1"/>
              <a:t>Inline</a:t>
            </a:r>
            <a:r>
              <a:rPr lang="pt-BR" noProof="0" dirty="0"/>
              <a:t> é a politica um para um, ela pode ser aplicadas a usuário, ou roles.</a:t>
            </a:r>
          </a:p>
          <a:p>
            <a:r>
              <a:rPr lang="pt-BR" noProof="0" dirty="0" err="1"/>
              <a:t>Identity</a:t>
            </a:r>
            <a:r>
              <a:rPr lang="pt-BR" noProof="0" dirty="0"/>
              <a:t> - </a:t>
            </a:r>
            <a:r>
              <a:rPr lang="pt-BR" noProof="0" dirty="0" err="1"/>
              <a:t>Aws</a:t>
            </a:r>
            <a:r>
              <a:rPr lang="pt-BR" noProof="0" dirty="0"/>
              <a:t> </a:t>
            </a:r>
            <a:r>
              <a:rPr lang="pt-BR" noProof="0" dirty="0" err="1"/>
              <a:t>managed</a:t>
            </a:r>
            <a:r>
              <a:rPr lang="pt-BR" noProof="0" dirty="0"/>
              <a:t>, são politicas criadas pela </a:t>
            </a:r>
            <a:r>
              <a:rPr lang="pt-BR" noProof="0" dirty="0" err="1"/>
              <a:t>aws</a:t>
            </a:r>
            <a:r>
              <a:rPr lang="pt-BR" noProof="0" dirty="0"/>
              <a:t> e podem ser aplicadas a usuários, roles ou grupos.</a:t>
            </a:r>
          </a:p>
          <a:p>
            <a:r>
              <a:rPr lang="pt-BR" noProof="0" dirty="0" err="1"/>
              <a:t>Identity</a:t>
            </a:r>
            <a:r>
              <a:rPr lang="pt-BR" noProof="0" dirty="0"/>
              <a:t> - </a:t>
            </a:r>
            <a:r>
              <a:rPr lang="pt-BR" noProof="0" dirty="0" err="1"/>
              <a:t>Custumer</a:t>
            </a:r>
            <a:r>
              <a:rPr lang="pt-BR" noProof="0" dirty="0"/>
              <a:t> </a:t>
            </a:r>
            <a:r>
              <a:rPr lang="pt-BR" noProof="0" dirty="0" err="1"/>
              <a:t>managed</a:t>
            </a:r>
            <a:r>
              <a:rPr lang="pt-BR" noProof="0" dirty="0"/>
              <a:t>, são politicas criadas pelo usuário e podem ser aplicadas a usuários, roles ou grupos.</a:t>
            </a:r>
          </a:p>
          <a:p>
            <a:r>
              <a:rPr lang="pt-BR" noProof="0" dirty="0" err="1"/>
              <a:t>Resource</a:t>
            </a:r>
            <a:r>
              <a:rPr lang="pt-BR" noProof="0" dirty="0"/>
              <a:t> – São </a:t>
            </a:r>
            <a:r>
              <a:rPr lang="pt-BR" noProof="0" dirty="0" err="1"/>
              <a:t>polices</a:t>
            </a:r>
            <a:r>
              <a:rPr lang="pt-BR" noProof="0" dirty="0"/>
              <a:t> aplicadas a recursos e serviços </a:t>
            </a:r>
            <a:r>
              <a:rPr lang="pt-BR" noProof="0" dirty="0" err="1"/>
              <a:t>aws</a:t>
            </a:r>
            <a:r>
              <a:rPr lang="pt-BR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1130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noProof="0" dirty="0"/>
              <a:t>Menu Services – IAM - DASHBOARD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1866900"/>
            <a:ext cx="9620250" cy="49911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B4FE1A5-4520-47F5-A7C3-9CA36B44AF2F}"/>
              </a:ext>
            </a:extLst>
          </p:cNvPr>
          <p:cNvSpPr/>
          <p:nvPr/>
        </p:nvSpPr>
        <p:spPr>
          <a:xfrm>
            <a:off x="95857" y="1321227"/>
            <a:ext cx="2153920" cy="7389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Link onde os usuários irão logar.</a:t>
            </a:r>
          </a:p>
        </p:txBody>
      </p:sp>
      <p:cxnSp>
        <p:nvCxnSpPr>
          <p:cNvPr id="6" name="Conector de Seta Reta 39">
            <a:extLst>
              <a:ext uri="{FF2B5EF4-FFF2-40B4-BE49-F238E27FC236}">
                <a16:creationId xmlns:a16="http://schemas.microsoft.com/office/drawing/2014/main" id="{9914430C-841A-4C83-9724-3ABCE001BB89}"/>
              </a:ext>
            </a:extLst>
          </p:cNvPr>
          <p:cNvCxnSpPr>
            <a:cxnSpLocks/>
            <a:stCxn id="5" idx="3"/>
            <a:endCxn id="7" idx="2"/>
          </p:cNvCxnSpPr>
          <p:nvPr/>
        </p:nvCxnSpPr>
        <p:spPr>
          <a:xfrm>
            <a:off x="2249777" y="1690688"/>
            <a:ext cx="3100215" cy="1153627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742F2FE3-4C6C-410A-9014-10F65252A639}"/>
              </a:ext>
            </a:extLst>
          </p:cNvPr>
          <p:cNvSpPr/>
          <p:nvPr/>
        </p:nvSpPr>
        <p:spPr>
          <a:xfrm>
            <a:off x="5349992" y="2653081"/>
            <a:ext cx="3490685" cy="382467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B4FE1A5-4520-47F5-A7C3-9CA36B44AF2F}"/>
              </a:ext>
            </a:extLst>
          </p:cNvPr>
          <p:cNvSpPr/>
          <p:nvPr/>
        </p:nvSpPr>
        <p:spPr>
          <a:xfrm>
            <a:off x="47182" y="2116655"/>
            <a:ext cx="2573245" cy="170259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Credenciais de segurança para autenticar e autorizar solicitações do</a:t>
            </a:r>
          </a:p>
          <a:p>
            <a:pPr algn="ctr"/>
            <a:r>
              <a:rPr lang="pt-BR" b="1" noProof="0" dirty="0">
                <a:solidFill>
                  <a:srgbClr val="3865B6"/>
                </a:solidFill>
              </a:rPr>
              <a:t>usuário raiz permitem acesso total a todos os recursos na conta.</a:t>
            </a:r>
          </a:p>
        </p:txBody>
      </p:sp>
      <p:cxnSp>
        <p:nvCxnSpPr>
          <p:cNvPr id="10" name="Conector de Seta Reta 39">
            <a:extLst>
              <a:ext uri="{FF2B5EF4-FFF2-40B4-BE49-F238E27FC236}">
                <a16:creationId xmlns:a16="http://schemas.microsoft.com/office/drawing/2014/main" id="{9914430C-841A-4C83-9724-3ABCE001BB89}"/>
              </a:ext>
            </a:extLst>
          </p:cNvPr>
          <p:cNvCxnSpPr>
            <a:cxnSpLocks/>
            <a:stCxn id="9" idx="3"/>
            <a:endCxn id="11" idx="2"/>
          </p:cNvCxnSpPr>
          <p:nvPr/>
        </p:nvCxnSpPr>
        <p:spPr>
          <a:xfrm>
            <a:off x="2620427" y="2967952"/>
            <a:ext cx="2669631" cy="1883206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742F2FE3-4C6C-410A-9014-10F65252A639}"/>
              </a:ext>
            </a:extLst>
          </p:cNvPr>
          <p:cNvSpPr/>
          <p:nvPr/>
        </p:nvSpPr>
        <p:spPr>
          <a:xfrm>
            <a:off x="5290058" y="4659924"/>
            <a:ext cx="3490685" cy="382467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AB4FE1A5-4520-47F5-A7C3-9CA36B44AF2F}"/>
              </a:ext>
            </a:extLst>
          </p:cNvPr>
          <p:cNvSpPr/>
          <p:nvPr/>
        </p:nvSpPr>
        <p:spPr>
          <a:xfrm>
            <a:off x="66670" y="3875756"/>
            <a:ext cx="2740924" cy="298224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b="1" noProof="0" dirty="0">
                <a:solidFill>
                  <a:srgbClr val="3865B6"/>
                </a:solidFill>
              </a:rPr>
              <a:t>Dois tipos de usuários:</a:t>
            </a:r>
          </a:p>
          <a:p>
            <a:pPr algn="just"/>
            <a:r>
              <a:rPr lang="pt-BR" b="1" noProof="0" dirty="0">
                <a:solidFill>
                  <a:srgbClr val="3865B6"/>
                </a:solidFill>
              </a:rPr>
              <a:t>Acesso programático - acesso à API, AWS CLI e ao Tools Windows </a:t>
            </a:r>
            <a:r>
              <a:rPr lang="pt-BR" b="1" noProof="0" dirty="0" err="1">
                <a:solidFill>
                  <a:srgbClr val="3865B6"/>
                </a:solidFill>
              </a:rPr>
              <a:t>PowerShell</a:t>
            </a:r>
            <a:r>
              <a:rPr lang="pt-BR" b="1" noProof="0" dirty="0">
                <a:solidFill>
                  <a:srgbClr val="3865B6"/>
                </a:solidFill>
              </a:rPr>
              <a:t> (nova chave de acesso para cada usuário).</a:t>
            </a:r>
          </a:p>
          <a:p>
            <a:pPr algn="just"/>
            <a:r>
              <a:rPr lang="pt-BR" b="1" noProof="0" dirty="0">
                <a:solidFill>
                  <a:srgbClr val="3865B6"/>
                </a:solidFill>
              </a:rPr>
              <a:t>Acesso do Console de gerenciamento da AWS (cria uma senha para cada novo usuário).</a:t>
            </a:r>
          </a:p>
        </p:txBody>
      </p:sp>
      <p:cxnSp>
        <p:nvCxnSpPr>
          <p:cNvPr id="28" name="Conector de Seta Reta 39">
            <a:extLst>
              <a:ext uri="{FF2B5EF4-FFF2-40B4-BE49-F238E27FC236}">
                <a16:creationId xmlns:a16="http://schemas.microsoft.com/office/drawing/2014/main" id="{9914430C-841A-4C83-9724-3ABCE001BB89}"/>
              </a:ext>
            </a:extLst>
          </p:cNvPr>
          <p:cNvCxnSpPr>
            <a:cxnSpLocks/>
          </p:cNvCxnSpPr>
          <p:nvPr/>
        </p:nvCxnSpPr>
        <p:spPr>
          <a:xfrm>
            <a:off x="2807594" y="5306096"/>
            <a:ext cx="2542398" cy="343633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742F2FE3-4C6C-410A-9014-10F65252A639}"/>
              </a:ext>
            </a:extLst>
          </p:cNvPr>
          <p:cNvSpPr/>
          <p:nvPr/>
        </p:nvSpPr>
        <p:spPr>
          <a:xfrm>
            <a:off x="5349992" y="5458496"/>
            <a:ext cx="3490685" cy="382467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3963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3545E-7840-435A-ADDF-B0B0369C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7" y="2187743"/>
            <a:ext cx="7789333" cy="248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6000" noProof="0" dirty="0" err="1"/>
              <a:t>Storage</a:t>
            </a:r>
            <a:r>
              <a:rPr lang="pt-BR" sz="6000" noProof="0" dirty="0"/>
              <a:t> Amazon</a:t>
            </a:r>
            <a:br>
              <a:rPr lang="pt-BR" sz="6000" noProof="0" dirty="0"/>
            </a:br>
            <a:r>
              <a:rPr lang="pt-BR" sz="3600" noProof="0" dirty="0"/>
              <a:t>S3 – </a:t>
            </a:r>
            <a:r>
              <a:rPr lang="pt-BR" sz="3600" noProof="0" dirty="0" err="1"/>
              <a:t>Simple</a:t>
            </a:r>
            <a:r>
              <a:rPr lang="pt-BR" sz="3600" noProof="0" dirty="0"/>
              <a:t> </a:t>
            </a:r>
            <a:r>
              <a:rPr lang="pt-BR" sz="3600" noProof="0" dirty="0" err="1"/>
              <a:t>Storage</a:t>
            </a:r>
            <a:r>
              <a:rPr lang="pt-BR" sz="3600" noProof="0" dirty="0"/>
              <a:t> Service</a:t>
            </a:r>
            <a:endParaRPr lang="pt-BR" sz="3600" kern="1200" noProof="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52314E5-8253-48A5-859B-129F94E805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1" y="2743201"/>
            <a:ext cx="1371600" cy="1371600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8434931" y="6226936"/>
            <a:ext cx="3531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noProof="0" dirty="0">
                <a:hlinkClick r:id="rId4"/>
              </a:rPr>
              <a:t>https://docs.aws.amazon.com/</a:t>
            </a:r>
            <a:endParaRPr lang="pt-BR" noProof="0" dirty="0"/>
          </a:p>
        </p:txBody>
      </p:sp>
      <p:sp>
        <p:nvSpPr>
          <p:cNvPr id="4" name="Retângulo 3"/>
          <p:cNvSpPr/>
          <p:nvPr/>
        </p:nvSpPr>
        <p:spPr>
          <a:xfrm>
            <a:off x="8434931" y="5857604"/>
            <a:ext cx="289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noProof="0" dirty="0">
                <a:hlinkClick r:id="rId5"/>
              </a:rPr>
              <a:t>https://aws.amazon.com/pt/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70980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Amazon S3 – </a:t>
            </a:r>
            <a:r>
              <a:rPr lang="pt-BR" noProof="0" dirty="0" err="1"/>
              <a:t>Simple</a:t>
            </a:r>
            <a:r>
              <a:rPr lang="pt-BR" noProof="0" dirty="0"/>
              <a:t> </a:t>
            </a:r>
            <a:r>
              <a:rPr lang="pt-BR" noProof="0" dirty="0" err="1"/>
              <a:t>Storage</a:t>
            </a:r>
            <a:r>
              <a:rPr lang="pt-BR" noProof="0" dirty="0"/>
              <a:t> Service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noProof="0" dirty="0"/>
              <a:t>Criado para armazenar arquivos.</a:t>
            </a:r>
          </a:p>
          <a:p>
            <a:pPr lvl="1"/>
            <a:r>
              <a:rPr lang="pt-BR" noProof="0" dirty="0"/>
              <a:t>MP4, </a:t>
            </a:r>
            <a:r>
              <a:rPr lang="pt-BR" noProof="0" dirty="0" err="1"/>
              <a:t>Docs</a:t>
            </a:r>
            <a:r>
              <a:rPr lang="pt-BR" noProof="0" dirty="0"/>
              <a:t>, </a:t>
            </a:r>
            <a:r>
              <a:rPr lang="pt-BR" noProof="0" dirty="0" err="1"/>
              <a:t>Jpge</a:t>
            </a:r>
            <a:r>
              <a:rPr lang="pt-BR" noProof="0" dirty="0"/>
              <a:t>, etc.</a:t>
            </a:r>
          </a:p>
          <a:p>
            <a:r>
              <a:rPr lang="pt-BR" noProof="0" dirty="0"/>
              <a:t>Limite de 5 </a:t>
            </a:r>
            <a:r>
              <a:rPr lang="pt-BR" noProof="0" dirty="0" err="1"/>
              <a:t>terabite</a:t>
            </a:r>
            <a:r>
              <a:rPr lang="pt-BR" noProof="0" dirty="0"/>
              <a:t> por arquivo.</a:t>
            </a:r>
          </a:p>
          <a:p>
            <a:r>
              <a:rPr lang="pt-BR" noProof="0" dirty="0" err="1"/>
              <a:t>Storage</a:t>
            </a:r>
            <a:r>
              <a:rPr lang="pt-BR" noProof="0" dirty="0"/>
              <a:t> </a:t>
            </a:r>
            <a:r>
              <a:rPr lang="pt-BR" noProof="0" dirty="0" err="1"/>
              <a:t>Unlimited</a:t>
            </a:r>
            <a:r>
              <a:rPr lang="pt-BR" noProof="0" dirty="0"/>
              <a:t>, quantidade de arquivos sem limites.</a:t>
            </a:r>
          </a:p>
          <a:p>
            <a:r>
              <a:rPr lang="pt-BR" noProof="0" dirty="0"/>
              <a:t>Pagamento por </a:t>
            </a:r>
            <a:r>
              <a:rPr lang="pt-BR" noProof="0" dirty="0" err="1"/>
              <a:t>GigaBite</a:t>
            </a:r>
            <a:r>
              <a:rPr lang="pt-BR" noProof="0" dirty="0"/>
              <a:t>, de acordo com o plano (Camadas de preços).</a:t>
            </a:r>
          </a:p>
          <a:p>
            <a:r>
              <a:rPr lang="pt-BR" noProof="0" dirty="0" err="1"/>
              <a:t>Buckets</a:t>
            </a:r>
            <a:r>
              <a:rPr lang="pt-BR" noProof="0" dirty="0"/>
              <a:t> – estrutura inicial de armazenamento (nome único e universal- </a:t>
            </a:r>
            <a:r>
              <a:rPr lang="pt-BR" noProof="0" dirty="0" err="1"/>
              <a:t>url</a:t>
            </a:r>
            <a:r>
              <a:rPr lang="pt-BR" noProof="0" dirty="0"/>
              <a:t> http://gorayb-site.s3-website.us-east-2.amazonaws.com/)</a:t>
            </a:r>
          </a:p>
          <a:p>
            <a:r>
              <a:rPr lang="pt-BR" noProof="0" dirty="0"/>
              <a:t>Disponibilidade: 99,95% de acesso ao disco.</a:t>
            </a:r>
          </a:p>
          <a:p>
            <a:r>
              <a:rPr lang="pt-BR" noProof="0" dirty="0"/>
              <a:t>Durabilidade: 99,99% de integridade do arquivo armazenado.</a:t>
            </a:r>
          </a:p>
          <a:p>
            <a:r>
              <a:rPr lang="pt-BR" noProof="0" dirty="0" err="1"/>
              <a:t>Versioning</a:t>
            </a:r>
            <a:r>
              <a:rPr lang="pt-BR" noProof="0" dirty="0"/>
              <a:t>, </a:t>
            </a:r>
            <a:r>
              <a:rPr lang="pt-BR" noProof="0" dirty="0" err="1"/>
              <a:t>Encription</a:t>
            </a:r>
            <a:r>
              <a:rPr lang="pt-BR" noProof="0" dirty="0"/>
              <a:t>, ACL (Lista de controle acesso) e </a:t>
            </a:r>
            <a:r>
              <a:rPr lang="pt-BR" noProof="0" dirty="0" err="1"/>
              <a:t>Bucket</a:t>
            </a:r>
            <a:r>
              <a:rPr lang="pt-BR" noProof="0" dirty="0"/>
              <a:t> Police.</a:t>
            </a:r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27169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ED733-A3D1-35E3-4652-D2C3454B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Configurações </a:t>
            </a:r>
            <a:r>
              <a:rPr lang="pt-BR" noProof="0" dirty="0" err="1"/>
              <a:t>Bucket</a:t>
            </a:r>
            <a:r>
              <a:rPr lang="pt-BR" noProof="0" dirty="0"/>
              <a:t> S3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2B4C0B-27F2-7C7F-F66E-16DB791A4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noProof="0" dirty="0"/>
              <a:t>ACL – Lista de controle que regulamenta quem pode acessar, por default todo usuário é bloqueado.</a:t>
            </a:r>
          </a:p>
          <a:p>
            <a:r>
              <a:rPr lang="pt-BR" noProof="0" dirty="0"/>
              <a:t>Classes de armazenamento – são formas de armazenar e recuperar o arquivo, Podemos escolher ou alterar a classe para adaptar ao uso.</a:t>
            </a:r>
          </a:p>
          <a:p>
            <a:r>
              <a:rPr lang="pt-BR" noProof="0" dirty="0" err="1"/>
              <a:t>Versioning</a:t>
            </a:r>
            <a:r>
              <a:rPr lang="pt-BR" noProof="0" dirty="0"/>
              <a:t> – Quando habilitado, permite salvar vários arquivos com o mesmo nome, onde a </a:t>
            </a:r>
            <a:r>
              <a:rPr lang="pt-BR" noProof="0" dirty="0" err="1"/>
              <a:t>aws</a:t>
            </a:r>
            <a:r>
              <a:rPr lang="pt-BR" noProof="0" dirty="0"/>
              <a:t> acrescenta um ID ao arquivo permitindo manter todas as diferentes alterações guardadas.</a:t>
            </a:r>
          </a:p>
          <a:p>
            <a:r>
              <a:rPr lang="pt-BR" noProof="0" dirty="0"/>
              <a:t>Server Access </a:t>
            </a:r>
            <a:r>
              <a:rPr lang="pt-BR" noProof="0" dirty="0" err="1"/>
              <a:t>Logging</a:t>
            </a:r>
            <a:r>
              <a:rPr lang="pt-BR" noProof="0" dirty="0"/>
              <a:t> – quando habilitado permite a geração de logs de eventos para rastreabilidade de ações nos objetos.</a:t>
            </a:r>
          </a:p>
          <a:p>
            <a:r>
              <a:rPr lang="pt-BR" noProof="0" dirty="0" err="1"/>
              <a:t>WebSite</a:t>
            </a:r>
            <a:r>
              <a:rPr lang="pt-BR" noProof="0" dirty="0"/>
              <a:t> – S3 – é possível subir um arquivo web estático na </a:t>
            </a:r>
            <a:r>
              <a:rPr lang="pt-BR" noProof="0" dirty="0" err="1"/>
              <a:t>bucket</a:t>
            </a:r>
            <a:r>
              <a:rPr lang="pt-BR" noProof="0" dirty="0"/>
              <a:t> e ela interpretar e exibir como site.</a:t>
            </a:r>
          </a:p>
          <a:p>
            <a:r>
              <a:rPr lang="pt-BR" noProof="0" dirty="0"/>
              <a:t>Ciclo de vida -  é o gerenciamento dos objetos na </a:t>
            </a:r>
            <a:r>
              <a:rPr lang="pt-BR" noProof="0" dirty="0" err="1"/>
              <a:t>bucket</a:t>
            </a:r>
            <a:r>
              <a:rPr lang="pt-BR" noProof="0" dirty="0"/>
              <a:t>, pode ser configurado para que um objeto seja transferido em outra classe de armazenamento ou apagar, mover versões do objeto. A ação acontece baseado no tempo em desuso do objeto.</a:t>
            </a:r>
          </a:p>
          <a:p>
            <a:r>
              <a:rPr lang="pt-BR" noProof="0" dirty="0"/>
              <a:t>Replicação de objetos – é o recurso que quando habilitado consegue copiar o objeto em mais de uma região.</a:t>
            </a:r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77768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C7752-C5AD-5DD6-5169-9BC078D25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Classes de Armazenamento S3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B8513C-6A5F-4FB0-D392-5D142F1E0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noProof="0" dirty="0"/>
              <a:t>Standard – Armazenamento mais caro da </a:t>
            </a:r>
            <a:r>
              <a:rPr lang="pt-BR" noProof="0" dirty="0" err="1"/>
              <a:t>aws</a:t>
            </a:r>
            <a:r>
              <a:rPr lang="pt-BR" noProof="0" dirty="0"/>
              <a:t>, é a mais </a:t>
            </a:r>
            <a:r>
              <a:rPr lang="pt-BR" noProof="0" dirty="0" err="1"/>
              <a:t>rapida</a:t>
            </a:r>
            <a:r>
              <a:rPr lang="pt-BR" noProof="0" dirty="0"/>
              <a:t> e </a:t>
            </a:r>
            <a:r>
              <a:rPr lang="pt-BR" noProof="0" dirty="0" err="1"/>
              <a:t>confiavel</a:t>
            </a:r>
            <a:r>
              <a:rPr lang="pt-BR" noProof="0" dirty="0"/>
              <a:t> classe do s3.</a:t>
            </a:r>
          </a:p>
          <a:p>
            <a:r>
              <a:rPr lang="pt-BR" noProof="0" dirty="0" err="1"/>
              <a:t>Intelligent</a:t>
            </a:r>
            <a:r>
              <a:rPr lang="pt-BR" noProof="0" dirty="0"/>
              <a:t> </a:t>
            </a:r>
            <a:r>
              <a:rPr lang="pt-BR" noProof="0" dirty="0" err="1"/>
              <a:t>Tiering</a:t>
            </a:r>
            <a:r>
              <a:rPr lang="pt-BR" noProof="0" dirty="0"/>
              <a:t> – Armazenamento que de forma inteligente coloca o </a:t>
            </a:r>
            <a:r>
              <a:rPr lang="pt-BR" noProof="0" dirty="0" err="1"/>
              <a:t>arquito</a:t>
            </a:r>
            <a:r>
              <a:rPr lang="pt-BR" noProof="0" dirty="0"/>
              <a:t> na classe </a:t>
            </a:r>
            <a:r>
              <a:rPr lang="pt-BR" noProof="0" dirty="0" err="1"/>
              <a:t>standart</a:t>
            </a:r>
            <a:r>
              <a:rPr lang="pt-BR" noProof="0" dirty="0"/>
              <a:t> e caso não use o arquivo por um certo </a:t>
            </a:r>
            <a:r>
              <a:rPr lang="pt-BR" noProof="0" dirty="0" err="1"/>
              <a:t>periodo</a:t>
            </a:r>
            <a:r>
              <a:rPr lang="pt-BR" noProof="0" dirty="0"/>
              <a:t> ele é movido para um Sistema de </a:t>
            </a:r>
            <a:r>
              <a:rPr lang="pt-BR" noProof="0" dirty="0" err="1"/>
              <a:t>armazanamento</a:t>
            </a:r>
            <a:r>
              <a:rPr lang="pt-BR" noProof="0" dirty="0"/>
              <a:t> mais barato.</a:t>
            </a:r>
          </a:p>
          <a:p>
            <a:r>
              <a:rPr lang="pt-BR" noProof="0" dirty="0" err="1"/>
              <a:t>Stardard</a:t>
            </a:r>
            <a:r>
              <a:rPr lang="pt-BR" noProof="0" dirty="0"/>
              <a:t> </a:t>
            </a:r>
            <a:r>
              <a:rPr lang="pt-BR" noProof="0" dirty="0" err="1"/>
              <a:t>Infrequent</a:t>
            </a:r>
            <a:r>
              <a:rPr lang="pt-BR" noProof="0" dirty="0"/>
              <a:t> Access – Armazenamento de longa duração como backups, pode ser cobrado por acesso.</a:t>
            </a:r>
          </a:p>
          <a:p>
            <a:r>
              <a:rPr lang="pt-BR" noProof="0" dirty="0" err="1"/>
              <a:t>One</a:t>
            </a:r>
            <a:r>
              <a:rPr lang="pt-BR" noProof="0" dirty="0"/>
              <a:t> Zone </a:t>
            </a:r>
            <a:r>
              <a:rPr lang="pt-BR" noProof="0" dirty="0" err="1"/>
              <a:t>Infrequent</a:t>
            </a:r>
            <a:r>
              <a:rPr lang="pt-BR" noProof="0" dirty="0"/>
              <a:t> Access – </a:t>
            </a:r>
            <a:r>
              <a:rPr lang="pt-BR" noProof="0" dirty="0" err="1"/>
              <a:t>Armazenamendo</a:t>
            </a:r>
            <a:r>
              <a:rPr lang="pt-BR" noProof="0" dirty="0"/>
              <a:t> em apenas uma </a:t>
            </a:r>
            <a:r>
              <a:rPr lang="pt-BR" noProof="0" dirty="0" err="1"/>
              <a:t>aviability</a:t>
            </a:r>
            <a:r>
              <a:rPr lang="pt-BR" noProof="0" dirty="0"/>
              <a:t> zone, e consequentemente se esta zona estiver for a do ar o arquivo não pode ser acessado.</a:t>
            </a:r>
          </a:p>
          <a:p>
            <a:r>
              <a:rPr lang="pt-BR" noProof="0" dirty="0" err="1"/>
              <a:t>Glassier</a:t>
            </a:r>
            <a:r>
              <a:rPr lang="pt-BR" noProof="0" dirty="0"/>
              <a:t> Instant </a:t>
            </a:r>
            <a:r>
              <a:rPr lang="pt-BR" noProof="0" dirty="0" err="1"/>
              <a:t>Retrivial</a:t>
            </a:r>
            <a:r>
              <a:rPr lang="pt-BR" noProof="0" dirty="0"/>
              <a:t> – Ideal para acesso 1 ou 2 vezes por ano, o tempo de recuperação não é imediato.</a:t>
            </a:r>
          </a:p>
          <a:p>
            <a:r>
              <a:rPr lang="pt-BR" noProof="0" dirty="0" err="1"/>
              <a:t>Glassier</a:t>
            </a:r>
            <a:r>
              <a:rPr lang="pt-BR" noProof="0" dirty="0"/>
              <a:t> </a:t>
            </a:r>
            <a:r>
              <a:rPr lang="pt-BR" noProof="0" dirty="0" err="1"/>
              <a:t>Flexible</a:t>
            </a:r>
            <a:r>
              <a:rPr lang="pt-BR" noProof="0" dirty="0"/>
              <a:t> </a:t>
            </a:r>
            <a:r>
              <a:rPr lang="pt-BR" noProof="0" dirty="0" err="1"/>
              <a:t>Retrivial</a:t>
            </a:r>
            <a:r>
              <a:rPr lang="pt-BR" noProof="0" dirty="0"/>
              <a:t> – Ideal para acesso maior que 7 anos, tempo de recuperação do arquivo muito lento, ideal arquivos legais.</a:t>
            </a:r>
          </a:p>
          <a:p>
            <a:r>
              <a:rPr lang="pt-BR" noProof="0" dirty="0" err="1"/>
              <a:t>Glassier</a:t>
            </a:r>
            <a:r>
              <a:rPr lang="pt-BR" noProof="0" dirty="0"/>
              <a:t> </a:t>
            </a:r>
            <a:r>
              <a:rPr lang="pt-BR" noProof="0" dirty="0" err="1"/>
              <a:t>Deep</a:t>
            </a:r>
            <a:r>
              <a:rPr lang="pt-BR" noProof="0" dirty="0"/>
              <a:t> </a:t>
            </a:r>
            <a:r>
              <a:rPr lang="pt-BR" noProof="0" dirty="0" err="1"/>
              <a:t>Archive</a:t>
            </a:r>
            <a:r>
              <a:rPr lang="pt-BR" noProof="0" dirty="0"/>
              <a:t> – é o mais barato e com maior tempo de recuperação. A recuperação do arquivo é paga.</a:t>
            </a:r>
          </a:p>
          <a:p>
            <a:r>
              <a:rPr lang="pt-BR" noProof="0" dirty="0" err="1"/>
              <a:t>Outposts</a:t>
            </a:r>
            <a:r>
              <a:rPr lang="pt-BR" noProof="0" dirty="0"/>
              <a:t> – É armazenado em servidores externos. </a:t>
            </a:r>
          </a:p>
        </p:txBody>
      </p:sp>
    </p:spTree>
    <p:extLst>
      <p:ext uri="{BB962C8B-B14F-4D97-AF65-F5344CB8AC3E}">
        <p14:creationId xmlns:p14="http://schemas.microsoft.com/office/powerpoint/2010/main" val="2181072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AA88F-78CC-392C-D946-39FDB1921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F7947-CD84-D448-8437-3CE35C4E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Segurança S3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FF6B85-BB35-AAE2-E15D-12E16EB4F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noProof="0" dirty="0"/>
              <a:t>IAM </a:t>
            </a:r>
            <a:r>
              <a:rPr lang="pt-BR" noProof="0" dirty="0" err="1"/>
              <a:t>Polices</a:t>
            </a:r>
            <a:r>
              <a:rPr lang="pt-BR" noProof="0" dirty="0"/>
              <a:t> – O acesso é regulado pelo usuário, grupo ou role. O controle fica no IAM e não no S3.</a:t>
            </a:r>
          </a:p>
          <a:p>
            <a:r>
              <a:rPr lang="pt-BR" noProof="0" dirty="0" err="1"/>
              <a:t>Bucket</a:t>
            </a:r>
            <a:r>
              <a:rPr lang="pt-BR" noProof="0" dirty="0"/>
              <a:t> </a:t>
            </a:r>
            <a:r>
              <a:rPr lang="pt-BR" noProof="0" dirty="0" err="1"/>
              <a:t>Polyce</a:t>
            </a:r>
            <a:r>
              <a:rPr lang="pt-BR" noProof="0" dirty="0"/>
              <a:t> – É regulado pela </a:t>
            </a:r>
            <a:r>
              <a:rPr lang="pt-BR" noProof="0" dirty="0" err="1"/>
              <a:t>bucket</a:t>
            </a:r>
            <a:r>
              <a:rPr lang="pt-BR" noProof="0" dirty="0"/>
              <a:t> ou seja as regras são aplicadas na </a:t>
            </a:r>
            <a:r>
              <a:rPr lang="pt-BR" noProof="0" dirty="0" err="1"/>
              <a:t>bucket</a:t>
            </a:r>
            <a:r>
              <a:rPr lang="pt-BR" noProof="0" dirty="0"/>
              <a:t> e a </a:t>
            </a:r>
            <a:r>
              <a:rPr lang="pt-BR" noProof="0" dirty="0" err="1"/>
              <a:t>bucket</a:t>
            </a:r>
            <a:r>
              <a:rPr lang="pt-BR" noProof="0" dirty="0"/>
              <a:t> trava ou permite acesso.</a:t>
            </a:r>
          </a:p>
          <a:p>
            <a:r>
              <a:rPr lang="pt-BR" noProof="0" dirty="0"/>
              <a:t>ACL – É uma lista de usuários que tem permissão de acesso. É aplicado direto na </a:t>
            </a:r>
            <a:r>
              <a:rPr lang="pt-BR" noProof="0" dirty="0" err="1"/>
              <a:t>bucket</a:t>
            </a:r>
            <a:r>
              <a:rPr lang="pt-BR" noProof="0" dirty="0"/>
              <a:t>.</a:t>
            </a:r>
          </a:p>
          <a:p>
            <a:r>
              <a:rPr lang="pt-BR" noProof="0" dirty="0"/>
              <a:t>S3 </a:t>
            </a:r>
            <a:r>
              <a:rPr lang="pt-BR" noProof="0" dirty="0" err="1"/>
              <a:t>Encryption</a:t>
            </a:r>
            <a:r>
              <a:rPr lang="pt-BR" noProof="0" dirty="0"/>
              <a:t> – Existem 4 tipos de </a:t>
            </a:r>
            <a:r>
              <a:rPr lang="pt-BR" noProof="0" dirty="0" err="1"/>
              <a:t>encryption</a:t>
            </a:r>
            <a:r>
              <a:rPr lang="pt-BR" noProof="0" dirty="0"/>
              <a:t> no S3 (server </a:t>
            </a:r>
            <a:r>
              <a:rPr lang="pt-BR" noProof="0" dirty="0" err="1"/>
              <a:t>side</a:t>
            </a:r>
            <a:r>
              <a:rPr lang="pt-BR" noProof="0" dirty="0"/>
              <a:t> </a:t>
            </a:r>
            <a:r>
              <a:rPr lang="pt-BR" noProof="0" dirty="0" err="1"/>
              <a:t>encryption</a:t>
            </a:r>
            <a:r>
              <a:rPr lang="pt-BR" noProof="0" dirty="0"/>
              <a:t>)</a:t>
            </a:r>
          </a:p>
          <a:p>
            <a:pPr lvl="1"/>
            <a:r>
              <a:rPr lang="pt-BR" noProof="0" dirty="0"/>
              <a:t>SSE-S3 – Os objetos são encriptados dentro da </a:t>
            </a:r>
            <a:r>
              <a:rPr lang="pt-BR" noProof="0" dirty="0" err="1"/>
              <a:t>bucket</a:t>
            </a:r>
            <a:r>
              <a:rPr lang="pt-BR" noProof="0" dirty="0"/>
              <a:t>.</a:t>
            </a:r>
          </a:p>
          <a:p>
            <a:pPr lvl="1"/>
            <a:r>
              <a:rPr lang="pt-BR" noProof="0" dirty="0"/>
              <a:t>SSE-KMS – OS objetos são encriptados dentro da </a:t>
            </a:r>
            <a:r>
              <a:rPr lang="pt-BR" noProof="0" dirty="0" err="1"/>
              <a:t>bucket</a:t>
            </a:r>
            <a:r>
              <a:rPr lang="pt-BR" noProof="0" dirty="0"/>
              <a:t> mais o gerenciamento da chave é pelo KMS.</a:t>
            </a:r>
          </a:p>
          <a:p>
            <a:pPr lvl="1"/>
            <a:r>
              <a:rPr lang="pt-BR" noProof="0" dirty="0"/>
              <a:t>SSE-C – Os objetos são encriptados dentro da </a:t>
            </a:r>
            <a:r>
              <a:rPr lang="pt-BR" noProof="0" dirty="0" err="1"/>
              <a:t>bucket</a:t>
            </a:r>
            <a:r>
              <a:rPr lang="pt-BR" noProof="0" dirty="0"/>
              <a:t> mais o cliente fornece as chaves.</a:t>
            </a:r>
          </a:p>
          <a:p>
            <a:pPr lvl="1"/>
            <a:r>
              <a:rPr lang="pt-BR" noProof="0" dirty="0"/>
              <a:t>SCE – O cliente gerencia as chaves, encripta os arquivos e manda para a </a:t>
            </a:r>
            <a:r>
              <a:rPr lang="pt-BR" noProof="0" dirty="0" err="1"/>
              <a:t>bucket</a:t>
            </a:r>
            <a:r>
              <a:rPr lang="pt-BR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2070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53F49-5125-5B93-D795-274726D7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FE4DD-2106-92B8-30EB-60CD255C5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7" y="2187743"/>
            <a:ext cx="7789333" cy="248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6000" noProof="0" dirty="0"/>
              <a:t>Computer Amazon</a:t>
            </a:r>
            <a:br>
              <a:rPr lang="pt-BR" sz="6000" noProof="0" dirty="0"/>
            </a:br>
            <a:r>
              <a:rPr lang="pt-BR" sz="3600" noProof="0" dirty="0"/>
              <a:t>EC2 – </a:t>
            </a:r>
            <a:r>
              <a:rPr lang="pt-BR" sz="3600" noProof="0" dirty="0" err="1"/>
              <a:t>Elastic</a:t>
            </a:r>
            <a:r>
              <a:rPr lang="pt-BR" sz="3600" noProof="0" dirty="0"/>
              <a:t> Compute Cloud</a:t>
            </a:r>
            <a:endParaRPr lang="pt-BR" sz="3600" kern="1200" noProof="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4E975E7-D1CD-D70B-2EF2-E9D245AAA8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1" y="2743201"/>
            <a:ext cx="1371600" cy="13716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3731ACE-9407-1F94-615A-85E0D9F9A480}"/>
              </a:ext>
            </a:extLst>
          </p:cNvPr>
          <p:cNvSpPr/>
          <p:nvPr/>
        </p:nvSpPr>
        <p:spPr>
          <a:xfrm>
            <a:off x="8434931" y="6226936"/>
            <a:ext cx="3531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noProof="0" dirty="0">
                <a:hlinkClick r:id="rId4"/>
              </a:rPr>
              <a:t>https://docs.aws.amazon.com/</a:t>
            </a:r>
            <a:endParaRPr lang="pt-BR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5988A7E-F087-E308-7308-A515AA88B037}"/>
              </a:ext>
            </a:extLst>
          </p:cNvPr>
          <p:cNvSpPr/>
          <p:nvPr/>
        </p:nvSpPr>
        <p:spPr>
          <a:xfrm>
            <a:off x="8434931" y="5857604"/>
            <a:ext cx="289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noProof="0" dirty="0">
                <a:hlinkClick r:id="rId5"/>
              </a:rPr>
              <a:t>https://aws.amazon.com/pt/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58140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98987-1F15-7B0D-D535-B360327A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C755F-8C49-E6D7-7DC0-8E50AE97A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EC2 – Instancia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6E7D18-84BF-CF79-20D3-E701C2C31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noProof="0" dirty="0"/>
              <a:t>Planos Financeiro</a:t>
            </a:r>
          </a:p>
          <a:p>
            <a:r>
              <a:rPr lang="pt-BR" noProof="0" dirty="0" err="1"/>
              <a:t>On-Demand</a:t>
            </a:r>
            <a:r>
              <a:rPr lang="pt-BR" noProof="0" dirty="0"/>
              <a:t> – Maior custo. Cobrado por segundo. Pode ser instanciado de desligado a qualquer momento.</a:t>
            </a:r>
          </a:p>
          <a:p>
            <a:r>
              <a:rPr lang="pt-BR" noProof="0" dirty="0" err="1"/>
              <a:t>Reserved</a:t>
            </a:r>
            <a:r>
              <a:rPr lang="pt-BR" noProof="0" dirty="0"/>
              <a:t> </a:t>
            </a:r>
            <a:r>
              <a:rPr lang="pt-BR" noProof="0" dirty="0" err="1"/>
              <a:t>Instances</a:t>
            </a:r>
            <a:r>
              <a:rPr lang="pt-BR" noProof="0" dirty="0"/>
              <a:t> – Desconto intermediário por contrato de 1 a 3 anos. Por contrato</a:t>
            </a:r>
          </a:p>
          <a:p>
            <a:r>
              <a:rPr lang="pt-BR" noProof="0" dirty="0"/>
              <a:t>Spot </a:t>
            </a:r>
            <a:r>
              <a:rPr lang="pt-BR" noProof="0" dirty="0" err="1"/>
              <a:t>Instances</a:t>
            </a:r>
            <a:r>
              <a:rPr lang="pt-BR" noProof="0" dirty="0"/>
              <a:t> – É feito uma proposta de pagamento por uma ec2 e se o recurso estiver disponível a proposta é aceita. A máquina pode ser desligada e os recursos realocados a qualquer momento.</a:t>
            </a:r>
          </a:p>
          <a:p>
            <a:r>
              <a:rPr lang="pt-BR" noProof="0" dirty="0" err="1"/>
              <a:t>Dedicated</a:t>
            </a:r>
            <a:r>
              <a:rPr lang="pt-BR" noProof="0" dirty="0"/>
              <a:t> </a:t>
            </a:r>
            <a:r>
              <a:rPr lang="pt-BR" noProof="0" dirty="0" err="1"/>
              <a:t>Instance</a:t>
            </a:r>
            <a:r>
              <a:rPr lang="pt-BR" noProof="0" dirty="0"/>
              <a:t> – A empresa comprar o hardware exclusivo onde as máquinas são instanciadas. </a:t>
            </a:r>
          </a:p>
          <a:p>
            <a:r>
              <a:rPr lang="pt-BR" noProof="0" dirty="0" err="1"/>
              <a:t>Dedicated</a:t>
            </a:r>
            <a:r>
              <a:rPr lang="pt-BR" noProof="0" dirty="0"/>
              <a:t> host – O servidor é exclusivo da empresa. É o mais caro de todos.</a:t>
            </a:r>
          </a:p>
          <a:p>
            <a:r>
              <a:rPr lang="pt-BR" noProof="0" dirty="0" err="1"/>
              <a:t>Saving</a:t>
            </a:r>
            <a:r>
              <a:rPr lang="pt-BR" noProof="0" dirty="0"/>
              <a:t> </a:t>
            </a:r>
            <a:r>
              <a:rPr lang="pt-BR" noProof="0" dirty="0" err="1"/>
              <a:t>Plans</a:t>
            </a:r>
            <a:r>
              <a:rPr lang="pt-BR" noProof="0" dirty="0"/>
              <a:t> – Pagamento por hora, e tem um mínimo de horas anuais. Contrato por 1 a 3 anos. Engloba </a:t>
            </a:r>
            <a:r>
              <a:rPr lang="pt-BR" noProof="0" dirty="0" err="1"/>
              <a:t>Fargate</a:t>
            </a:r>
            <a:r>
              <a:rPr lang="pt-BR" noProof="0" dirty="0"/>
              <a:t>, Lambda, EC2.</a:t>
            </a:r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005708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01AF4B-A646-47B7-88B1-AF4AD5796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355"/>
          </a:xfrm>
        </p:spPr>
        <p:txBody>
          <a:bodyPr/>
          <a:lstStyle/>
          <a:p>
            <a:r>
              <a:rPr lang="pt-BR" noProof="0" dirty="0" err="1"/>
              <a:t>Hypervisor</a:t>
            </a:r>
            <a:endParaRPr lang="pt-BR" noProof="0" dirty="0"/>
          </a:p>
        </p:txBody>
      </p: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743AEE8C-B004-4C6E-8FE8-465BD05CA895}"/>
              </a:ext>
            </a:extLst>
          </p:cNvPr>
          <p:cNvGrpSpPr/>
          <p:nvPr/>
        </p:nvGrpSpPr>
        <p:grpSpPr>
          <a:xfrm>
            <a:off x="213360" y="1567497"/>
            <a:ext cx="3942080" cy="4924743"/>
            <a:chOff x="213360" y="1567497"/>
            <a:chExt cx="3942080" cy="4924743"/>
          </a:xfrm>
        </p:grpSpPr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2D033531-1366-4AB9-950B-A14C9C23F6CB}"/>
                </a:ext>
              </a:extLst>
            </p:cNvPr>
            <p:cNvSpPr/>
            <p:nvPr/>
          </p:nvSpPr>
          <p:spPr>
            <a:xfrm>
              <a:off x="213360" y="1567497"/>
              <a:ext cx="3942080" cy="49247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pt-BR" sz="2400" b="1" noProof="0" dirty="0">
                  <a:solidFill>
                    <a:srgbClr val="002060"/>
                  </a:solidFill>
                </a:rPr>
                <a:t>BARE METAL</a:t>
              </a:r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C505E270-C053-4565-813C-66E6F6EC2127}"/>
                </a:ext>
              </a:extLst>
            </p:cNvPr>
            <p:cNvSpPr/>
            <p:nvPr/>
          </p:nvSpPr>
          <p:spPr>
            <a:xfrm>
              <a:off x="416560" y="5425440"/>
              <a:ext cx="349504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Hardware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454AF228-238A-4029-BCEA-B93F4B2F1E41}"/>
                </a:ext>
              </a:extLst>
            </p:cNvPr>
            <p:cNvSpPr/>
            <p:nvPr/>
          </p:nvSpPr>
          <p:spPr>
            <a:xfrm>
              <a:off x="416560" y="4772343"/>
              <a:ext cx="349504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 err="1"/>
                <a:t>Hypervisor</a:t>
              </a:r>
              <a:endParaRPr lang="pt-BR" noProof="0" dirty="0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19E3DA66-8DAC-4516-A5B0-CCC8C3544BB2}"/>
                </a:ext>
              </a:extLst>
            </p:cNvPr>
            <p:cNvSpPr/>
            <p:nvPr/>
          </p:nvSpPr>
          <p:spPr>
            <a:xfrm>
              <a:off x="416560" y="4003040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SO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E66AEFC-F134-40F4-9A6A-111F0BA59D19}"/>
                </a:ext>
              </a:extLst>
            </p:cNvPr>
            <p:cNvSpPr/>
            <p:nvPr/>
          </p:nvSpPr>
          <p:spPr>
            <a:xfrm>
              <a:off x="3134995" y="4001294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SO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488EE0D4-666C-416A-8AE1-4DC16E5CC395}"/>
                </a:ext>
              </a:extLst>
            </p:cNvPr>
            <p:cNvSpPr/>
            <p:nvPr/>
          </p:nvSpPr>
          <p:spPr>
            <a:xfrm>
              <a:off x="1330960" y="4001294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935FC3A8-7D8C-4F01-8B9D-4CA4A936999F}"/>
                </a:ext>
              </a:extLst>
            </p:cNvPr>
            <p:cNvSpPr/>
            <p:nvPr/>
          </p:nvSpPr>
          <p:spPr>
            <a:xfrm>
              <a:off x="2209800" y="4001294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SO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317CF8F3-2550-40B0-A349-D284770E47EF}"/>
                </a:ext>
              </a:extLst>
            </p:cNvPr>
            <p:cNvSpPr/>
            <p:nvPr/>
          </p:nvSpPr>
          <p:spPr>
            <a:xfrm>
              <a:off x="416560" y="3233737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APP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CD355A5F-68EB-4852-ADB6-DCBE58C88C13}"/>
                </a:ext>
              </a:extLst>
            </p:cNvPr>
            <p:cNvSpPr/>
            <p:nvPr/>
          </p:nvSpPr>
          <p:spPr>
            <a:xfrm>
              <a:off x="3129280" y="3230245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APP</a:t>
              </a: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9CCD6009-E3C3-4173-B2EE-DE7FC38C0BD5}"/>
                </a:ext>
              </a:extLst>
            </p:cNvPr>
            <p:cNvSpPr/>
            <p:nvPr/>
          </p:nvSpPr>
          <p:spPr>
            <a:xfrm>
              <a:off x="1330960" y="3233420"/>
              <a:ext cx="165608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APP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E5426D6A-BC21-46AA-A680-038AB7C68EE2}"/>
              </a:ext>
            </a:extLst>
          </p:cNvPr>
          <p:cNvGrpSpPr/>
          <p:nvPr/>
        </p:nvGrpSpPr>
        <p:grpSpPr>
          <a:xfrm>
            <a:off x="4536440" y="1567497"/>
            <a:ext cx="3149600" cy="4924743"/>
            <a:chOff x="4536440" y="1567497"/>
            <a:chExt cx="3149600" cy="4924743"/>
          </a:xfrm>
        </p:grpSpPr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CE4609B9-FE33-4B7B-81F0-048E7E31C5D1}"/>
                </a:ext>
              </a:extLst>
            </p:cNvPr>
            <p:cNvSpPr/>
            <p:nvPr/>
          </p:nvSpPr>
          <p:spPr>
            <a:xfrm>
              <a:off x="4536440" y="1567497"/>
              <a:ext cx="3149600" cy="49247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pt-BR" sz="2400" b="1" noProof="0" dirty="0">
                  <a:solidFill>
                    <a:srgbClr val="002060"/>
                  </a:solidFill>
                </a:rPr>
                <a:t>HIBRIDO</a:t>
              </a:r>
            </a:p>
          </p:txBody>
        </p:sp>
        <p:sp>
          <p:nvSpPr>
            <p:cNvPr id="39" name="Retângulo 38">
              <a:extLst>
                <a:ext uri="{FF2B5EF4-FFF2-40B4-BE49-F238E27FC236}">
                  <a16:creationId xmlns:a16="http://schemas.microsoft.com/office/drawing/2014/main" id="{88F1ADB4-0E11-4051-AC2B-7A5EB651EF41}"/>
                </a:ext>
              </a:extLst>
            </p:cNvPr>
            <p:cNvSpPr/>
            <p:nvPr/>
          </p:nvSpPr>
          <p:spPr>
            <a:xfrm>
              <a:off x="4714240" y="5425440"/>
              <a:ext cx="269748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Hardware</a:t>
              </a:r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564EB9F2-7FC6-4A76-A4FE-4A0886A2A897}"/>
                </a:ext>
              </a:extLst>
            </p:cNvPr>
            <p:cNvSpPr/>
            <p:nvPr/>
          </p:nvSpPr>
          <p:spPr>
            <a:xfrm>
              <a:off x="4743450" y="4772343"/>
              <a:ext cx="269748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 err="1"/>
                <a:t>Hypervisor</a:t>
              </a:r>
              <a:r>
                <a:rPr lang="pt-BR" noProof="0" dirty="0"/>
                <a:t> Sistema Op.</a:t>
              </a:r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6F8BC7A2-C78A-4AE5-9D50-38E9BDDD99A1}"/>
                </a:ext>
              </a:extLst>
            </p:cNvPr>
            <p:cNvSpPr/>
            <p:nvPr/>
          </p:nvSpPr>
          <p:spPr>
            <a:xfrm>
              <a:off x="6629400" y="4001294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SO</a:t>
              </a:r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133FCD7C-DD62-4F64-818E-3687EFFA5F58}"/>
                </a:ext>
              </a:extLst>
            </p:cNvPr>
            <p:cNvSpPr/>
            <p:nvPr/>
          </p:nvSpPr>
          <p:spPr>
            <a:xfrm>
              <a:off x="5699760" y="4001294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SO</a:t>
              </a:r>
            </a:p>
          </p:txBody>
        </p:sp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id="{884D924D-06F2-4312-AF73-279497813C6A}"/>
                </a:ext>
              </a:extLst>
            </p:cNvPr>
            <p:cNvSpPr/>
            <p:nvPr/>
          </p:nvSpPr>
          <p:spPr>
            <a:xfrm>
              <a:off x="4743450" y="3987006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APP</a:t>
              </a:r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DD42AC28-32FA-491C-9767-4F7764F0CF0B}"/>
                </a:ext>
              </a:extLst>
            </p:cNvPr>
            <p:cNvSpPr/>
            <p:nvPr/>
          </p:nvSpPr>
          <p:spPr>
            <a:xfrm>
              <a:off x="6629400" y="3233737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APP</a:t>
              </a:r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A0DD7991-7F74-4354-840D-8C953F11FDE1}"/>
                </a:ext>
              </a:extLst>
            </p:cNvPr>
            <p:cNvSpPr/>
            <p:nvPr/>
          </p:nvSpPr>
          <p:spPr>
            <a:xfrm>
              <a:off x="5699760" y="3230245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APP</a:t>
              </a:r>
            </a:p>
          </p:txBody>
        </p: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A895770A-6BD9-4767-BDBA-96E67BFD59FC}"/>
              </a:ext>
            </a:extLst>
          </p:cNvPr>
          <p:cNvGrpSpPr/>
          <p:nvPr/>
        </p:nvGrpSpPr>
        <p:grpSpPr>
          <a:xfrm>
            <a:off x="8067040" y="1567497"/>
            <a:ext cx="3942080" cy="4924743"/>
            <a:chOff x="8067040" y="1567497"/>
            <a:chExt cx="3942080" cy="4924743"/>
          </a:xfrm>
        </p:grpSpPr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CC5433C4-BC2B-4B0A-B794-F338CDB10F33}"/>
                </a:ext>
              </a:extLst>
            </p:cNvPr>
            <p:cNvSpPr/>
            <p:nvPr/>
          </p:nvSpPr>
          <p:spPr>
            <a:xfrm>
              <a:off x="8067040" y="1567497"/>
              <a:ext cx="3942080" cy="49247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pt-BR" sz="2400" b="1" noProof="0" dirty="0">
                  <a:solidFill>
                    <a:srgbClr val="002060"/>
                  </a:solidFill>
                </a:rPr>
                <a:t>HOSTED</a:t>
              </a:r>
            </a:p>
          </p:txBody>
        </p:sp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58A93C90-C4CE-4FDA-B638-4A8CDD79D107}"/>
                </a:ext>
              </a:extLst>
            </p:cNvPr>
            <p:cNvSpPr/>
            <p:nvPr/>
          </p:nvSpPr>
          <p:spPr>
            <a:xfrm>
              <a:off x="8285480" y="5425440"/>
              <a:ext cx="349504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Hardware</a:t>
              </a:r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9F5080E0-403D-4E19-A8F0-86C049147DF0}"/>
                </a:ext>
              </a:extLst>
            </p:cNvPr>
            <p:cNvSpPr/>
            <p:nvPr/>
          </p:nvSpPr>
          <p:spPr>
            <a:xfrm>
              <a:off x="8270240" y="4772343"/>
              <a:ext cx="349504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SO - Sistema Operacional</a:t>
              </a:r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28D1233C-4F51-4CCA-8DB2-DEECE5A5EAA1}"/>
                </a:ext>
              </a:extLst>
            </p:cNvPr>
            <p:cNvSpPr/>
            <p:nvPr/>
          </p:nvSpPr>
          <p:spPr>
            <a:xfrm>
              <a:off x="8239760" y="3356768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SO</a:t>
              </a:r>
            </a:p>
          </p:txBody>
        </p:sp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09815C6D-307D-4917-88BF-00968AF21C5C}"/>
                </a:ext>
              </a:extLst>
            </p:cNvPr>
            <p:cNvSpPr/>
            <p:nvPr/>
          </p:nvSpPr>
          <p:spPr>
            <a:xfrm>
              <a:off x="9154160" y="3355022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SO</a:t>
              </a:r>
            </a:p>
          </p:txBody>
        </p:sp>
        <p:sp>
          <p:nvSpPr>
            <p:cNvPr id="54" name="Retângulo 53">
              <a:extLst>
                <a:ext uri="{FF2B5EF4-FFF2-40B4-BE49-F238E27FC236}">
                  <a16:creationId xmlns:a16="http://schemas.microsoft.com/office/drawing/2014/main" id="{B61839F7-C6DE-43CD-9239-1182241F2EB6}"/>
                </a:ext>
              </a:extLst>
            </p:cNvPr>
            <p:cNvSpPr/>
            <p:nvPr/>
          </p:nvSpPr>
          <p:spPr>
            <a:xfrm>
              <a:off x="10033000" y="3355022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SO</a:t>
              </a:r>
            </a:p>
          </p:txBody>
        </p:sp>
        <p:sp>
          <p:nvSpPr>
            <p:cNvPr id="55" name="Retângulo 54">
              <a:extLst>
                <a:ext uri="{FF2B5EF4-FFF2-40B4-BE49-F238E27FC236}">
                  <a16:creationId xmlns:a16="http://schemas.microsoft.com/office/drawing/2014/main" id="{D61157B2-32FB-481D-9E6A-26A9AF2B93F1}"/>
                </a:ext>
              </a:extLst>
            </p:cNvPr>
            <p:cNvSpPr/>
            <p:nvPr/>
          </p:nvSpPr>
          <p:spPr>
            <a:xfrm>
              <a:off x="8239760" y="2587465"/>
              <a:ext cx="78232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APP</a:t>
              </a: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027CD83C-EB62-40FB-916E-2DBCEBCE53C1}"/>
                </a:ext>
              </a:extLst>
            </p:cNvPr>
            <p:cNvSpPr/>
            <p:nvPr/>
          </p:nvSpPr>
          <p:spPr>
            <a:xfrm>
              <a:off x="9154160" y="2587148"/>
              <a:ext cx="1656080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APP</a:t>
              </a:r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12CA6533-48BD-4A8D-9791-3D65D61E0716}"/>
                </a:ext>
              </a:extLst>
            </p:cNvPr>
            <p:cNvSpPr/>
            <p:nvPr/>
          </p:nvSpPr>
          <p:spPr>
            <a:xfrm>
              <a:off x="8270240" y="4120912"/>
              <a:ext cx="347472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 err="1"/>
                <a:t>Hypervisor</a:t>
              </a:r>
              <a:endParaRPr lang="pt-BR" noProof="0" dirty="0"/>
            </a:p>
          </p:txBody>
        </p:sp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0F41A785-1E3D-4E8D-A3B5-87A2A7A034A2}"/>
                </a:ext>
              </a:extLst>
            </p:cNvPr>
            <p:cNvSpPr/>
            <p:nvPr/>
          </p:nvSpPr>
          <p:spPr>
            <a:xfrm>
              <a:off x="10962640" y="3355022"/>
              <a:ext cx="782320" cy="63198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23019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EC2 – </a:t>
            </a:r>
            <a:r>
              <a:rPr lang="pt-BR" noProof="0" dirty="0" err="1"/>
              <a:t>Elastic</a:t>
            </a:r>
            <a:r>
              <a:rPr lang="pt-BR" noProof="0" dirty="0"/>
              <a:t> Compute Cloud - Custos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noProof="0" dirty="0"/>
              <a:t>Planos Financeiro</a:t>
            </a:r>
          </a:p>
          <a:p>
            <a:r>
              <a:rPr lang="pt-BR" noProof="0" dirty="0" err="1"/>
              <a:t>On-Demand</a:t>
            </a:r>
            <a:r>
              <a:rPr lang="pt-BR" noProof="0" dirty="0"/>
              <a:t> – Maior custo. Cobrado por segundo. Pode ser instanciado de desligado a qualquer momento.</a:t>
            </a:r>
          </a:p>
          <a:p>
            <a:r>
              <a:rPr lang="pt-BR" noProof="0" dirty="0" err="1"/>
              <a:t>Reserved</a:t>
            </a:r>
            <a:r>
              <a:rPr lang="pt-BR" noProof="0" dirty="0"/>
              <a:t> </a:t>
            </a:r>
            <a:r>
              <a:rPr lang="pt-BR" noProof="0" dirty="0" err="1"/>
              <a:t>Instances</a:t>
            </a:r>
            <a:r>
              <a:rPr lang="pt-BR" noProof="0" dirty="0"/>
              <a:t> – Desconto intermediário por contrato de 1 a 3 anos. Por contrato</a:t>
            </a:r>
          </a:p>
          <a:p>
            <a:r>
              <a:rPr lang="pt-BR" noProof="0" dirty="0"/>
              <a:t>Spot </a:t>
            </a:r>
            <a:r>
              <a:rPr lang="pt-BR" noProof="0" dirty="0" err="1"/>
              <a:t>Instances</a:t>
            </a:r>
            <a:r>
              <a:rPr lang="pt-BR" noProof="0" dirty="0"/>
              <a:t> – É feito uma proposta de pagamento por uma ec2 e se o recurso estiver disponível a proposta é aceita. A máquina pode ser desligada e os recursos realocados a qualquer momento.</a:t>
            </a:r>
          </a:p>
          <a:p>
            <a:r>
              <a:rPr lang="pt-BR" noProof="0" dirty="0" err="1"/>
              <a:t>Dedicated</a:t>
            </a:r>
            <a:r>
              <a:rPr lang="pt-BR" noProof="0" dirty="0"/>
              <a:t> </a:t>
            </a:r>
            <a:r>
              <a:rPr lang="pt-BR" noProof="0" dirty="0" err="1"/>
              <a:t>Instance</a:t>
            </a:r>
            <a:r>
              <a:rPr lang="pt-BR" noProof="0" dirty="0"/>
              <a:t> – A empresa comprar o hardware exclusivo onde as máquinas são instanciadas. </a:t>
            </a:r>
          </a:p>
          <a:p>
            <a:r>
              <a:rPr lang="pt-BR" noProof="0" dirty="0" err="1"/>
              <a:t>Dedicated</a:t>
            </a:r>
            <a:r>
              <a:rPr lang="pt-BR" noProof="0" dirty="0"/>
              <a:t> host – O servidor é exclusivo da empresa. É o mais caro de todos.</a:t>
            </a:r>
          </a:p>
          <a:p>
            <a:r>
              <a:rPr lang="pt-BR" noProof="0" dirty="0" err="1"/>
              <a:t>Saving</a:t>
            </a:r>
            <a:r>
              <a:rPr lang="pt-BR" noProof="0" dirty="0"/>
              <a:t> </a:t>
            </a:r>
            <a:r>
              <a:rPr lang="pt-BR" noProof="0" dirty="0" err="1"/>
              <a:t>Plans</a:t>
            </a:r>
            <a:r>
              <a:rPr lang="pt-BR" noProof="0" dirty="0"/>
              <a:t> – Pagamento por hora, e tem um mínimo de horas anuais. Contrato por 1 a 3 anos. Engloba </a:t>
            </a:r>
            <a:r>
              <a:rPr lang="pt-BR" noProof="0" dirty="0" err="1"/>
              <a:t>Fargate</a:t>
            </a:r>
            <a:r>
              <a:rPr lang="pt-BR" noProof="0" dirty="0"/>
              <a:t>, Lambda, EC2.</a:t>
            </a:r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62447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5D7D6-F182-533D-3D5A-5A37CBE0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0BE02-1115-2411-673B-9D80C44E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EC2 – </a:t>
            </a:r>
            <a:r>
              <a:rPr lang="pt-BR" noProof="0" dirty="0" err="1"/>
              <a:t>Elastic</a:t>
            </a:r>
            <a:r>
              <a:rPr lang="pt-BR" noProof="0" dirty="0"/>
              <a:t> Compute Cloud - Componentes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8685B8-6BA9-348E-2A1F-8702EAE2C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Detalhes – encontramos </a:t>
            </a:r>
            <a:r>
              <a:rPr lang="pt-BR" noProof="0" dirty="0" err="1"/>
              <a:t>instance</a:t>
            </a:r>
            <a:r>
              <a:rPr lang="pt-BR" noProof="0" dirty="0"/>
              <a:t> ID, </a:t>
            </a:r>
            <a:r>
              <a:rPr lang="pt-BR" noProof="0" dirty="0" err="1"/>
              <a:t>ip</a:t>
            </a:r>
            <a:r>
              <a:rPr lang="pt-BR" noProof="0" dirty="0"/>
              <a:t> interno e externo, Sistema operacional, acesso publico ou privado, status da instancia, </a:t>
            </a:r>
            <a:r>
              <a:rPr lang="pt-BR" noProof="0" dirty="0" err="1"/>
              <a:t>dns</a:t>
            </a:r>
            <a:r>
              <a:rPr lang="pt-BR" noProof="0" dirty="0"/>
              <a:t> publico, </a:t>
            </a:r>
            <a:r>
              <a:rPr lang="pt-BR" noProof="0" dirty="0" err="1"/>
              <a:t>familia</a:t>
            </a:r>
            <a:r>
              <a:rPr lang="pt-BR" noProof="0" dirty="0"/>
              <a:t>, entre outros.</a:t>
            </a:r>
          </a:p>
          <a:p>
            <a:r>
              <a:rPr lang="pt-BR" noProof="0" dirty="0"/>
              <a:t>Verificação de status – encontramos verificação de hardware e software da máquina, e acessibilidade da instancia.</a:t>
            </a:r>
          </a:p>
          <a:p>
            <a:r>
              <a:rPr lang="pt-BR" noProof="0" dirty="0"/>
              <a:t>Monitoramento – encontramos a situação de cpu, rede, disco, créditos de cpu. Podemos alterar o monitoramento através do </a:t>
            </a:r>
            <a:r>
              <a:rPr lang="pt-BR" noProof="0" dirty="0" err="1"/>
              <a:t>clodwatch</a:t>
            </a:r>
            <a:r>
              <a:rPr lang="pt-BR" noProof="0" dirty="0"/>
              <a:t>.</a:t>
            </a:r>
          </a:p>
          <a:p>
            <a:endParaRPr lang="pt-BR" noProof="0" dirty="0"/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791167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26977-7CB3-1DB2-753E-BE5EADCA8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BA184-DC63-F75A-55F8-F17053753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521"/>
            <a:ext cx="10515600" cy="1325563"/>
          </a:xfrm>
        </p:spPr>
        <p:txBody>
          <a:bodyPr/>
          <a:lstStyle/>
          <a:p>
            <a:r>
              <a:rPr lang="pt-BR" noProof="0" dirty="0"/>
              <a:t>Status da instancia EC2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B333BE-D4EE-E3BC-8ABB-4CCCB526C000}"/>
              </a:ext>
            </a:extLst>
          </p:cNvPr>
          <p:cNvSpPr txBox="1"/>
          <p:nvPr/>
        </p:nvSpPr>
        <p:spPr>
          <a:xfrm>
            <a:off x="6545246" y="4255825"/>
            <a:ext cx="1804213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/>
            </a:lvl1pPr>
          </a:lstStyle>
          <a:p>
            <a:r>
              <a:rPr lang="pt-BR" noProof="0" dirty="0" err="1"/>
              <a:t>Stoping</a:t>
            </a:r>
            <a:endParaRPr lang="pt-BR" noProof="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97405CA-DB89-6DB2-38DA-4AF7843B1377}"/>
              </a:ext>
            </a:extLst>
          </p:cNvPr>
          <p:cNvSpPr txBox="1"/>
          <p:nvPr/>
        </p:nvSpPr>
        <p:spPr>
          <a:xfrm>
            <a:off x="8595561" y="4231388"/>
            <a:ext cx="2961517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/>
            </a:lvl1pPr>
          </a:lstStyle>
          <a:p>
            <a:r>
              <a:rPr lang="pt-BR" noProof="0" dirty="0" err="1"/>
              <a:t>Shuting</a:t>
            </a:r>
            <a:r>
              <a:rPr lang="pt-BR" noProof="0" dirty="0"/>
              <a:t> Down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F40A94B-E895-822D-14A7-270F10B69A4C}"/>
              </a:ext>
            </a:extLst>
          </p:cNvPr>
          <p:cNvSpPr txBox="1"/>
          <p:nvPr/>
        </p:nvSpPr>
        <p:spPr>
          <a:xfrm>
            <a:off x="10010692" y="1850120"/>
            <a:ext cx="2133701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/>
            </a:lvl1pPr>
          </a:lstStyle>
          <a:p>
            <a:r>
              <a:rPr lang="pt-BR" noProof="0" dirty="0" err="1"/>
              <a:t>Rebooting</a:t>
            </a:r>
            <a:endParaRPr lang="pt-BR" noProof="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06C34E2-B309-7E1B-225F-22A3B273C93D}"/>
              </a:ext>
            </a:extLst>
          </p:cNvPr>
          <p:cNvSpPr txBox="1"/>
          <p:nvPr/>
        </p:nvSpPr>
        <p:spPr>
          <a:xfrm>
            <a:off x="7585945" y="1850121"/>
            <a:ext cx="1963643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/>
            </a:lvl1pPr>
          </a:lstStyle>
          <a:p>
            <a:r>
              <a:rPr lang="pt-BR" noProof="0" dirty="0"/>
              <a:t>Running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0061BF-4129-F199-E739-AD150EAFFE74}"/>
              </a:ext>
            </a:extLst>
          </p:cNvPr>
          <p:cNvSpPr txBox="1"/>
          <p:nvPr/>
        </p:nvSpPr>
        <p:spPr>
          <a:xfrm>
            <a:off x="4204946" y="1850122"/>
            <a:ext cx="2849517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600" noProof="0" dirty="0" err="1"/>
              <a:t>Pending</a:t>
            </a:r>
            <a:r>
              <a:rPr lang="pt-BR" sz="3600" noProof="0" dirty="0"/>
              <a:t> </a:t>
            </a:r>
            <a:r>
              <a:rPr lang="pt-BR" sz="3600" noProof="0" dirty="0" err="1"/>
              <a:t>State</a:t>
            </a:r>
            <a:endParaRPr lang="pt-BR" sz="3600" noProof="0" dirty="0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88B6B8E-811A-EA4E-DBD5-E67D2EF8F9F1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flipH="1">
            <a:off x="7054463" y="2173287"/>
            <a:ext cx="531482" cy="1"/>
          </a:xfrm>
          <a:prstGeom prst="straightConnector1">
            <a:avLst/>
          </a:prstGeom>
          <a:ln w="47625">
            <a:solidFill>
              <a:srgbClr val="CC3399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A6670F7F-095B-B835-45F6-A7D50AC067A7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flipH="1">
            <a:off x="7447353" y="2496452"/>
            <a:ext cx="1120414" cy="1759373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3BB28124-1BCD-3EC5-E075-C9D69329DCDD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9549588" y="2173286"/>
            <a:ext cx="461104" cy="1"/>
          </a:xfrm>
          <a:prstGeom prst="straightConnector1">
            <a:avLst/>
          </a:prstGeom>
          <a:ln w="47625">
            <a:solidFill>
              <a:srgbClr val="CC339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2FE0F240-7423-4536-70DA-0EBE9ECB67FB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8567767" y="2496452"/>
            <a:ext cx="1508553" cy="1734936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2A80E02-9262-3355-2387-87E2289F8AB3}"/>
              </a:ext>
            </a:extLst>
          </p:cNvPr>
          <p:cNvSpPr txBox="1"/>
          <p:nvPr/>
        </p:nvSpPr>
        <p:spPr>
          <a:xfrm>
            <a:off x="336487" y="1863707"/>
            <a:ext cx="1844821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600" noProof="0" dirty="0"/>
              <a:t>IAM</a:t>
            </a:r>
          </a:p>
        </p:txBody>
      </p:sp>
      <p:pic>
        <p:nvPicPr>
          <p:cNvPr id="30" name="Gráfico 14" descr="Programa">
            <a:extLst>
              <a:ext uri="{FF2B5EF4-FFF2-40B4-BE49-F238E27FC236}">
                <a16:creationId xmlns:a16="http://schemas.microsoft.com/office/drawing/2014/main" id="{8FB39617-E446-3FCC-DAE4-CF77CBEC5F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46" y="3429000"/>
            <a:ext cx="965200" cy="965200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27FFBD27-B558-9632-CCFF-63B066F17A3D}"/>
              </a:ext>
            </a:extLst>
          </p:cNvPr>
          <p:cNvSpPr txBox="1"/>
          <p:nvPr/>
        </p:nvSpPr>
        <p:spPr>
          <a:xfrm>
            <a:off x="315727" y="4487035"/>
            <a:ext cx="1226038" cy="646331"/>
          </a:xfrm>
          <a:prstGeom prst="rect">
            <a:avLst/>
          </a:prstGeom>
          <a:ln w="3175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Inicia Máquina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4206321-6D83-88CA-E780-A5EBD137A354}"/>
              </a:ext>
            </a:extLst>
          </p:cNvPr>
          <p:cNvSpPr txBox="1"/>
          <p:nvPr/>
        </p:nvSpPr>
        <p:spPr>
          <a:xfrm>
            <a:off x="2433285" y="3143282"/>
            <a:ext cx="1226038" cy="64633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algn="ctr">
              <a:defRPr b="1">
                <a:solidFill>
                  <a:srgbClr val="3865B6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noProof="0" dirty="0"/>
              <a:t>Autoriza Iniciar</a:t>
            </a:r>
          </a:p>
        </p:txBody>
      </p: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5973D7C4-475B-400E-88DD-BB641AB297CC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 flipH="1">
            <a:off x="928746" y="2510038"/>
            <a:ext cx="330152" cy="918962"/>
          </a:xfrm>
          <a:prstGeom prst="straightConnector1">
            <a:avLst/>
          </a:prstGeom>
          <a:ln w="47625">
            <a:solidFill>
              <a:srgbClr val="CC3399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CC92143E-CB66-48A1-40A9-15869FC5AD1B}"/>
              </a:ext>
            </a:extLst>
          </p:cNvPr>
          <p:cNvCxnSpPr>
            <a:cxnSpLocks/>
            <a:stCxn id="8" idx="1"/>
            <a:endCxn id="28" idx="3"/>
          </p:cNvCxnSpPr>
          <p:nvPr/>
        </p:nvCxnSpPr>
        <p:spPr>
          <a:xfrm flipH="1">
            <a:off x="2181308" y="2173288"/>
            <a:ext cx="2023638" cy="13585"/>
          </a:xfrm>
          <a:prstGeom prst="straightConnector1">
            <a:avLst/>
          </a:prstGeom>
          <a:ln w="47625">
            <a:solidFill>
              <a:srgbClr val="CC3399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EB321E28-8362-FB33-705B-E8369F14C179}"/>
              </a:ext>
            </a:extLst>
          </p:cNvPr>
          <p:cNvSpPr txBox="1"/>
          <p:nvPr/>
        </p:nvSpPr>
        <p:spPr>
          <a:xfrm>
            <a:off x="3083285" y="4249815"/>
            <a:ext cx="1963643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/>
            </a:lvl1pPr>
          </a:lstStyle>
          <a:p>
            <a:r>
              <a:rPr lang="pt-BR" noProof="0" dirty="0" err="1"/>
              <a:t>Stoped</a:t>
            </a:r>
            <a:endParaRPr lang="pt-BR" noProof="0" dirty="0"/>
          </a:p>
        </p:txBody>
      </p: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72A7C8FF-0F10-9317-6973-0C0BD0393DA3}"/>
              </a:ext>
            </a:extLst>
          </p:cNvPr>
          <p:cNvCxnSpPr>
            <a:cxnSpLocks/>
            <a:stCxn id="4" idx="1"/>
            <a:endCxn id="49" idx="3"/>
          </p:cNvCxnSpPr>
          <p:nvPr/>
        </p:nvCxnSpPr>
        <p:spPr>
          <a:xfrm flipH="1" flipV="1">
            <a:off x="5046928" y="4572981"/>
            <a:ext cx="1498318" cy="6010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38DDC600-407B-DE7D-B38E-51DB0D0E5B6D}"/>
              </a:ext>
            </a:extLst>
          </p:cNvPr>
          <p:cNvCxnSpPr>
            <a:cxnSpLocks/>
            <a:stCxn id="49" idx="0"/>
            <a:endCxn id="8" idx="2"/>
          </p:cNvCxnSpPr>
          <p:nvPr/>
        </p:nvCxnSpPr>
        <p:spPr>
          <a:xfrm flipV="1">
            <a:off x="4065107" y="2496453"/>
            <a:ext cx="1564598" cy="1753362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38D418A1-C486-0813-C306-0CC09C205D50}"/>
              </a:ext>
            </a:extLst>
          </p:cNvPr>
          <p:cNvSpPr txBox="1"/>
          <p:nvPr/>
        </p:nvSpPr>
        <p:spPr>
          <a:xfrm>
            <a:off x="7124706" y="5499612"/>
            <a:ext cx="2961517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/>
            </a:lvl1pPr>
          </a:lstStyle>
          <a:p>
            <a:r>
              <a:rPr lang="pt-BR" noProof="0" dirty="0" err="1"/>
              <a:t>Terminated</a:t>
            </a:r>
            <a:endParaRPr lang="pt-BR" noProof="0" dirty="0"/>
          </a:p>
        </p:txBody>
      </p:sp>
      <p:cxnSp>
        <p:nvCxnSpPr>
          <p:cNvPr id="73" name="Conector de Seta Reta 72">
            <a:extLst>
              <a:ext uri="{FF2B5EF4-FFF2-40B4-BE49-F238E27FC236}">
                <a16:creationId xmlns:a16="http://schemas.microsoft.com/office/drawing/2014/main" id="{4762E7F9-A207-01F2-DC42-A5FA478928FA}"/>
              </a:ext>
            </a:extLst>
          </p:cNvPr>
          <p:cNvCxnSpPr>
            <a:cxnSpLocks/>
            <a:stCxn id="5" idx="2"/>
            <a:endCxn id="71" idx="0"/>
          </p:cNvCxnSpPr>
          <p:nvPr/>
        </p:nvCxnSpPr>
        <p:spPr>
          <a:xfrm flipH="1">
            <a:off x="8605465" y="4877719"/>
            <a:ext cx="1470855" cy="621893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de Seta Reta 85">
            <a:extLst>
              <a:ext uri="{FF2B5EF4-FFF2-40B4-BE49-F238E27FC236}">
                <a16:creationId xmlns:a16="http://schemas.microsoft.com/office/drawing/2014/main" id="{F2128440-7FF1-9E5D-C1D7-70CA768F4526}"/>
              </a:ext>
            </a:extLst>
          </p:cNvPr>
          <p:cNvCxnSpPr>
            <a:cxnSpLocks/>
            <a:stCxn id="49" idx="2"/>
            <a:endCxn id="71" idx="1"/>
          </p:cNvCxnSpPr>
          <p:nvPr/>
        </p:nvCxnSpPr>
        <p:spPr>
          <a:xfrm>
            <a:off x="4065107" y="4896146"/>
            <a:ext cx="3059599" cy="926632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tângulo 105">
            <a:extLst>
              <a:ext uri="{FF2B5EF4-FFF2-40B4-BE49-F238E27FC236}">
                <a16:creationId xmlns:a16="http://schemas.microsoft.com/office/drawing/2014/main" id="{59E77570-A6B6-0B09-3D5C-19AA37880470}"/>
              </a:ext>
            </a:extLst>
          </p:cNvPr>
          <p:cNvSpPr/>
          <p:nvPr/>
        </p:nvSpPr>
        <p:spPr>
          <a:xfrm>
            <a:off x="2840354" y="5943296"/>
            <a:ext cx="2153920" cy="7389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Cobrado por Disco</a:t>
            </a:r>
          </a:p>
          <a:p>
            <a:pPr algn="ctr"/>
            <a:r>
              <a:rPr lang="pt-BR" b="1" noProof="0" dirty="0">
                <a:solidFill>
                  <a:srgbClr val="3865B6"/>
                </a:solidFill>
              </a:rPr>
              <a:t>Troca </a:t>
            </a:r>
            <a:r>
              <a:rPr lang="pt-BR" b="1" noProof="0" dirty="0" err="1">
                <a:solidFill>
                  <a:srgbClr val="3865B6"/>
                </a:solidFill>
              </a:rPr>
              <a:t>Ip</a:t>
            </a:r>
            <a:r>
              <a:rPr lang="pt-BR" b="1" noProof="0" dirty="0">
                <a:solidFill>
                  <a:srgbClr val="3865B6"/>
                </a:solidFill>
              </a:rPr>
              <a:t> Publico</a:t>
            </a:r>
          </a:p>
        </p:txBody>
      </p:sp>
      <p:cxnSp>
        <p:nvCxnSpPr>
          <p:cNvPr id="107" name="Conector de Seta Reta 39">
            <a:extLst>
              <a:ext uri="{FF2B5EF4-FFF2-40B4-BE49-F238E27FC236}">
                <a16:creationId xmlns:a16="http://schemas.microsoft.com/office/drawing/2014/main" id="{6532F873-1874-678F-B2E2-4DB523512B35}"/>
              </a:ext>
            </a:extLst>
          </p:cNvPr>
          <p:cNvCxnSpPr>
            <a:cxnSpLocks/>
            <a:stCxn id="106" idx="3"/>
          </p:cNvCxnSpPr>
          <p:nvPr/>
        </p:nvCxnSpPr>
        <p:spPr>
          <a:xfrm flipV="1">
            <a:off x="4994274" y="4908870"/>
            <a:ext cx="1498318" cy="1403887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15655805-BDEC-4A58-4A6D-72E835B40694}"/>
              </a:ext>
            </a:extLst>
          </p:cNvPr>
          <p:cNvSpPr txBox="1"/>
          <p:nvPr/>
        </p:nvSpPr>
        <p:spPr>
          <a:xfrm>
            <a:off x="6546354" y="557459"/>
            <a:ext cx="2382864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/>
            </a:lvl1pPr>
          </a:lstStyle>
          <a:p>
            <a:r>
              <a:rPr lang="pt-BR" noProof="0" dirty="0" err="1"/>
              <a:t>Hibernating</a:t>
            </a:r>
            <a:endParaRPr lang="pt-BR" noProof="0" dirty="0"/>
          </a:p>
        </p:txBody>
      </p:sp>
      <p:cxnSp>
        <p:nvCxnSpPr>
          <p:cNvPr id="113" name="Conector de Seta Reta 112">
            <a:extLst>
              <a:ext uri="{FF2B5EF4-FFF2-40B4-BE49-F238E27FC236}">
                <a16:creationId xmlns:a16="http://schemas.microsoft.com/office/drawing/2014/main" id="{E87E0A8C-CF64-50CB-A039-A8FF2212E42C}"/>
              </a:ext>
            </a:extLst>
          </p:cNvPr>
          <p:cNvCxnSpPr>
            <a:cxnSpLocks/>
            <a:stCxn id="7" idx="0"/>
            <a:endCxn id="110" idx="2"/>
          </p:cNvCxnSpPr>
          <p:nvPr/>
        </p:nvCxnSpPr>
        <p:spPr>
          <a:xfrm flipH="1" flipV="1">
            <a:off x="7737786" y="1203790"/>
            <a:ext cx="829981" cy="646331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de Seta Reta 120">
            <a:extLst>
              <a:ext uri="{FF2B5EF4-FFF2-40B4-BE49-F238E27FC236}">
                <a16:creationId xmlns:a16="http://schemas.microsoft.com/office/drawing/2014/main" id="{96343863-184F-4FC9-516C-2ECD191E18C2}"/>
              </a:ext>
            </a:extLst>
          </p:cNvPr>
          <p:cNvCxnSpPr>
            <a:cxnSpLocks/>
            <a:stCxn id="110" idx="2"/>
            <a:endCxn id="8" idx="0"/>
          </p:cNvCxnSpPr>
          <p:nvPr/>
        </p:nvCxnSpPr>
        <p:spPr>
          <a:xfrm flipH="1">
            <a:off x="5629705" y="1203790"/>
            <a:ext cx="2108081" cy="646332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tângulo 126">
            <a:extLst>
              <a:ext uri="{FF2B5EF4-FFF2-40B4-BE49-F238E27FC236}">
                <a16:creationId xmlns:a16="http://schemas.microsoft.com/office/drawing/2014/main" id="{6A1C0AFD-16F7-B218-927E-C3F7EAD53F6E}"/>
              </a:ext>
            </a:extLst>
          </p:cNvPr>
          <p:cNvSpPr/>
          <p:nvPr/>
        </p:nvSpPr>
        <p:spPr>
          <a:xfrm>
            <a:off x="9759199" y="449567"/>
            <a:ext cx="2153920" cy="9088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Cobrado por Disco e Memória</a:t>
            </a:r>
          </a:p>
          <a:p>
            <a:pPr algn="ctr"/>
            <a:r>
              <a:rPr lang="pt-BR" b="1" noProof="0" dirty="0">
                <a:solidFill>
                  <a:srgbClr val="3865B6"/>
                </a:solidFill>
              </a:rPr>
              <a:t>Troca </a:t>
            </a:r>
            <a:r>
              <a:rPr lang="pt-BR" b="1" noProof="0" dirty="0" err="1">
                <a:solidFill>
                  <a:srgbClr val="3865B6"/>
                </a:solidFill>
              </a:rPr>
              <a:t>Ip</a:t>
            </a:r>
            <a:r>
              <a:rPr lang="pt-BR" b="1" noProof="0" dirty="0">
                <a:solidFill>
                  <a:srgbClr val="3865B6"/>
                </a:solidFill>
              </a:rPr>
              <a:t> Publico</a:t>
            </a:r>
          </a:p>
        </p:txBody>
      </p:sp>
      <p:cxnSp>
        <p:nvCxnSpPr>
          <p:cNvPr id="128" name="Conector de Seta Reta 39">
            <a:extLst>
              <a:ext uri="{FF2B5EF4-FFF2-40B4-BE49-F238E27FC236}">
                <a16:creationId xmlns:a16="http://schemas.microsoft.com/office/drawing/2014/main" id="{9F869C8F-6D30-9F89-90BD-D9018BE6173F}"/>
              </a:ext>
            </a:extLst>
          </p:cNvPr>
          <p:cNvCxnSpPr>
            <a:cxnSpLocks/>
            <a:stCxn id="127" idx="1"/>
            <a:endCxn id="110" idx="3"/>
          </p:cNvCxnSpPr>
          <p:nvPr/>
        </p:nvCxnSpPr>
        <p:spPr>
          <a:xfrm flipH="1" flipV="1">
            <a:off x="8929218" y="880625"/>
            <a:ext cx="829981" cy="23353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>
            <a:extLst>
              <a:ext uri="{FF2B5EF4-FFF2-40B4-BE49-F238E27FC236}">
                <a16:creationId xmlns:a16="http://schemas.microsoft.com/office/drawing/2014/main" id="{BFD0484D-4A80-2E76-2D38-E7E835D0AF08}"/>
              </a:ext>
            </a:extLst>
          </p:cNvPr>
          <p:cNvSpPr/>
          <p:nvPr/>
        </p:nvSpPr>
        <p:spPr>
          <a:xfrm>
            <a:off x="5298774" y="3012038"/>
            <a:ext cx="2153920" cy="9088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Iniciando porem já autorizada</a:t>
            </a:r>
          </a:p>
        </p:txBody>
      </p:sp>
      <p:cxnSp>
        <p:nvCxnSpPr>
          <p:cNvPr id="132" name="Conector de Seta Reta 39">
            <a:extLst>
              <a:ext uri="{FF2B5EF4-FFF2-40B4-BE49-F238E27FC236}">
                <a16:creationId xmlns:a16="http://schemas.microsoft.com/office/drawing/2014/main" id="{03D7B93F-7D25-773F-F99A-DFCC7F5E080B}"/>
              </a:ext>
            </a:extLst>
          </p:cNvPr>
          <p:cNvCxnSpPr>
            <a:cxnSpLocks/>
            <a:stCxn id="131" idx="0"/>
          </p:cNvCxnSpPr>
          <p:nvPr/>
        </p:nvCxnSpPr>
        <p:spPr>
          <a:xfrm flipH="1" flipV="1">
            <a:off x="6316579" y="2529353"/>
            <a:ext cx="59155" cy="482685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de Seta Reta 39">
            <a:extLst>
              <a:ext uri="{FF2B5EF4-FFF2-40B4-BE49-F238E27FC236}">
                <a16:creationId xmlns:a16="http://schemas.microsoft.com/office/drawing/2014/main" id="{58171B87-00ED-830F-2A66-99623CBDC79B}"/>
              </a:ext>
            </a:extLst>
          </p:cNvPr>
          <p:cNvCxnSpPr>
            <a:cxnSpLocks/>
            <a:stCxn id="32" idx="0"/>
            <a:endCxn id="28" idx="2"/>
          </p:cNvCxnSpPr>
          <p:nvPr/>
        </p:nvCxnSpPr>
        <p:spPr>
          <a:xfrm flipH="1" flipV="1">
            <a:off x="1258898" y="2510038"/>
            <a:ext cx="1787406" cy="633244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3596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940DA-3C83-FD21-8699-6BE28AFA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Placement</a:t>
            </a:r>
            <a:r>
              <a:rPr lang="pt-BR" noProof="0" dirty="0"/>
              <a:t> </a:t>
            </a:r>
            <a:r>
              <a:rPr lang="pt-BR" noProof="0" dirty="0" err="1"/>
              <a:t>Group</a:t>
            </a:r>
            <a:r>
              <a:rPr lang="pt-BR" noProof="0" dirty="0"/>
              <a:t> (Posicionamento) - EC2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AFA8C6-8957-E5CD-49E9-F0F4DE91D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Cluster – Os servidores ficam na mesma região e na mesma </a:t>
            </a:r>
            <a:r>
              <a:rPr lang="pt-BR" noProof="0" dirty="0" err="1"/>
              <a:t>aviability</a:t>
            </a:r>
            <a:r>
              <a:rPr lang="pt-BR" noProof="0" dirty="0"/>
              <a:t> zone. Os servidores são montados se possível no mesmo Hack (baixa latência).</a:t>
            </a:r>
          </a:p>
          <a:p>
            <a:r>
              <a:rPr lang="pt-BR" noProof="0" dirty="0" err="1"/>
              <a:t>Particion</a:t>
            </a:r>
            <a:r>
              <a:rPr lang="pt-BR" noProof="0" dirty="0"/>
              <a:t> – São montados na mesma região mas em </a:t>
            </a:r>
            <a:r>
              <a:rPr lang="pt-BR" noProof="0" dirty="0" err="1"/>
              <a:t>aviability</a:t>
            </a:r>
            <a:r>
              <a:rPr lang="pt-BR" noProof="0" dirty="0"/>
              <a:t> zones diferentes. Os servidores são montados em grupos, e os servidores do grupo podem estar no mesmo Hack (baixa latência), e outro grupo de servidores podem estar mais distantes, em </a:t>
            </a:r>
            <a:r>
              <a:rPr lang="pt-BR" noProof="0" dirty="0" err="1"/>
              <a:t>aviability</a:t>
            </a:r>
            <a:r>
              <a:rPr lang="pt-BR" noProof="0" dirty="0"/>
              <a:t> zones diferentes.</a:t>
            </a:r>
          </a:p>
          <a:p>
            <a:r>
              <a:rPr lang="pt-BR" noProof="0" dirty="0"/>
              <a:t>Spread – Os servidores são montados em </a:t>
            </a:r>
            <a:r>
              <a:rPr lang="pt-BR" noProof="0" dirty="0" err="1"/>
              <a:t>aviability</a:t>
            </a:r>
            <a:r>
              <a:rPr lang="pt-BR" noProof="0" dirty="0"/>
              <a:t> zones diferentes e </a:t>
            </a:r>
            <a:r>
              <a:rPr lang="pt-BR" noProof="0" dirty="0" err="1"/>
              <a:t>hacks</a:t>
            </a:r>
            <a:r>
              <a:rPr lang="pt-BR" noProof="0" dirty="0"/>
              <a:t> diferentes.</a:t>
            </a:r>
          </a:p>
        </p:txBody>
      </p:sp>
    </p:spTree>
    <p:extLst>
      <p:ext uri="{BB962C8B-B14F-4D97-AF65-F5344CB8AC3E}">
        <p14:creationId xmlns:p14="http://schemas.microsoft.com/office/powerpoint/2010/main" val="3519985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D8F22-4E0A-90C9-B2B9-213A2B0E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A1DEE-C2E8-336F-61A1-52269A52D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Placa de Rede EC2 – ENI ENA e EFA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F0516F-AD06-7281-1DED-7B9E53D05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Adaptadores de rede são usados para conexão dentro de uma </a:t>
            </a:r>
            <a:r>
              <a:rPr lang="pt-BR" noProof="0" dirty="0" err="1"/>
              <a:t>aviability</a:t>
            </a:r>
            <a:r>
              <a:rPr lang="pt-BR" noProof="0" dirty="0"/>
              <a:t> zone ou com a internet.</a:t>
            </a:r>
          </a:p>
          <a:p>
            <a:r>
              <a:rPr lang="pt-BR" noProof="0" dirty="0"/>
              <a:t>ENI </a:t>
            </a:r>
            <a:r>
              <a:rPr lang="pt-BR" noProof="0" dirty="0" err="1"/>
              <a:t>Elastic</a:t>
            </a:r>
            <a:r>
              <a:rPr lang="pt-BR" noProof="0" dirty="0"/>
              <a:t> Network Interface – É uma interface </a:t>
            </a:r>
            <a:r>
              <a:rPr lang="pt-BR" noProof="0" dirty="0" err="1"/>
              <a:t>basica</a:t>
            </a:r>
            <a:r>
              <a:rPr lang="pt-BR" noProof="0" dirty="0"/>
              <a:t>, sem customização para altas velocidades. Suportado por todas as EC2.</a:t>
            </a:r>
          </a:p>
          <a:p>
            <a:r>
              <a:rPr lang="pt-BR" noProof="0" dirty="0"/>
              <a:t>ENA </a:t>
            </a:r>
            <a:r>
              <a:rPr lang="pt-BR" noProof="0" dirty="0" err="1"/>
              <a:t>Elastic</a:t>
            </a:r>
            <a:r>
              <a:rPr lang="pt-BR" noProof="0" dirty="0"/>
              <a:t> Network </a:t>
            </a:r>
            <a:r>
              <a:rPr lang="pt-BR" noProof="0" dirty="0" err="1"/>
              <a:t>Adapter</a:t>
            </a:r>
            <a:r>
              <a:rPr lang="pt-BR" noProof="0" dirty="0"/>
              <a:t> – É uma interface médio avançada, uma velocidade intermediaria. Suportado por algumas EC2.</a:t>
            </a:r>
          </a:p>
          <a:p>
            <a:r>
              <a:rPr lang="pt-BR" noProof="0" dirty="0"/>
              <a:t>EFA </a:t>
            </a:r>
            <a:r>
              <a:rPr lang="pt-BR" noProof="0" dirty="0" err="1"/>
              <a:t>Elastic</a:t>
            </a:r>
            <a:r>
              <a:rPr lang="pt-BR" noProof="0" dirty="0"/>
              <a:t> </a:t>
            </a:r>
            <a:r>
              <a:rPr lang="pt-BR" noProof="0" dirty="0" err="1"/>
              <a:t>Fabric</a:t>
            </a:r>
            <a:r>
              <a:rPr lang="pt-BR" noProof="0" dirty="0"/>
              <a:t> </a:t>
            </a:r>
            <a:r>
              <a:rPr lang="pt-BR" noProof="0" dirty="0" err="1"/>
              <a:t>Adapter</a:t>
            </a:r>
            <a:r>
              <a:rPr lang="pt-BR" noProof="0" dirty="0"/>
              <a:t> – É </a:t>
            </a:r>
            <a:r>
              <a:rPr lang="pt-BR" noProof="0" dirty="0" err="1"/>
              <a:t>ainterface</a:t>
            </a:r>
            <a:r>
              <a:rPr lang="pt-BR" noProof="0" dirty="0"/>
              <a:t> de altas velocidades. Suportado por algumas EC2.</a:t>
            </a:r>
          </a:p>
        </p:txBody>
      </p:sp>
    </p:spTree>
    <p:extLst>
      <p:ext uri="{BB962C8B-B14F-4D97-AF65-F5344CB8AC3E}">
        <p14:creationId xmlns:p14="http://schemas.microsoft.com/office/powerpoint/2010/main" val="14037155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92159-017F-E29D-42F2-50978380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301D7-51FF-6192-8430-C9EB2AD62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331" y="365125"/>
            <a:ext cx="11539110" cy="1325563"/>
          </a:xfrm>
        </p:spPr>
        <p:txBody>
          <a:bodyPr/>
          <a:lstStyle/>
          <a:p>
            <a:r>
              <a:rPr lang="pt-BR" noProof="0" dirty="0"/>
              <a:t>EC2 – Publico, Privado, Internet </a:t>
            </a:r>
            <a:r>
              <a:rPr lang="pt-BR" noProof="0" dirty="0" err="1"/>
              <a:t>Gatway</a:t>
            </a:r>
            <a:r>
              <a:rPr lang="pt-BR" noProof="0" dirty="0"/>
              <a:t> e </a:t>
            </a:r>
            <a:r>
              <a:rPr lang="pt-BR" noProof="0" dirty="0" err="1"/>
              <a:t>Elastic</a:t>
            </a:r>
            <a:r>
              <a:rPr lang="pt-BR" noProof="0" dirty="0"/>
              <a:t> IP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E9A01FC-7EDA-87C4-9831-A23A02AAA9AC}"/>
              </a:ext>
            </a:extLst>
          </p:cNvPr>
          <p:cNvSpPr/>
          <p:nvPr/>
        </p:nvSpPr>
        <p:spPr>
          <a:xfrm>
            <a:off x="7662847" y="2216367"/>
            <a:ext cx="3535239" cy="324648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Cloud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pic>
        <p:nvPicPr>
          <p:cNvPr id="5" name="Gráfico 5" descr="Internet">
            <a:extLst>
              <a:ext uri="{FF2B5EF4-FFF2-40B4-BE49-F238E27FC236}">
                <a16:creationId xmlns:a16="http://schemas.microsoft.com/office/drawing/2014/main" id="{016F3810-E0A9-97D3-8A8E-527B9AFAF2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312" y="3199750"/>
            <a:ext cx="914400" cy="914400"/>
          </a:xfrm>
          <a:prstGeom prst="rect">
            <a:avLst/>
          </a:prstGeom>
        </p:spPr>
      </p:pic>
      <p:pic>
        <p:nvPicPr>
          <p:cNvPr id="7" name="Gráfico 14" descr="Programa">
            <a:extLst>
              <a:ext uri="{FF2B5EF4-FFF2-40B4-BE49-F238E27FC236}">
                <a16:creationId xmlns:a16="http://schemas.microsoft.com/office/drawing/2014/main" id="{91CDFBFE-C5E6-F56D-46F8-3CED602272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873" y="4174917"/>
            <a:ext cx="965200" cy="965200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38E21C5-05DB-FB20-B9B2-7403B8A95A53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2583073" y="3969034"/>
            <a:ext cx="4559739" cy="688483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2955F5C4-79C7-E0A0-66ED-EE2FE9134D9C}"/>
              </a:ext>
            </a:extLst>
          </p:cNvPr>
          <p:cNvSpPr/>
          <p:nvPr/>
        </p:nvSpPr>
        <p:spPr>
          <a:xfrm>
            <a:off x="681163" y="1450153"/>
            <a:ext cx="3535239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EC2 – </a:t>
            </a:r>
            <a:r>
              <a:rPr lang="pt-BR" b="1" noProof="0" dirty="0" err="1">
                <a:solidFill>
                  <a:srgbClr val="3865B6"/>
                </a:solidFill>
              </a:rPr>
              <a:t>Ip</a:t>
            </a:r>
            <a:r>
              <a:rPr lang="pt-BR" b="1" noProof="0" dirty="0">
                <a:solidFill>
                  <a:srgbClr val="3865B6"/>
                </a:solidFill>
              </a:rPr>
              <a:t> Privado</a:t>
            </a:r>
          </a:p>
        </p:txBody>
      </p:sp>
      <p:cxnSp>
        <p:nvCxnSpPr>
          <p:cNvPr id="14" name="Conector de Seta Reta 39">
            <a:extLst>
              <a:ext uri="{FF2B5EF4-FFF2-40B4-BE49-F238E27FC236}">
                <a16:creationId xmlns:a16="http://schemas.microsoft.com/office/drawing/2014/main" id="{13F5FBB5-CA86-4CC2-9902-E32BA8B1DC01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>
            <a:off x="4216402" y="1690688"/>
            <a:ext cx="4640910" cy="1966262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Imagem 25">
            <a:extLst>
              <a:ext uri="{FF2B5EF4-FFF2-40B4-BE49-F238E27FC236}">
                <a16:creationId xmlns:a16="http://schemas.microsoft.com/office/drawing/2014/main" id="{CC03F163-1457-88B7-1C5C-279D4FB90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812" y="3649946"/>
            <a:ext cx="800100" cy="638175"/>
          </a:xfrm>
          <a:prstGeom prst="rect">
            <a:avLst/>
          </a:prstGeom>
        </p:spPr>
      </p:pic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9D3F2EB4-BF0C-39D8-62AD-877366B37657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7942912" y="3656950"/>
            <a:ext cx="914400" cy="312084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>
            <a:extLst>
              <a:ext uri="{FF2B5EF4-FFF2-40B4-BE49-F238E27FC236}">
                <a16:creationId xmlns:a16="http://schemas.microsoft.com/office/drawing/2014/main" id="{8C780160-C08E-3471-D70D-199C68F9D8F3}"/>
              </a:ext>
            </a:extLst>
          </p:cNvPr>
          <p:cNvSpPr/>
          <p:nvPr/>
        </p:nvSpPr>
        <p:spPr>
          <a:xfrm>
            <a:off x="815453" y="5222317"/>
            <a:ext cx="3535239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Internet </a:t>
            </a:r>
            <a:r>
              <a:rPr lang="pt-BR" b="1" noProof="0" dirty="0" err="1">
                <a:solidFill>
                  <a:srgbClr val="3865B6"/>
                </a:solidFill>
              </a:rPr>
              <a:t>Gatway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33" name="Conector de Seta Reta 39">
            <a:extLst>
              <a:ext uri="{FF2B5EF4-FFF2-40B4-BE49-F238E27FC236}">
                <a16:creationId xmlns:a16="http://schemas.microsoft.com/office/drawing/2014/main" id="{A3EA8BBF-8BCA-78EC-4758-21309D0FE08D}"/>
              </a:ext>
            </a:extLst>
          </p:cNvPr>
          <p:cNvCxnSpPr>
            <a:cxnSpLocks/>
            <a:stCxn id="32" idx="3"/>
            <a:endCxn id="26" idx="2"/>
          </p:cNvCxnSpPr>
          <p:nvPr/>
        </p:nvCxnSpPr>
        <p:spPr>
          <a:xfrm flipV="1">
            <a:off x="4350692" y="4288121"/>
            <a:ext cx="3192170" cy="1174731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9">
            <a:extLst>
              <a:ext uri="{FF2B5EF4-FFF2-40B4-BE49-F238E27FC236}">
                <a16:creationId xmlns:a16="http://schemas.microsoft.com/office/drawing/2014/main" id="{373A1E40-C67A-B412-4CD6-E5B888611F5D}"/>
              </a:ext>
            </a:extLst>
          </p:cNvPr>
          <p:cNvCxnSpPr>
            <a:cxnSpLocks/>
            <a:stCxn id="43" idx="3"/>
            <a:endCxn id="26" idx="0"/>
          </p:cNvCxnSpPr>
          <p:nvPr/>
        </p:nvCxnSpPr>
        <p:spPr>
          <a:xfrm>
            <a:off x="4216402" y="2814678"/>
            <a:ext cx="3326460" cy="835268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9">
            <a:extLst>
              <a:ext uri="{FF2B5EF4-FFF2-40B4-BE49-F238E27FC236}">
                <a16:creationId xmlns:a16="http://schemas.microsoft.com/office/drawing/2014/main" id="{1A2F8A68-2163-8A8A-A0FA-371DFC80E033}"/>
              </a:ext>
            </a:extLst>
          </p:cNvPr>
          <p:cNvCxnSpPr>
            <a:cxnSpLocks/>
            <a:stCxn id="45" idx="0"/>
            <a:endCxn id="26" idx="2"/>
          </p:cNvCxnSpPr>
          <p:nvPr/>
        </p:nvCxnSpPr>
        <p:spPr>
          <a:xfrm flipV="1">
            <a:off x="6072207" y="4288121"/>
            <a:ext cx="1470655" cy="1700410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ângulo 42">
            <a:extLst>
              <a:ext uri="{FF2B5EF4-FFF2-40B4-BE49-F238E27FC236}">
                <a16:creationId xmlns:a16="http://schemas.microsoft.com/office/drawing/2014/main" id="{8FF91516-1BD2-DD1A-8ED0-91869D7E8A56}"/>
              </a:ext>
            </a:extLst>
          </p:cNvPr>
          <p:cNvSpPr/>
          <p:nvPr/>
        </p:nvSpPr>
        <p:spPr>
          <a:xfrm>
            <a:off x="681163" y="2379044"/>
            <a:ext cx="3535239" cy="87126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EC2 – </a:t>
            </a:r>
            <a:r>
              <a:rPr lang="pt-BR" b="1" noProof="0" dirty="0" err="1">
                <a:solidFill>
                  <a:srgbClr val="3865B6"/>
                </a:solidFill>
              </a:rPr>
              <a:t>Ip</a:t>
            </a:r>
            <a:r>
              <a:rPr lang="pt-BR" b="1" noProof="0" dirty="0">
                <a:solidFill>
                  <a:srgbClr val="3865B6"/>
                </a:solidFill>
              </a:rPr>
              <a:t> Publico e </a:t>
            </a:r>
            <a:r>
              <a:rPr lang="pt-BR" b="1" noProof="0" dirty="0" err="1">
                <a:solidFill>
                  <a:srgbClr val="3865B6"/>
                </a:solidFill>
              </a:rPr>
              <a:t>Dinamico</a:t>
            </a:r>
            <a:r>
              <a:rPr lang="pt-BR" b="1" noProof="0" dirty="0">
                <a:solidFill>
                  <a:srgbClr val="3865B6"/>
                </a:solidFill>
              </a:rPr>
              <a:t> ou</a:t>
            </a:r>
          </a:p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Elastic</a:t>
            </a:r>
            <a:r>
              <a:rPr lang="pt-BR" b="1" noProof="0" dirty="0">
                <a:solidFill>
                  <a:srgbClr val="3865B6"/>
                </a:solidFill>
              </a:rPr>
              <a:t> IP é </a:t>
            </a:r>
            <a:r>
              <a:rPr lang="pt-BR" b="1" noProof="0" dirty="0" err="1">
                <a:solidFill>
                  <a:srgbClr val="3865B6"/>
                </a:solidFill>
              </a:rPr>
              <a:t>Ip</a:t>
            </a:r>
            <a:r>
              <a:rPr lang="pt-BR" b="1" noProof="0" dirty="0">
                <a:solidFill>
                  <a:srgbClr val="3865B6"/>
                </a:solidFill>
              </a:rPr>
              <a:t> </a:t>
            </a:r>
            <a:r>
              <a:rPr lang="pt-BR" b="1" noProof="0" dirty="0" err="1">
                <a:solidFill>
                  <a:srgbClr val="3865B6"/>
                </a:solidFill>
              </a:rPr>
              <a:t>Estatico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5821E63B-0AAA-C029-DBA7-BA1625FA69F3}"/>
              </a:ext>
            </a:extLst>
          </p:cNvPr>
          <p:cNvSpPr/>
          <p:nvPr/>
        </p:nvSpPr>
        <p:spPr>
          <a:xfrm>
            <a:off x="4304587" y="5988531"/>
            <a:ext cx="3535239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NAT – Network </a:t>
            </a:r>
            <a:r>
              <a:rPr lang="pt-BR" b="1" noProof="0" dirty="0" err="1">
                <a:solidFill>
                  <a:srgbClr val="3865B6"/>
                </a:solidFill>
              </a:rPr>
              <a:t>Adapter</a:t>
            </a:r>
            <a:r>
              <a:rPr lang="pt-BR" b="1" noProof="0" dirty="0">
                <a:solidFill>
                  <a:srgbClr val="3865B6"/>
                </a:solidFill>
              </a:rPr>
              <a:t> </a:t>
            </a:r>
            <a:r>
              <a:rPr lang="pt-BR" b="1" noProof="0" dirty="0" err="1">
                <a:solidFill>
                  <a:srgbClr val="3865B6"/>
                </a:solidFill>
              </a:rPr>
              <a:t>Translate</a:t>
            </a:r>
            <a:endParaRPr lang="pt-BR" b="1" noProof="0" dirty="0">
              <a:solidFill>
                <a:srgbClr val="386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8842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AD4DC-75A8-261E-10C2-4FE071D1A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Aws</a:t>
            </a:r>
            <a:r>
              <a:rPr lang="pt-BR" dirty="0"/>
              <a:t> - Amazon Machine Images (AMI)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A1411B-F41D-5137-3BF0-ACF08FBD2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São Imagens de ec2 criadas.</a:t>
            </a:r>
          </a:p>
          <a:p>
            <a:r>
              <a:rPr lang="pt-BR" dirty="0"/>
              <a:t>Podem ser imagens publicas ou privadas.</a:t>
            </a:r>
          </a:p>
          <a:p>
            <a:r>
              <a:rPr lang="pt-BR" dirty="0"/>
              <a:t>Podemos usar imagens fornecidas pela </a:t>
            </a:r>
            <a:r>
              <a:rPr lang="pt-BR" dirty="0" err="1"/>
              <a:t>aws</a:t>
            </a:r>
            <a:r>
              <a:rPr lang="pt-BR" dirty="0"/>
              <a:t>.</a:t>
            </a:r>
          </a:p>
          <a:p>
            <a:r>
              <a:rPr lang="pt-BR" dirty="0"/>
              <a:t>Podemos usar imagens fornecidas por terceiros.</a:t>
            </a:r>
          </a:p>
        </p:txBody>
      </p:sp>
    </p:spTree>
    <p:extLst>
      <p:ext uri="{BB962C8B-B14F-4D97-AF65-F5344CB8AC3E}">
        <p14:creationId xmlns:p14="http://schemas.microsoft.com/office/powerpoint/2010/main" val="10244293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34BA-0BB9-D30B-9A62-03D8E817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B96EE-3EC2-FE24-A53B-1CD24CCDC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7" y="2187743"/>
            <a:ext cx="7789333" cy="248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6000" noProof="0" dirty="0"/>
              <a:t>REDES AWS</a:t>
            </a:r>
            <a:br>
              <a:rPr lang="pt-BR" sz="6000" noProof="0" dirty="0"/>
            </a:br>
            <a:r>
              <a:rPr lang="pt-BR" sz="3600" noProof="0" dirty="0"/>
              <a:t>VPC – </a:t>
            </a:r>
            <a:r>
              <a:rPr lang="pt-BR" sz="3600" noProof="0" dirty="0" err="1"/>
              <a:t>Elastic</a:t>
            </a:r>
            <a:r>
              <a:rPr lang="pt-BR" sz="3600" noProof="0" dirty="0"/>
              <a:t> Compute Cloud</a:t>
            </a:r>
            <a:endParaRPr lang="pt-BR" sz="3600" kern="1200" noProof="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0C3A7DB-9FBA-8AA5-EE81-EE5D0C07AF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1" y="2743201"/>
            <a:ext cx="1371600" cy="13716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EA87360-B7A8-074D-011D-68C1A5280F85}"/>
              </a:ext>
            </a:extLst>
          </p:cNvPr>
          <p:cNvSpPr/>
          <p:nvPr/>
        </p:nvSpPr>
        <p:spPr>
          <a:xfrm>
            <a:off x="8434931" y="6226936"/>
            <a:ext cx="3531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noProof="0" dirty="0">
                <a:hlinkClick r:id="rId4"/>
              </a:rPr>
              <a:t>https://docs.aws.amazon.com/</a:t>
            </a:r>
            <a:endParaRPr lang="pt-BR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A8BF165-348C-6B77-2101-084089C59D3A}"/>
              </a:ext>
            </a:extLst>
          </p:cNvPr>
          <p:cNvSpPr/>
          <p:nvPr/>
        </p:nvSpPr>
        <p:spPr>
          <a:xfrm>
            <a:off x="8434931" y="5857604"/>
            <a:ext cx="289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noProof="0" dirty="0">
                <a:hlinkClick r:id="rId5"/>
              </a:rPr>
              <a:t>https://aws.amazon.com/pt/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8230465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DC37B-34C9-A162-DD51-434449F96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IP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A6E769-EF9E-AA9E-2272-74A041215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351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A68A7-93F3-44C9-A247-E62520A08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Redes AWS Conceitos.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FCF24BC-13D5-09D3-E91B-051CA579BB09}"/>
              </a:ext>
            </a:extLst>
          </p:cNvPr>
          <p:cNvSpPr/>
          <p:nvPr/>
        </p:nvSpPr>
        <p:spPr>
          <a:xfrm>
            <a:off x="238539" y="1351723"/>
            <a:ext cx="11794435" cy="53141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Cloud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EB5960B-1904-AECE-0992-B3287B79E56A}"/>
              </a:ext>
            </a:extLst>
          </p:cNvPr>
          <p:cNvSpPr/>
          <p:nvPr/>
        </p:nvSpPr>
        <p:spPr>
          <a:xfrm>
            <a:off x="390940" y="2120347"/>
            <a:ext cx="11456504" cy="437252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</a:t>
            </a:r>
            <a:r>
              <a:rPr lang="pt-BR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Região</a:t>
            </a:r>
            <a:endParaRPr lang="pt-BR" noProof="0" dirty="0">
              <a:ln>
                <a:solidFill>
                  <a:schemeClr val="accent1">
                    <a:shade val="50000"/>
                  </a:schemeClr>
                </a:solidFill>
              </a:ln>
              <a:solidFill>
                <a:schemeClr val="tx1"/>
              </a:solidFill>
            </a:endParaRP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617E8E8-4AE7-AFB7-CE51-1C6A0B85BF3F}"/>
              </a:ext>
            </a:extLst>
          </p:cNvPr>
          <p:cNvSpPr/>
          <p:nvPr/>
        </p:nvSpPr>
        <p:spPr>
          <a:xfrm>
            <a:off x="543340" y="2862470"/>
            <a:ext cx="11145077" cy="352507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VPC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3578D8C-04D5-72B1-0C69-14A8D94F7FC2}"/>
              </a:ext>
            </a:extLst>
          </p:cNvPr>
          <p:cNvSpPr/>
          <p:nvPr/>
        </p:nvSpPr>
        <p:spPr>
          <a:xfrm>
            <a:off x="695740" y="3564835"/>
            <a:ext cx="10846903" cy="118607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AZ 1</a:t>
            </a:r>
            <a:endParaRPr lang="pt-BR" noProof="0" dirty="0">
              <a:ln>
                <a:solidFill>
                  <a:schemeClr val="accent1">
                    <a:shade val="50000"/>
                  </a:schemeClr>
                </a:solidFill>
              </a:ln>
              <a:solidFill>
                <a:schemeClr val="tx1"/>
              </a:solidFill>
            </a:endParaRP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571F654-4407-80CD-24DA-D7F1EFE6C48E}"/>
              </a:ext>
            </a:extLst>
          </p:cNvPr>
          <p:cNvSpPr/>
          <p:nvPr/>
        </p:nvSpPr>
        <p:spPr>
          <a:xfrm>
            <a:off x="712304" y="4976192"/>
            <a:ext cx="10846903" cy="11860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AZ 2</a:t>
            </a:r>
            <a:endParaRPr lang="pt-BR" noProof="0" dirty="0">
              <a:ln>
                <a:solidFill>
                  <a:schemeClr val="accent1">
                    <a:shade val="50000"/>
                  </a:schemeClr>
                </a:solidFill>
              </a:ln>
              <a:solidFill>
                <a:schemeClr val="tx1"/>
              </a:solidFill>
            </a:endParaRP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F2CEC22-30E3-CF79-853F-527A4515BDDC}"/>
              </a:ext>
            </a:extLst>
          </p:cNvPr>
          <p:cNvSpPr/>
          <p:nvPr/>
        </p:nvSpPr>
        <p:spPr>
          <a:xfrm>
            <a:off x="838200" y="4008783"/>
            <a:ext cx="5125278" cy="6427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SUBNET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D30E446-57BD-0BA3-1382-B6D8A5273973}"/>
              </a:ext>
            </a:extLst>
          </p:cNvPr>
          <p:cNvSpPr/>
          <p:nvPr/>
        </p:nvSpPr>
        <p:spPr>
          <a:xfrm>
            <a:off x="6190421" y="4015410"/>
            <a:ext cx="5125278" cy="6427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SUBNET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7C9E1BF-3609-B250-6D81-67028EF0E266}"/>
              </a:ext>
            </a:extLst>
          </p:cNvPr>
          <p:cNvSpPr/>
          <p:nvPr/>
        </p:nvSpPr>
        <p:spPr>
          <a:xfrm>
            <a:off x="838200" y="5420137"/>
            <a:ext cx="5125278" cy="6427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SUBNET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C84628D-4613-81D1-7191-CDA8BEBFB329}"/>
              </a:ext>
            </a:extLst>
          </p:cNvPr>
          <p:cNvSpPr/>
          <p:nvPr/>
        </p:nvSpPr>
        <p:spPr>
          <a:xfrm>
            <a:off x="6354418" y="5416139"/>
            <a:ext cx="5125278" cy="6427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SUBNET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E137ABC-4AB8-20D9-080A-10C1F0B7B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445" y="2879381"/>
            <a:ext cx="637748" cy="64273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8734631E-1101-3326-D195-031E4781F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711" y="2487286"/>
            <a:ext cx="784190" cy="784190"/>
          </a:xfrm>
          <a:prstGeom prst="rect">
            <a:avLst/>
          </a:prstGeom>
        </p:spPr>
      </p:pic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D23BE784-762A-0C77-CCC5-4B79B9DFCA5C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2231919" y="3564835"/>
            <a:ext cx="1168920" cy="443948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563A5B6F-EB6F-48B0-CE90-6FF9925DD540}"/>
              </a:ext>
            </a:extLst>
          </p:cNvPr>
          <p:cNvCxnSpPr>
            <a:cxnSpLocks/>
            <a:stCxn id="11" idx="0"/>
            <a:endCxn id="47" idx="2"/>
          </p:cNvCxnSpPr>
          <p:nvPr/>
        </p:nvCxnSpPr>
        <p:spPr>
          <a:xfrm flipH="1" flipV="1">
            <a:off x="2231919" y="3538423"/>
            <a:ext cx="1168920" cy="1881714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F994EDD1-46BD-652C-FED9-7379E1903B6E}"/>
              </a:ext>
            </a:extLst>
          </p:cNvPr>
          <p:cNvCxnSpPr>
            <a:cxnSpLocks/>
            <a:stCxn id="12" idx="0"/>
            <a:endCxn id="14" idx="2"/>
          </p:cNvCxnSpPr>
          <p:nvPr/>
        </p:nvCxnSpPr>
        <p:spPr>
          <a:xfrm flipV="1">
            <a:off x="8917057" y="3522111"/>
            <a:ext cx="1725262" cy="1894028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B0DC4EF1-D9AC-3262-8609-86806B1A5712}"/>
              </a:ext>
            </a:extLst>
          </p:cNvPr>
          <p:cNvCxnSpPr>
            <a:cxnSpLocks/>
            <a:stCxn id="10" idx="0"/>
            <a:endCxn id="14" idx="2"/>
          </p:cNvCxnSpPr>
          <p:nvPr/>
        </p:nvCxnSpPr>
        <p:spPr>
          <a:xfrm flipV="1">
            <a:off x="8753060" y="3522111"/>
            <a:ext cx="1889259" cy="493299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A741BE04-33CF-06BF-443E-D1BB2CB74681}"/>
              </a:ext>
            </a:extLst>
          </p:cNvPr>
          <p:cNvCxnSpPr>
            <a:cxnSpLocks/>
            <a:stCxn id="14" idx="0"/>
            <a:endCxn id="16" idx="3"/>
          </p:cNvCxnSpPr>
          <p:nvPr/>
        </p:nvCxnSpPr>
        <p:spPr>
          <a:xfrm flipH="1">
            <a:off x="8152901" y="2879381"/>
            <a:ext cx="2489418" cy="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>
            <a:extLst>
              <a:ext uri="{FF2B5EF4-FFF2-40B4-BE49-F238E27FC236}">
                <a16:creationId xmlns:a16="http://schemas.microsoft.com/office/drawing/2014/main" id="{783BBC9F-7841-9770-DADB-767F09A83CD1}"/>
              </a:ext>
            </a:extLst>
          </p:cNvPr>
          <p:cNvSpPr/>
          <p:nvPr/>
        </p:nvSpPr>
        <p:spPr>
          <a:xfrm>
            <a:off x="7632006" y="817829"/>
            <a:ext cx="2065683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Internet </a:t>
            </a:r>
            <a:r>
              <a:rPr lang="pt-BR" b="1" noProof="0" dirty="0" err="1">
                <a:solidFill>
                  <a:srgbClr val="3865B6"/>
                </a:solidFill>
              </a:rPr>
              <a:t>Gatway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33" name="Conector de Seta Reta 39">
            <a:extLst>
              <a:ext uri="{FF2B5EF4-FFF2-40B4-BE49-F238E27FC236}">
                <a16:creationId xmlns:a16="http://schemas.microsoft.com/office/drawing/2014/main" id="{CC5757D9-A088-0E5B-6955-F1785807F910}"/>
              </a:ext>
            </a:extLst>
          </p:cNvPr>
          <p:cNvCxnSpPr>
            <a:cxnSpLocks/>
            <a:stCxn id="32" idx="2"/>
            <a:endCxn id="16" idx="0"/>
          </p:cNvCxnSpPr>
          <p:nvPr/>
        </p:nvCxnSpPr>
        <p:spPr>
          <a:xfrm flipH="1">
            <a:off x="7760806" y="1298898"/>
            <a:ext cx="904042" cy="1188388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tângulo 40">
            <a:extLst>
              <a:ext uri="{FF2B5EF4-FFF2-40B4-BE49-F238E27FC236}">
                <a16:creationId xmlns:a16="http://schemas.microsoft.com/office/drawing/2014/main" id="{7D8FBCB8-88C2-BEC6-4114-F7D71FBA3EB5}"/>
              </a:ext>
            </a:extLst>
          </p:cNvPr>
          <p:cNvSpPr/>
          <p:nvPr/>
        </p:nvSpPr>
        <p:spPr>
          <a:xfrm>
            <a:off x="9887778" y="744759"/>
            <a:ext cx="2065683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Roteador Publico</a:t>
            </a:r>
          </a:p>
        </p:txBody>
      </p:sp>
      <p:cxnSp>
        <p:nvCxnSpPr>
          <p:cNvPr id="42" name="Conector de Seta Reta 39">
            <a:extLst>
              <a:ext uri="{FF2B5EF4-FFF2-40B4-BE49-F238E27FC236}">
                <a16:creationId xmlns:a16="http://schemas.microsoft.com/office/drawing/2014/main" id="{BB08A290-E0B6-46CC-0A0D-3D3464946558}"/>
              </a:ext>
            </a:extLst>
          </p:cNvPr>
          <p:cNvCxnSpPr>
            <a:cxnSpLocks/>
            <a:stCxn id="41" idx="2"/>
            <a:endCxn id="14" idx="0"/>
          </p:cNvCxnSpPr>
          <p:nvPr/>
        </p:nvCxnSpPr>
        <p:spPr>
          <a:xfrm flipH="1">
            <a:off x="10642319" y="1225828"/>
            <a:ext cx="278301" cy="1653553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m 46">
            <a:extLst>
              <a:ext uri="{FF2B5EF4-FFF2-40B4-BE49-F238E27FC236}">
                <a16:creationId xmlns:a16="http://schemas.microsoft.com/office/drawing/2014/main" id="{963AD13F-7979-D989-A579-4BFAE3BEC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045" y="2895693"/>
            <a:ext cx="637748" cy="642730"/>
          </a:xfrm>
          <a:prstGeom prst="rect">
            <a:avLst/>
          </a:prstGeom>
        </p:spPr>
      </p:pic>
      <p:sp>
        <p:nvSpPr>
          <p:cNvPr id="52" name="Retângulo 51">
            <a:extLst>
              <a:ext uri="{FF2B5EF4-FFF2-40B4-BE49-F238E27FC236}">
                <a16:creationId xmlns:a16="http://schemas.microsoft.com/office/drawing/2014/main" id="{DE3378B5-518F-0323-A9AB-D855B2780068}"/>
              </a:ext>
            </a:extLst>
          </p:cNvPr>
          <p:cNvSpPr/>
          <p:nvPr/>
        </p:nvSpPr>
        <p:spPr>
          <a:xfrm>
            <a:off x="1517951" y="1539883"/>
            <a:ext cx="2065683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Roteador Privado</a:t>
            </a:r>
          </a:p>
        </p:txBody>
      </p:sp>
      <p:cxnSp>
        <p:nvCxnSpPr>
          <p:cNvPr id="53" name="Conector de Seta Reta 39">
            <a:extLst>
              <a:ext uri="{FF2B5EF4-FFF2-40B4-BE49-F238E27FC236}">
                <a16:creationId xmlns:a16="http://schemas.microsoft.com/office/drawing/2014/main" id="{5B7BD6EA-C54B-4428-D2A6-05A0EFD49FA9}"/>
              </a:ext>
            </a:extLst>
          </p:cNvPr>
          <p:cNvCxnSpPr>
            <a:cxnSpLocks/>
            <a:stCxn id="52" idx="2"/>
            <a:endCxn id="47" idx="0"/>
          </p:cNvCxnSpPr>
          <p:nvPr/>
        </p:nvCxnSpPr>
        <p:spPr>
          <a:xfrm flipH="1">
            <a:off x="2231919" y="2020952"/>
            <a:ext cx="318874" cy="874741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6719C3D4-BA07-5A13-CA2A-B0A1A4372323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2550793" y="3217058"/>
            <a:ext cx="7728162" cy="0"/>
          </a:xfrm>
          <a:prstGeom prst="line">
            <a:avLst/>
          </a:prstGeom>
          <a:ln w="4762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722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2E268-D89B-0621-93B2-5879A748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AF780-C695-7F25-7D08-04912034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331" y="365125"/>
            <a:ext cx="11539110" cy="1325563"/>
          </a:xfrm>
        </p:spPr>
        <p:txBody>
          <a:bodyPr/>
          <a:lstStyle/>
          <a:p>
            <a:r>
              <a:rPr lang="pt-BR" noProof="0" dirty="0"/>
              <a:t>EC2 – Publico, Privado, Internet </a:t>
            </a:r>
            <a:r>
              <a:rPr lang="pt-BR" noProof="0" dirty="0" err="1"/>
              <a:t>Gatway</a:t>
            </a:r>
            <a:r>
              <a:rPr lang="pt-BR" noProof="0" dirty="0"/>
              <a:t> e </a:t>
            </a:r>
            <a:r>
              <a:rPr lang="pt-BR" noProof="0" dirty="0" err="1"/>
              <a:t>Elastic</a:t>
            </a:r>
            <a:r>
              <a:rPr lang="pt-BR" noProof="0" dirty="0"/>
              <a:t> IP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BF8BEE9-0727-C5A4-A397-ACC836DEBD32}"/>
              </a:ext>
            </a:extLst>
          </p:cNvPr>
          <p:cNvSpPr/>
          <p:nvPr/>
        </p:nvSpPr>
        <p:spPr>
          <a:xfrm>
            <a:off x="5685183" y="1457739"/>
            <a:ext cx="6344258" cy="5035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Cloud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pic>
        <p:nvPicPr>
          <p:cNvPr id="5" name="Gráfico 5" descr="Internet">
            <a:extLst>
              <a:ext uri="{FF2B5EF4-FFF2-40B4-BE49-F238E27FC236}">
                <a16:creationId xmlns:a16="http://schemas.microsoft.com/office/drawing/2014/main" id="{C52362CF-B4EE-B906-AE14-637518CFAB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241" y="2443826"/>
            <a:ext cx="914400" cy="914400"/>
          </a:xfrm>
          <a:prstGeom prst="rect">
            <a:avLst/>
          </a:prstGeom>
        </p:spPr>
      </p:pic>
      <p:pic>
        <p:nvPicPr>
          <p:cNvPr id="7" name="Gráfico 14" descr="Programa">
            <a:extLst>
              <a:ext uri="{FF2B5EF4-FFF2-40B4-BE49-F238E27FC236}">
                <a16:creationId xmlns:a16="http://schemas.microsoft.com/office/drawing/2014/main" id="{AC058146-08CA-BBFA-F79C-1D4BC91485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873" y="4174917"/>
            <a:ext cx="965200" cy="965200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79F2552C-24AB-ED7A-23B6-0365BEAFDA2F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2583073" y="3239867"/>
            <a:ext cx="2712827" cy="141765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22A0C2E7-4345-108F-AC93-F3BD73BE078F}"/>
              </a:ext>
            </a:extLst>
          </p:cNvPr>
          <p:cNvSpPr/>
          <p:nvPr/>
        </p:nvSpPr>
        <p:spPr>
          <a:xfrm>
            <a:off x="681163" y="1450153"/>
            <a:ext cx="3535239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EC2 – </a:t>
            </a:r>
            <a:r>
              <a:rPr lang="pt-BR" b="1" noProof="0" dirty="0" err="1">
                <a:solidFill>
                  <a:srgbClr val="3865B6"/>
                </a:solidFill>
              </a:rPr>
              <a:t>Ip</a:t>
            </a:r>
            <a:r>
              <a:rPr lang="pt-BR" b="1" noProof="0" dirty="0">
                <a:solidFill>
                  <a:srgbClr val="3865B6"/>
                </a:solidFill>
              </a:rPr>
              <a:t> Privado</a:t>
            </a:r>
          </a:p>
        </p:txBody>
      </p:sp>
      <p:cxnSp>
        <p:nvCxnSpPr>
          <p:cNvPr id="14" name="Conector de Seta Reta 39">
            <a:extLst>
              <a:ext uri="{FF2B5EF4-FFF2-40B4-BE49-F238E27FC236}">
                <a16:creationId xmlns:a16="http://schemas.microsoft.com/office/drawing/2014/main" id="{43FD0919-0127-5BA3-3410-CA3612505D00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>
            <a:off x="4216402" y="1690688"/>
            <a:ext cx="2620839" cy="1210338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Imagem 25">
            <a:extLst>
              <a:ext uri="{FF2B5EF4-FFF2-40B4-BE49-F238E27FC236}">
                <a16:creationId xmlns:a16="http://schemas.microsoft.com/office/drawing/2014/main" id="{2E4AE20F-46A9-487B-72AD-73E2C90C8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00" y="2920779"/>
            <a:ext cx="800100" cy="638175"/>
          </a:xfrm>
          <a:prstGeom prst="rect">
            <a:avLst/>
          </a:prstGeom>
        </p:spPr>
      </p:pic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9FF55D85-69F9-C834-3091-00BBD4DF0231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6096000" y="2901026"/>
            <a:ext cx="741241" cy="338841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>
            <a:extLst>
              <a:ext uri="{FF2B5EF4-FFF2-40B4-BE49-F238E27FC236}">
                <a16:creationId xmlns:a16="http://schemas.microsoft.com/office/drawing/2014/main" id="{F3E7FAF2-0A22-931B-48E8-AE2A1F81B5D1}"/>
              </a:ext>
            </a:extLst>
          </p:cNvPr>
          <p:cNvSpPr/>
          <p:nvPr/>
        </p:nvSpPr>
        <p:spPr>
          <a:xfrm>
            <a:off x="815453" y="5222317"/>
            <a:ext cx="3535239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Internet </a:t>
            </a:r>
            <a:r>
              <a:rPr lang="pt-BR" b="1" noProof="0" dirty="0" err="1">
                <a:solidFill>
                  <a:srgbClr val="3865B6"/>
                </a:solidFill>
              </a:rPr>
              <a:t>Gatway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33" name="Conector de Seta Reta 39">
            <a:extLst>
              <a:ext uri="{FF2B5EF4-FFF2-40B4-BE49-F238E27FC236}">
                <a16:creationId xmlns:a16="http://schemas.microsoft.com/office/drawing/2014/main" id="{253CE57B-F278-31AA-71CD-0B203A143E96}"/>
              </a:ext>
            </a:extLst>
          </p:cNvPr>
          <p:cNvCxnSpPr>
            <a:cxnSpLocks/>
            <a:stCxn id="32" idx="3"/>
            <a:endCxn id="26" idx="2"/>
          </p:cNvCxnSpPr>
          <p:nvPr/>
        </p:nvCxnSpPr>
        <p:spPr>
          <a:xfrm flipV="1">
            <a:off x="4350692" y="3558954"/>
            <a:ext cx="1345258" cy="1903898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9">
            <a:extLst>
              <a:ext uri="{FF2B5EF4-FFF2-40B4-BE49-F238E27FC236}">
                <a16:creationId xmlns:a16="http://schemas.microsoft.com/office/drawing/2014/main" id="{2FC47E04-75E8-9748-2163-93F11BC07EF7}"/>
              </a:ext>
            </a:extLst>
          </p:cNvPr>
          <p:cNvCxnSpPr>
            <a:cxnSpLocks/>
            <a:stCxn id="43" idx="3"/>
            <a:endCxn id="5" idx="1"/>
          </p:cNvCxnSpPr>
          <p:nvPr/>
        </p:nvCxnSpPr>
        <p:spPr>
          <a:xfrm>
            <a:off x="4216402" y="2814678"/>
            <a:ext cx="2620839" cy="86348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9">
            <a:extLst>
              <a:ext uri="{FF2B5EF4-FFF2-40B4-BE49-F238E27FC236}">
                <a16:creationId xmlns:a16="http://schemas.microsoft.com/office/drawing/2014/main" id="{137811E1-3FC4-BF10-472D-0F9CEE1CCC13}"/>
              </a:ext>
            </a:extLst>
          </p:cNvPr>
          <p:cNvCxnSpPr>
            <a:cxnSpLocks/>
            <a:stCxn id="45" idx="0"/>
            <a:endCxn id="26" idx="2"/>
          </p:cNvCxnSpPr>
          <p:nvPr/>
        </p:nvCxnSpPr>
        <p:spPr>
          <a:xfrm flipH="1" flipV="1">
            <a:off x="5695950" y="3558954"/>
            <a:ext cx="376257" cy="2429577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ângulo 42">
            <a:extLst>
              <a:ext uri="{FF2B5EF4-FFF2-40B4-BE49-F238E27FC236}">
                <a16:creationId xmlns:a16="http://schemas.microsoft.com/office/drawing/2014/main" id="{E1874CEB-E788-5646-120B-A17A7597F128}"/>
              </a:ext>
            </a:extLst>
          </p:cNvPr>
          <p:cNvSpPr/>
          <p:nvPr/>
        </p:nvSpPr>
        <p:spPr>
          <a:xfrm>
            <a:off x="681163" y="2379044"/>
            <a:ext cx="3535239" cy="87126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EC2 – </a:t>
            </a:r>
            <a:r>
              <a:rPr lang="pt-BR" b="1" noProof="0" dirty="0" err="1">
                <a:solidFill>
                  <a:srgbClr val="3865B6"/>
                </a:solidFill>
              </a:rPr>
              <a:t>Ip</a:t>
            </a:r>
            <a:r>
              <a:rPr lang="pt-BR" b="1" noProof="0" dirty="0">
                <a:solidFill>
                  <a:srgbClr val="3865B6"/>
                </a:solidFill>
              </a:rPr>
              <a:t> Publico é </a:t>
            </a:r>
            <a:r>
              <a:rPr lang="pt-BR" b="1" noProof="0" dirty="0" err="1">
                <a:solidFill>
                  <a:srgbClr val="3865B6"/>
                </a:solidFill>
              </a:rPr>
              <a:t>Dinamico</a:t>
            </a:r>
            <a:r>
              <a:rPr lang="pt-BR" b="1" noProof="0" dirty="0">
                <a:solidFill>
                  <a:srgbClr val="3865B6"/>
                </a:solidFill>
              </a:rPr>
              <a:t> ou</a:t>
            </a:r>
          </a:p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Elastic</a:t>
            </a:r>
            <a:r>
              <a:rPr lang="pt-BR" b="1" noProof="0" dirty="0">
                <a:solidFill>
                  <a:srgbClr val="3865B6"/>
                </a:solidFill>
              </a:rPr>
              <a:t> IP é </a:t>
            </a:r>
            <a:r>
              <a:rPr lang="pt-BR" b="1" noProof="0" dirty="0" err="1">
                <a:solidFill>
                  <a:srgbClr val="3865B6"/>
                </a:solidFill>
              </a:rPr>
              <a:t>Ip</a:t>
            </a:r>
            <a:r>
              <a:rPr lang="pt-BR" b="1" noProof="0" dirty="0">
                <a:solidFill>
                  <a:srgbClr val="3865B6"/>
                </a:solidFill>
              </a:rPr>
              <a:t> </a:t>
            </a:r>
            <a:r>
              <a:rPr lang="pt-BR" b="1" noProof="0" dirty="0" err="1">
                <a:solidFill>
                  <a:srgbClr val="3865B6"/>
                </a:solidFill>
              </a:rPr>
              <a:t>Estatico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F8A86DA9-8747-F5C9-9B05-9F678BB21CBF}"/>
              </a:ext>
            </a:extLst>
          </p:cNvPr>
          <p:cNvSpPr/>
          <p:nvPr/>
        </p:nvSpPr>
        <p:spPr>
          <a:xfrm>
            <a:off x="4304587" y="5988531"/>
            <a:ext cx="3535239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NAT – Network </a:t>
            </a:r>
            <a:r>
              <a:rPr lang="pt-BR" b="1" noProof="0" dirty="0" err="1">
                <a:solidFill>
                  <a:srgbClr val="3865B6"/>
                </a:solidFill>
              </a:rPr>
              <a:t>Adapter</a:t>
            </a:r>
            <a:r>
              <a:rPr lang="pt-BR" b="1" noProof="0" dirty="0">
                <a:solidFill>
                  <a:srgbClr val="3865B6"/>
                </a:solidFill>
              </a:rPr>
              <a:t> </a:t>
            </a:r>
            <a:r>
              <a:rPr lang="pt-BR" b="1" noProof="0" dirty="0" err="1">
                <a:solidFill>
                  <a:srgbClr val="3865B6"/>
                </a:solidFill>
              </a:rPr>
              <a:t>Translate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7C55CA8-8327-313F-F3FE-B22D24189836}"/>
              </a:ext>
            </a:extLst>
          </p:cNvPr>
          <p:cNvSpPr/>
          <p:nvPr/>
        </p:nvSpPr>
        <p:spPr>
          <a:xfrm>
            <a:off x="5837583" y="2256736"/>
            <a:ext cx="6062869" cy="196626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Subnet</a:t>
            </a:r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 Publica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91666B1-C02E-FC9C-E43A-DDBB8D7BB38B}"/>
              </a:ext>
            </a:extLst>
          </p:cNvPr>
          <p:cNvSpPr/>
          <p:nvPr/>
        </p:nvSpPr>
        <p:spPr>
          <a:xfrm>
            <a:off x="5849260" y="4320993"/>
            <a:ext cx="6062869" cy="16675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Subnet</a:t>
            </a:r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 Privada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pic>
        <p:nvPicPr>
          <p:cNvPr id="16" name="Gráfico 5" descr="Internet">
            <a:extLst>
              <a:ext uri="{FF2B5EF4-FFF2-40B4-BE49-F238E27FC236}">
                <a16:creationId xmlns:a16="http://schemas.microsoft.com/office/drawing/2014/main" id="{925D550C-02D7-0A9A-3643-006AB647DF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802" y="4857466"/>
            <a:ext cx="914400" cy="914400"/>
          </a:xfrm>
          <a:prstGeom prst="rect">
            <a:avLst/>
          </a:prstGeom>
        </p:spPr>
      </p:pic>
      <p:sp>
        <p:nvSpPr>
          <p:cNvPr id="23" name="Retângulo 22">
            <a:extLst>
              <a:ext uri="{FF2B5EF4-FFF2-40B4-BE49-F238E27FC236}">
                <a16:creationId xmlns:a16="http://schemas.microsoft.com/office/drawing/2014/main" id="{2EBBA312-2D8C-601A-C6DA-57E0364292A9}"/>
              </a:ext>
            </a:extLst>
          </p:cNvPr>
          <p:cNvSpPr/>
          <p:nvPr/>
        </p:nvSpPr>
        <p:spPr>
          <a:xfrm>
            <a:off x="8140924" y="3381417"/>
            <a:ext cx="1620797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Bastion</a:t>
            </a:r>
            <a:r>
              <a:rPr lang="pt-BR" b="1" noProof="0" dirty="0">
                <a:solidFill>
                  <a:srgbClr val="3865B6"/>
                </a:solidFill>
              </a:rPr>
              <a:t> Host</a:t>
            </a: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B8986C3-5445-3C8F-31B6-D41E983A5822}"/>
              </a:ext>
            </a:extLst>
          </p:cNvPr>
          <p:cNvCxnSpPr>
            <a:cxnSpLocks/>
            <a:stCxn id="5" idx="2"/>
            <a:endCxn id="23" idx="1"/>
          </p:cNvCxnSpPr>
          <p:nvPr/>
        </p:nvCxnSpPr>
        <p:spPr>
          <a:xfrm>
            <a:off x="7294441" y="3358226"/>
            <a:ext cx="846483" cy="263726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1D39B41-053F-AF03-329D-42205201DB7B}"/>
              </a:ext>
            </a:extLst>
          </p:cNvPr>
          <p:cNvCxnSpPr>
            <a:cxnSpLocks/>
            <a:stCxn id="23" idx="2"/>
            <a:endCxn id="16" idx="0"/>
          </p:cNvCxnSpPr>
          <p:nvPr/>
        </p:nvCxnSpPr>
        <p:spPr>
          <a:xfrm>
            <a:off x="8951323" y="3862486"/>
            <a:ext cx="354679" cy="99498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6940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9341C-9FF2-67D3-6782-C53E69A04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AWS – Conceito de Rede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B2C66F-9CBA-09B6-0B6D-65C2A9371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VPC – Virtual </a:t>
            </a:r>
            <a:r>
              <a:rPr lang="pt-BR" dirty="0" err="1"/>
              <a:t>private</a:t>
            </a:r>
            <a:r>
              <a:rPr lang="pt-BR" dirty="0"/>
              <a:t> cloud é a rede principal de uma região onde outras redes ficam alojadas. Toda região tem uma </a:t>
            </a:r>
            <a:r>
              <a:rPr lang="pt-BR" dirty="0" err="1"/>
              <a:t>vpc</a:t>
            </a:r>
            <a:r>
              <a:rPr lang="pt-BR" dirty="0"/>
              <a:t>.</a:t>
            </a:r>
          </a:p>
          <a:p>
            <a:r>
              <a:rPr lang="pt-BR" dirty="0" err="1"/>
              <a:t>Table</a:t>
            </a:r>
            <a:r>
              <a:rPr lang="pt-BR" dirty="0"/>
              <a:t> Route – É a tabela de roteamento para </a:t>
            </a:r>
            <a:r>
              <a:rPr lang="pt-BR" dirty="0" err="1"/>
              <a:t>subnets</a:t>
            </a:r>
            <a:r>
              <a:rPr lang="pt-BR" dirty="0"/>
              <a:t>, é quem faz a ligação entre os objetos da </a:t>
            </a:r>
            <a:r>
              <a:rPr lang="pt-BR" dirty="0" err="1"/>
              <a:t>subnet</a:t>
            </a:r>
            <a:r>
              <a:rPr lang="pt-BR" dirty="0"/>
              <a:t> e entre </a:t>
            </a:r>
            <a:r>
              <a:rPr lang="pt-BR" dirty="0" err="1"/>
              <a:t>subnets</a:t>
            </a:r>
            <a:r>
              <a:rPr lang="pt-BR" dirty="0"/>
              <a:t>. É ligada a outras </a:t>
            </a:r>
            <a:r>
              <a:rPr lang="pt-BR" dirty="0" err="1"/>
              <a:t>table</a:t>
            </a:r>
            <a:r>
              <a:rPr lang="pt-BR" dirty="0"/>
              <a:t> </a:t>
            </a:r>
            <a:r>
              <a:rPr lang="pt-BR" dirty="0" err="1"/>
              <a:t>routes</a:t>
            </a:r>
            <a:r>
              <a:rPr lang="pt-BR" dirty="0"/>
              <a:t> na mesma </a:t>
            </a:r>
            <a:r>
              <a:rPr lang="pt-BR" dirty="0" err="1"/>
              <a:t>vpc</a:t>
            </a:r>
            <a:r>
              <a:rPr lang="pt-BR" dirty="0"/>
              <a:t>.</a:t>
            </a:r>
          </a:p>
          <a:p>
            <a:r>
              <a:rPr lang="pt-BR" dirty="0"/>
              <a:t>IGW - Internet </a:t>
            </a:r>
            <a:r>
              <a:rPr lang="pt-BR" dirty="0" err="1"/>
              <a:t>Gatway</a:t>
            </a:r>
            <a:r>
              <a:rPr lang="pt-BR" dirty="0"/>
              <a:t> é o objeto que liga a </a:t>
            </a:r>
            <a:r>
              <a:rPr lang="pt-BR" dirty="0" err="1"/>
              <a:t>table</a:t>
            </a:r>
            <a:r>
              <a:rPr lang="pt-BR" dirty="0"/>
              <a:t> Route a internet.</a:t>
            </a:r>
          </a:p>
          <a:p>
            <a:r>
              <a:rPr lang="pt-BR" dirty="0"/>
              <a:t>NAT </a:t>
            </a:r>
            <a:r>
              <a:rPr lang="pt-BR" dirty="0" err="1"/>
              <a:t>Gatway</a:t>
            </a:r>
            <a:r>
              <a:rPr lang="pt-BR" dirty="0"/>
              <a:t> – é criado na rede publica e consegue conectar um objeto que está em uma rede privada a internet apenas para saída, outbound.</a:t>
            </a:r>
          </a:p>
          <a:p>
            <a:r>
              <a:rPr lang="pt-BR" dirty="0" err="1"/>
              <a:t>Bastion</a:t>
            </a:r>
            <a:r>
              <a:rPr lang="pt-BR" dirty="0"/>
              <a:t> Host – É o acesso a um objeto em uma </a:t>
            </a:r>
            <a:r>
              <a:rPr lang="pt-BR" dirty="0" err="1"/>
              <a:t>subnet</a:t>
            </a:r>
            <a:r>
              <a:rPr lang="pt-BR" dirty="0"/>
              <a:t> privada, através de um objeto em uma </a:t>
            </a:r>
            <a:r>
              <a:rPr lang="pt-BR" dirty="0" err="1"/>
              <a:t>subnet</a:t>
            </a:r>
            <a:r>
              <a:rPr lang="pt-BR" dirty="0"/>
              <a:t> publica.</a:t>
            </a:r>
          </a:p>
          <a:p>
            <a:r>
              <a:rPr lang="pt-BR" dirty="0"/>
              <a:t>Transit </a:t>
            </a:r>
            <a:r>
              <a:rPr lang="pt-BR" dirty="0" err="1"/>
              <a:t>Gatway</a:t>
            </a:r>
            <a:r>
              <a:rPr lang="pt-BR" dirty="0"/>
              <a:t> – Faz  </a:t>
            </a:r>
            <a:r>
              <a:rPr lang="pt-BR" dirty="0" err="1"/>
              <a:t>conecção</a:t>
            </a:r>
            <a:r>
              <a:rPr lang="pt-BR" dirty="0"/>
              <a:t> entre </a:t>
            </a:r>
            <a:r>
              <a:rPr lang="pt-BR" dirty="0" err="1"/>
              <a:t>vpcs</a:t>
            </a:r>
            <a:r>
              <a:rPr lang="pt-BR" dirty="0"/>
              <a:t> e entre a empresa </a:t>
            </a:r>
            <a:r>
              <a:rPr lang="pt-BR" dirty="0" err="1"/>
              <a:t>on-primesse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59028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DB11D-881C-9EEE-2A34-2CF23CA76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AWS – Conceito de Rede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A38DFF-5220-711A-96C3-B8CE5C7FD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 VPC </a:t>
            </a:r>
            <a:r>
              <a:rPr lang="pt-BR" dirty="0" err="1"/>
              <a:t>Peering</a:t>
            </a:r>
            <a:r>
              <a:rPr lang="pt-BR" dirty="0"/>
              <a:t> – É a maneira de conectar duas </a:t>
            </a:r>
            <a:r>
              <a:rPr lang="pt-BR" dirty="0" err="1"/>
              <a:t>VPCs</a:t>
            </a:r>
            <a:r>
              <a:rPr lang="pt-BR" dirty="0"/>
              <a:t>. Esta </a:t>
            </a:r>
            <a:r>
              <a:rPr lang="pt-BR" dirty="0" err="1"/>
              <a:t>conecção</a:t>
            </a:r>
            <a:r>
              <a:rPr lang="pt-BR" dirty="0"/>
              <a:t> consegue dar um salto até outra </a:t>
            </a:r>
            <a:r>
              <a:rPr lang="pt-BR" dirty="0" err="1"/>
              <a:t>vcp</a:t>
            </a:r>
            <a:r>
              <a:rPr lang="pt-BR" dirty="0"/>
              <a:t>, e não mais que um salto, pois ela não faz transit.</a:t>
            </a:r>
          </a:p>
          <a:p>
            <a:r>
              <a:rPr lang="pt-BR" dirty="0"/>
              <a:t>VPC Interface </a:t>
            </a:r>
            <a:r>
              <a:rPr lang="pt-BR" dirty="0" err="1"/>
              <a:t>endpoint</a:t>
            </a:r>
            <a:r>
              <a:rPr lang="pt-BR" dirty="0"/>
              <a:t> – Privado (ENI) </a:t>
            </a:r>
            <a:r>
              <a:rPr lang="pt-BR" dirty="0" err="1"/>
              <a:t>conecção</a:t>
            </a:r>
            <a:r>
              <a:rPr lang="pt-BR" dirty="0"/>
              <a:t> com serviços externos privados.</a:t>
            </a:r>
          </a:p>
          <a:p>
            <a:r>
              <a:rPr lang="pt-BR" dirty="0"/>
              <a:t>VPC </a:t>
            </a:r>
            <a:r>
              <a:rPr lang="pt-BR" dirty="0" err="1"/>
              <a:t>Gatway</a:t>
            </a:r>
            <a:r>
              <a:rPr lang="pt-BR" dirty="0"/>
              <a:t> </a:t>
            </a:r>
            <a:r>
              <a:rPr lang="pt-BR" dirty="0" err="1"/>
              <a:t>endpoint</a:t>
            </a:r>
            <a:r>
              <a:rPr lang="pt-BR" dirty="0"/>
              <a:t> – </a:t>
            </a:r>
            <a:r>
              <a:rPr lang="pt-BR" dirty="0" err="1"/>
              <a:t>Public</a:t>
            </a:r>
            <a:r>
              <a:rPr lang="pt-BR" dirty="0"/>
              <a:t> (GEP) </a:t>
            </a:r>
            <a:r>
              <a:rPr lang="pt-BR" dirty="0" err="1"/>
              <a:t>conecção</a:t>
            </a:r>
            <a:r>
              <a:rPr lang="pt-BR" dirty="0"/>
              <a:t> com serviços externos públicos. </a:t>
            </a:r>
          </a:p>
        </p:txBody>
      </p:sp>
    </p:spTree>
    <p:extLst>
      <p:ext uri="{BB962C8B-B14F-4D97-AF65-F5344CB8AC3E}">
        <p14:creationId xmlns:p14="http://schemas.microsoft.com/office/powerpoint/2010/main" val="10971331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57DBF-C3A2-D69E-4EB9-0DCE2532B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DB7FE-F408-49DD-FDE5-CBCE18CC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Firewal</a:t>
            </a:r>
            <a:r>
              <a:rPr lang="pt-BR" dirty="0"/>
              <a:t> – </a:t>
            </a:r>
            <a:r>
              <a:rPr lang="pt-BR" dirty="0" err="1"/>
              <a:t>Statefull</a:t>
            </a:r>
            <a:r>
              <a:rPr lang="pt-BR" dirty="0"/>
              <a:t> X </a:t>
            </a:r>
            <a:r>
              <a:rPr lang="pt-BR" dirty="0" err="1"/>
              <a:t>Stateless</a:t>
            </a: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B842439-670E-F9F6-D1D0-A4402D84F43C}"/>
              </a:ext>
            </a:extLst>
          </p:cNvPr>
          <p:cNvSpPr/>
          <p:nvPr/>
        </p:nvSpPr>
        <p:spPr>
          <a:xfrm>
            <a:off x="7798902" y="1690688"/>
            <a:ext cx="2676938" cy="3221415"/>
          </a:xfrm>
          <a:custGeom>
            <a:avLst/>
            <a:gdLst>
              <a:gd name="connsiteX0" fmla="*/ 0 w 2663686"/>
              <a:gd name="connsiteY0" fmla="*/ 329183 h 1975056"/>
              <a:gd name="connsiteX1" fmla="*/ 329183 w 2663686"/>
              <a:gd name="connsiteY1" fmla="*/ 0 h 1975056"/>
              <a:gd name="connsiteX2" fmla="*/ 2334503 w 2663686"/>
              <a:gd name="connsiteY2" fmla="*/ 0 h 1975056"/>
              <a:gd name="connsiteX3" fmla="*/ 2663686 w 2663686"/>
              <a:gd name="connsiteY3" fmla="*/ 329183 h 1975056"/>
              <a:gd name="connsiteX4" fmla="*/ 2663686 w 2663686"/>
              <a:gd name="connsiteY4" fmla="*/ 1645873 h 1975056"/>
              <a:gd name="connsiteX5" fmla="*/ 2334503 w 2663686"/>
              <a:gd name="connsiteY5" fmla="*/ 1975056 h 1975056"/>
              <a:gd name="connsiteX6" fmla="*/ 329183 w 2663686"/>
              <a:gd name="connsiteY6" fmla="*/ 1975056 h 1975056"/>
              <a:gd name="connsiteX7" fmla="*/ 0 w 2663686"/>
              <a:gd name="connsiteY7" fmla="*/ 1645873 h 1975056"/>
              <a:gd name="connsiteX8" fmla="*/ 0 w 2663686"/>
              <a:gd name="connsiteY8" fmla="*/ 329183 h 1975056"/>
              <a:gd name="connsiteX0" fmla="*/ 0 w 2676938"/>
              <a:gd name="connsiteY0" fmla="*/ 408696 h 1975056"/>
              <a:gd name="connsiteX1" fmla="*/ 342435 w 2676938"/>
              <a:gd name="connsiteY1" fmla="*/ 0 h 1975056"/>
              <a:gd name="connsiteX2" fmla="*/ 2347755 w 2676938"/>
              <a:gd name="connsiteY2" fmla="*/ 0 h 1975056"/>
              <a:gd name="connsiteX3" fmla="*/ 2676938 w 2676938"/>
              <a:gd name="connsiteY3" fmla="*/ 329183 h 1975056"/>
              <a:gd name="connsiteX4" fmla="*/ 2676938 w 2676938"/>
              <a:gd name="connsiteY4" fmla="*/ 1645873 h 1975056"/>
              <a:gd name="connsiteX5" fmla="*/ 2347755 w 2676938"/>
              <a:gd name="connsiteY5" fmla="*/ 1975056 h 1975056"/>
              <a:gd name="connsiteX6" fmla="*/ 342435 w 2676938"/>
              <a:gd name="connsiteY6" fmla="*/ 1975056 h 1975056"/>
              <a:gd name="connsiteX7" fmla="*/ 13252 w 2676938"/>
              <a:gd name="connsiteY7" fmla="*/ 1645873 h 1975056"/>
              <a:gd name="connsiteX8" fmla="*/ 0 w 2676938"/>
              <a:gd name="connsiteY8" fmla="*/ 408696 h 1975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6938" h="1975056">
                <a:moveTo>
                  <a:pt x="0" y="408696"/>
                </a:moveTo>
                <a:cubicBezTo>
                  <a:pt x="0" y="226893"/>
                  <a:pt x="160632" y="0"/>
                  <a:pt x="342435" y="0"/>
                </a:cubicBezTo>
                <a:lnTo>
                  <a:pt x="2347755" y="0"/>
                </a:lnTo>
                <a:cubicBezTo>
                  <a:pt x="2529558" y="0"/>
                  <a:pt x="2676938" y="147380"/>
                  <a:pt x="2676938" y="329183"/>
                </a:cubicBezTo>
                <a:lnTo>
                  <a:pt x="2676938" y="1645873"/>
                </a:lnTo>
                <a:cubicBezTo>
                  <a:pt x="2676938" y="1827676"/>
                  <a:pt x="2529558" y="1975056"/>
                  <a:pt x="2347755" y="1975056"/>
                </a:cubicBezTo>
                <a:lnTo>
                  <a:pt x="342435" y="1975056"/>
                </a:lnTo>
                <a:cubicBezTo>
                  <a:pt x="160632" y="1975056"/>
                  <a:pt x="13252" y="1827676"/>
                  <a:pt x="13252" y="1645873"/>
                </a:cubicBezTo>
                <a:cubicBezTo>
                  <a:pt x="13252" y="1206976"/>
                  <a:pt x="0" y="847593"/>
                  <a:pt x="0" y="40869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Cloud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pic>
        <p:nvPicPr>
          <p:cNvPr id="5" name="Gráfico 5" descr="Internet">
            <a:extLst>
              <a:ext uri="{FF2B5EF4-FFF2-40B4-BE49-F238E27FC236}">
                <a16:creationId xmlns:a16="http://schemas.microsoft.com/office/drawing/2014/main" id="{2135FC75-7CFD-E008-36E8-6C92054881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262" y="2931493"/>
            <a:ext cx="914400" cy="914400"/>
          </a:xfrm>
          <a:prstGeom prst="rect">
            <a:avLst/>
          </a:prstGeom>
        </p:spPr>
      </p:pic>
      <p:pic>
        <p:nvPicPr>
          <p:cNvPr id="6" name="Gráfico 14" descr="Programa">
            <a:extLst>
              <a:ext uri="{FF2B5EF4-FFF2-40B4-BE49-F238E27FC236}">
                <a16:creationId xmlns:a16="http://schemas.microsoft.com/office/drawing/2014/main" id="{4D206345-E2A0-B6D7-34FD-E5871ADADD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2787543"/>
            <a:ext cx="965200" cy="9652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DFA76EC-1381-C488-236D-5CB181472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013" y="3047380"/>
            <a:ext cx="1075817" cy="682625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8E73915-6EC1-4658-1CA3-9FFF24E6CF31}"/>
              </a:ext>
            </a:extLst>
          </p:cNvPr>
          <p:cNvCxnSpPr>
            <a:cxnSpLocks/>
            <a:stCxn id="6" idx="0"/>
            <a:endCxn id="8" idx="1"/>
          </p:cNvCxnSpPr>
          <p:nvPr/>
        </p:nvCxnSpPr>
        <p:spPr>
          <a:xfrm>
            <a:off x="838200" y="2787543"/>
            <a:ext cx="3084813" cy="60115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7AF2B05A-B68B-621E-FC1D-E8D554F65899}"/>
              </a:ext>
            </a:extLst>
          </p:cNvPr>
          <p:cNvCxnSpPr>
            <a:cxnSpLocks/>
            <a:stCxn id="4" idx="7"/>
            <a:endCxn id="8" idx="2"/>
          </p:cNvCxnSpPr>
          <p:nvPr/>
        </p:nvCxnSpPr>
        <p:spPr>
          <a:xfrm flipH="1" flipV="1">
            <a:off x="4460922" y="3730005"/>
            <a:ext cx="3351232" cy="645184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6DE61302-8D3D-5C53-67EA-4A6A55921079}"/>
              </a:ext>
            </a:extLst>
          </p:cNvPr>
          <p:cNvCxnSpPr>
            <a:cxnSpLocks/>
            <a:stCxn id="8" idx="1"/>
            <a:endCxn id="6" idx="2"/>
          </p:cNvCxnSpPr>
          <p:nvPr/>
        </p:nvCxnSpPr>
        <p:spPr>
          <a:xfrm flipH="1">
            <a:off x="838200" y="3388693"/>
            <a:ext cx="3084813" cy="36405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ângulo 27">
            <a:extLst>
              <a:ext uri="{FF2B5EF4-FFF2-40B4-BE49-F238E27FC236}">
                <a16:creationId xmlns:a16="http://schemas.microsoft.com/office/drawing/2014/main" id="{135C2711-B5B8-9D54-3808-6C4C536475CC}"/>
              </a:ext>
            </a:extLst>
          </p:cNvPr>
          <p:cNvSpPr/>
          <p:nvPr/>
        </p:nvSpPr>
        <p:spPr>
          <a:xfrm>
            <a:off x="783312" y="1417983"/>
            <a:ext cx="3337981" cy="10282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>
                <a:solidFill>
                  <a:srgbClr val="3865B6"/>
                </a:solidFill>
              </a:rPr>
              <a:t>Statefull</a:t>
            </a:r>
            <a:r>
              <a:rPr lang="pt-BR" b="1" dirty="0">
                <a:solidFill>
                  <a:srgbClr val="3865B6"/>
                </a:solidFill>
              </a:rPr>
              <a:t> – Só existe regra de entrada, a saída é permitida automaticamente.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29" name="Conector de Seta Reta 39">
            <a:extLst>
              <a:ext uri="{FF2B5EF4-FFF2-40B4-BE49-F238E27FC236}">
                <a16:creationId xmlns:a16="http://schemas.microsoft.com/office/drawing/2014/main" id="{E5BA696E-BD96-7CA7-8116-BD4B1E2BC4B4}"/>
              </a:ext>
            </a:extLst>
          </p:cNvPr>
          <p:cNvCxnSpPr>
            <a:cxnSpLocks/>
            <a:stCxn id="28" idx="3"/>
            <a:endCxn id="4" idx="0"/>
          </p:cNvCxnSpPr>
          <p:nvPr/>
        </p:nvCxnSpPr>
        <p:spPr>
          <a:xfrm>
            <a:off x="4121293" y="1932107"/>
            <a:ext cx="3677609" cy="425185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39">
            <a:extLst>
              <a:ext uri="{FF2B5EF4-FFF2-40B4-BE49-F238E27FC236}">
                <a16:creationId xmlns:a16="http://schemas.microsoft.com/office/drawing/2014/main" id="{6A80B01E-36D3-1B26-B787-D98D452AD5AD}"/>
              </a:ext>
            </a:extLst>
          </p:cNvPr>
          <p:cNvCxnSpPr>
            <a:cxnSpLocks/>
            <a:stCxn id="28" idx="2"/>
            <a:endCxn id="6" idx="0"/>
          </p:cNvCxnSpPr>
          <p:nvPr/>
        </p:nvCxnSpPr>
        <p:spPr>
          <a:xfrm flipH="1">
            <a:off x="838200" y="2446231"/>
            <a:ext cx="1614103" cy="341312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tângulo 50">
            <a:extLst>
              <a:ext uri="{FF2B5EF4-FFF2-40B4-BE49-F238E27FC236}">
                <a16:creationId xmlns:a16="http://schemas.microsoft.com/office/drawing/2014/main" id="{03521E9A-EEA0-519C-B7EB-13DA7926EFB3}"/>
              </a:ext>
            </a:extLst>
          </p:cNvPr>
          <p:cNvSpPr/>
          <p:nvPr/>
        </p:nvSpPr>
        <p:spPr>
          <a:xfrm>
            <a:off x="2798557" y="5037936"/>
            <a:ext cx="3337981" cy="10282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>
                <a:solidFill>
                  <a:srgbClr val="3865B6"/>
                </a:solidFill>
              </a:rPr>
              <a:t>Stateless</a:t>
            </a:r>
            <a:r>
              <a:rPr lang="pt-BR" b="1" dirty="0">
                <a:solidFill>
                  <a:srgbClr val="3865B6"/>
                </a:solidFill>
              </a:rPr>
              <a:t> – Existe regra de entrada, e regra de saída.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52" name="Conector de Seta Reta 39">
            <a:extLst>
              <a:ext uri="{FF2B5EF4-FFF2-40B4-BE49-F238E27FC236}">
                <a16:creationId xmlns:a16="http://schemas.microsoft.com/office/drawing/2014/main" id="{4FE106F1-7D1F-0DA2-A8B6-51827097F413}"/>
              </a:ext>
            </a:extLst>
          </p:cNvPr>
          <p:cNvCxnSpPr>
            <a:cxnSpLocks/>
            <a:stCxn id="51" idx="0"/>
            <a:endCxn id="4" idx="7"/>
          </p:cNvCxnSpPr>
          <p:nvPr/>
        </p:nvCxnSpPr>
        <p:spPr>
          <a:xfrm flipV="1">
            <a:off x="4467548" y="4375189"/>
            <a:ext cx="3344606" cy="662747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39">
            <a:extLst>
              <a:ext uri="{FF2B5EF4-FFF2-40B4-BE49-F238E27FC236}">
                <a16:creationId xmlns:a16="http://schemas.microsoft.com/office/drawing/2014/main" id="{B357B785-A3F0-ACC9-BC42-F1A3B3AC60FB}"/>
              </a:ext>
            </a:extLst>
          </p:cNvPr>
          <p:cNvCxnSpPr>
            <a:cxnSpLocks/>
            <a:stCxn id="51" idx="1"/>
            <a:endCxn id="6" idx="2"/>
          </p:cNvCxnSpPr>
          <p:nvPr/>
        </p:nvCxnSpPr>
        <p:spPr>
          <a:xfrm flipH="1" flipV="1">
            <a:off x="838200" y="3752743"/>
            <a:ext cx="1960357" cy="1799317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39">
            <a:extLst>
              <a:ext uri="{FF2B5EF4-FFF2-40B4-BE49-F238E27FC236}">
                <a16:creationId xmlns:a16="http://schemas.microsoft.com/office/drawing/2014/main" id="{BF3D41C2-C194-F89A-80DF-F666D4705A12}"/>
              </a:ext>
            </a:extLst>
          </p:cNvPr>
          <p:cNvCxnSpPr>
            <a:cxnSpLocks/>
            <a:endCxn id="4" idx="0"/>
          </p:cNvCxnSpPr>
          <p:nvPr/>
        </p:nvCxnSpPr>
        <p:spPr>
          <a:xfrm flipV="1">
            <a:off x="4467548" y="2357292"/>
            <a:ext cx="3331354" cy="2680644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39">
            <a:extLst>
              <a:ext uri="{FF2B5EF4-FFF2-40B4-BE49-F238E27FC236}">
                <a16:creationId xmlns:a16="http://schemas.microsoft.com/office/drawing/2014/main" id="{C5A71418-8D47-C116-4152-02517C11CD88}"/>
              </a:ext>
            </a:extLst>
          </p:cNvPr>
          <p:cNvCxnSpPr>
            <a:cxnSpLocks/>
            <a:endCxn id="6" idx="0"/>
          </p:cNvCxnSpPr>
          <p:nvPr/>
        </p:nvCxnSpPr>
        <p:spPr>
          <a:xfrm flipH="1" flipV="1">
            <a:off x="838200" y="2787543"/>
            <a:ext cx="3629348" cy="2250393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F007D579-8604-C602-FE1C-DA6EC2BC8878}"/>
              </a:ext>
            </a:extLst>
          </p:cNvPr>
          <p:cNvCxnSpPr>
            <a:cxnSpLocks/>
            <a:stCxn id="8" idx="0"/>
            <a:endCxn id="4" idx="0"/>
          </p:cNvCxnSpPr>
          <p:nvPr/>
        </p:nvCxnSpPr>
        <p:spPr>
          <a:xfrm flipV="1">
            <a:off x="4460922" y="2357292"/>
            <a:ext cx="3337980" cy="690088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2034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9C38A-6106-77C3-9D07-6B03D5D11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AWS – Segurança de Rede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7F75B1-F7B4-D6CE-1BEF-0914DDBF3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Security </a:t>
            </a:r>
            <a:r>
              <a:rPr lang="pt-BR" dirty="0" err="1"/>
              <a:t>Group</a:t>
            </a:r>
            <a:r>
              <a:rPr lang="pt-BR" dirty="0"/>
              <a:t> – é </a:t>
            </a:r>
            <a:r>
              <a:rPr lang="pt-BR" dirty="0" err="1"/>
              <a:t>Statfull</a:t>
            </a:r>
            <a:r>
              <a:rPr lang="pt-BR" dirty="0"/>
              <a:t>, é aplicado no objeto instanciado. </a:t>
            </a:r>
          </a:p>
          <a:p>
            <a:pPr marL="0" indent="0">
              <a:buNone/>
            </a:pPr>
            <a:r>
              <a:rPr lang="pt-BR" dirty="0"/>
              <a:t>Network ACL (</a:t>
            </a:r>
            <a:r>
              <a:rPr lang="pt-BR" dirty="0" err="1"/>
              <a:t>acess</a:t>
            </a:r>
            <a:r>
              <a:rPr lang="pt-BR" dirty="0"/>
              <a:t> </a:t>
            </a:r>
            <a:r>
              <a:rPr lang="pt-BR" dirty="0" err="1"/>
              <a:t>Control</a:t>
            </a:r>
            <a:r>
              <a:rPr lang="pt-BR" dirty="0"/>
              <a:t> </a:t>
            </a:r>
            <a:r>
              <a:rPr lang="pt-BR" dirty="0" err="1"/>
              <a:t>List</a:t>
            </a:r>
            <a:r>
              <a:rPr lang="pt-BR" dirty="0"/>
              <a:t>) – é </a:t>
            </a:r>
            <a:r>
              <a:rPr lang="pt-BR" dirty="0" err="1"/>
              <a:t>Stateless</a:t>
            </a:r>
            <a:r>
              <a:rPr lang="pt-BR" dirty="0"/>
              <a:t>, é aplicado na </a:t>
            </a:r>
            <a:r>
              <a:rPr lang="pt-BR" dirty="0" err="1"/>
              <a:t>subnet</a:t>
            </a:r>
            <a:r>
              <a:rPr lang="pt-BR" dirty="0"/>
              <a:t>. As regras funcionam da primeira para a ultima, ou seja se eu libero algo não consigo bloquear depois (Libero tudo e quero bloquear </a:t>
            </a:r>
            <a:r>
              <a:rPr lang="pt-BR" dirty="0" err="1"/>
              <a:t>ping</a:t>
            </a:r>
            <a:r>
              <a:rPr lang="pt-BR" dirty="0"/>
              <a:t> (</a:t>
            </a:r>
            <a:r>
              <a:rPr lang="pt-BR" dirty="0" err="1"/>
              <a:t>icmp</a:t>
            </a:r>
            <a:r>
              <a:rPr lang="pt-BR" dirty="0"/>
              <a:t>), não vai funcionar). </a:t>
            </a:r>
          </a:p>
          <a:p>
            <a:pPr marL="0" indent="0">
              <a:buNone/>
            </a:pPr>
            <a:r>
              <a:rPr lang="pt-BR" dirty="0"/>
              <a:t>Cliente VPN </a:t>
            </a:r>
            <a:r>
              <a:rPr lang="pt-BR" dirty="0" err="1"/>
              <a:t>Endpoint</a:t>
            </a:r>
            <a:r>
              <a:rPr lang="pt-BR" dirty="0"/>
              <a:t> – É associado as </a:t>
            </a:r>
            <a:r>
              <a:rPr lang="pt-BR" dirty="0" err="1"/>
              <a:t>subnets</a:t>
            </a:r>
            <a:r>
              <a:rPr lang="pt-BR" dirty="0"/>
              <a:t>, a tabela de roteamento local direciona para o </a:t>
            </a:r>
            <a:r>
              <a:rPr lang="pt-BR" dirty="0" err="1"/>
              <a:t>ip</a:t>
            </a:r>
            <a:r>
              <a:rPr lang="pt-BR" dirty="0"/>
              <a:t> da VPC. É um túnel totalmente criptografado que troca dados entre a rede AWS e um computador pessoal fora da rede.</a:t>
            </a:r>
          </a:p>
          <a:p>
            <a:pPr marL="0" indent="0">
              <a:buNone/>
            </a:pPr>
            <a:r>
              <a:rPr lang="pt-BR" dirty="0"/>
              <a:t>Site-</a:t>
            </a:r>
            <a:r>
              <a:rPr lang="pt-BR" dirty="0" err="1"/>
              <a:t>to</a:t>
            </a:r>
            <a:r>
              <a:rPr lang="pt-BR" dirty="0"/>
              <a:t>-site VPN – é uma </a:t>
            </a:r>
            <a:r>
              <a:rPr lang="pt-BR" dirty="0" err="1"/>
              <a:t>vpn</a:t>
            </a:r>
            <a:r>
              <a:rPr lang="pt-BR" dirty="0"/>
              <a:t> que conecta a rede </a:t>
            </a:r>
            <a:r>
              <a:rPr lang="pt-BR" dirty="0" err="1"/>
              <a:t>vpc</a:t>
            </a:r>
            <a:r>
              <a:rPr lang="pt-BR" dirty="0"/>
              <a:t> a um firewall ou roteador externo, permitindo assim a </a:t>
            </a:r>
            <a:r>
              <a:rPr lang="pt-BR" dirty="0" err="1"/>
              <a:t>conecção</a:t>
            </a:r>
            <a:r>
              <a:rPr lang="pt-BR" dirty="0"/>
              <a:t> de todos os computadores que estão atras deste firewall ou roteador, ou seja a empresa inteira.</a:t>
            </a:r>
          </a:p>
          <a:p>
            <a:pPr marL="0" indent="0">
              <a:buNone/>
            </a:pPr>
            <a:r>
              <a:rPr lang="pt-BR" dirty="0" err="1"/>
              <a:t>CloudHub</a:t>
            </a:r>
            <a:r>
              <a:rPr lang="pt-BR" dirty="0"/>
              <a:t> VPN – é a </a:t>
            </a:r>
            <a:r>
              <a:rPr lang="pt-BR" dirty="0" err="1"/>
              <a:t>vpn</a:t>
            </a:r>
            <a:r>
              <a:rPr lang="pt-BR" dirty="0"/>
              <a:t> ente </a:t>
            </a:r>
            <a:r>
              <a:rPr lang="pt-BR" dirty="0" err="1"/>
              <a:t>vpc</a:t>
            </a:r>
            <a:r>
              <a:rPr lang="pt-BR" dirty="0"/>
              <a:t> </a:t>
            </a:r>
            <a:r>
              <a:rPr lang="pt-BR" dirty="0" err="1"/>
              <a:t>aws</a:t>
            </a:r>
            <a:r>
              <a:rPr lang="pt-BR" dirty="0"/>
              <a:t> e vários locais diferentes, ou seja vários escritórios ou várias empresas, inclusive entre eles. Não é um serviço e sim uma arquitetura.</a:t>
            </a:r>
          </a:p>
        </p:txBody>
      </p:sp>
    </p:spTree>
    <p:extLst>
      <p:ext uri="{BB962C8B-B14F-4D97-AF65-F5344CB8AC3E}">
        <p14:creationId xmlns:p14="http://schemas.microsoft.com/office/powerpoint/2010/main" val="37889672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5DB40-61B4-CBFB-A047-4CDF41237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F1A80-F533-A3AD-4736-CBDDD4247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7" y="2187743"/>
            <a:ext cx="9185229" cy="248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5400" noProof="0" dirty="0"/>
              <a:t>LOAD BALANCE E AUTO SCALING</a:t>
            </a:r>
            <a:br>
              <a:rPr lang="pt-BR" sz="5400" noProof="0" dirty="0"/>
            </a:br>
            <a:r>
              <a:rPr lang="pt-BR" sz="5400" noProof="0" dirty="0"/>
              <a:t>API GATEWAY</a:t>
            </a:r>
            <a:endParaRPr lang="pt-BR" sz="3600" kern="1200" noProof="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BE936A-53F3-BFA6-32D2-47134C3025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1" y="2743201"/>
            <a:ext cx="1371600" cy="13716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18331DF-3057-8F78-6640-A1FC1DBD5A27}"/>
              </a:ext>
            </a:extLst>
          </p:cNvPr>
          <p:cNvSpPr/>
          <p:nvPr/>
        </p:nvSpPr>
        <p:spPr>
          <a:xfrm>
            <a:off x="8434931" y="6226936"/>
            <a:ext cx="3531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noProof="0" dirty="0">
                <a:hlinkClick r:id="rId4"/>
              </a:rPr>
              <a:t>https://docs.aws.amazon.com/</a:t>
            </a:r>
            <a:endParaRPr lang="pt-BR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0207FCF-294B-7105-64C4-F524C938816A}"/>
              </a:ext>
            </a:extLst>
          </p:cNvPr>
          <p:cNvSpPr/>
          <p:nvPr/>
        </p:nvSpPr>
        <p:spPr>
          <a:xfrm>
            <a:off x="8434931" y="5857604"/>
            <a:ext cx="289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noProof="0" dirty="0">
                <a:hlinkClick r:id="rId5"/>
              </a:rPr>
              <a:t>https://aws.amazon.com/pt/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085772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ABE08-8727-7E42-031E-A70D407E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AWS - </a:t>
            </a:r>
            <a:r>
              <a:rPr lang="pt-BR" noProof="0" dirty="0" err="1"/>
              <a:t>Scaling</a:t>
            </a:r>
            <a:r>
              <a:rPr lang="pt-BR" noProof="0" dirty="0"/>
              <a:t> </a:t>
            </a:r>
            <a:r>
              <a:rPr lang="pt-BR" noProof="0" dirty="0" err="1"/>
              <a:t>up</a:t>
            </a:r>
            <a:r>
              <a:rPr lang="pt-BR" noProof="0" dirty="0"/>
              <a:t> e </a:t>
            </a:r>
            <a:r>
              <a:rPr lang="pt-BR" noProof="0" dirty="0" err="1"/>
              <a:t>Scaling</a:t>
            </a:r>
            <a:r>
              <a:rPr lang="pt-BR" noProof="0" dirty="0"/>
              <a:t> out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29C0C8-FD36-2CE0-8FBF-054C86C21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noProof="0" dirty="0" err="1"/>
              <a:t>Scaling</a:t>
            </a:r>
            <a:r>
              <a:rPr lang="pt-BR" noProof="0" dirty="0"/>
              <a:t> é aumentar ou diminuir um recurso de acordo com a necessidade.</a:t>
            </a:r>
          </a:p>
          <a:p>
            <a:r>
              <a:rPr lang="pt-BR" noProof="0" dirty="0" err="1"/>
              <a:t>Scaling</a:t>
            </a:r>
            <a:r>
              <a:rPr lang="pt-BR" noProof="0" dirty="0"/>
              <a:t> </a:t>
            </a:r>
            <a:r>
              <a:rPr lang="pt-BR" noProof="0" dirty="0" err="1"/>
              <a:t>up</a:t>
            </a:r>
            <a:r>
              <a:rPr lang="pt-BR" noProof="0" dirty="0"/>
              <a:t> significa aumentar ou diminuir os recursos da instancia de serviço como memória, disco, placa de rede, processador entre outros.</a:t>
            </a:r>
          </a:p>
          <a:p>
            <a:r>
              <a:rPr lang="pt-BR" noProof="0" dirty="0" err="1"/>
              <a:t>Scaling</a:t>
            </a:r>
            <a:r>
              <a:rPr lang="pt-BR" noProof="0" dirty="0"/>
              <a:t> out significa aumentar ou </a:t>
            </a:r>
            <a:r>
              <a:rPr lang="pt-BR" noProof="0" dirty="0" err="1"/>
              <a:t>diminiur</a:t>
            </a:r>
            <a:r>
              <a:rPr lang="pt-BR" noProof="0" dirty="0"/>
              <a:t> as instancias como um todo, duplicando o conjunto (instancia do serviço) de maneira independente.</a:t>
            </a:r>
          </a:p>
          <a:p>
            <a:r>
              <a:rPr lang="pt-BR" noProof="0" dirty="0"/>
              <a:t>As instancias do </a:t>
            </a:r>
            <a:r>
              <a:rPr lang="pt-BR" noProof="0" dirty="0" err="1"/>
              <a:t>scaling</a:t>
            </a:r>
            <a:r>
              <a:rPr lang="pt-BR" noProof="0" dirty="0"/>
              <a:t> out ficam dentro de uma target </a:t>
            </a:r>
            <a:r>
              <a:rPr lang="pt-BR" noProof="0" dirty="0" err="1"/>
              <a:t>group</a:t>
            </a:r>
            <a:r>
              <a:rPr lang="pt-BR" noProof="0" dirty="0"/>
              <a:t> ou auto </a:t>
            </a:r>
            <a:r>
              <a:rPr lang="pt-BR" noProof="0" dirty="0" err="1"/>
              <a:t>scaling</a:t>
            </a:r>
            <a:r>
              <a:rPr lang="pt-BR" noProof="0" dirty="0"/>
              <a:t> </a:t>
            </a:r>
            <a:r>
              <a:rPr lang="pt-BR" noProof="0" dirty="0" err="1"/>
              <a:t>group</a:t>
            </a:r>
            <a:r>
              <a:rPr lang="pt-BR" noProof="0" dirty="0"/>
              <a:t> e é gerenciada pelo cloud </a:t>
            </a:r>
            <a:r>
              <a:rPr lang="pt-BR" noProof="0" dirty="0" err="1"/>
              <a:t>watch</a:t>
            </a:r>
            <a:r>
              <a:rPr lang="pt-BR" noProof="0" dirty="0"/>
              <a:t> (ferramenta de monitoramento da </a:t>
            </a:r>
            <a:r>
              <a:rPr lang="pt-BR" noProof="0" dirty="0" err="1"/>
              <a:t>aws</a:t>
            </a:r>
            <a:r>
              <a:rPr lang="pt-BR" noProof="0" dirty="0"/>
              <a:t>).</a:t>
            </a:r>
          </a:p>
          <a:p>
            <a:r>
              <a:rPr lang="pt-BR" noProof="0" dirty="0" err="1"/>
              <a:t>Lunch</a:t>
            </a:r>
            <a:r>
              <a:rPr lang="pt-BR" noProof="0" dirty="0"/>
              <a:t> </a:t>
            </a:r>
            <a:r>
              <a:rPr lang="pt-BR" noProof="0" dirty="0" err="1"/>
              <a:t>Template</a:t>
            </a:r>
            <a:r>
              <a:rPr lang="pt-BR" noProof="0" dirty="0"/>
              <a:t> é o modelo </a:t>
            </a:r>
            <a:r>
              <a:rPr lang="pt-BR" noProof="0" dirty="0" err="1"/>
              <a:t>basico</a:t>
            </a:r>
            <a:r>
              <a:rPr lang="pt-BR" noProof="0" dirty="0"/>
              <a:t> que o auto </a:t>
            </a:r>
            <a:r>
              <a:rPr lang="pt-BR" noProof="0" dirty="0" err="1"/>
              <a:t>scaling</a:t>
            </a:r>
            <a:r>
              <a:rPr lang="pt-BR" noProof="0" dirty="0"/>
              <a:t> </a:t>
            </a:r>
            <a:r>
              <a:rPr lang="pt-BR" noProof="0" dirty="0" err="1"/>
              <a:t>group</a:t>
            </a:r>
            <a:r>
              <a:rPr lang="pt-BR" noProof="0" dirty="0"/>
              <a:t> vai usar para criar as cópias que serão </a:t>
            </a:r>
            <a:r>
              <a:rPr lang="pt-BR" noProof="0" dirty="0" err="1"/>
              <a:t>intanciadas</a:t>
            </a:r>
            <a:r>
              <a:rPr lang="pt-BR" noProof="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17302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1301C-7B04-3D63-84DD-779D3B440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Load</a:t>
            </a:r>
            <a:r>
              <a:rPr lang="pt-BR" noProof="0" dirty="0"/>
              <a:t> Balance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F75E16-A357-6A31-9AAC-C71AF5BA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78966"/>
          </a:xfrm>
        </p:spPr>
        <p:txBody>
          <a:bodyPr/>
          <a:lstStyle/>
          <a:p>
            <a:r>
              <a:rPr lang="pt-BR" noProof="0" dirty="0"/>
              <a:t>Funciona como um </a:t>
            </a:r>
            <a:r>
              <a:rPr lang="pt-BR" noProof="0" dirty="0" err="1"/>
              <a:t>intermediario</a:t>
            </a:r>
            <a:r>
              <a:rPr lang="pt-BR" noProof="0" dirty="0"/>
              <a:t> entre o Objeto cliente (Sistema ou  humano) e o serviço receptor (ec2, serviço entre outros).</a:t>
            </a:r>
          </a:p>
          <a:p>
            <a:r>
              <a:rPr lang="pt-BR" noProof="0" dirty="0"/>
              <a:t>Consegue balancear para mais de um serviço receptor, ou um grupo de serviço receptor.</a:t>
            </a:r>
          </a:p>
          <a:p>
            <a:endParaRPr lang="pt-BR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D6CFEDC-3222-35C8-A0D2-898520FFB09B}"/>
              </a:ext>
            </a:extLst>
          </p:cNvPr>
          <p:cNvSpPr/>
          <p:nvPr/>
        </p:nvSpPr>
        <p:spPr>
          <a:xfrm>
            <a:off x="398945" y="3739527"/>
            <a:ext cx="11337788" cy="29787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400" b="1" noProof="0" dirty="0">
                <a:solidFill>
                  <a:srgbClr val="002060"/>
                </a:solidFill>
              </a:rPr>
              <a:t>Arquitetura </a:t>
            </a:r>
            <a:r>
              <a:rPr lang="pt-BR" sz="2400" b="1" noProof="0" dirty="0" err="1">
                <a:solidFill>
                  <a:srgbClr val="002060"/>
                </a:solidFill>
              </a:rPr>
              <a:t>Load</a:t>
            </a:r>
            <a:r>
              <a:rPr lang="pt-BR" sz="2400" b="1" noProof="0" dirty="0">
                <a:solidFill>
                  <a:srgbClr val="002060"/>
                </a:solidFill>
              </a:rPr>
              <a:t> Balance</a:t>
            </a:r>
          </a:p>
        </p:txBody>
      </p:sp>
      <p:pic>
        <p:nvPicPr>
          <p:cNvPr id="5" name="Gráfico 5" descr="Internet">
            <a:extLst>
              <a:ext uri="{FF2B5EF4-FFF2-40B4-BE49-F238E27FC236}">
                <a16:creationId xmlns:a16="http://schemas.microsoft.com/office/drawing/2014/main" id="{F990E75E-F2E0-3D13-82D0-A5BF03AAA9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186" y="4234289"/>
            <a:ext cx="914400" cy="914400"/>
          </a:xfrm>
          <a:prstGeom prst="rect">
            <a:avLst/>
          </a:prstGeom>
        </p:spPr>
      </p:pic>
      <p:pic>
        <p:nvPicPr>
          <p:cNvPr id="6" name="Gráfico 14" descr="Programa">
            <a:extLst>
              <a:ext uri="{FF2B5EF4-FFF2-40B4-BE49-F238E27FC236}">
                <a16:creationId xmlns:a16="http://schemas.microsoft.com/office/drawing/2014/main" id="{1D820B25-4299-5635-1347-117E3FCACF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67" y="4988804"/>
            <a:ext cx="965200" cy="965200"/>
          </a:xfrm>
          <a:prstGeom prst="rect">
            <a:avLst/>
          </a:prstGeom>
        </p:spPr>
      </p:pic>
      <p:pic>
        <p:nvPicPr>
          <p:cNvPr id="7" name="Gráfico 49" descr="Banco de dados">
            <a:extLst>
              <a:ext uri="{FF2B5EF4-FFF2-40B4-BE49-F238E27FC236}">
                <a16:creationId xmlns:a16="http://schemas.microsoft.com/office/drawing/2014/main" id="{06F2F76F-F64E-5E7A-BD75-19290B51E1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039" y="4853868"/>
            <a:ext cx="771842" cy="843742"/>
          </a:xfrm>
          <a:prstGeom prst="rect">
            <a:avLst/>
          </a:prstGeom>
        </p:spPr>
      </p:pic>
      <p:pic>
        <p:nvPicPr>
          <p:cNvPr id="8" name="Gráfico 5" descr="Internet">
            <a:extLst>
              <a:ext uri="{FF2B5EF4-FFF2-40B4-BE49-F238E27FC236}">
                <a16:creationId xmlns:a16="http://schemas.microsoft.com/office/drawing/2014/main" id="{D3BB3B7E-F928-5C15-B96E-9AA6337B79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186" y="4967203"/>
            <a:ext cx="914400" cy="9144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3718638-4628-F0B4-3325-4D74364C74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9083" y="5171366"/>
            <a:ext cx="628650" cy="600075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12DB0C4-3A00-BB76-23E2-077FFB532564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420467" y="5471404"/>
            <a:ext cx="2358616" cy="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E1E51C40-34A5-1B52-A13E-B1DA0182DC2D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 flipV="1">
            <a:off x="4407733" y="4691489"/>
            <a:ext cx="2679453" cy="779915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1EDC1294-22B3-6DDC-639A-51436807D40F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 flipV="1">
            <a:off x="4407733" y="5424403"/>
            <a:ext cx="2679453" cy="47001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67AEE4B2-2F85-9037-D9FD-06E64CCA1E4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8001586" y="4691489"/>
            <a:ext cx="2679453" cy="58425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4D7D5FD-DF58-F2BB-05BA-989E4C7AA6D2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 flipV="1">
            <a:off x="8001586" y="5275739"/>
            <a:ext cx="2679453" cy="148664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A08F49D6-38A5-A94F-DD9E-BA077C91E8D0}"/>
              </a:ext>
            </a:extLst>
          </p:cNvPr>
          <p:cNvSpPr/>
          <p:nvPr/>
        </p:nvSpPr>
        <p:spPr>
          <a:xfrm>
            <a:off x="1075722" y="4265670"/>
            <a:ext cx="1810565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Load</a:t>
            </a:r>
            <a:r>
              <a:rPr lang="pt-BR" b="1" noProof="0" dirty="0">
                <a:solidFill>
                  <a:srgbClr val="3865B6"/>
                </a:solidFill>
              </a:rPr>
              <a:t> Balance</a:t>
            </a:r>
          </a:p>
        </p:txBody>
      </p:sp>
      <p:cxnSp>
        <p:nvCxnSpPr>
          <p:cNvPr id="16" name="Conector de Seta Reta 39">
            <a:extLst>
              <a:ext uri="{FF2B5EF4-FFF2-40B4-BE49-F238E27FC236}">
                <a16:creationId xmlns:a16="http://schemas.microsoft.com/office/drawing/2014/main" id="{1F20150F-A9B0-4264-9417-77D3FDA3A143}"/>
              </a:ext>
            </a:extLst>
          </p:cNvPr>
          <p:cNvCxnSpPr>
            <a:cxnSpLocks/>
            <a:stCxn id="15" idx="3"/>
            <a:endCxn id="9" idx="0"/>
          </p:cNvCxnSpPr>
          <p:nvPr/>
        </p:nvCxnSpPr>
        <p:spPr>
          <a:xfrm>
            <a:off x="2886287" y="4506205"/>
            <a:ext cx="1207121" cy="665161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áfico 5" descr="Internet">
            <a:extLst>
              <a:ext uri="{FF2B5EF4-FFF2-40B4-BE49-F238E27FC236}">
                <a16:creationId xmlns:a16="http://schemas.microsoft.com/office/drawing/2014/main" id="{C60E0E1B-676F-48DA-5DF6-2D21EB40DF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246" y="5743192"/>
            <a:ext cx="914400" cy="914400"/>
          </a:xfrm>
          <a:prstGeom prst="rect">
            <a:avLst/>
          </a:prstGeom>
        </p:spPr>
      </p:pic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F4CD5FA3-0B7A-F625-BB01-1D83A881FFA5}"/>
              </a:ext>
            </a:extLst>
          </p:cNvPr>
          <p:cNvCxnSpPr>
            <a:cxnSpLocks/>
            <a:stCxn id="9" idx="3"/>
            <a:endCxn id="51" idx="1"/>
          </p:cNvCxnSpPr>
          <p:nvPr/>
        </p:nvCxnSpPr>
        <p:spPr>
          <a:xfrm>
            <a:off x="4407733" y="5471404"/>
            <a:ext cx="2732513" cy="728988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F1D8D067-5583-E3C0-13FD-AA9FF2A26C26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8054646" y="5275739"/>
            <a:ext cx="2607016" cy="924653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tângulo 57">
            <a:extLst>
              <a:ext uri="{FF2B5EF4-FFF2-40B4-BE49-F238E27FC236}">
                <a16:creationId xmlns:a16="http://schemas.microsoft.com/office/drawing/2014/main" id="{398D0670-7127-08FC-3244-C165D9DDD57F}"/>
              </a:ext>
            </a:extLst>
          </p:cNvPr>
          <p:cNvSpPr/>
          <p:nvPr/>
        </p:nvSpPr>
        <p:spPr>
          <a:xfrm>
            <a:off x="8800437" y="3913127"/>
            <a:ext cx="1981212" cy="8336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Falha em um Servidor redistribui a carga</a:t>
            </a:r>
          </a:p>
        </p:txBody>
      </p:sp>
      <p:cxnSp>
        <p:nvCxnSpPr>
          <p:cNvPr id="59" name="Conector de Seta Reta 39">
            <a:extLst>
              <a:ext uri="{FF2B5EF4-FFF2-40B4-BE49-F238E27FC236}">
                <a16:creationId xmlns:a16="http://schemas.microsoft.com/office/drawing/2014/main" id="{029E3ECC-4642-EFAF-3F0D-171ACAFB710A}"/>
              </a:ext>
            </a:extLst>
          </p:cNvPr>
          <p:cNvCxnSpPr>
            <a:cxnSpLocks/>
            <a:stCxn id="58" idx="1"/>
            <a:endCxn id="5" idx="3"/>
          </p:cNvCxnSpPr>
          <p:nvPr/>
        </p:nvCxnSpPr>
        <p:spPr>
          <a:xfrm flipH="1">
            <a:off x="8001586" y="4329933"/>
            <a:ext cx="798851" cy="361556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tângulo 61">
            <a:extLst>
              <a:ext uri="{FF2B5EF4-FFF2-40B4-BE49-F238E27FC236}">
                <a16:creationId xmlns:a16="http://schemas.microsoft.com/office/drawing/2014/main" id="{54F29E71-2C24-2483-F236-30052ECBEB9F}"/>
              </a:ext>
            </a:extLst>
          </p:cNvPr>
          <p:cNvSpPr/>
          <p:nvPr/>
        </p:nvSpPr>
        <p:spPr>
          <a:xfrm>
            <a:off x="9471669" y="5804739"/>
            <a:ext cx="1981212" cy="8336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Auto </a:t>
            </a:r>
            <a:r>
              <a:rPr lang="pt-BR" b="1" noProof="0" dirty="0" err="1">
                <a:solidFill>
                  <a:srgbClr val="3865B6"/>
                </a:solidFill>
              </a:rPr>
              <a:t>Scaling</a:t>
            </a:r>
            <a:r>
              <a:rPr lang="pt-BR" b="1" noProof="0" dirty="0">
                <a:solidFill>
                  <a:srgbClr val="3865B6"/>
                </a:solidFill>
              </a:rPr>
              <a:t> cria nova estancia quando </a:t>
            </a:r>
            <a:r>
              <a:rPr lang="pt-BR" b="1" noProof="0" dirty="0" err="1">
                <a:solidFill>
                  <a:srgbClr val="3865B6"/>
                </a:solidFill>
              </a:rPr>
              <a:t>necessario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206F3FFB-4318-7F5B-1DE6-2351B596603F}"/>
              </a:ext>
            </a:extLst>
          </p:cNvPr>
          <p:cNvSpPr/>
          <p:nvPr/>
        </p:nvSpPr>
        <p:spPr>
          <a:xfrm>
            <a:off x="6514878" y="4234288"/>
            <a:ext cx="2099701" cy="2462707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cxnSp>
        <p:nvCxnSpPr>
          <p:cNvPr id="64" name="Conector de Seta Reta 39">
            <a:extLst>
              <a:ext uri="{FF2B5EF4-FFF2-40B4-BE49-F238E27FC236}">
                <a16:creationId xmlns:a16="http://schemas.microsoft.com/office/drawing/2014/main" id="{D785D49C-67D9-ABE5-5FAA-8AA5A1E84C93}"/>
              </a:ext>
            </a:extLst>
          </p:cNvPr>
          <p:cNvCxnSpPr>
            <a:cxnSpLocks/>
            <a:endCxn id="63" idx="5"/>
          </p:cNvCxnSpPr>
          <p:nvPr/>
        </p:nvCxnSpPr>
        <p:spPr>
          <a:xfrm flipH="1">
            <a:off x="8307085" y="6200392"/>
            <a:ext cx="1164584" cy="135948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3506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5BB42-E4EC-AFC7-703D-ADEA76FE9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AWS - Tipos de </a:t>
            </a:r>
            <a:r>
              <a:rPr lang="pt-BR" noProof="0" dirty="0" err="1"/>
              <a:t>Load</a:t>
            </a:r>
            <a:r>
              <a:rPr lang="pt-BR" noProof="0" dirty="0"/>
              <a:t> Balance 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5AC014-EEE4-E110-ADFA-633335135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9802" cy="4351338"/>
          </a:xfrm>
        </p:spPr>
        <p:txBody>
          <a:bodyPr/>
          <a:lstStyle/>
          <a:p>
            <a:r>
              <a:rPr lang="pt-BR" noProof="0" dirty="0"/>
              <a:t>ALB – Está na camada 7 do padrão de rede </a:t>
            </a:r>
            <a:r>
              <a:rPr lang="pt-BR" noProof="0" dirty="0" err="1"/>
              <a:t>osi</a:t>
            </a:r>
            <a:r>
              <a:rPr lang="pt-BR" noProof="0" dirty="0"/>
              <a:t>. Consegue fazer o balanceamento pela aplicação (apontamento para instancias, endereço </a:t>
            </a:r>
            <a:r>
              <a:rPr lang="pt-BR" noProof="0" dirty="0" err="1"/>
              <a:t>ip</a:t>
            </a:r>
            <a:r>
              <a:rPr lang="pt-BR" noProof="0" dirty="0"/>
              <a:t>, lambda, </a:t>
            </a:r>
            <a:r>
              <a:rPr lang="pt-BR" noProof="0" dirty="0" err="1"/>
              <a:t>conteiners</a:t>
            </a:r>
            <a:r>
              <a:rPr lang="pt-BR" noProof="0" dirty="0"/>
              <a:t> entre outros).</a:t>
            </a:r>
          </a:p>
          <a:p>
            <a:r>
              <a:rPr lang="pt-BR" noProof="0" dirty="0"/>
              <a:t>NLB – Está na camada 4 do padrão </a:t>
            </a:r>
            <a:r>
              <a:rPr lang="pt-BR" noProof="0" dirty="0" err="1"/>
              <a:t>osi</a:t>
            </a:r>
            <a:r>
              <a:rPr lang="pt-BR" noProof="0" dirty="0"/>
              <a:t>. É o balanceamento mais perto do hardware, mais </a:t>
            </a:r>
            <a:r>
              <a:rPr lang="pt-BR" noProof="0" dirty="0" err="1"/>
              <a:t>performatico</a:t>
            </a:r>
            <a:r>
              <a:rPr lang="pt-BR" noProof="0" dirty="0"/>
              <a:t> (apontamento para endereço IP, e no máximo </a:t>
            </a:r>
            <a:r>
              <a:rPr lang="pt-BR" noProof="0" dirty="0" err="1"/>
              <a:t>protocol</a:t>
            </a:r>
            <a:r>
              <a:rPr lang="pt-BR" noProof="0" dirty="0"/>
              <a:t> de transporte).</a:t>
            </a:r>
          </a:p>
        </p:txBody>
      </p:sp>
      <p:pic>
        <p:nvPicPr>
          <p:cNvPr id="7" name="Espaço Reservado para Conteúdo 4">
            <a:extLst>
              <a:ext uri="{FF2B5EF4-FFF2-40B4-BE49-F238E27FC236}">
                <a16:creationId xmlns:a16="http://schemas.microsoft.com/office/drawing/2014/main" id="{04EC42F8-D424-D592-6969-E319FF3B3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002" y="1027906"/>
            <a:ext cx="463867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308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3692F-5692-C849-ABA2-CDA8F4784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AWS API Gateway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8EBE99-DAB0-E6C3-A838-0D3B3009D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Gerencia serviços http, </a:t>
            </a:r>
            <a:r>
              <a:rPr lang="pt-BR" dirty="0" err="1"/>
              <a:t>rest</a:t>
            </a:r>
            <a:r>
              <a:rPr lang="pt-BR" dirty="0"/>
              <a:t> e </a:t>
            </a:r>
            <a:r>
              <a:rPr lang="pt-BR" dirty="0" err="1"/>
              <a:t>websocket</a:t>
            </a:r>
            <a:r>
              <a:rPr lang="pt-BR" dirty="0"/>
              <a:t>.</a:t>
            </a:r>
          </a:p>
          <a:p>
            <a:r>
              <a:rPr lang="pt-BR" dirty="0"/>
              <a:t>HTTP e REST suportam </a:t>
            </a:r>
            <a:r>
              <a:rPr lang="pt-BR" dirty="0" err="1"/>
              <a:t>request</a:t>
            </a:r>
            <a:r>
              <a:rPr lang="pt-BR" dirty="0"/>
              <a:t> e response.</a:t>
            </a:r>
          </a:p>
          <a:p>
            <a:r>
              <a:rPr lang="pt-BR" dirty="0" err="1"/>
              <a:t>Websockets</a:t>
            </a:r>
            <a:r>
              <a:rPr lang="pt-BR" dirty="0"/>
              <a:t> suporta mensagens bidirecionais e broadcasting.</a:t>
            </a:r>
          </a:p>
          <a:p>
            <a:r>
              <a:rPr lang="pt-BR" dirty="0"/>
              <a:t>Features suportadas são diferentes dependendo do http, </a:t>
            </a:r>
            <a:r>
              <a:rPr lang="pt-BR" dirty="0" err="1"/>
              <a:t>rest</a:t>
            </a:r>
            <a:r>
              <a:rPr lang="pt-BR" dirty="0"/>
              <a:t> ou </a:t>
            </a:r>
            <a:r>
              <a:rPr lang="pt-BR" dirty="0" err="1"/>
              <a:t>websockets</a:t>
            </a:r>
            <a:r>
              <a:rPr lang="pt-BR" dirty="0"/>
              <a:t>.</a:t>
            </a:r>
          </a:p>
          <a:p>
            <a:r>
              <a:rPr lang="pt-BR" dirty="0"/>
              <a:t>HTTP: conjunto de recursos básicos que permitem a você construir uma API REST de baixa latência e baixo custo.</a:t>
            </a:r>
          </a:p>
          <a:p>
            <a:r>
              <a:rPr lang="pt-BR" dirty="0"/>
              <a:t>REST: </a:t>
            </a:r>
            <a:r>
              <a:rPr lang="pt-BR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recursos aprimorados da API REST, adicionando funcionalidade extra a um custo mais alto e maior latência</a:t>
            </a:r>
          </a:p>
          <a:p>
            <a:r>
              <a:rPr lang="pt-BR" dirty="0">
                <a:solidFill>
                  <a:srgbClr val="1F1F1F"/>
                </a:solidFill>
                <a:latin typeface="Arial" panose="020B0604020202020204" pitchFamily="34" charset="0"/>
              </a:rPr>
              <a:t>WEBSOCKET: permite comunicação bidirecional em tempo real entre cliente e servidor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5285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7271-B8A6-D3AE-02A2-46AA66566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FCDB7-8A0F-75A1-ABC6-F6FD016A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AWS Funções da API Gateway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A46069-B790-6FF9-CE40-360E37395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Apontamento dinâmico para os serviços.</a:t>
            </a:r>
          </a:p>
          <a:p>
            <a:r>
              <a:rPr lang="pt-BR" dirty="0"/>
              <a:t>Pode cuidar de autenticação e autorização.</a:t>
            </a:r>
          </a:p>
          <a:p>
            <a:r>
              <a:rPr lang="pt-BR" dirty="0"/>
              <a:t>Métricas de acesso mais claras.</a:t>
            </a:r>
          </a:p>
          <a:p>
            <a:r>
              <a:rPr lang="pt-BR" dirty="0"/>
              <a:t>Implementa medidas de segurança.</a:t>
            </a:r>
          </a:p>
          <a:p>
            <a:r>
              <a:rPr lang="pt-BR" dirty="0"/>
              <a:t>Possui cache para aplicação.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2405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BFBDC-7D1F-0ED2-03E3-BFDA4DB75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2ABE9-CD8D-D492-2AC3-B7CFB6087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7" y="2187743"/>
            <a:ext cx="9185229" cy="248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6700" noProof="0" dirty="0"/>
              <a:t>Banco de Dados </a:t>
            </a:r>
            <a:r>
              <a:rPr lang="pt-BR" sz="6700" noProof="0" dirty="0" err="1"/>
              <a:t>aws</a:t>
            </a:r>
            <a:br>
              <a:rPr lang="pt-BR" sz="8800" noProof="0" dirty="0"/>
            </a:br>
            <a:r>
              <a:rPr lang="pt-BR" sz="3600" noProof="0" dirty="0" err="1"/>
              <a:t>Databases</a:t>
            </a:r>
            <a:endParaRPr lang="pt-BR" sz="3600" kern="1200" noProof="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DCBDA93-27E8-2A3B-3790-AA664BF0D0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1" y="2743201"/>
            <a:ext cx="1371600" cy="13716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B1A4A6D-5743-CCB3-8BEE-9C80B99890E1}"/>
              </a:ext>
            </a:extLst>
          </p:cNvPr>
          <p:cNvSpPr/>
          <p:nvPr/>
        </p:nvSpPr>
        <p:spPr>
          <a:xfrm>
            <a:off x="8434931" y="6226936"/>
            <a:ext cx="3531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noProof="0" dirty="0">
                <a:hlinkClick r:id="rId4"/>
              </a:rPr>
              <a:t>https://docs.aws.amazon.com/</a:t>
            </a:r>
            <a:endParaRPr lang="pt-BR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276C642-BAE4-AA7C-9352-A2C64965C181}"/>
              </a:ext>
            </a:extLst>
          </p:cNvPr>
          <p:cNvSpPr/>
          <p:nvPr/>
        </p:nvSpPr>
        <p:spPr>
          <a:xfrm>
            <a:off x="8434931" y="5857604"/>
            <a:ext cx="289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noProof="0" dirty="0">
                <a:hlinkClick r:id="rId5"/>
              </a:rPr>
              <a:t>https://aws.amazon.com/pt/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276680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45DDA-A29D-8D7D-3A11-D46E6292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AWS -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FB8833-D0BF-E21E-EE9B-CA1AD170B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Sistemas de armazenamento de informações.</a:t>
            </a:r>
          </a:p>
          <a:p>
            <a:r>
              <a:rPr lang="pt-BR" noProof="0" dirty="0"/>
              <a:t>Permite dois tipos de </a:t>
            </a:r>
            <a:r>
              <a:rPr lang="pt-BR" dirty="0"/>
              <a:t>r</a:t>
            </a:r>
            <a:r>
              <a:rPr lang="pt-BR" noProof="0" dirty="0" err="1"/>
              <a:t>eplicas</a:t>
            </a:r>
            <a:r>
              <a:rPr lang="pt-BR" noProof="0" dirty="0"/>
              <a:t>: </a:t>
            </a:r>
            <a:r>
              <a:rPr lang="pt-BR" noProof="0" dirty="0" err="1"/>
              <a:t>Disaster</a:t>
            </a:r>
            <a:r>
              <a:rPr lang="pt-BR" noProof="0" dirty="0"/>
              <a:t> </a:t>
            </a:r>
            <a:r>
              <a:rPr lang="pt-BR" noProof="0" dirty="0" err="1"/>
              <a:t>recovery</a:t>
            </a:r>
            <a:r>
              <a:rPr lang="pt-BR" noProof="0" dirty="0"/>
              <a:t> com </a:t>
            </a:r>
            <a:r>
              <a:rPr lang="pt-BR" noProof="0" dirty="0" err="1"/>
              <a:t>Multi</a:t>
            </a:r>
            <a:r>
              <a:rPr lang="pt-BR" noProof="0" dirty="0"/>
              <a:t> AZ ou Escalabilidade com </a:t>
            </a:r>
            <a:r>
              <a:rPr lang="pt-BR" noProof="0" dirty="0" err="1"/>
              <a:t>Read</a:t>
            </a:r>
            <a:r>
              <a:rPr lang="pt-BR" noProof="0" dirty="0"/>
              <a:t> Replica.</a:t>
            </a:r>
          </a:p>
          <a:p>
            <a:r>
              <a:rPr lang="pt-BR" noProof="0" dirty="0"/>
              <a:t>Dois tipos:</a:t>
            </a:r>
          </a:p>
          <a:p>
            <a:pPr lvl="1"/>
            <a:r>
              <a:rPr lang="pt-BR" noProof="0" dirty="0"/>
              <a:t>Relacional – Banco de dados que usa várias tabelas e as informações são relacionadas por índices.  </a:t>
            </a:r>
          </a:p>
          <a:p>
            <a:pPr lvl="1"/>
            <a:r>
              <a:rPr lang="pt-BR" noProof="0" dirty="0"/>
              <a:t>Não Relacional – Banco de dados que usa chave valor em uma tabela de duas colunas. A primeira coluna é o índice (chave).</a:t>
            </a:r>
          </a:p>
          <a:p>
            <a:r>
              <a:rPr lang="pt-BR" noProof="0" dirty="0" err="1"/>
              <a:t>Databases</a:t>
            </a:r>
            <a:r>
              <a:rPr lang="pt-BR" noProof="0" dirty="0"/>
              <a:t> utilizados: </a:t>
            </a:r>
            <a:r>
              <a:rPr lang="pt-BR" noProof="0" dirty="0" err="1"/>
              <a:t>aws</a:t>
            </a:r>
            <a:r>
              <a:rPr lang="pt-BR" noProof="0" dirty="0"/>
              <a:t> aurora, maria </a:t>
            </a:r>
            <a:r>
              <a:rPr lang="pt-BR" noProof="0" dirty="0" err="1"/>
              <a:t>db</a:t>
            </a:r>
            <a:r>
              <a:rPr lang="pt-BR" noProof="0" dirty="0"/>
              <a:t>, </a:t>
            </a:r>
            <a:r>
              <a:rPr lang="pt-BR" noProof="0" dirty="0" err="1"/>
              <a:t>postgreeSql</a:t>
            </a:r>
            <a:r>
              <a:rPr lang="pt-BR" noProof="0" dirty="0"/>
              <a:t>, </a:t>
            </a:r>
            <a:r>
              <a:rPr lang="pt-BR" noProof="0" dirty="0" err="1"/>
              <a:t>mysql</a:t>
            </a:r>
            <a:r>
              <a:rPr lang="pt-BR" noProof="0" dirty="0"/>
              <a:t>, </a:t>
            </a:r>
            <a:r>
              <a:rPr lang="pt-BR" noProof="0" dirty="0" err="1"/>
              <a:t>oracle</a:t>
            </a:r>
            <a:r>
              <a:rPr lang="pt-BR" noProof="0" dirty="0"/>
              <a:t>, </a:t>
            </a:r>
            <a:r>
              <a:rPr lang="pt-BR" noProof="0" dirty="0" err="1"/>
              <a:t>sqlserver</a:t>
            </a:r>
            <a:r>
              <a:rPr lang="pt-BR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9532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88838-98F2-B6EF-198A-A6D2F0D8E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Aws</a:t>
            </a:r>
            <a:r>
              <a:rPr lang="pt-BR" noProof="0" dirty="0"/>
              <a:t> - </a:t>
            </a:r>
            <a:r>
              <a:rPr lang="pt-BR" noProof="0" dirty="0" err="1"/>
              <a:t>Database</a:t>
            </a:r>
            <a:r>
              <a:rPr lang="pt-BR" noProof="0" dirty="0"/>
              <a:t> Backup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61FF18-66F5-28D9-EC31-98A0C311F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 err="1"/>
              <a:t>Automated</a:t>
            </a:r>
            <a:r>
              <a:rPr lang="pt-BR" noProof="0" dirty="0"/>
              <a:t> – Configurado dentro da </a:t>
            </a:r>
            <a:r>
              <a:rPr lang="pt-BR" noProof="0" dirty="0" err="1"/>
              <a:t>database</a:t>
            </a:r>
            <a:r>
              <a:rPr lang="pt-BR" noProof="0" dirty="0"/>
              <a:t>. </a:t>
            </a:r>
            <a:r>
              <a:rPr lang="pt-BR" noProof="0" dirty="0" err="1"/>
              <a:t>Armazana</a:t>
            </a:r>
            <a:r>
              <a:rPr lang="pt-BR" noProof="0" dirty="0"/>
              <a:t> os dados em uma </a:t>
            </a:r>
            <a:r>
              <a:rPr lang="pt-BR" noProof="0" dirty="0" err="1"/>
              <a:t>bucket</a:t>
            </a:r>
            <a:r>
              <a:rPr lang="pt-BR" noProof="0" dirty="0"/>
              <a:t>. O </a:t>
            </a:r>
            <a:r>
              <a:rPr lang="pt-BR" noProof="0" dirty="0" err="1"/>
              <a:t>armazanamento</a:t>
            </a:r>
            <a:r>
              <a:rPr lang="pt-BR" noProof="0" dirty="0"/>
              <a:t> pode ser até por segundos, de 1 dia até 5 dias.</a:t>
            </a:r>
          </a:p>
          <a:p>
            <a:r>
              <a:rPr lang="pt-BR" noProof="0" dirty="0" err="1"/>
              <a:t>Database</a:t>
            </a:r>
            <a:r>
              <a:rPr lang="pt-BR" noProof="0" dirty="0"/>
              <a:t> </a:t>
            </a:r>
            <a:r>
              <a:rPr lang="pt-BR" noProof="0" dirty="0" err="1"/>
              <a:t>Snapchot</a:t>
            </a:r>
            <a:r>
              <a:rPr lang="pt-BR" noProof="0" dirty="0"/>
              <a:t>: Backup de maneira manual, cria uma foto da situação atual.</a:t>
            </a:r>
          </a:p>
        </p:txBody>
      </p:sp>
    </p:spTree>
    <p:extLst>
      <p:ext uri="{BB962C8B-B14F-4D97-AF65-F5344CB8AC3E}">
        <p14:creationId xmlns:p14="http://schemas.microsoft.com/office/powerpoint/2010/main" val="1825257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FDD4C-7FB4-1811-3E16-8E2D70C8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AWS Dynamo DB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D793B8-14A8-2700-C8AC-5D41A6B9D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noProof="0" dirty="0"/>
              <a:t>No </a:t>
            </a:r>
            <a:r>
              <a:rPr lang="pt-BR" noProof="0" dirty="0" err="1"/>
              <a:t>sql</a:t>
            </a:r>
            <a:r>
              <a:rPr lang="pt-BR" noProof="0" dirty="0"/>
              <a:t>.</a:t>
            </a:r>
          </a:p>
          <a:p>
            <a:r>
              <a:rPr lang="pt-BR" noProof="0" dirty="0"/>
              <a:t>Acesso na casa dos </a:t>
            </a:r>
            <a:r>
              <a:rPr lang="pt-BR" noProof="0" dirty="0" err="1"/>
              <a:t>milisegundos</a:t>
            </a:r>
            <a:r>
              <a:rPr lang="pt-BR" noProof="0" dirty="0"/>
              <a:t>.</a:t>
            </a:r>
          </a:p>
          <a:p>
            <a:r>
              <a:rPr lang="pt-BR" noProof="0" dirty="0" err="1"/>
              <a:t>Latencia</a:t>
            </a:r>
            <a:r>
              <a:rPr lang="pt-BR" noProof="0" dirty="0"/>
              <a:t> é muito baixa.</a:t>
            </a:r>
          </a:p>
          <a:p>
            <a:r>
              <a:rPr lang="pt-BR" noProof="0" dirty="0"/>
              <a:t>Chave valor, onde valor pode ser documentos.</a:t>
            </a:r>
          </a:p>
          <a:p>
            <a:r>
              <a:rPr lang="pt-BR" noProof="0" dirty="0"/>
              <a:t>Ideal para aplicativos web, mobile e games.</a:t>
            </a:r>
          </a:p>
          <a:p>
            <a:r>
              <a:rPr lang="pt-BR" noProof="0" dirty="0"/>
              <a:t> Armazenamento em SSD, discos </a:t>
            </a:r>
            <a:r>
              <a:rPr lang="pt-BR" noProof="0" dirty="0" err="1"/>
              <a:t>solidos</a:t>
            </a:r>
            <a:r>
              <a:rPr lang="pt-BR" noProof="0" dirty="0"/>
              <a:t>.</a:t>
            </a:r>
          </a:p>
          <a:p>
            <a:r>
              <a:rPr lang="pt-BR" noProof="0" dirty="0"/>
              <a:t>Sempre em 3 datacenters.</a:t>
            </a:r>
          </a:p>
          <a:p>
            <a:r>
              <a:rPr lang="pt-BR" noProof="0" dirty="0"/>
              <a:t>Leitura de Dados:</a:t>
            </a:r>
          </a:p>
          <a:p>
            <a:pPr lvl="1"/>
            <a:r>
              <a:rPr lang="pt-BR" noProof="0" dirty="0" err="1"/>
              <a:t>Consistent</a:t>
            </a:r>
            <a:r>
              <a:rPr lang="pt-BR" noProof="0" dirty="0"/>
              <a:t> </a:t>
            </a:r>
            <a:r>
              <a:rPr lang="pt-BR" noProof="0" dirty="0" err="1"/>
              <a:t>read</a:t>
            </a:r>
            <a:r>
              <a:rPr lang="pt-BR" noProof="0" dirty="0"/>
              <a:t>, delay entre escrita e leitura de um Segundo.</a:t>
            </a:r>
          </a:p>
          <a:p>
            <a:pPr lvl="1"/>
            <a:r>
              <a:rPr lang="pt-BR" noProof="0" dirty="0" err="1"/>
              <a:t>Strongly</a:t>
            </a:r>
            <a:r>
              <a:rPr lang="pt-BR" noProof="0" dirty="0"/>
              <a:t> </a:t>
            </a:r>
            <a:r>
              <a:rPr lang="pt-BR" noProof="0" dirty="0" err="1"/>
              <a:t>consistent</a:t>
            </a:r>
            <a:r>
              <a:rPr lang="pt-BR" noProof="0" dirty="0"/>
              <a:t> </a:t>
            </a:r>
            <a:r>
              <a:rPr lang="pt-BR" noProof="0" dirty="0" err="1"/>
              <a:t>read</a:t>
            </a:r>
            <a:r>
              <a:rPr lang="pt-BR" noProof="0" dirty="0"/>
              <a:t>, delay entre escrita e leitura menor que um Segundo.</a:t>
            </a:r>
          </a:p>
        </p:txBody>
      </p:sp>
    </p:spTree>
    <p:extLst>
      <p:ext uri="{BB962C8B-B14F-4D97-AF65-F5344CB8AC3E}">
        <p14:creationId xmlns:p14="http://schemas.microsoft.com/office/powerpoint/2010/main" val="35134388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6009C-6495-80BD-A15E-BBAFAA5F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AWS - </a:t>
            </a:r>
            <a:r>
              <a:rPr lang="pt-BR" noProof="0" dirty="0" err="1"/>
              <a:t>Elasticache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7F0B48-11FF-15FE-1F29-FE86EC5FF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Serviço de banco de dados em memória.</a:t>
            </a:r>
          </a:p>
          <a:p>
            <a:r>
              <a:rPr lang="pt-BR" noProof="0" dirty="0"/>
              <a:t>Banco de Dados mais </a:t>
            </a:r>
            <a:r>
              <a:rPr lang="pt-BR" noProof="0" dirty="0" err="1"/>
              <a:t>rapido</a:t>
            </a:r>
            <a:r>
              <a:rPr lang="pt-BR" noProof="0" dirty="0"/>
              <a:t> da </a:t>
            </a:r>
            <a:r>
              <a:rPr lang="pt-BR" noProof="0" dirty="0" err="1"/>
              <a:t>aws</a:t>
            </a:r>
            <a:r>
              <a:rPr lang="pt-BR" noProof="0" dirty="0"/>
              <a:t>.</a:t>
            </a:r>
          </a:p>
          <a:p>
            <a:r>
              <a:rPr lang="pt-BR" noProof="0" dirty="0"/>
              <a:t>Tem dois tipos:</a:t>
            </a:r>
          </a:p>
          <a:p>
            <a:pPr lvl="1"/>
            <a:r>
              <a:rPr lang="pt-BR" noProof="0" dirty="0" err="1"/>
              <a:t>Mencached</a:t>
            </a:r>
            <a:r>
              <a:rPr lang="pt-BR" noProof="0" dirty="0"/>
              <a:t>: armazena valores em objetos.</a:t>
            </a:r>
          </a:p>
          <a:p>
            <a:pPr lvl="1"/>
            <a:r>
              <a:rPr lang="pt-BR" noProof="0" dirty="0"/>
              <a:t>Redis: armazena chave valor e aceita </a:t>
            </a:r>
            <a:r>
              <a:rPr lang="pt-BR" noProof="0" dirty="0" err="1"/>
              <a:t>multi-AZ</a:t>
            </a:r>
            <a:r>
              <a:rPr lang="pt-BR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41081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477B0F-B8FE-75A1-13F6-74E9D09D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AWS </a:t>
            </a:r>
            <a:r>
              <a:rPr lang="pt-BR" noProof="0" dirty="0" err="1"/>
              <a:t>RedShift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7663E1-D7B6-74BE-DEEA-35972832F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noProof="0" dirty="0"/>
              <a:t>Banco de dados para </a:t>
            </a:r>
            <a:r>
              <a:rPr lang="pt-BR" noProof="0" dirty="0" err="1"/>
              <a:t>warehouse</a:t>
            </a:r>
            <a:r>
              <a:rPr lang="pt-BR" noProof="0" dirty="0"/>
              <a:t>.</a:t>
            </a:r>
          </a:p>
          <a:p>
            <a:r>
              <a:rPr lang="pt-BR" noProof="0" dirty="0"/>
              <a:t>Banco de Dados para grandes quantidades de itens.</a:t>
            </a:r>
          </a:p>
          <a:p>
            <a:r>
              <a:rPr lang="pt-BR" noProof="0" dirty="0"/>
              <a:t>Consegue guardar os dados comprimidos.</a:t>
            </a:r>
          </a:p>
          <a:p>
            <a:r>
              <a:rPr lang="pt-BR" noProof="0" dirty="0"/>
              <a:t>Leitura em colunas.</a:t>
            </a:r>
          </a:p>
          <a:p>
            <a:r>
              <a:rPr lang="pt-BR" noProof="0" dirty="0"/>
              <a:t>Uma instancia mínima de 160GB.</a:t>
            </a:r>
          </a:p>
          <a:p>
            <a:r>
              <a:rPr lang="pt-BR" noProof="0" dirty="0"/>
              <a:t>Tem 2 tipos:</a:t>
            </a:r>
          </a:p>
          <a:p>
            <a:pPr lvl="1"/>
            <a:r>
              <a:rPr lang="pt-BR" noProof="0" dirty="0"/>
              <a:t>Single Node, uma instancia.</a:t>
            </a:r>
          </a:p>
          <a:p>
            <a:pPr lvl="1"/>
            <a:r>
              <a:rPr lang="pt-BR" noProof="0" dirty="0"/>
              <a:t>Compute </a:t>
            </a:r>
            <a:r>
              <a:rPr lang="pt-BR" noProof="0" dirty="0" err="1"/>
              <a:t>mode</a:t>
            </a:r>
            <a:r>
              <a:rPr lang="pt-BR" noProof="0" dirty="0"/>
              <a:t>, até 128 instancias.</a:t>
            </a:r>
          </a:p>
          <a:p>
            <a:r>
              <a:rPr lang="pt-BR" noProof="0" dirty="0"/>
              <a:t>MPP (</a:t>
            </a:r>
            <a:r>
              <a:rPr lang="pt-BR" noProof="0" dirty="0" err="1"/>
              <a:t>message</a:t>
            </a:r>
            <a:r>
              <a:rPr lang="pt-BR" noProof="0" dirty="0"/>
              <a:t> </a:t>
            </a:r>
            <a:r>
              <a:rPr lang="pt-BR" noProof="0" dirty="0" err="1"/>
              <a:t>paraleling</a:t>
            </a:r>
            <a:r>
              <a:rPr lang="pt-BR" noProof="0" dirty="0"/>
              <a:t> </a:t>
            </a:r>
            <a:r>
              <a:rPr lang="pt-BR" noProof="0" dirty="0" err="1"/>
              <a:t>process</a:t>
            </a:r>
            <a:r>
              <a:rPr lang="pt-BR" noProof="0" dirty="0"/>
              <a:t>) – faz leitura em varias instancias ao mesmo tempo. </a:t>
            </a:r>
          </a:p>
          <a:p>
            <a:r>
              <a:rPr lang="pt-BR" noProof="0" dirty="0"/>
              <a:t>Não permite </a:t>
            </a:r>
            <a:r>
              <a:rPr lang="pt-BR" noProof="0" dirty="0" err="1"/>
              <a:t>multi</a:t>
            </a:r>
            <a:r>
              <a:rPr lang="pt-BR" noProof="0" dirty="0"/>
              <a:t> AZ.</a:t>
            </a:r>
          </a:p>
        </p:txBody>
      </p:sp>
    </p:spTree>
    <p:extLst>
      <p:ext uri="{BB962C8B-B14F-4D97-AF65-F5344CB8AC3E}">
        <p14:creationId xmlns:p14="http://schemas.microsoft.com/office/powerpoint/2010/main" val="33458557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6FD6B-8E0C-368C-19C3-4FBEB57E0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AWS Aurora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927388-D680-E75C-9373-F119B8B27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noProof="0" dirty="0"/>
              <a:t>Proprietária da Amazon.</a:t>
            </a:r>
          </a:p>
          <a:p>
            <a:r>
              <a:rPr lang="pt-BR" noProof="0" dirty="0"/>
              <a:t>Compatível com </a:t>
            </a:r>
            <a:r>
              <a:rPr lang="pt-BR" noProof="0" dirty="0" err="1"/>
              <a:t>mySQL</a:t>
            </a:r>
            <a:r>
              <a:rPr lang="pt-BR" noProof="0" dirty="0"/>
              <a:t>.</a:t>
            </a:r>
          </a:p>
          <a:p>
            <a:r>
              <a:rPr lang="pt-BR" noProof="0" dirty="0"/>
              <a:t>Em teste foi provado 5 vezes mais rápido.</a:t>
            </a:r>
          </a:p>
          <a:p>
            <a:r>
              <a:rPr lang="pt-BR" noProof="0" dirty="0"/>
              <a:t>Por ser proprietária, é 10 vezes mais barata.</a:t>
            </a:r>
          </a:p>
          <a:p>
            <a:r>
              <a:rPr lang="pt-BR" noProof="0" dirty="0"/>
              <a:t>Primeira instancia com 10GB.</a:t>
            </a:r>
          </a:p>
          <a:p>
            <a:r>
              <a:rPr lang="pt-BR" noProof="0" dirty="0"/>
              <a:t>Auto </a:t>
            </a:r>
            <a:r>
              <a:rPr lang="pt-BR" noProof="0" dirty="0" err="1"/>
              <a:t>Scaling</a:t>
            </a:r>
            <a:r>
              <a:rPr lang="pt-BR" noProof="0" dirty="0"/>
              <a:t> automático, limitada a 64 </a:t>
            </a:r>
            <a:r>
              <a:rPr lang="pt-BR" noProof="0" dirty="0" err="1"/>
              <a:t>terabites</a:t>
            </a:r>
            <a:r>
              <a:rPr lang="pt-BR" noProof="0" dirty="0"/>
              <a:t>.</a:t>
            </a:r>
          </a:p>
          <a:p>
            <a:r>
              <a:rPr lang="pt-BR" noProof="0" dirty="0"/>
              <a:t>Resposta de leitura e escrita são separadas em replicas.</a:t>
            </a:r>
          </a:p>
          <a:p>
            <a:r>
              <a:rPr lang="pt-BR" noProof="0" dirty="0" err="1"/>
              <a:t>Recover</a:t>
            </a:r>
            <a:r>
              <a:rPr lang="pt-BR" noProof="0" dirty="0"/>
              <a:t> é point in time, consegue </a:t>
            </a:r>
            <a:r>
              <a:rPr lang="pt-BR" noProof="0" dirty="0" err="1"/>
              <a:t>recurar</a:t>
            </a:r>
            <a:r>
              <a:rPr lang="pt-BR" noProof="0" dirty="0"/>
              <a:t> qualquer ponto no tempo.</a:t>
            </a:r>
          </a:p>
          <a:p>
            <a:r>
              <a:rPr lang="pt-BR" noProof="0" dirty="0"/>
              <a:t>Backup continuo em 3 zonas diferentes.</a:t>
            </a:r>
          </a:p>
        </p:txBody>
      </p:sp>
    </p:spTree>
    <p:extLst>
      <p:ext uri="{BB962C8B-B14F-4D97-AF65-F5344CB8AC3E}">
        <p14:creationId xmlns:p14="http://schemas.microsoft.com/office/powerpoint/2010/main" val="32924747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F791FB9-E626-68CC-D7D7-FD65222CA2BB}"/>
              </a:ext>
            </a:extLst>
          </p:cNvPr>
          <p:cNvSpPr/>
          <p:nvPr/>
        </p:nvSpPr>
        <p:spPr>
          <a:xfrm>
            <a:off x="597727" y="1431235"/>
            <a:ext cx="11337788" cy="50616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400" b="1" noProof="0" dirty="0">
                <a:solidFill>
                  <a:srgbClr val="002060"/>
                </a:solidFill>
              </a:rPr>
              <a:t>Arquitetura </a:t>
            </a:r>
            <a:r>
              <a:rPr lang="pt-BR" sz="2400" b="1" noProof="0" dirty="0" err="1">
                <a:solidFill>
                  <a:srgbClr val="002060"/>
                </a:solidFill>
              </a:rPr>
              <a:t>Load</a:t>
            </a:r>
            <a:r>
              <a:rPr lang="pt-BR" sz="2400" b="1" noProof="0" dirty="0">
                <a:solidFill>
                  <a:srgbClr val="002060"/>
                </a:solidFill>
              </a:rPr>
              <a:t> Balance </a:t>
            </a:r>
            <a:r>
              <a:rPr lang="pt-BR" sz="2400" b="1" noProof="0" dirty="0" err="1">
                <a:solidFill>
                  <a:srgbClr val="002060"/>
                </a:solidFill>
              </a:rPr>
              <a:t>Read</a:t>
            </a:r>
            <a:r>
              <a:rPr lang="pt-BR" sz="2400" b="1" noProof="0" dirty="0">
                <a:solidFill>
                  <a:srgbClr val="002060"/>
                </a:solidFill>
              </a:rPr>
              <a:t> Replica e </a:t>
            </a:r>
            <a:r>
              <a:rPr lang="pt-BR" sz="2400" b="1" noProof="0" dirty="0" err="1">
                <a:solidFill>
                  <a:srgbClr val="002060"/>
                </a:solidFill>
              </a:rPr>
              <a:t>Multi</a:t>
            </a:r>
            <a:r>
              <a:rPr lang="pt-BR" sz="2400" b="1" noProof="0" dirty="0">
                <a:solidFill>
                  <a:srgbClr val="002060"/>
                </a:solidFill>
              </a:rPr>
              <a:t> AZ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29D3DA2-8112-BAA4-D05D-31F8FCE523D1}"/>
              </a:ext>
            </a:extLst>
          </p:cNvPr>
          <p:cNvSpPr/>
          <p:nvPr/>
        </p:nvSpPr>
        <p:spPr>
          <a:xfrm>
            <a:off x="5572409" y="3803564"/>
            <a:ext cx="6079253" cy="21986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400" b="1" noProof="0" dirty="0">
                <a:solidFill>
                  <a:srgbClr val="002060"/>
                </a:solidFill>
              </a:rPr>
              <a:t>AV Zone 2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B5C3D163-1B78-59F0-757C-0AFB5A3ED83A}"/>
              </a:ext>
            </a:extLst>
          </p:cNvPr>
          <p:cNvSpPr/>
          <p:nvPr/>
        </p:nvSpPr>
        <p:spPr>
          <a:xfrm>
            <a:off x="5572411" y="1884797"/>
            <a:ext cx="6079252" cy="16320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400" b="1" noProof="0" dirty="0" err="1">
                <a:solidFill>
                  <a:srgbClr val="002060"/>
                </a:solidFill>
              </a:rPr>
              <a:t>Av</a:t>
            </a:r>
            <a:r>
              <a:rPr lang="pt-BR" sz="2400" b="1" noProof="0" dirty="0">
                <a:solidFill>
                  <a:srgbClr val="002060"/>
                </a:solidFill>
              </a:rPr>
              <a:t> Zone 1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DBE2B8-9499-E42E-B5F7-2F1ADCEDF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AWS – </a:t>
            </a:r>
            <a:r>
              <a:rPr lang="pt-BR" noProof="0" dirty="0" err="1"/>
              <a:t>Databases</a:t>
            </a:r>
            <a:r>
              <a:rPr lang="pt-BR" noProof="0" dirty="0"/>
              <a:t>.</a:t>
            </a:r>
          </a:p>
        </p:txBody>
      </p:sp>
      <p:pic>
        <p:nvPicPr>
          <p:cNvPr id="5" name="Gráfico 5" descr="Internet">
            <a:extLst>
              <a:ext uri="{FF2B5EF4-FFF2-40B4-BE49-F238E27FC236}">
                <a16:creationId xmlns:a16="http://schemas.microsoft.com/office/drawing/2014/main" id="{4D8B94DE-76BA-DE71-4013-6F5E33CBA6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310" y="2504759"/>
            <a:ext cx="914400" cy="914400"/>
          </a:xfrm>
          <a:prstGeom prst="rect">
            <a:avLst/>
          </a:prstGeom>
        </p:spPr>
      </p:pic>
      <p:pic>
        <p:nvPicPr>
          <p:cNvPr id="6" name="Gráfico 14" descr="Programa">
            <a:extLst>
              <a:ext uri="{FF2B5EF4-FFF2-40B4-BE49-F238E27FC236}">
                <a16:creationId xmlns:a16="http://schemas.microsoft.com/office/drawing/2014/main" id="{F7BF42D0-0F5B-FC6B-AFFE-674E401AB5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76" y="3735559"/>
            <a:ext cx="965200" cy="965200"/>
          </a:xfrm>
          <a:prstGeom prst="rect">
            <a:avLst/>
          </a:prstGeom>
        </p:spPr>
      </p:pic>
      <p:pic>
        <p:nvPicPr>
          <p:cNvPr id="7" name="Gráfico 49" descr="Banco de dados">
            <a:extLst>
              <a:ext uri="{FF2B5EF4-FFF2-40B4-BE49-F238E27FC236}">
                <a16:creationId xmlns:a16="http://schemas.microsoft.com/office/drawing/2014/main" id="{7C516417-F4E6-D89B-97E3-537E5E3938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66" y="2507478"/>
            <a:ext cx="771842" cy="843742"/>
          </a:xfrm>
          <a:prstGeom prst="rect">
            <a:avLst/>
          </a:prstGeom>
        </p:spPr>
      </p:pic>
      <p:pic>
        <p:nvPicPr>
          <p:cNvPr id="8" name="Gráfico 5" descr="Internet">
            <a:extLst>
              <a:ext uri="{FF2B5EF4-FFF2-40B4-BE49-F238E27FC236}">
                <a16:creationId xmlns:a16="http://schemas.microsoft.com/office/drawing/2014/main" id="{E9FAC80C-C2C7-58CA-9394-EE3D61E39A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028" y="4348765"/>
            <a:ext cx="914400" cy="9144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AC44E67-5FB7-9690-921D-D53DAC4F0D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4083" y="3962054"/>
            <a:ext cx="628650" cy="600075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AE6BE86-CA3F-EEDE-667B-3FE4C9232C05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612876" y="4218159"/>
            <a:ext cx="2331207" cy="43933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EB23F0F-322D-0382-8871-4E79EE676C5A}"/>
              </a:ext>
            </a:extLst>
          </p:cNvPr>
          <p:cNvCxnSpPr>
            <a:cxnSpLocks/>
            <a:stCxn id="9" idx="3"/>
            <a:endCxn id="23" idx="2"/>
          </p:cNvCxnSpPr>
          <p:nvPr/>
        </p:nvCxnSpPr>
        <p:spPr>
          <a:xfrm>
            <a:off x="4572733" y="4262092"/>
            <a:ext cx="2140927" cy="31613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áfico 5" descr="Internet">
            <a:extLst>
              <a:ext uri="{FF2B5EF4-FFF2-40B4-BE49-F238E27FC236}">
                <a16:creationId xmlns:a16="http://schemas.microsoft.com/office/drawing/2014/main" id="{93D6673B-06C8-1112-36CF-BBA3D06700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028" y="5092647"/>
            <a:ext cx="914400" cy="914400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765A66F6-5C1F-8CBF-26D3-66F6E200910F}"/>
              </a:ext>
            </a:extLst>
          </p:cNvPr>
          <p:cNvSpPr/>
          <p:nvPr/>
        </p:nvSpPr>
        <p:spPr>
          <a:xfrm>
            <a:off x="8489401" y="2316512"/>
            <a:ext cx="1981212" cy="8336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Replica Em outro datacenter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F6DBDC1-1845-7C17-AC49-17F81B852528}"/>
              </a:ext>
            </a:extLst>
          </p:cNvPr>
          <p:cNvSpPr/>
          <p:nvPr/>
        </p:nvSpPr>
        <p:spPr>
          <a:xfrm>
            <a:off x="8480277" y="5430959"/>
            <a:ext cx="1981212" cy="8336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Redundancia</a:t>
            </a:r>
            <a:r>
              <a:rPr lang="pt-BR" b="1" noProof="0" dirty="0">
                <a:solidFill>
                  <a:srgbClr val="3865B6"/>
                </a:solidFill>
              </a:rPr>
              <a:t> Local e </a:t>
            </a:r>
            <a:r>
              <a:rPr lang="pt-BR" b="1" noProof="0" dirty="0" err="1">
                <a:solidFill>
                  <a:srgbClr val="3865B6"/>
                </a:solidFill>
              </a:rPr>
              <a:t>Read</a:t>
            </a:r>
            <a:r>
              <a:rPr lang="pt-BR" b="1" noProof="0" dirty="0">
                <a:solidFill>
                  <a:srgbClr val="3865B6"/>
                </a:solidFill>
              </a:rPr>
              <a:t> Replica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48C70BB-F293-DDCD-FCEF-3D6CDAB527E8}"/>
              </a:ext>
            </a:extLst>
          </p:cNvPr>
          <p:cNvSpPr/>
          <p:nvPr/>
        </p:nvSpPr>
        <p:spPr>
          <a:xfrm>
            <a:off x="6713660" y="2411896"/>
            <a:ext cx="2099701" cy="3763618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41" name="Gráfico 49" descr="Banco de dados">
            <a:extLst>
              <a:ext uri="{FF2B5EF4-FFF2-40B4-BE49-F238E27FC236}">
                <a16:creationId xmlns:a16="http://schemas.microsoft.com/office/drawing/2014/main" id="{41C35E12-95B6-7B5B-5DCF-7EC30A76E2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2482" y="4890940"/>
            <a:ext cx="771842" cy="843742"/>
          </a:xfrm>
          <a:prstGeom prst="rect">
            <a:avLst/>
          </a:prstGeom>
        </p:spPr>
      </p:pic>
      <p:pic>
        <p:nvPicPr>
          <p:cNvPr id="42" name="Gráfico 49" descr="Banco de dados">
            <a:extLst>
              <a:ext uri="{FF2B5EF4-FFF2-40B4-BE49-F238E27FC236}">
                <a16:creationId xmlns:a16="http://schemas.microsoft.com/office/drawing/2014/main" id="{22CDA0CD-9506-9570-D8B7-25590D74BE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2482" y="4040168"/>
            <a:ext cx="771842" cy="843742"/>
          </a:xfrm>
          <a:prstGeom prst="rect">
            <a:avLst/>
          </a:prstGeom>
        </p:spPr>
      </p:pic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26149F84-8371-2817-0A77-3AA9E4587ECC}"/>
              </a:ext>
            </a:extLst>
          </p:cNvPr>
          <p:cNvCxnSpPr>
            <a:cxnSpLocks/>
            <a:stCxn id="23" idx="6"/>
            <a:endCxn id="78" idx="2"/>
          </p:cNvCxnSpPr>
          <p:nvPr/>
        </p:nvCxnSpPr>
        <p:spPr>
          <a:xfrm flipV="1">
            <a:off x="8813361" y="4142614"/>
            <a:ext cx="1259297" cy="151091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>
            <a:extLst>
              <a:ext uri="{FF2B5EF4-FFF2-40B4-BE49-F238E27FC236}">
                <a16:creationId xmlns:a16="http://schemas.microsoft.com/office/drawing/2014/main" id="{5D4F0AC3-2151-8155-02F5-B7DBF7499100}"/>
              </a:ext>
            </a:extLst>
          </p:cNvPr>
          <p:cNvSpPr/>
          <p:nvPr/>
        </p:nvSpPr>
        <p:spPr>
          <a:xfrm>
            <a:off x="10072658" y="2427766"/>
            <a:ext cx="2099701" cy="3429696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697113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95695-FA21-00A9-A1B6-480B1189C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A34517-F32A-627E-26F5-5EE4AB9F0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7" y="2187743"/>
            <a:ext cx="9185229" cy="248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6000" noProof="0" dirty="0"/>
              <a:t>DNS CACHE e PERFORMACE</a:t>
            </a:r>
            <a:br>
              <a:rPr lang="pt-BR" sz="8800" noProof="0" dirty="0"/>
            </a:br>
            <a:endParaRPr lang="pt-BR" sz="3600" kern="1200" noProof="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D6B62F5-F8F2-6371-3ABE-1BD02FD8AC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1" y="2743201"/>
            <a:ext cx="1371600" cy="13716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E01DD80-535E-4B3D-260B-D0EF69A7D3E0}"/>
              </a:ext>
            </a:extLst>
          </p:cNvPr>
          <p:cNvSpPr/>
          <p:nvPr/>
        </p:nvSpPr>
        <p:spPr>
          <a:xfrm>
            <a:off x="8434931" y="6226936"/>
            <a:ext cx="3531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noProof="0" dirty="0">
                <a:hlinkClick r:id="rId4"/>
              </a:rPr>
              <a:t>https://docs.aws.amazon.com/</a:t>
            </a:r>
            <a:endParaRPr lang="pt-BR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DF0948C-D87C-7F46-0BDF-AAF9922EACB2}"/>
              </a:ext>
            </a:extLst>
          </p:cNvPr>
          <p:cNvSpPr/>
          <p:nvPr/>
        </p:nvSpPr>
        <p:spPr>
          <a:xfrm>
            <a:off x="8434931" y="5857604"/>
            <a:ext cx="289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noProof="0" dirty="0">
                <a:hlinkClick r:id="rId5"/>
              </a:rPr>
              <a:t>https://aws.amazon.com/pt/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145125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F68A5-419F-5E78-106E-3AFB09093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7" y="366772"/>
            <a:ext cx="10515600" cy="1325563"/>
          </a:xfrm>
        </p:spPr>
        <p:txBody>
          <a:bodyPr/>
          <a:lstStyle/>
          <a:p>
            <a:r>
              <a:rPr lang="pt-BR" noProof="0" dirty="0"/>
              <a:t>DNS – Domain </a:t>
            </a:r>
            <a:r>
              <a:rPr lang="pt-BR" noProof="0" dirty="0" err="1"/>
              <a:t>Name</a:t>
            </a:r>
            <a:r>
              <a:rPr lang="pt-BR" noProof="0" dirty="0"/>
              <a:t> System.</a:t>
            </a:r>
          </a:p>
        </p:txBody>
      </p:sp>
      <p:pic>
        <p:nvPicPr>
          <p:cNvPr id="5" name="Gráfico 5" descr="Internet">
            <a:extLst>
              <a:ext uri="{FF2B5EF4-FFF2-40B4-BE49-F238E27FC236}">
                <a16:creationId xmlns:a16="http://schemas.microsoft.com/office/drawing/2014/main" id="{2D986884-3AA5-4AD7-1FAA-BC2EDC8F4E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147" y="2595868"/>
            <a:ext cx="914400" cy="914400"/>
          </a:xfrm>
          <a:prstGeom prst="rect">
            <a:avLst/>
          </a:prstGeom>
        </p:spPr>
      </p:pic>
      <p:pic>
        <p:nvPicPr>
          <p:cNvPr id="6" name="Gráfico 14" descr="Programa">
            <a:extLst>
              <a:ext uri="{FF2B5EF4-FFF2-40B4-BE49-F238E27FC236}">
                <a16:creationId xmlns:a16="http://schemas.microsoft.com/office/drawing/2014/main" id="{22300EE1-D884-090A-C566-C86FD10A89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67" y="4988804"/>
            <a:ext cx="965200" cy="965200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9C4E12A-6A5D-85B1-53B7-4F451FFBA357}"/>
              </a:ext>
            </a:extLst>
          </p:cNvPr>
          <p:cNvCxnSpPr>
            <a:cxnSpLocks/>
            <a:stCxn id="6" idx="0"/>
            <a:endCxn id="5" idx="1"/>
          </p:cNvCxnSpPr>
          <p:nvPr/>
        </p:nvCxnSpPr>
        <p:spPr>
          <a:xfrm flipV="1">
            <a:off x="937867" y="3053068"/>
            <a:ext cx="3089280" cy="1935736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BE86ECE4-475F-E7E5-8FB1-70B0A015829C}"/>
              </a:ext>
            </a:extLst>
          </p:cNvPr>
          <p:cNvSpPr/>
          <p:nvPr/>
        </p:nvSpPr>
        <p:spPr>
          <a:xfrm>
            <a:off x="2583355" y="1256198"/>
            <a:ext cx="1964415" cy="8316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ISP - Servidor DNS</a:t>
            </a:r>
          </a:p>
          <a:p>
            <a:pPr algn="ctr"/>
            <a:r>
              <a:rPr lang="pt-BR" b="1" noProof="0" dirty="0">
                <a:solidFill>
                  <a:srgbClr val="3865B6"/>
                </a:solidFill>
              </a:rPr>
              <a:t>Internet Service </a:t>
            </a:r>
            <a:r>
              <a:rPr lang="pt-BR" b="1" noProof="0" dirty="0" err="1">
                <a:solidFill>
                  <a:srgbClr val="3865B6"/>
                </a:solidFill>
              </a:rPr>
              <a:t>Provider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16" name="Conector de Seta Reta 39">
            <a:extLst>
              <a:ext uri="{FF2B5EF4-FFF2-40B4-BE49-F238E27FC236}">
                <a16:creationId xmlns:a16="http://schemas.microsoft.com/office/drawing/2014/main" id="{44E4566A-C9AC-1D48-4FB9-0400967584E8}"/>
              </a:ext>
            </a:extLst>
          </p:cNvPr>
          <p:cNvCxnSpPr>
            <a:cxnSpLocks/>
            <a:stCxn id="15" idx="2"/>
            <a:endCxn id="5" idx="0"/>
          </p:cNvCxnSpPr>
          <p:nvPr/>
        </p:nvCxnSpPr>
        <p:spPr>
          <a:xfrm>
            <a:off x="3565563" y="2087868"/>
            <a:ext cx="918784" cy="508000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áfico 5" descr="Internet">
            <a:extLst>
              <a:ext uri="{FF2B5EF4-FFF2-40B4-BE49-F238E27FC236}">
                <a16:creationId xmlns:a16="http://schemas.microsoft.com/office/drawing/2014/main" id="{22F5300A-3BED-B037-471D-11304273C3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193" y="1733309"/>
            <a:ext cx="914400" cy="914400"/>
          </a:xfrm>
          <a:prstGeom prst="rect">
            <a:avLst/>
          </a:prstGeom>
        </p:spPr>
      </p:pic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8CCDC8DF-7D36-FA90-F389-164E83C00A2B}"/>
              </a:ext>
            </a:extLst>
          </p:cNvPr>
          <p:cNvCxnSpPr>
            <a:cxnSpLocks/>
            <a:stCxn id="5" idx="3"/>
            <a:endCxn id="38" idx="1"/>
          </p:cNvCxnSpPr>
          <p:nvPr/>
        </p:nvCxnSpPr>
        <p:spPr>
          <a:xfrm flipV="1">
            <a:off x="4941547" y="2190509"/>
            <a:ext cx="1554646" cy="862559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áfico 5" descr="Internet">
            <a:extLst>
              <a:ext uri="{FF2B5EF4-FFF2-40B4-BE49-F238E27FC236}">
                <a16:creationId xmlns:a16="http://schemas.microsoft.com/office/drawing/2014/main" id="{9D511942-85D9-18C8-4EE0-63F74B9229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279" y="2543058"/>
            <a:ext cx="914400" cy="914400"/>
          </a:xfrm>
          <a:prstGeom prst="rect">
            <a:avLst/>
          </a:prstGeom>
        </p:spPr>
      </p:pic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AB7BB9E6-47F5-C342-253E-789F152E3BBF}"/>
              </a:ext>
            </a:extLst>
          </p:cNvPr>
          <p:cNvCxnSpPr>
            <a:cxnSpLocks/>
            <a:stCxn id="5" idx="3"/>
            <a:endCxn id="40" idx="1"/>
          </p:cNvCxnSpPr>
          <p:nvPr/>
        </p:nvCxnSpPr>
        <p:spPr>
          <a:xfrm flipV="1">
            <a:off x="4941547" y="3000258"/>
            <a:ext cx="1569732" cy="5281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Gráfico 5" descr="Internet">
            <a:extLst>
              <a:ext uri="{FF2B5EF4-FFF2-40B4-BE49-F238E27FC236}">
                <a16:creationId xmlns:a16="http://schemas.microsoft.com/office/drawing/2014/main" id="{63503C77-2DEB-9EB9-B1E6-1897CAFD60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875" y="3232108"/>
            <a:ext cx="914400" cy="914400"/>
          </a:xfrm>
          <a:prstGeom prst="rect">
            <a:avLst/>
          </a:prstGeom>
        </p:spPr>
      </p:pic>
      <p:pic>
        <p:nvPicPr>
          <p:cNvPr id="44" name="Gráfico 5" descr="Internet">
            <a:extLst>
              <a:ext uri="{FF2B5EF4-FFF2-40B4-BE49-F238E27FC236}">
                <a16:creationId xmlns:a16="http://schemas.microsoft.com/office/drawing/2014/main" id="{8EF2BFD5-FDCD-0E3A-D3E7-EBEFC4A38F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235" y="3888939"/>
            <a:ext cx="914400" cy="914400"/>
          </a:xfrm>
          <a:prstGeom prst="rect">
            <a:avLst/>
          </a:prstGeom>
        </p:spPr>
      </p:pic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0E56A043-A3D5-56EB-840B-30B0D7D47EC1}"/>
              </a:ext>
            </a:extLst>
          </p:cNvPr>
          <p:cNvCxnSpPr>
            <a:cxnSpLocks/>
            <a:stCxn id="5" idx="3"/>
            <a:endCxn id="44" idx="1"/>
          </p:cNvCxnSpPr>
          <p:nvPr/>
        </p:nvCxnSpPr>
        <p:spPr>
          <a:xfrm>
            <a:off x="4941547" y="3053068"/>
            <a:ext cx="1663688" cy="1293071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ráfico 5" descr="Internet">
            <a:extLst>
              <a:ext uri="{FF2B5EF4-FFF2-40B4-BE49-F238E27FC236}">
                <a16:creationId xmlns:a16="http://schemas.microsoft.com/office/drawing/2014/main" id="{E85A457D-2B96-9C8F-5081-E9D7D40E14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020" y="5889975"/>
            <a:ext cx="914400" cy="914400"/>
          </a:xfrm>
          <a:prstGeom prst="rect">
            <a:avLst/>
          </a:prstGeom>
        </p:spPr>
      </p:pic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3F257240-52F8-DA9D-2EA2-F836528FB33F}"/>
              </a:ext>
            </a:extLst>
          </p:cNvPr>
          <p:cNvCxnSpPr>
            <a:cxnSpLocks/>
          </p:cNvCxnSpPr>
          <p:nvPr/>
        </p:nvCxnSpPr>
        <p:spPr>
          <a:xfrm flipV="1">
            <a:off x="1125777" y="6294865"/>
            <a:ext cx="7995481" cy="181878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9FD358D0-F278-C3DB-4B9F-2FEFAEB680A7}"/>
              </a:ext>
            </a:extLst>
          </p:cNvPr>
          <p:cNvSpPr/>
          <p:nvPr/>
        </p:nvSpPr>
        <p:spPr>
          <a:xfrm>
            <a:off x="10144410" y="5999891"/>
            <a:ext cx="1810565" cy="58994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Amazon 162.219.227.196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1B2EC11C-1332-6171-428A-DC446AD8A5A0}"/>
              </a:ext>
            </a:extLst>
          </p:cNvPr>
          <p:cNvSpPr/>
          <p:nvPr/>
        </p:nvSpPr>
        <p:spPr>
          <a:xfrm>
            <a:off x="242598" y="3855075"/>
            <a:ext cx="1898538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amazon.com.br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D19521FC-980F-80F3-A0A4-97609370FBD2}"/>
              </a:ext>
            </a:extLst>
          </p:cNvPr>
          <p:cNvSpPr/>
          <p:nvPr/>
        </p:nvSpPr>
        <p:spPr>
          <a:xfrm>
            <a:off x="1469262" y="2724010"/>
            <a:ext cx="1867114" cy="9144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DNS Query</a:t>
            </a:r>
          </a:p>
          <a:p>
            <a:pPr algn="ctr"/>
            <a:r>
              <a:rPr lang="pt-BR" b="1" noProof="0" dirty="0">
                <a:solidFill>
                  <a:srgbClr val="3865B6"/>
                </a:solidFill>
              </a:rPr>
              <a:t>Pelo nome, consulta o IP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631FC964-0087-AB0E-1EA0-35C1D583EF3D}"/>
              </a:ext>
            </a:extLst>
          </p:cNvPr>
          <p:cNvSpPr/>
          <p:nvPr/>
        </p:nvSpPr>
        <p:spPr>
          <a:xfrm>
            <a:off x="8329479" y="901639"/>
            <a:ext cx="3597479" cy="9144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ROOT DNS – Diz qual servidor deve procurar com base no final da </a:t>
            </a:r>
            <a:r>
              <a:rPr lang="pt-BR" b="1" noProof="0" dirty="0" err="1">
                <a:solidFill>
                  <a:srgbClr val="3865B6"/>
                </a:solidFill>
              </a:rPr>
              <a:t>url</a:t>
            </a:r>
            <a:endParaRPr lang="pt-BR" b="1" noProof="0" dirty="0">
              <a:solidFill>
                <a:srgbClr val="3865B6"/>
              </a:solidFill>
            </a:endParaRPr>
          </a:p>
          <a:p>
            <a:pPr algn="ctr"/>
            <a:r>
              <a:rPr lang="pt-BR" b="1" noProof="0" dirty="0">
                <a:solidFill>
                  <a:srgbClr val="3865B6"/>
                </a:solidFill>
              </a:rPr>
              <a:t>Com.br</a:t>
            </a:r>
          </a:p>
        </p:txBody>
      </p:sp>
      <p:cxnSp>
        <p:nvCxnSpPr>
          <p:cNvPr id="60" name="Conector de Seta Reta 39">
            <a:extLst>
              <a:ext uri="{FF2B5EF4-FFF2-40B4-BE49-F238E27FC236}">
                <a16:creationId xmlns:a16="http://schemas.microsoft.com/office/drawing/2014/main" id="{CB0A7EC8-CBB1-0673-9967-B9A01C0591A6}"/>
              </a:ext>
            </a:extLst>
          </p:cNvPr>
          <p:cNvCxnSpPr>
            <a:cxnSpLocks/>
            <a:stCxn id="59" idx="1"/>
            <a:endCxn id="38" idx="3"/>
          </p:cNvCxnSpPr>
          <p:nvPr/>
        </p:nvCxnSpPr>
        <p:spPr>
          <a:xfrm flipH="1">
            <a:off x="7410593" y="1358839"/>
            <a:ext cx="918886" cy="831670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tângulo 66">
            <a:extLst>
              <a:ext uri="{FF2B5EF4-FFF2-40B4-BE49-F238E27FC236}">
                <a16:creationId xmlns:a16="http://schemas.microsoft.com/office/drawing/2014/main" id="{DDBACEA6-BAE3-5FC4-F1FC-E86CD1914B14}"/>
              </a:ext>
            </a:extLst>
          </p:cNvPr>
          <p:cNvSpPr/>
          <p:nvPr/>
        </p:nvSpPr>
        <p:spPr>
          <a:xfrm>
            <a:off x="8340079" y="1945177"/>
            <a:ext cx="3586879" cy="87584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TOP LEVEL DOMAIN – Contem dados específicos de uma </a:t>
            </a:r>
            <a:r>
              <a:rPr lang="pt-BR" b="1" noProof="0" dirty="0" err="1">
                <a:solidFill>
                  <a:srgbClr val="3865B6"/>
                </a:solidFill>
              </a:rPr>
              <a:t>url</a:t>
            </a:r>
            <a:endParaRPr lang="pt-BR" b="1" noProof="0" dirty="0">
              <a:solidFill>
                <a:srgbClr val="3865B6"/>
              </a:solidFill>
            </a:endParaRPr>
          </a:p>
          <a:p>
            <a:pPr algn="ctr"/>
            <a:r>
              <a:rPr lang="pt-BR" b="1" noProof="0" dirty="0">
                <a:solidFill>
                  <a:srgbClr val="3865B6"/>
                </a:solidFill>
              </a:rPr>
              <a:t>Com.br</a:t>
            </a:r>
          </a:p>
        </p:txBody>
      </p:sp>
      <p:cxnSp>
        <p:nvCxnSpPr>
          <p:cNvPr id="68" name="Conector de Seta Reta 39">
            <a:extLst>
              <a:ext uri="{FF2B5EF4-FFF2-40B4-BE49-F238E27FC236}">
                <a16:creationId xmlns:a16="http://schemas.microsoft.com/office/drawing/2014/main" id="{53BA18E5-9136-4B88-52EF-636FFD2A89F7}"/>
              </a:ext>
            </a:extLst>
          </p:cNvPr>
          <p:cNvCxnSpPr>
            <a:cxnSpLocks/>
            <a:stCxn id="67" idx="1"/>
            <a:endCxn id="40" idx="3"/>
          </p:cNvCxnSpPr>
          <p:nvPr/>
        </p:nvCxnSpPr>
        <p:spPr>
          <a:xfrm flipH="1">
            <a:off x="7425679" y="2383099"/>
            <a:ext cx="914400" cy="617159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tângulo 73">
            <a:extLst>
              <a:ext uri="{FF2B5EF4-FFF2-40B4-BE49-F238E27FC236}">
                <a16:creationId xmlns:a16="http://schemas.microsoft.com/office/drawing/2014/main" id="{94FE8069-0AE0-C796-FD7D-352D9A4F5DED}"/>
              </a:ext>
            </a:extLst>
          </p:cNvPr>
          <p:cNvSpPr/>
          <p:nvPr/>
        </p:nvSpPr>
        <p:spPr>
          <a:xfrm>
            <a:off x="9588091" y="3033184"/>
            <a:ext cx="2366884" cy="65612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Com.us, com.uk, com.it, </a:t>
            </a:r>
          </a:p>
        </p:txBody>
      </p:sp>
      <p:cxnSp>
        <p:nvCxnSpPr>
          <p:cNvPr id="78" name="Conector de Seta Reta 39">
            <a:extLst>
              <a:ext uri="{FF2B5EF4-FFF2-40B4-BE49-F238E27FC236}">
                <a16:creationId xmlns:a16="http://schemas.microsoft.com/office/drawing/2014/main" id="{EF792C5A-4C49-D5A1-9B64-D94FAE0D7A9E}"/>
              </a:ext>
            </a:extLst>
          </p:cNvPr>
          <p:cNvCxnSpPr>
            <a:cxnSpLocks/>
            <a:stCxn id="74" idx="1"/>
            <a:endCxn id="42" idx="3"/>
          </p:cNvCxnSpPr>
          <p:nvPr/>
        </p:nvCxnSpPr>
        <p:spPr>
          <a:xfrm flipH="1">
            <a:off x="7480275" y="3361246"/>
            <a:ext cx="2107816" cy="328062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tângulo 82">
            <a:extLst>
              <a:ext uri="{FF2B5EF4-FFF2-40B4-BE49-F238E27FC236}">
                <a16:creationId xmlns:a16="http://schemas.microsoft.com/office/drawing/2014/main" id="{754ADD9F-1420-CFF5-0363-F39E615002C5}"/>
              </a:ext>
            </a:extLst>
          </p:cNvPr>
          <p:cNvSpPr/>
          <p:nvPr/>
        </p:nvSpPr>
        <p:spPr>
          <a:xfrm>
            <a:off x="8329479" y="4126622"/>
            <a:ext cx="3689760" cy="9144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Autoritative</a:t>
            </a:r>
            <a:r>
              <a:rPr lang="pt-BR" b="1" noProof="0" dirty="0">
                <a:solidFill>
                  <a:srgbClr val="3865B6"/>
                </a:solidFill>
              </a:rPr>
              <a:t> </a:t>
            </a:r>
            <a:r>
              <a:rPr lang="pt-BR" b="1" noProof="0" dirty="0" err="1">
                <a:solidFill>
                  <a:srgbClr val="3865B6"/>
                </a:solidFill>
              </a:rPr>
              <a:t>Dyn</a:t>
            </a:r>
            <a:r>
              <a:rPr lang="pt-BR" b="1" noProof="0" dirty="0">
                <a:solidFill>
                  <a:srgbClr val="3865B6"/>
                </a:solidFill>
              </a:rPr>
              <a:t> DNS – Contem todos os endereços nunca usados na internet</a:t>
            </a:r>
          </a:p>
        </p:txBody>
      </p:sp>
      <p:cxnSp>
        <p:nvCxnSpPr>
          <p:cNvPr id="84" name="Conector de Seta Reta 39">
            <a:extLst>
              <a:ext uri="{FF2B5EF4-FFF2-40B4-BE49-F238E27FC236}">
                <a16:creationId xmlns:a16="http://schemas.microsoft.com/office/drawing/2014/main" id="{A6D51F38-F428-A586-3BE9-0E61C143DA9B}"/>
              </a:ext>
            </a:extLst>
          </p:cNvPr>
          <p:cNvCxnSpPr>
            <a:cxnSpLocks/>
            <a:stCxn id="83" idx="1"/>
            <a:endCxn id="44" idx="3"/>
          </p:cNvCxnSpPr>
          <p:nvPr/>
        </p:nvCxnSpPr>
        <p:spPr>
          <a:xfrm flipH="1" flipV="1">
            <a:off x="7519635" y="4346139"/>
            <a:ext cx="809844" cy="237683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>
            <a:extLst>
              <a:ext uri="{FF2B5EF4-FFF2-40B4-BE49-F238E27FC236}">
                <a16:creationId xmlns:a16="http://schemas.microsoft.com/office/drawing/2014/main" id="{4D30E0AA-7A76-534E-847E-BEBB80344C60}"/>
              </a:ext>
            </a:extLst>
          </p:cNvPr>
          <p:cNvCxnSpPr>
            <a:cxnSpLocks/>
            <a:stCxn id="5" idx="2"/>
            <a:endCxn id="6" idx="3"/>
          </p:cNvCxnSpPr>
          <p:nvPr/>
        </p:nvCxnSpPr>
        <p:spPr>
          <a:xfrm flipH="1">
            <a:off x="1420467" y="3510268"/>
            <a:ext cx="3063880" cy="1961136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52A0CE41-C43C-4501-F339-0D4B132AA4AC}"/>
              </a:ext>
            </a:extLst>
          </p:cNvPr>
          <p:cNvSpPr/>
          <p:nvPr/>
        </p:nvSpPr>
        <p:spPr>
          <a:xfrm>
            <a:off x="2239784" y="4788261"/>
            <a:ext cx="1898538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162.219.277.196</a:t>
            </a:r>
          </a:p>
        </p:txBody>
      </p:sp>
    </p:spTree>
    <p:extLst>
      <p:ext uri="{BB962C8B-B14F-4D97-AF65-F5344CB8AC3E}">
        <p14:creationId xmlns:p14="http://schemas.microsoft.com/office/powerpoint/2010/main" val="32335452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6B616-2A7F-9F12-FB8A-D545E4C8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Aws</a:t>
            </a:r>
            <a:r>
              <a:rPr lang="pt-BR" noProof="0" dirty="0"/>
              <a:t> - Route53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32A85B-C8FC-8FD6-6E09-036F20977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80045"/>
          </a:xfrm>
        </p:spPr>
        <p:txBody>
          <a:bodyPr/>
          <a:lstStyle/>
          <a:p>
            <a:r>
              <a:rPr lang="pt-BR" noProof="0" dirty="0"/>
              <a:t>Muito mais que um servidor DNS.</a:t>
            </a:r>
          </a:p>
          <a:p>
            <a:r>
              <a:rPr lang="pt-BR" noProof="0" dirty="0"/>
              <a:t>Permite criar politicas</a:t>
            </a:r>
          </a:p>
          <a:p>
            <a:r>
              <a:rPr lang="pt-BR" noProof="0" dirty="0"/>
              <a:t>Monitora os servidores e consegue redirecionar em caso de falha (</a:t>
            </a:r>
            <a:r>
              <a:rPr lang="pt-BR" noProof="0" dirty="0" err="1"/>
              <a:t>failover</a:t>
            </a:r>
            <a:r>
              <a:rPr lang="pt-BR" noProof="0" dirty="0"/>
              <a:t>)</a:t>
            </a:r>
          </a:p>
          <a:p>
            <a:r>
              <a:rPr lang="pt-BR" noProof="0" dirty="0"/>
              <a:t>Roteamento por </a:t>
            </a:r>
            <a:r>
              <a:rPr lang="pt-BR" noProof="0" dirty="0" err="1"/>
              <a:t>latencia</a:t>
            </a:r>
            <a:r>
              <a:rPr lang="pt-BR" noProof="0" dirty="0"/>
              <a:t>. </a:t>
            </a:r>
          </a:p>
          <a:p>
            <a:r>
              <a:rPr lang="pt-BR" noProof="0" dirty="0"/>
              <a:t>Roteamento da query DNS para servidores mais próximos, em diferentes regiões (</a:t>
            </a:r>
            <a:r>
              <a:rPr lang="pt-BR" noProof="0" dirty="0" err="1"/>
              <a:t>geolocation</a:t>
            </a:r>
            <a:r>
              <a:rPr lang="pt-BR" noProof="0" dirty="0"/>
              <a:t>).</a:t>
            </a:r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207730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D3ED2-D8D7-6B26-DEF7-68E2CE650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Aws</a:t>
            </a:r>
            <a:r>
              <a:rPr lang="pt-BR" noProof="0" dirty="0"/>
              <a:t> - Route53 </a:t>
            </a:r>
            <a:r>
              <a:rPr lang="pt-BR" noProof="0" dirty="0" err="1"/>
              <a:t>Hosted</a:t>
            </a:r>
            <a:r>
              <a:rPr lang="pt-BR" noProof="0" dirty="0"/>
              <a:t> Zone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1C00ABB-5B0E-D3EF-1AE6-6ACE22BF01F0}"/>
              </a:ext>
            </a:extLst>
          </p:cNvPr>
          <p:cNvSpPr/>
          <p:nvPr/>
        </p:nvSpPr>
        <p:spPr>
          <a:xfrm>
            <a:off x="5605670" y="1285461"/>
            <a:ext cx="6344258" cy="5035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Cloud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pic>
        <p:nvPicPr>
          <p:cNvPr id="5" name="Gráfico 5" descr="Internet">
            <a:extLst>
              <a:ext uri="{FF2B5EF4-FFF2-40B4-BE49-F238E27FC236}">
                <a16:creationId xmlns:a16="http://schemas.microsoft.com/office/drawing/2014/main" id="{84874D9C-5B44-7E13-A2C8-751EDF011D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4311082"/>
            <a:ext cx="914400" cy="914400"/>
          </a:xfrm>
          <a:prstGeom prst="rect">
            <a:avLst/>
          </a:prstGeom>
        </p:spPr>
      </p:pic>
      <p:pic>
        <p:nvPicPr>
          <p:cNvPr id="6" name="Gráfico 14" descr="Programa">
            <a:extLst>
              <a:ext uri="{FF2B5EF4-FFF2-40B4-BE49-F238E27FC236}">
                <a16:creationId xmlns:a16="http://schemas.microsoft.com/office/drawing/2014/main" id="{82C00437-2C5B-72FB-6FA4-AF62ABB130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50" y="4536332"/>
            <a:ext cx="965200" cy="965200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1F4FDD02-F435-D3B1-8228-8D6899A597CE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1566850" y="3708640"/>
            <a:ext cx="3476327" cy="1310292"/>
          </a:xfrm>
          <a:prstGeom prst="line">
            <a:avLst/>
          </a:prstGeom>
          <a:ln w="4762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39">
            <a:extLst>
              <a:ext uri="{FF2B5EF4-FFF2-40B4-BE49-F238E27FC236}">
                <a16:creationId xmlns:a16="http://schemas.microsoft.com/office/drawing/2014/main" id="{A9DC2A17-5544-3047-CFA2-A7A25B68773C}"/>
              </a:ext>
            </a:extLst>
          </p:cNvPr>
          <p:cNvCxnSpPr>
            <a:cxnSpLocks/>
            <a:stCxn id="9" idx="2"/>
            <a:endCxn id="6" idx="3"/>
          </p:cNvCxnSpPr>
          <p:nvPr/>
        </p:nvCxnSpPr>
        <p:spPr>
          <a:xfrm flipH="1">
            <a:off x="1566850" y="3078033"/>
            <a:ext cx="802420" cy="1940899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270E3E31-C8F7-CFAA-8AE5-1FC46FABCE1F}"/>
              </a:ext>
            </a:extLst>
          </p:cNvPr>
          <p:cNvSpPr/>
          <p:nvPr/>
        </p:nvSpPr>
        <p:spPr>
          <a:xfrm>
            <a:off x="601650" y="2518380"/>
            <a:ext cx="3535239" cy="5596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Usuário solicita www.empresa.com</a:t>
            </a:r>
          </a:p>
        </p:txBody>
      </p:sp>
      <p:pic>
        <p:nvPicPr>
          <p:cNvPr id="10" name="Gráfico 5" descr="Internet">
            <a:extLst>
              <a:ext uri="{FF2B5EF4-FFF2-40B4-BE49-F238E27FC236}">
                <a16:creationId xmlns:a16="http://schemas.microsoft.com/office/drawing/2014/main" id="{686C52A1-ACB1-5914-6016-2C31382AB7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638" y="4311082"/>
            <a:ext cx="914400" cy="9144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E5D7408-C55F-5C9F-88E5-B805538C2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177" y="3429000"/>
            <a:ext cx="1124986" cy="559279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6E761680-AFD2-04D8-4808-DF65F6684006}"/>
              </a:ext>
            </a:extLst>
          </p:cNvPr>
          <p:cNvSpPr/>
          <p:nvPr/>
        </p:nvSpPr>
        <p:spPr>
          <a:xfrm>
            <a:off x="2613161" y="1299004"/>
            <a:ext cx="2992509" cy="5596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Route53 devolve o </a:t>
            </a:r>
            <a:r>
              <a:rPr lang="pt-BR" b="1" noProof="0" dirty="0" err="1">
                <a:solidFill>
                  <a:srgbClr val="3865B6"/>
                </a:solidFill>
              </a:rPr>
              <a:t>Ip</a:t>
            </a:r>
            <a:r>
              <a:rPr lang="pt-BR" b="1" noProof="0" dirty="0">
                <a:solidFill>
                  <a:srgbClr val="3865B6"/>
                </a:solidFill>
              </a:rPr>
              <a:t> Publico</a:t>
            </a:r>
          </a:p>
        </p:txBody>
      </p:sp>
      <p:cxnSp>
        <p:nvCxnSpPr>
          <p:cNvPr id="19" name="Conector de Seta Reta 39">
            <a:extLst>
              <a:ext uri="{FF2B5EF4-FFF2-40B4-BE49-F238E27FC236}">
                <a16:creationId xmlns:a16="http://schemas.microsoft.com/office/drawing/2014/main" id="{5546110A-24F8-96AD-04D2-FB51B776BBAE}"/>
              </a:ext>
            </a:extLst>
          </p:cNvPr>
          <p:cNvCxnSpPr>
            <a:cxnSpLocks/>
            <a:stCxn id="18" idx="2"/>
            <a:endCxn id="13" idx="1"/>
          </p:cNvCxnSpPr>
          <p:nvPr/>
        </p:nvCxnSpPr>
        <p:spPr>
          <a:xfrm>
            <a:off x="4109416" y="1858657"/>
            <a:ext cx="933761" cy="1849983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E14B720D-74F1-80AC-612F-2348172A3C00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1566850" y="4768282"/>
            <a:ext cx="5575788" cy="25065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>
            <a:extLst>
              <a:ext uri="{FF2B5EF4-FFF2-40B4-BE49-F238E27FC236}">
                <a16:creationId xmlns:a16="http://schemas.microsoft.com/office/drawing/2014/main" id="{1ADACC72-35BA-CB2B-8AD4-768231B7808D}"/>
              </a:ext>
            </a:extLst>
          </p:cNvPr>
          <p:cNvSpPr/>
          <p:nvPr/>
        </p:nvSpPr>
        <p:spPr>
          <a:xfrm>
            <a:off x="1727356" y="5821263"/>
            <a:ext cx="3535239" cy="7680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Usuário encontra a EC2 pelo IP</a:t>
            </a:r>
          </a:p>
        </p:txBody>
      </p:sp>
      <p:cxnSp>
        <p:nvCxnSpPr>
          <p:cNvPr id="31" name="Conector de Seta Reta 39">
            <a:extLst>
              <a:ext uri="{FF2B5EF4-FFF2-40B4-BE49-F238E27FC236}">
                <a16:creationId xmlns:a16="http://schemas.microsoft.com/office/drawing/2014/main" id="{A5593137-6CAB-5AE2-E78D-CB6D14A04FF2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3494976" y="4928016"/>
            <a:ext cx="413552" cy="893247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tângulo 34">
            <a:extLst>
              <a:ext uri="{FF2B5EF4-FFF2-40B4-BE49-F238E27FC236}">
                <a16:creationId xmlns:a16="http://schemas.microsoft.com/office/drawing/2014/main" id="{E9038FAE-0EBC-4A22-45BA-E46D80A5BE0A}"/>
              </a:ext>
            </a:extLst>
          </p:cNvPr>
          <p:cNvSpPr/>
          <p:nvPr/>
        </p:nvSpPr>
        <p:spPr>
          <a:xfrm>
            <a:off x="8223397" y="3488829"/>
            <a:ext cx="3535239" cy="5596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Aplicação solicita dados em </a:t>
            </a:r>
            <a:r>
              <a:rPr lang="pt-BR" b="1" noProof="0" dirty="0" err="1">
                <a:solidFill>
                  <a:srgbClr val="3865B6"/>
                </a:solidFill>
              </a:rPr>
              <a:t>empresa.local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39" name="Conector de Seta Reta 39">
            <a:extLst>
              <a:ext uri="{FF2B5EF4-FFF2-40B4-BE49-F238E27FC236}">
                <a16:creationId xmlns:a16="http://schemas.microsoft.com/office/drawing/2014/main" id="{72D9AEBE-9FBE-B732-E8B1-34FEE7230C1D}"/>
              </a:ext>
            </a:extLst>
          </p:cNvPr>
          <p:cNvCxnSpPr>
            <a:cxnSpLocks/>
            <a:stCxn id="35" idx="1"/>
            <a:endCxn id="10" idx="0"/>
          </p:cNvCxnSpPr>
          <p:nvPr/>
        </p:nvCxnSpPr>
        <p:spPr>
          <a:xfrm flipH="1">
            <a:off x="7599838" y="3768656"/>
            <a:ext cx="623559" cy="542426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6DA31C58-3A7C-2CC2-F88C-133C476FAF82}"/>
              </a:ext>
            </a:extLst>
          </p:cNvPr>
          <p:cNvCxnSpPr>
            <a:cxnSpLocks/>
            <a:stCxn id="10" idx="0"/>
            <a:endCxn id="13" idx="3"/>
          </p:cNvCxnSpPr>
          <p:nvPr/>
        </p:nvCxnSpPr>
        <p:spPr>
          <a:xfrm flipH="1" flipV="1">
            <a:off x="6168163" y="3708640"/>
            <a:ext cx="1431675" cy="602442"/>
          </a:xfrm>
          <a:prstGeom prst="line">
            <a:avLst/>
          </a:prstGeom>
          <a:ln w="4762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tângulo 47">
            <a:extLst>
              <a:ext uri="{FF2B5EF4-FFF2-40B4-BE49-F238E27FC236}">
                <a16:creationId xmlns:a16="http://schemas.microsoft.com/office/drawing/2014/main" id="{A677E0FC-38CB-5426-1875-4E38466F296B}"/>
              </a:ext>
            </a:extLst>
          </p:cNvPr>
          <p:cNvSpPr/>
          <p:nvPr/>
        </p:nvSpPr>
        <p:spPr>
          <a:xfrm>
            <a:off x="5633143" y="1987266"/>
            <a:ext cx="2992509" cy="5596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Route53 devolve o </a:t>
            </a:r>
            <a:r>
              <a:rPr lang="pt-BR" b="1" noProof="0" dirty="0" err="1">
                <a:solidFill>
                  <a:srgbClr val="3865B6"/>
                </a:solidFill>
              </a:rPr>
              <a:t>Ip</a:t>
            </a:r>
            <a:r>
              <a:rPr lang="pt-BR" b="1" noProof="0" dirty="0">
                <a:solidFill>
                  <a:srgbClr val="3865B6"/>
                </a:solidFill>
              </a:rPr>
              <a:t> Privado</a:t>
            </a:r>
          </a:p>
        </p:txBody>
      </p:sp>
      <p:cxnSp>
        <p:nvCxnSpPr>
          <p:cNvPr id="49" name="Conector de Seta Reta 39">
            <a:extLst>
              <a:ext uri="{FF2B5EF4-FFF2-40B4-BE49-F238E27FC236}">
                <a16:creationId xmlns:a16="http://schemas.microsoft.com/office/drawing/2014/main" id="{33D4D0AE-3F13-3D13-7CA2-74828F68D49F}"/>
              </a:ext>
            </a:extLst>
          </p:cNvPr>
          <p:cNvCxnSpPr>
            <a:cxnSpLocks/>
            <a:stCxn id="48" idx="2"/>
            <a:endCxn id="13" idx="3"/>
          </p:cNvCxnSpPr>
          <p:nvPr/>
        </p:nvCxnSpPr>
        <p:spPr>
          <a:xfrm flipH="1">
            <a:off x="6168163" y="2546919"/>
            <a:ext cx="961235" cy="1161721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6C19C202-7758-93BA-3A19-DDA7583B1445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8057038" y="4768282"/>
            <a:ext cx="2382362" cy="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4AA907C7-F865-F317-CE90-D750E31E6482}"/>
              </a:ext>
            </a:extLst>
          </p:cNvPr>
          <p:cNvSpPr/>
          <p:nvPr/>
        </p:nvSpPr>
        <p:spPr>
          <a:xfrm>
            <a:off x="7361361" y="5374639"/>
            <a:ext cx="3535239" cy="7680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Aplicação encontra a EC2 pelo IP</a:t>
            </a:r>
          </a:p>
        </p:txBody>
      </p:sp>
      <p:cxnSp>
        <p:nvCxnSpPr>
          <p:cNvPr id="62" name="Conector de Seta Reta 39">
            <a:extLst>
              <a:ext uri="{FF2B5EF4-FFF2-40B4-BE49-F238E27FC236}">
                <a16:creationId xmlns:a16="http://schemas.microsoft.com/office/drawing/2014/main" id="{798CC5FE-E549-11EB-4592-E2E7FD7EA521}"/>
              </a:ext>
            </a:extLst>
          </p:cNvPr>
          <p:cNvCxnSpPr>
            <a:cxnSpLocks/>
            <a:stCxn id="59" idx="0"/>
            <a:endCxn id="10" idx="3"/>
          </p:cNvCxnSpPr>
          <p:nvPr/>
        </p:nvCxnSpPr>
        <p:spPr>
          <a:xfrm flipH="1" flipV="1">
            <a:off x="8057038" y="4768282"/>
            <a:ext cx="1071943" cy="606357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6959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552A8-10AF-C40A-EB1F-0CD2DB07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Politicas do Route53 - AWS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F30C4A-9EDD-292C-9D75-6CC933EA0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noProof="0" dirty="0" err="1"/>
              <a:t>Simple</a:t>
            </a:r>
            <a:r>
              <a:rPr lang="pt-BR" noProof="0" dirty="0"/>
              <a:t> </a:t>
            </a:r>
            <a:r>
              <a:rPr lang="pt-BR" noProof="0" dirty="0" err="1"/>
              <a:t>Routing</a:t>
            </a:r>
            <a:r>
              <a:rPr lang="pt-BR" noProof="0" dirty="0"/>
              <a:t> – Simplesmente pergunta o </a:t>
            </a:r>
            <a:r>
              <a:rPr lang="pt-BR" noProof="0" dirty="0" err="1"/>
              <a:t>ip</a:t>
            </a:r>
            <a:r>
              <a:rPr lang="pt-BR" noProof="0" dirty="0"/>
              <a:t> pelo </a:t>
            </a:r>
            <a:r>
              <a:rPr lang="pt-BR" noProof="0" dirty="0" err="1"/>
              <a:t>dns</a:t>
            </a:r>
            <a:r>
              <a:rPr lang="pt-BR" noProof="0" dirty="0"/>
              <a:t> e o route53 devolve o IP.</a:t>
            </a:r>
          </a:p>
          <a:p>
            <a:r>
              <a:rPr lang="pt-BR" noProof="0" dirty="0" err="1"/>
              <a:t>Weighted</a:t>
            </a:r>
            <a:r>
              <a:rPr lang="pt-BR" noProof="0" dirty="0"/>
              <a:t> – O route53 consegue responder mais de um endereço IP, alternando a resposta, responde um depois o outro. Balanceamento de query e não de carga.</a:t>
            </a:r>
          </a:p>
          <a:p>
            <a:r>
              <a:rPr lang="pt-BR" noProof="0" dirty="0" err="1"/>
              <a:t>Geolocation</a:t>
            </a:r>
            <a:r>
              <a:rPr lang="pt-BR" noProof="0" dirty="0"/>
              <a:t> – O route53 responde o </a:t>
            </a:r>
            <a:r>
              <a:rPr lang="pt-BR" noProof="0" dirty="0" err="1"/>
              <a:t>ip</a:t>
            </a:r>
            <a:r>
              <a:rPr lang="pt-BR" noProof="0" dirty="0"/>
              <a:t> da localização mais </a:t>
            </a:r>
            <a:r>
              <a:rPr lang="pt-BR" noProof="0" dirty="0" err="1"/>
              <a:t>proxima</a:t>
            </a:r>
            <a:r>
              <a:rPr lang="pt-BR" noProof="0" dirty="0"/>
              <a:t>.</a:t>
            </a:r>
          </a:p>
          <a:p>
            <a:r>
              <a:rPr lang="pt-BR" noProof="0" dirty="0" err="1"/>
              <a:t>Geoproxymity</a:t>
            </a:r>
            <a:r>
              <a:rPr lang="pt-BR" noProof="0" dirty="0"/>
              <a:t> – igual ao </a:t>
            </a:r>
            <a:r>
              <a:rPr lang="pt-BR" noProof="0" dirty="0" err="1"/>
              <a:t>geolocation</a:t>
            </a:r>
            <a:r>
              <a:rPr lang="pt-BR" noProof="0" dirty="0"/>
              <a:t> mais pode fazer </a:t>
            </a:r>
            <a:r>
              <a:rPr lang="pt-BR" noProof="0" dirty="0" err="1"/>
              <a:t>Weighted</a:t>
            </a:r>
            <a:r>
              <a:rPr lang="pt-BR" noProof="0" dirty="0"/>
              <a:t> em uma ou mais geolocalização.</a:t>
            </a:r>
          </a:p>
          <a:p>
            <a:r>
              <a:rPr lang="pt-BR" noProof="0" dirty="0" err="1"/>
              <a:t>Failover</a:t>
            </a:r>
            <a:r>
              <a:rPr lang="pt-BR" noProof="0" dirty="0"/>
              <a:t> – Em dois servidores um ativo e outro passive, quando o ativo cai o trafico vai para o passive.</a:t>
            </a:r>
          </a:p>
          <a:p>
            <a:r>
              <a:rPr lang="pt-BR" noProof="0" dirty="0" err="1"/>
              <a:t>Latency</a:t>
            </a:r>
            <a:r>
              <a:rPr lang="pt-BR" noProof="0" dirty="0"/>
              <a:t> – consegue direcionar para o servidor de menor </a:t>
            </a:r>
            <a:r>
              <a:rPr lang="pt-BR" noProof="0" dirty="0" err="1"/>
              <a:t>latencia</a:t>
            </a:r>
            <a:r>
              <a:rPr lang="pt-BR" noProof="0" dirty="0"/>
              <a:t>.</a:t>
            </a:r>
          </a:p>
          <a:p>
            <a:r>
              <a:rPr lang="pt-BR" noProof="0" dirty="0" err="1"/>
              <a:t>Multivalue</a:t>
            </a:r>
            <a:r>
              <a:rPr lang="pt-BR" noProof="0" dirty="0"/>
              <a:t> </a:t>
            </a:r>
            <a:r>
              <a:rPr lang="pt-BR" noProof="0" dirty="0" err="1"/>
              <a:t>answer</a:t>
            </a:r>
            <a:r>
              <a:rPr lang="pt-BR" noProof="0" dirty="0"/>
              <a:t> – devolve na query todos os endereços </a:t>
            </a:r>
            <a:r>
              <a:rPr lang="pt-BR" noProof="0" dirty="0" err="1"/>
              <a:t>ips</a:t>
            </a:r>
            <a:r>
              <a:rPr lang="pt-BR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16213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B2CE3-03E7-70E7-2D8D-7B8D94A82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43" y="365125"/>
            <a:ext cx="11516140" cy="1325563"/>
          </a:xfrm>
        </p:spPr>
        <p:txBody>
          <a:bodyPr/>
          <a:lstStyle/>
          <a:p>
            <a:r>
              <a:rPr lang="pt-BR" noProof="0" dirty="0" err="1"/>
              <a:t>Aws</a:t>
            </a:r>
            <a:r>
              <a:rPr lang="pt-BR" noProof="0" dirty="0"/>
              <a:t> - </a:t>
            </a:r>
            <a:r>
              <a:rPr lang="pt-BR" noProof="0" dirty="0" err="1"/>
              <a:t>CloudFront</a:t>
            </a:r>
            <a:r>
              <a:rPr lang="pt-BR" noProof="0" dirty="0"/>
              <a:t> – CDN </a:t>
            </a:r>
            <a:r>
              <a:rPr lang="pt-BR" noProof="0" dirty="0" err="1"/>
              <a:t>Content</a:t>
            </a:r>
            <a:r>
              <a:rPr lang="pt-BR" noProof="0" dirty="0"/>
              <a:t> Delivery Network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678A6-7967-6D30-9BC6-C6BE1388F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7573"/>
            <a:ext cx="10942983" cy="2295801"/>
          </a:xfrm>
        </p:spPr>
        <p:txBody>
          <a:bodyPr>
            <a:normAutofit lnSpcReduction="10000"/>
          </a:bodyPr>
          <a:lstStyle/>
          <a:p>
            <a:r>
              <a:rPr lang="pt-BR" noProof="0" dirty="0"/>
              <a:t>Acelera a internet e </a:t>
            </a:r>
            <a:r>
              <a:rPr lang="pt-BR" noProof="0" dirty="0" err="1"/>
              <a:t>midias</a:t>
            </a:r>
            <a:r>
              <a:rPr lang="pt-BR" noProof="0" dirty="0"/>
              <a:t> para acesso em sites.</a:t>
            </a:r>
          </a:p>
          <a:p>
            <a:r>
              <a:rPr lang="pt-BR" noProof="0" dirty="0"/>
              <a:t>Distribui cópias das </a:t>
            </a:r>
            <a:r>
              <a:rPr lang="pt-BR" noProof="0" dirty="0" err="1"/>
              <a:t>midias</a:t>
            </a:r>
            <a:r>
              <a:rPr lang="pt-BR" noProof="0" dirty="0"/>
              <a:t> para todas as regiões, e </a:t>
            </a:r>
            <a:r>
              <a:rPr lang="pt-BR" noProof="0" dirty="0" err="1"/>
              <a:t>edge</a:t>
            </a:r>
            <a:r>
              <a:rPr lang="pt-BR" noProof="0" dirty="0"/>
              <a:t> </a:t>
            </a:r>
            <a:r>
              <a:rPr lang="pt-BR" noProof="0" dirty="0" err="1"/>
              <a:t>locations</a:t>
            </a:r>
            <a:r>
              <a:rPr lang="pt-BR" noProof="0" dirty="0"/>
              <a:t> </a:t>
            </a:r>
            <a:r>
              <a:rPr lang="pt-BR" noProof="0" dirty="0" err="1"/>
              <a:t>aws</a:t>
            </a:r>
            <a:r>
              <a:rPr lang="pt-BR" noProof="0" dirty="0"/>
              <a:t>.</a:t>
            </a:r>
          </a:p>
          <a:p>
            <a:r>
              <a:rPr lang="pt-BR" noProof="0" dirty="0"/>
              <a:t> Consegue replicar </a:t>
            </a:r>
            <a:r>
              <a:rPr lang="pt-BR" noProof="0" dirty="0" err="1"/>
              <a:t>bucket</a:t>
            </a:r>
            <a:r>
              <a:rPr lang="pt-BR" noProof="0" dirty="0"/>
              <a:t> S3 e máquinas ec2 e eles passam a chamar </a:t>
            </a:r>
            <a:r>
              <a:rPr lang="pt-BR" noProof="0" dirty="0" err="1"/>
              <a:t>cloudorigin</a:t>
            </a:r>
            <a:r>
              <a:rPr lang="pt-BR" noProof="0" dirty="0"/>
              <a:t>.</a:t>
            </a:r>
          </a:p>
          <a:p>
            <a:r>
              <a:rPr lang="pt-BR" noProof="0" dirty="0"/>
              <a:t>OIA – Permite acesso publico ou somente pelo </a:t>
            </a:r>
            <a:r>
              <a:rPr lang="pt-BR" noProof="0" dirty="0" err="1"/>
              <a:t>cloudfront</a:t>
            </a:r>
            <a:r>
              <a:rPr lang="pt-BR" noProof="0" dirty="0"/>
              <a:t>.</a:t>
            </a:r>
          </a:p>
          <a:p>
            <a:endParaRPr lang="pt-BR" noProof="0" dirty="0"/>
          </a:p>
          <a:p>
            <a:endParaRPr lang="pt-BR" noProof="0" dirty="0"/>
          </a:p>
        </p:txBody>
      </p:sp>
      <p:pic>
        <p:nvPicPr>
          <p:cNvPr id="5" name="Gráfico 14" descr="Programa">
            <a:extLst>
              <a:ext uri="{FF2B5EF4-FFF2-40B4-BE49-F238E27FC236}">
                <a16:creationId xmlns:a16="http://schemas.microsoft.com/office/drawing/2014/main" id="{6C073299-F19A-803C-03A6-46BA1CFAAB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8017" y="5760278"/>
            <a:ext cx="965200" cy="965200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F48C3C03-74D9-AB3C-5EA2-5163A2F13AD3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9792877" y="6242878"/>
            <a:ext cx="1235140" cy="49966"/>
          </a:xfrm>
          <a:prstGeom prst="straightConnector1">
            <a:avLst/>
          </a:prstGeom>
          <a:ln w="47625">
            <a:solidFill>
              <a:srgbClr val="CC3399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29FDD9B-A609-3CEF-4673-80BA4142C834}"/>
              </a:ext>
            </a:extLst>
          </p:cNvPr>
          <p:cNvSpPr/>
          <p:nvPr/>
        </p:nvSpPr>
        <p:spPr>
          <a:xfrm>
            <a:off x="530088" y="3831678"/>
            <a:ext cx="3472069" cy="268950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Cloud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4470C5-9648-2864-54F5-402AB0E934E5}"/>
              </a:ext>
            </a:extLst>
          </p:cNvPr>
          <p:cNvSpPr txBox="1"/>
          <p:nvPr/>
        </p:nvSpPr>
        <p:spPr>
          <a:xfrm>
            <a:off x="1343711" y="4642534"/>
            <a:ext cx="1844821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600" noProof="0" dirty="0" err="1"/>
              <a:t>Bucket</a:t>
            </a:r>
            <a:endParaRPr lang="pt-BR" sz="3600" noProof="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1582F6D-CF22-AC24-281C-429F69C6987D}"/>
              </a:ext>
            </a:extLst>
          </p:cNvPr>
          <p:cNvSpPr/>
          <p:nvPr/>
        </p:nvSpPr>
        <p:spPr>
          <a:xfrm>
            <a:off x="1098919" y="5722857"/>
            <a:ext cx="2334404" cy="64633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CloudFront</a:t>
            </a:r>
            <a:r>
              <a:rPr lang="pt-BR" b="1" noProof="0" dirty="0">
                <a:solidFill>
                  <a:srgbClr val="3865B6"/>
                </a:solidFill>
              </a:rPr>
              <a:t> Habilitado</a:t>
            </a:r>
          </a:p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cloudorigin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13" name="Conector de Seta Reta 39">
            <a:extLst>
              <a:ext uri="{FF2B5EF4-FFF2-40B4-BE49-F238E27FC236}">
                <a16:creationId xmlns:a16="http://schemas.microsoft.com/office/drawing/2014/main" id="{2CE87CEE-1D4C-F07E-A8DE-71E5528D2013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2266121" y="5288865"/>
            <a:ext cx="1" cy="433992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0D1BA6F-2EAE-0481-8184-38A5199EA5A8}"/>
              </a:ext>
            </a:extLst>
          </p:cNvPr>
          <p:cNvSpPr/>
          <p:nvPr/>
        </p:nvSpPr>
        <p:spPr>
          <a:xfrm>
            <a:off x="4462822" y="4494287"/>
            <a:ext cx="2322291" cy="111414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0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Regional</a:t>
            </a:r>
          </a:p>
          <a:p>
            <a:pPr algn="ctr"/>
            <a:r>
              <a:rPr lang="pt-BR" sz="20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Edge </a:t>
            </a:r>
            <a:r>
              <a:rPr lang="pt-BR" sz="2000" noProof="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Location</a:t>
            </a:r>
            <a:endParaRPr lang="pt-BR" sz="2000" noProof="0" dirty="0">
              <a:ln>
                <a:solidFill>
                  <a:schemeClr val="accent1">
                    <a:shade val="50000"/>
                  </a:schemeClr>
                </a:solidFill>
              </a:ln>
              <a:solidFill>
                <a:schemeClr val="tx1"/>
              </a:solidFill>
            </a:endParaRPr>
          </a:p>
          <a:p>
            <a:pPr algn="ctr"/>
            <a:r>
              <a:rPr lang="pt-BR" sz="20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Cache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DE28775-F3E4-5857-7757-87B51B0DEF2D}"/>
              </a:ext>
            </a:extLst>
          </p:cNvPr>
          <p:cNvSpPr/>
          <p:nvPr/>
        </p:nvSpPr>
        <p:spPr>
          <a:xfrm>
            <a:off x="7948055" y="3634120"/>
            <a:ext cx="1844821" cy="4870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0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Edge </a:t>
            </a:r>
            <a:r>
              <a:rPr lang="pt-BR" sz="2000" noProof="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Location</a:t>
            </a:r>
            <a:endParaRPr lang="pt-BR" sz="2000" noProof="0" dirty="0">
              <a:ln>
                <a:solidFill>
                  <a:schemeClr val="accent1">
                    <a:shade val="50000"/>
                  </a:schemeClr>
                </a:solidFill>
              </a:ln>
              <a:solidFill>
                <a:schemeClr val="tx1"/>
              </a:solidFill>
            </a:endParaRP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F5927D6D-F5EA-56B9-D5A3-C522BCCF52CC}"/>
              </a:ext>
            </a:extLst>
          </p:cNvPr>
          <p:cNvSpPr/>
          <p:nvPr/>
        </p:nvSpPr>
        <p:spPr>
          <a:xfrm>
            <a:off x="7948055" y="4217983"/>
            <a:ext cx="1844821" cy="4870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0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Edge </a:t>
            </a:r>
            <a:r>
              <a:rPr lang="pt-BR" sz="2000" noProof="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Location</a:t>
            </a:r>
            <a:endParaRPr lang="pt-BR" sz="2000" noProof="0" dirty="0">
              <a:ln>
                <a:solidFill>
                  <a:schemeClr val="accent1">
                    <a:shade val="50000"/>
                  </a:schemeClr>
                </a:solidFill>
              </a:ln>
              <a:solidFill>
                <a:schemeClr val="tx1"/>
              </a:solidFill>
            </a:endParaRP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2CB624-8E1D-C345-B94C-1E59B37DFA07}"/>
              </a:ext>
            </a:extLst>
          </p:cNvPr>
          <p:cNvSpPr/>
          <p:nvPr/>
        </p:nvSpPr>
        <p:spPr>
          <a:xfrm>
            <a:off x="7929894" y="4801846"/>
            <a:ext cx="1844821" cy="4870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0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Edge </a:t>
            </a:r>
            <a:r>
              <a:rPr lang="pt-BR" sz="2000" noProof="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Location</a:t>
            </a:r>
            <a:endParaRPr lang="pt-BR" sz="2000" noProof="0" dirty="0">
              <a:ln>
                <a:solidFill>
                  <a:schemeClr val="accent1">
                    <a:shade val="50000"/>
                  </a:schemeClr>
                </a:solidFill>
              </a:ln>
              <a:solidFill>
                <a:schemeClr val="tx1"/>
              </a:solidFill>
            </a:endParaRP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48E6EC8A-4041-FDFA-5066-19A59297954A}"/>
              </a:ext>
            </a:extLst>
          </p:cNvPr>
          <p:cNvSpPr/>
          <p:nvPr/>
        </p:nvSpPr>
        <p:spPr>
          <a:xfrm>
            <a:off x="7948055" y="5441389"/>
            <a:ext cx="1844821" cy="4870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0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Edge </a:t>
            </a:r>
            <a:r>
              <a:rPr lang="pt-BR" sz="2000" noProof="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Location</a:t>
            </a:r>
            <a:endParaRPr lang="pt-BR" sz="2000" noProof="0" dirty="0">
              <a:ln>
                <a:solidFill>
                  <a:schemeClr val="accent1">
                    <a:shade val="50000"/>
                  </a:schemeClr>
                </a:solidFill>
              </a:ln>
              <a:solidFill>
                <a:schemeClr val="tx1"/>
              </a:solidFill>
            </a:endParaRP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A8DE136-D5EC-5983-B847-7E021C2944BC}"/>
              </a:ext>
            </a:extLst>
          </p:cNvPr>
          <p:cNvSpPr/>
          <p:nvPr/>
        </p:nvSpPr>
        <p:spPr>
          <a:xfrm>
            <a:off x="7948056" y="6049334"/>
            <a:ext cx="1844821" cy="4870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0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Edge </a:t>
            </a:r>
            <a:r>
              <a:rPr lang="pt-BR" sz="2000" noProof="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Location</a:t>
            </a:r>
            <a:endParaRPr lang="pt-BR" sz="2000" noProof="0" dirty="0">
              <a:ln>
                <a:solidFill>
                  <a:schemeClr val="accent1">
                    <a:shade val="50000"/>
                  </a:schemeClr>
                </a:solidFill>
              </a:ln>
              <a:solidFill>
                <a:schemeClr val="tx1"/>
              </a:solidFill>
            </a:endParaRP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168D3F45-8FBA-184A-0391-AA40E75F92AB}"/>
              </a:ext>
            </a:extLst>
          </p:cNvPr>
          <p:cNvCxnSpPr>
            <a:cxnSpLocks/>
            <a:stCxn id="20" idx="1"/>
            <a:endCxn id="11" idx="3"/>
          </p:cNvCxnSpPr>
          <p:nvPr/>
        </p:nvCxnSpPr>
        <p:spPr>
          <a:xfrm flipH="1" flipV="1">
            <a:off x="3188532" y="4965700"/>
            <a:ext cx="1274290" cy="85659"/>
          </a:xfrm>
          <a:prstGeom prst="straightConnector1">
            <a:avLst/>
          </a:prstGeom>
          <a:ln w="47625">
            <a:solidFill>
              <a:srgbClr val="00B05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B7018E58-4B9C-A393-AB76-BDBED33EF109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flipH="1">
            <a:off x="6785113" y="3877630"/>
            <a:ext cx="1162942" cy="1173729"/>
          </a:xfrm>
          <a:prstGeom prst="straightConnector1">
            <a:avLst/>
          </a:prstGeom>
          <a:ln w="47625">
            <a:solidFill>
              <a:srgbClr val="00B05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3F331891-B8FC-7F1A-858F-162405C5D480}"/>
              </a:ext>
            </a:extLst>
          </p:cNvPr>
          <p:cNvCxnSpPr>
            <a:cxnSpLocks/>
            <a:stCxn id="23" idx="1"/>
            <a:endCxn id="20" idx="3"/>
          </p:cNvCxnSpPr>
          <p:nvPr/>
        </p:nvCxnSpPr>
        <p:spPr>
          <a:xfrm flipH="1">
            <a:off x="6785113" y="4461493"/>
            <a:ext cx="1162942" cy="589866"/>
          </a:xfrm>
          <a:prstGeom prst="straightConnector1">
            <a:avLst/>
          </a:prstGeom>
          <a:ln w="47625">
            <a:solidFill>
              <a:srgbClr val="00B05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5079C2ED-9518-8D97-536A-B8FF578809C2}"/>
              </a:ext>
            </a:extLst>
          </p:cNvPr>
          <p:cNvCxnSpPr>
            <a:cxnSpLocks/>
            <a:stCxn id="24" idx="1"/>
            <a:endCxn id="20" idx="3"/>
          </p:cNvCxnSpPr>
          <p:nvPr/>
        </p:nvCxnSpPr>
        <p:spPr>
          <a:xfrm flipH="1">
            <a:off x="6785113" y="5045356"/>
            <a:ext cx="1144781" cy="6003"/>
          </a:xfrm>
          <a:prstGeom prst="straightConnector1">
            <a:avLst/>
          </a:prstGeom>
          <a:ln w="47625">
            <a:solidFill>
              <a:srgbClr val="00B05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7D708DA2-B814-7BF2-BCBC-FC8275A4DA53}"/>
              </a:ext>
            </a:extLst>
          </p:cNvPr>
          <p:cNvCxnSpPr>
            <a:cxnSpLocks/>
            <a:stCxn id="25" idx="1"/>
            <a:endCxn id="20" idx="3"/>
          </p:cNvCxnSpPr>
          <p:nvPr/>
        </p:nvCxnSpPr>
        <p:spPr>
          <a:xfrm flipH="1" flipV="1">
            <a:off x="6785113" y="5051359"/>
            <a:ext cx="1162942" cy="633540"/>
          </a:xfrm>
          <a:prstGeom prst="straightConnector1">
            <a:avLst/>
          </a:prstGeom>
          <a:ln w="47625">
            <a:solidFill>
              <a:srgbClr val="00B05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6A7536EB-B528-BDD0-AADC-7FD8118D6597}"/>
              </a:ext>
            </a:extLst>
          </p:cNvPr>
          <p:cNvCxnSpPr>
            <a:cxnSpLocks/>
            <a:stCxn id="26" idx="1"/>
            <a:endCxn id="20" idx="3"/>
          </p:cNvCxnSpPr>
          <p:nvPr/>
        </p:nvCxnSpPr>
        <p:spPr>
          <a:xfrm flipH="1" flipV="1">
            <a:off x="6785113" y="5051359"/>
            <a:ext cx="1162943" cy="1241485"/>
          </a:xfrm>
          <a:prstGeom prst="straightConnector1">
            <a:avLst/>
          </a:prstGeom>
          <a:ln w="47625">
            <a:solidFill>
              <a:srgbClr val="00B05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tângulo 46">
            <a:extLst>
              <a:ext uri="{FF2B5EF4-FFF2-40B4-BE49-F238E27FC236}">
                <a16:creationId xmlns:a16="http://schemas.microsoft.com/office/drawing/2014/main" id="{3F12A990-B9E3-0CDF-488E-1ACBB4B93887}"/>
              </a:ext>
            </a:extLst>
          </p:cNvPr>
          <p:cNvSpPr/>
          <p:nvPr/>
        </p:nvSpPr>
        <p:spPr>
          <a:xfrm>
            <a:off x="4382770" y="5928408"/>
            <a:ext cx="2334404" cy="64633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Cabeamento Privado</a:t>
            </a:r>
          </a:p>
          <a:p>
            <a:pPr algn="ctr"/>
            <a:r>
              <a:rPr lang="pt-BR" b="1" noProof="0" dirty="0">
                <a:solidFill>
                  <a:srgbClr val="3865B6"/>
                </a:solidFill>
              </a:rPr>
              <a:t>AWS</a:t>
            </a:r>
          </a:p>
        </p:txBody>
      </p:sp>
      <p:cxnSp>
        <p:nvCxnSpPr>
          <p:cNvPr id="48" name="Conector de Seta Reta 39">
            <a:extLst>
              <a:ext uri="{FF2B5EF4-FFF2-40B4-BE49-F238E27FC236}">
                <a16:creationId xmlns:a16="http://schemas.microsoft.com/office/drawing/2014/main" id="{B6368CC3-3B51-2CE4-3708-9D070400B760}"/>
              </a:ext>
            </a:extLst>
          </p:cNvPr>
          <p:cNvCxnSpPr>
            <a:cxnSpLocks/>
            <a:stCxn id="47" idx="0"/>
            <a:endCxn id="11" idx="3"/>
          </p:cNvCxnSpPr>
          <p:nvPr/>
        </p:nvCxnSpPr>
        <p:spPr>
          <a:xfrm flipH="1" flipV="1">
            <a:off x="3188532" y="4965700"/>
            <a:ext cx="2361440" cy="962708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de Seta Reta 39">
            <a:extLst>
              <a:ext uri="{FF2B5EF4-FFF2-40B4-BE49-F238E27FC236}">
                <a16:creationId xmlns:a16="http://schemas.microsoft.com/office/drawing/2014/main" id="{E763709B-566B-D3CC-9C05-59272F360A02}"/>
              </a:ext>
            </a:extLst>
          </p:cNvPr>
          <p:cNvCxnSpPr>
            <a:cxnSpLocks/>
            <a:stCxn id="47" idx="0"/>
            <a:endCxn id="20" idx="3"/>
          </p:cNvCxnSpPr>
          <p:nvPr/>
        </p:nvCxnSpPr>
        <p:spPr>
          <a:xfrm flipV="1">
            <a:off x="5549972" y="5051359"/>
            <a:ext cx="1235141" cy="877049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tângulo 53">
            <a:extLst>
              <a:ext uri="{FF2B5EF4-FFF2-40B4-BE49-F238E27FC236}">
                <a16:creationId xmlns:a16="http://schemas.microsoft.com/office/drawing/2014/main" id="{EB140064-2F00-B666-B26F-B72DA96CE144}"/>
              </a:ext>
            </a:extLst>
          </p:cNvPr>
          <p:cNvSpPr/>
          <p:nvPr/>
        </p:nvSpPr>
        <p:spPr>
          <a:xfrm>
            <a:off x="10123201" y="3378462"/>
            <a:ext cx="2044222" cy="243178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noProof="0" dirty="0">
                <a:solidFill>
                  <a:srgbClr val="3865B6"/>
                </a:solidFill>
              </a:rPr>
              <a:t>Usuário faz GET</a:t>
            </a:r>
          </a:p>
          <a:p>
            <a:r>
              <a:rPr lang="pt-BR" b="1" noProof="0" dirty="0">
                <a:solidFill>
                  <a:srgbClr val="3865B6"/>
                </a:solidFill>
              </a:rPr>
              <a:t>HIT - Tem a informação responde</a:t>
            </a:r>
          </a:p>
          <a:p>
            <a:r>
              <a:rPr lang="pt-BR" b="1" noProof="0" dirty="0">
                <a:solidFill>
                  <a:srgbClr val="3865B6"/>
                </a:solidFill>
              </a:rPr>
              <a:t>MISS - Não tem a informação, busca um nível acima</a:t>
            </a:r>
          </a:p>
          <a:p>
            <a:r>
              <a:rPr lang="pt-BR" b="1" noProof="0" dirty="0">
                <a:solidFill>
                  <a:srgbClr val="3865B6"/>
                </a:solidFill>
              </a:rPr>
              <a:t>Todo cache tem TTL</a:t>
            </a:r>
          </a:p>
        </p:txBody>
      </p:sp>
      <p:cxnSp>
        <p:nvCxnSpPr>
          <p:cNvPr id="55" name="Conector de Seta Reta 39">
            <a:extLst>
              <a:ext uri="{FF2B5EF4-FFF2-40B4-BE49-F238E27FC236}">
                <a16:creationId xmlns:a16="http://schemas.microsoft.com/office/drawing/2014/main" id="{962A6C75-C7B0-8913-7B2A-6482DB07ACE3}"/>
              </a:ext>
            </a:extLst>
          </p:cNvPr>
          <p:cNvCxnSpPr>
            <a:cxnSpLocks/>
            <a:stCxn id="54" idx="1"/>
            <a:endCxn id="21" idx="3"/>
          </p:cNvCxnSpPr>
          <p:nvPr/>
        </p:nvCxnSpPr>
        <p:spPr>
          <a:xfrm flipH="1" flipV="1">
            <a:off x="9792876" y="3877630"/>
            <a:ext cx="330325" cy="716724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39">
            <a:extLst>
              <a:ext uri="{FF2B5EF4-FFF2-40B4-BE49-F238E27FC236}">
                <a16:creationId xmlns:a16="http://schemas.microsoft.com/office/drawing/2014/main" id="{03C6F3D1-1C0A-4212-AAF9-8053F833D09F}"/>
              </a:ext>
            </a:extLst>
          </p:cNvPr>
          <p:cNvCxnSpPr>
            <a:cxnSpLocks/>
            <a:stCxn id="54" idx="1"/>
          </p:cNvCxnSpPr>
          <p:nvPr/>
        </p:nvCxnSpPr>
        <p:spPr>
          <a:xfrm flipH="1" flipV="1">
            <a:off x="5549972" y="4461493"/>
            <a:ext cx="4573229" cy="132861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2573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1BA22-1BF4-5456-19C2-3CCE1855E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Lambda Edge</a:t>
            </a:r>
          </a:p>
        </p:txBody>
      </p:sp>
      <p:pic>
        <p:nvPicPr>
          <p:cNvPr id="4" name="Gráfico 14" descr="Programa">
            <a:extLst>
              <a:ext uri="{FF2B5EF4-FFF2-40B4-BE49-F238E27FC236}">
                <a16:creationId xmlns:a16="http://schemas.microsoft.com/office/drawing/2014/main" id="{C0A5E1EB-8DA7-CB64-D3A9-AAC9BC5DBD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00" y="3017899"/>
            <a:ext cx="965200" cy="965200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1687815D-6DF7-509C-7DD5-D982E9E972F2}"/>
              </a:ext>
            </a:extLst>
          </p:cNvPr>
          <p:cNvCxnSpPr>
            <a:cxnSpLocks/>
          </p:cNvCxnSpPr>
          <p:nvPr/>
        </p:nvCxnSpPr>
        <p:spPr>
          <a:xfrm>
            <a:off x="8100350" y="3186377"/>
            <a:ext cx="2816127" cy="175809"/>
          </a:xfrm>
          <a:prstGeom prst="straightConnector1">
            <a:avLst/>
          </a:prstGeom>
          <a:ln w="47625">
            <a:solidFill>
              <a:srgbClr val="CC3399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4B77AF8-F575-5F5F-8199-30BF6089FB31}"/>
              </a:ext>
            </a:extLst>
          </p:cNvPr>
          <p:cNvSpPr/>
          <p:nvPr/>
        </p:nvSpPr>
        <p:spPr>
          <a:xfrm>
            <a:off x="477079" y="2228165"/>
            <a:ext cx="3472069" cy="268950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Cloud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6B412A-4AB8-B2DF-7CC6-E16EAFE65984}"/>
              </a:ext>
            </a:extLst>
          </p:cNvPr>
          <p:cNvSpPr txBox="1"/>
          <p:nvPr/>
        </p:nvSpPr>
        <p:spPr>
          <a:xfrm>
            <a:off x="1290702" y="3039021"/>
            <a:ext cx="1844821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600" noProof="0" dirty="0" err="1"/>
              <a:t>Bucket</a:t>
            </a:r>
            <a:endParaRPr lang="pt-BR" sz="3600" noProof="0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7C23AC6-656C-2A03-B8AD-C7B2B23CABDD}"/>
              </a:ext>
            </a:extLst>
          </p:cNvPr>
          <p:cNvSpPr/>
          <p:nvPr/>
        </p:nvSpPr>
        <p:spPr>
          <a:xfrm>
            <a:off x="4558748" y="620613"/>
            <a:ext cx="6016487" cy="64633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Execução de Função Lambda response e </a:t>
            </a:r>
            <a:r>
              <a:rPr lang="pt-BR" b="1" noProof="0" dirty="0" err="1">
                <a:solidFill>
                  <a:srgbClr val="3865B6"/>
                </a:solidFill>
              </a:rPr>
              <a:t>request</a:t>
            </a:r>
            <a:r>
              <a:rPr lang="pt-BR" b="1" noProof="0" dirty="0">
                <a:solidFill>
                  <a:srgbClr val="3865B6"/>
                </a:solidFill>
              </a:rPr>
              <a:t> na entrada e saída do </a:t>
            </a:r>
            <a:r>
              <a:rPr lang="pt-BR" b="1" noProof="0" dirty="0" err="1">
                <a:solidFill>
                  <a:srgbClr val="3865B6"/>
                </a:solidFill>
              </a:rPr>
              <a:t>edge</a:t>
            </a:r>
            <a:r>
              <a:rPr lang="pt-BR" b="1" noProof="0" dirty="0">
                <a:solidFill>
                  <a:srgbClr val="3865B6"/>
                </a:solidFill>
              </a:rPr>
              <a:t> </a:t>
            </a:r>
            <a:r>
              <a:rPr lang="pt-BR" b="1" noProof="0" dirty="0" err="1">
                <a:solidFill>
                  <a:srgbClr val="3865B6"/>
                </a:solidFill>
              </a:rPr>
              <a:t>location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9" name="Conector de Seta Reta 39">
            <a:extLst>
              <a:ext uri="{FF2B5EF4-FFF2-40B4-BE49-F238E27FC236}">
                <a16:creationId xmlns:a16="http://schemas.microsoft.com/office/drawing/2014/main" id="{A4E23025-44AD-4A5A-79F0-0851EC634BD8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8124442" y="943779"/>
            <a:ext cx="2450793" cy="2664947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9D6D9A7-3205-370F-58A7-EAA02094DB30}"/>
              </a:ext>
            </a:extLst>
          </p:cNvPr>
          <p:cNvSpPr/>
          <p:nvPr/>
        </p:nvSpPr>
        <p:spPr>
          <a:xfrm>
            <a:off x="6255529" y="3003399"/>
            <a:ext cx="1844821" cy="9058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0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Edge </a:t>
            </a:r>
            <a:r>
              <a:rPr lang="pt-BR" sz="2000" noProof="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Location</a:t>
            </a:r>
            <a:endParaRPr lang="pt-BR" sz="2000" noProof="0" dirty="0">
              <a:ln>
                <a:solidFill>
                  <a:schemeClr val="accent1">
                    <a:shade val="50000"/>
                  </a:schemeClr>
                </a:solidFill>
              </a:ln>
              <a:solidFill>
                <a:schemeClr val="tx1"/>
              </a:solidFill>
            </a:endParaRP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39F7664B-DC37-FFA4-FB06-66F0F7253F5E}"/>
              </a:ext>
            </a:extLst>
          </p:cNvPr>
          <p:cNvCxnSpPr>
            <a:cxnSpLocks/>
          </p:cNvCxnSpPr>
          <p:nvPr/>
        </p:nvCxnSpPr>
        <p:spPr>
          <a:xfrm>
            <a:off x="3949146" y="3186377"/>
            <a:ext cx="2330475" cy="0"/>
          </a:xfrm>
          <a:prstGeom prst="straightConnector1">
            <a:avLst/>
          </a:prstGeom>
          <a:ln w="47625">
            <a:solidFill>
              <a:srgbClr val="CC3399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D1037046-469A-35F4-2258-CD4E99F52446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3949148" y="3572916"/>
            <a:ext cx="2330473" cy="35810"/>
          </a:xfrm>
          <a:prstGeom prst="straightConnector1">
            <a:avLst/>
          </a:prstGeom>
          <a:ln w="47625">
            <a:solidFill>
              <a:srgbClr val="CC3399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AD883753-E8ED-913D-644E-C287BA9FC398}"/>
              </a:ext>
            </a:extLst>
          </p:cNvPr>
          <p:cNvCxnSpPr>
            <a:cxnSpLocks/>
          </p:cNvCxnSpPr>
          <p:nvPr/>
        </p:nvCxnSpPr>
        <p:spPr>
          <a:xfrm flipH="1" flipV="1">
            <a:off x="8100350" y="3685352"/>
            <a:ext cx="2816127" cy="223883"/>
          </a:xfrm>
          <a:prstGeom prst="straightConnector1">
            <a:avLst/>
          </a:prstGeom>
          <a:ln w="47625">
            <a:solidFill>
              <a:srgbClr val="CC3399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39">
            <a:extLst>
              <a:ext uri="{FF2B5EF4-FFF2-40B4-BE49-F238E27FC236}">
                <a16:creationId xmlns:a16="http://schemas.microsoft.com/office/drawing/2014/main" id="{BE030561-E28A-1504-A786-622D5E8382D3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8100350" y="943779"/>
            <a:ext cx="2474885" cy="2192878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39">
            <a:extLst>
              <a:ext uri="{FF2B5EF4-FFF2-40B4-BE49-F238E27FC236}">
                <a16:creationId xmlns:a16="http://schemas.microsoft.com/office/drawing/2014/main" id="{82DAA0BF-AB6D-50AB-BC90-51D9FE22866D}"/>
              </a:ext>
            </a:extLst>
          </p:cNvPr>
          <p:cNvCxnSpPr>
            <a:cxnSpLocks/>
            <a:stCxn id="8" idx="1"/>
          </p:cNvCxnSpPr>
          <p:nvPr/>
        </p:nvCxnSpPr>
        <p:spPr>
          <a:xfrm>
            <a:off x="4558748" y="943779"/>
            <a:ext cx="1720873" cy="2664947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39">
            <a:extLst>
              <a:ext uri="{FF2B5EF4-FFF2-40B4-BE49-F238E27FC236}">
                <a16:creationId xmlns:a16="http://schemas.microsoft.com/office/drawing/2014/main" id="{432C5A32-113B-29CF-FCFC-ACB17B64001C}"/>
              </a:ext>
            </a:extLst>
          </p:cNvPr>
          <p:cNvCxnSpPr>
            <a:cxnSpLocks/>
            <a:stCxn id="8" idx="1"/>
          </p:cNvCxnSpPr>
          <p:nvPr/>
        </p:nvCxnSpPr>
        <p:spPr>
          <a:xfrm>
            <a:off x="4558748" y="943779"/>
            <a:ext cx="1696781" cy="2192878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8981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3C1C1-17FE-0CD2-AD18-628B9D81C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4809B-D562-B912-17EC-3BA667F01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7" y="2187743"/>
            <a:ext cx="9185229" cy="248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6700" noProof="0" dirty="0"/>
              <a:t>Block e File </a:t>
            </a:r>
            <a:r>
              <a:rPr lang="pt-BR" sz="6700" noProof="0" dirty="0" err="1"/>
              <a:t>Storage</a:t>
            </a:r>
            <a:br>
              <a:rPr lang="pt-BR" sz="8800" noProof="0" dirty="0"/>
            </a:br>
            <a:endParaRPr lang="pt-BR" sz="3600" kern="1200" noProof="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93BA6BD-334C-94C2-2CB5-FB1E3E88A2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1" y="2743201"/>
            <a:ext cx="1371600" cy="13716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767FE6-FF46-9361-B048-E2DA890C491D}"/>
              </a:ext>
            </a:extLst>
          </p:cNvPr>
          <p:cNvSpPr/>
          <p:nvPr/>
        </p:nvSpPr>
        <p:spPr>
          <a:xfrm>
            <a:off x="8434931" y="6226936"/>
            <a:ext cx="3531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noProof="0" dirty="0">
                <a:hlinkClick r:id="rId4"/>
              </a:rPr>
              <a:t>https://docs.aws.amazon.com/</a:t>
            </a:r>
            <a:endParaRPr lang="pt-BR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76C73F1-A33A-8EA2-EA95-F713CC6590CA}"/>
              </a:ext>
            </a:extLst>
          </p:cNvPr>
          <p:cNvSpPr/>
          <p:nvPr/>
        </p:nvSpPr>
        <p:spPr>
          <a:xfrm>
            <a:off x="8434931" y="5857604"/>
            <a:ext cx="289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noProof="0" dirty="0">
                <a:hlinkClick r:id="rId5"/>
              </a:rPr>
              <a:t>https://aws.amazon.com/pt/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953325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1BF37-7599-DAAC-184F-F4655E2E2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AWS – EBS </a:t>
            </a:r>
            <a:r>
              <a:rPr lang="pt-BR" dirty="0" err="1"/>
              <a:t>Elastic</a:t>
            </a:r>
            <a:r>
              <a:rPr lang="pt-BR" dirty="0"/>
              <a:t> Block </a:t>
            </a:r>
            <a:r>
              <a:rPr lang="pt-BR" dirty="0" err="1"/>
              <a:t>Storage</a:t>
            </a:r>
            <a:r>
              <a:rPr lang="pt-BR" dirty="0"/>
              <a:t>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CF27B7-04DA-5187-8A37-DCD5486C5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EBS tem que estar na mesma zona da EC2.</a:t>
            </a:r>
          </a:p>
          <a:p>
            <a:r>
              <a:rPr lang="pt-BR" dirty="0"/>
              <a:t>EBS podemos trocar de EC2.</a:t>
            </a:r>
          </a:p>
          <a:p>
            <a:r>
              <a:rPr lang="pt-BR" dirty="0"/>
              <a:t>EBS pode ser conectado entre apenas uma EC2 (salvo </a:t>
            </a:r>
            <a:r>
              <a:rPr lang="pt-BR" dirty="0" err="1"/>
              <a:t>ebs</a:t>
            </a:r>
            <a:r>
              <a:rPr lang="pt-BR" dirty="0"/>
              <a:t> EBS MULTI ATTACH, e somente em um tipo especial de EC2 e EBS).</a:t>
            </a:r>
          </a:p>
          <a:p>
            <a:r>
              <a:rPr lang="pt-BR" dirty="0"/>
              <a:t>EBS podem ser do tipo SSD (</a:t>
            </a:r>
            <a:r>
              <a:rPr lang="pt-BR" dirty="0" err="1"/>
              <a:t>Solid</a:t>
            </a:r>
            <a:r>
              <a:rPr lang="pt-BR" dirty="0"/>
              <a:t> </a:t>
            </a:r>
            <a:r>
              <a:rPr lang="pt-BR" dirty="0" err="1"/>
              <a:t>State</a:t>
            </a:r>
            <a:r>
              <a:rPr lang="pt-BR" dirty="0"/>
              <a:t> Drive) ou HDD (Hard Disk Drive)</a:t>
            </a:r>
          </a:p>
          <a:p>
            <a:r>
              <a:rPr lang="pt-BR" dirty="0"/>
              <a:t>Snapshot é uma maneira de copiar um disco inteiro.</a:t>
            </a:r>
          </a:p>
          <a:p>
            <a:r>
              <a:rPr lang="pt-BR" dirty="0"/>
              <a:t>DLM – Data </a:t>
            </a:r>
            <a:r>
              <a:rPr lang="pt-BR" dirty="0" err="1"/>
              <a:t>Lifecycle</a:t>
            </a:r>
            <a:r>
              <a:rPr lang="pt-BR" dirty="0"/>
              <a:t> </a:t>
            </a:r>
            <a:r>
              <a:rPr lang="pt-BR" dirty="0" err="1"/>
              <a:t>Manage</a:t>
            </a:r>
            <a:r>
              <a:rPr lang="pt-BR" dirty="0"/>
              <a:t>, permite criação de </a:t>
            </a:r>
            <a:r>
              <a:rPr lang="pt-BR" dirty="0" err="1"/>
              <a:t>policy</a:t>
            </a:r>
            <a:r>
              <a:rPr lang="pt-BR" dirty="0"/>
              <a:t> individuas ou </a:t>
            </a:r>
            <a:r>
              <a:rPr lang="pt-BR" dirty="0" err="1"/>
              <a:t>tags</a:t>
            </a:r>
            <a:r>
              <a:rPr lang="pt-BR" dirty="0"/>
              <a:t> para vários discos, que são usadas por exemplo backup.</a:t>
            </a:r>
          </a:p>
          <a:p>
            <a:r>
              <a:rPr lang="pt-BR" dirty="0"/>
              <a:t>EFS – </a:t>
            </a:r>
            <a:r>
              <a:rPr lang="pt-BR" dirty="0" err="1"/>
              <a:t>Elastic</a:t>
            </a:r>
            <a:r>
              <a:rPr lang="pt-BR" dirty="0"/>
              <a:t> File System – É a maneira de um disco ser acessado por várias máquinas Linux.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77965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EB96A-03E0-282F-B083-76231880F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77CA0-7B79-5818-43C5-07E3A62A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7" y="2187743"/>
            <a:ext cx="9185229" cy="248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6700" noProof="0" dirty="0"/>
              <a:t>Aplicações </a:t>
            </a:r>
            <a:r>
              <a:rPr lang="pt-BR" sz="6700" noProof="0" dirty="0" err="1"/>
              <a:t>aws</a:t>
            </a:r>
            <a:endParaRPr lang="pt-BR" sz="3600" kern="1200" noProof="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4D09996-D228-1EA3-1462-A77BE70D3C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1" y="2743201"/>
            <a:ext cx="1371600" cy="13716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20EEAEC-12B9-2916-2E85-552933189E2F}"/>
              </a:ext>
            </a:extLst>
          </p:cNvPr>
          <p:cNvSpPr/>
          <p:nvPr/>
        </p:nvSpPr>
        <p:spPr>
          <a:xfrm>
            <a:off x="8434931" y="6226936"/>
            <a:ext cx="3531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noProof="0" dirty="0">
                <a:hlinkClick r:id="rId4"/>
              </a:rPr>
              <a:t>https://docs.aws.amazon.com/</a:t>
            </a:r>
            <a:endParaRPr lang="pt-BR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3F6B3A9-10EB-D185-9685-7AEDF0B01607}"/>
              </a:ext>
            </a:extLst>
          </p:cNvPr>
          <p:cNvSpPr/>
          <p:nvPr/>
        </p:nvSpPr>
        <p:spPr>
          <a:xfrm>
            <a:off x="8434931" y="5857604"/>
            <a:ext cx="289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noProof="0" dirty="0">
                <a:hlinkClick r:id="rId5"/>
              </a:rPr>
              <a:t>https://aws.amazon.com/pt/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256269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D8B0F-91D8-F16A-3788-0FDB556BE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Cloud </a:t>
            </a:r>
            <a:r>
              <a:rPr lang="pt-BR" dirty="0" err="1"/>
              <a:t>Formation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A93EAF-8FDF-1804-8423-EB7D7EBF5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É um script configurado para subir </a:t>
            </a:r>
            <a:r>
              <a:rPr lang="pt-BR" dirty="0" err="1"/>
              <a:t>ambiemtes</a:t>
            </a:r>
            <a:r>
              <a:rPr lang="pt-BR" dirty="0"/>
              <a:t> </a:t>
            </a:r>
            <a:r>
              <a:rPr lang="pt-BR" dirty="0" err="1"/>
              <a:t>prédefinidos</a:t>
            </a:r>
            <a:r>
              <a:rPr lang="pt-BR" dirty="0"/>
              <a:t>, são 4 passos.</a:t>
            </a:r>
          </a:p>
          <a:p>
            <a:r>
              <a:rPr lang="pt-BR" dirty="0" err="1"/>
              <a:t>Template</a:t>
            </a:r>
            <a:r>
              <a:rPr lang="pt-BR" dirty="0"/>
              <a:t> (</a:t>
            </a:r>
            <a:r>
              <a:rPr lang="pt-BR" dirty="0" err="1"/>
              <a:t>json</a:t>
            </a:r>
            <a:r>
              <a:rPr lang="pt-BR" dirty="0"/>
              <a:t>, </a:t>
            </a:r>
            <a:r>
              <a:rPr lang="pt-BR" dirty="0" err="1"/>
              <a:t>yaml</a:t>
            </a:r>
            <a:r>
              <a:rPr lang="pt-BR" dirty="0"/>
              <a:t>) – Dentro da </a:t>
            </a:r>
            <a:r>
              <a:rPr lang="pt-BR" dirty="0" err="1"/>
              <a:t>template</a:t>
            </a:r>
            <a:r>
              <a:rPr lang="pt-BR" dirty="0"/>
              <a:t> pode-se criar ec2, </a:t>
            </a:r>
            <a:r>
              <a:rPr lang="pt-BR" dirty="0" err="1"/>
              <a:t>load</a:t>
            </a:r>
            <a:r>
              <a:rPr lang="pt-BR" dirty="0"/>
              <a:t> balances,   grupos de segurança, configuração de </a:t>
            </a:r>
            <a:r>
              <a:rPr lang="pt-BR" dirty="0" err="1"/>
              <a:t>ip</a:t>
            </a:r>
            <a:r>
              <a:rPr lang="pt-BR" dirty="0"/>
              <a:t> entre outros. É o passo a passo para qual serviço que deseja criar.</a:t>
            </a:r>
          </a:p>
          <a:p>
            <a:r>
              <a:rPr lang="pt-BR" dirty="0"/>
              <a:t>Stack – É a execução do </a:t>
            </a:r>
            <a:r>
              <a:rPr lang="pt-BR" dirty="0" err="1"/>
              <a:t>template</a:t>
            </a:r>
            <a:r>
              <a:rPr lang="pt-BR" dirty="0"/>
              <a:t>, onde iniciamos as criações e configuramos o </a:t>
            </a:r>
            <a:r>
              <a:rPr lang="pt-BR" dirty="0" err="1"/>
              <a:t>rollback</a:t>
            </a:r>
            <a:r>
              <a:rPr lang="pt-BR" dirty="0"/>
              <a:t>. Se eu quiser remover os recursos que o </a:t>
            </a:r>
            <a:r>
              <a:rPr lang="pt-BR" dirty="0" err="1"/>
              <a:t>template</a:t>
            </a:r>
            <a:r>
              <a:rPr lang="pt-BR" dirty="0"/>
              <a:t> criou, basta eu remover a Stack associada ao </a:t>
            </a:r>
            <a:r>
              <a:rPr lang="pt-BR" dirty="0" err="1"/>
              <a:t>template</a:t>
            </a:r>
            <a:r>
              <a:rPr lang="pt-BR" dirty="0"/>
              <a:t>.</a:t>
            </a:r>
          </a:p>
          <a:p>
            <a:r>
              <a:rPr lang="pt-BR" dirty="0" err="1"/>
              <a:t>Stackset</a:t>
            </a:r>
            <a:r>
              <a:rPr lang="pt-BR" dirty="0"/>
              <a:t> – é um grupo de </a:t>
            </a:r>
            <a:r>
              <a:rPr lang="pt-BR" dirty="0" err="1"/>
              <a:t>stacks</a:t>
            </a:r>
            <a:r>
              <a:rPr lang="pt-BR" dirty="0"/>
              <a:t>, cada </a:t>
            </a:r>
            <a:r>
              <a:rPr lang="pt-BR" dirty="0" err="1"/>
              <a:t>template</a:t>
            </a:r>
            <a:r>
              <a:rPr lang="pt-BR" dirty="0"/>
              <a:t> é executado por um Stack, e vários </a:t>
            </a:r>
            <a:r>
              <a:rPr lang="pt-BR" dirty="0" err="1"/>
              <a:t>tacks</a:t>
            </a:r>
            <a:r>
              <a:rPr lang="pt-BR" dirty="0"/>
              <a:t> podem ser executados no </a:t>
            </a:r>
            <a:r>
              <a:rPr lang="pt-BR" dirty="0" err="1"/>
              <a:t>stackset</a:t>
            </a:r>
            <a:r>
              <a:rPr lang="pt-BR" dirty="0"/>
              <a:t>.</a:t>
            </a:r>
          </a:p>
          <a:p>
            <a:r>
              <a:rPr lang="pt-BR" dirty="0" err="1"/>
              <a:t>ChangeSet</a:t>
            </a:r>
            <a:r>
              <a:rPr lang="pt-BR" dirty="0"/>
              <a:t> – é para mudanças, altera os recursos antes de implementar.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01380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96260-0E51-75EE-7586-D32A11148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C2E4F-5CA3-6CA2-9FA3-659705BDF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SQS – </a:t>
            </a:r>
            <a:r>
              <a:rPr lang="pt-BR" noProof="0" dirty="0" err="1"/>
              <a:t>Simple</a:t>
            </a:r>
            <a:r>
              <a:rPr lang="pt-BR" noProof="0" dirty="0"/>
              <a:t> </a:t>
            </a:r>
            <a:r>
              <a:rPr lang="pt-BR" noProof="0" dirty="0" err="1"/>
              <a:t>Queue</a:t>
            </a:r>
            <a:r>
              <a:rPr lang="pt-BR" noProof="0" dirty="0"/>
              <a:t> Service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D4335-F475-C10C-649B-4E2BE766A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983"/>
            <a:ext cx="10515600" cy="4758980"/>
          </a:xfrm>
        </p:spPr>
        <p:txBody>
          <a:bodyPr>
            <a:normAutofit fontScale="77500" lnSpcReduction="20000"/>
          </a:bodyPr>
          <a:lstStyle/>
          <a:p>
            <a:r>
              <a:rPr lang="pt-BR" noProof="0" dirty="0"/>
              <a:t>Serviço de filas durável e disponível de armazenamento temporário entre serviços de software.</a:t>
            </a:r>
          </a:p>
          <a:p>
            <a:r>
              <a:rPr lang="pt-BR" noProof="0" dirty="0"/>
              <a:t>Desacopla e escala sistemas distribuídos.</a:t>
            </a:r>
          </a:p>
          <a:p>
            <a:r>
              <a:rPr lang="pt-BR" noProof="0" dirty="0"/>
              <a:t>Conectado a Máquinas EC2, Banco de Dados, </a:t>
            </a:r>
            <a:r>
              <a:rPr lang="pt-BR" b="0" i="0" noProof="0" dirty="0">
                <a:solidFill>
                  <a:srgbClr val="001D35"/>
                </a:solidFill>
                <a:effectLst/>
                <a:latin typeface="Google Sans"/>
              </a:rPr>
              <a:t>containers e outros para criar aplicações escaláveis e flexíveis. </a:t>
            </a:r>
          </a:p>
          <a:p>
            <a:r>
              <a:rPr lang="pt-BR" noProof="0" dirty="0">
                <a:solidFill>
                  <a:srgbClr val="001D35"/>
                </a:solidFill>
                <a:latin typeface="Google Sans"/>
              </a:rPr>
              <a:t>Dois tipos de fila no </a:t>
            </a:r>
            <a:r>
              <a:rPr lang="pt-BR" noProof="0" dirty="0" err="1">
                <a:solidFill>
                  <a:srgbClr val="001D35"/>
                </a:solidFill>
                <a:latin typeface="Google Sans"/>
              </a:rPr>
              <a:t>sqs</a:t>
            </a:r>
            <a:r>
              <a:rPr lang="pt-BR" noProof="0" dirty="0">
                <a:solidFill>
                  <a:srgbClr val="001D35"/>
                </a:solidFill>
                <a:latin typeface="Google Sans"/>
              </a:rPr>
              <a:t>:</a:t>
            </a:r>
          </a:p>
          <a:p>
            <a:pPr lvl="1"/>
            <a:r>
              <a:rPr lang="pt-BR" noProof="0" dirty="0">
                <a:solidFill>
                  <a:srgbClr val="001D35"/>
                </a:solidFill>
                <a:latin typeface="Google Sans"/>
              </a:rPr>
              <a:t> Standart – represa em fila e entrega, mas não garante a ordem de entrega e corre o risco de entrega dobrada.</a:t>
            </a:r>
          </a:p>
          <a:p>
            <a:pPr lvl="1"/>
            <a:r>
              <a:rPr lang="pt-BR" noProof="0" dirty="0">
                <a:solidFill>
                  <a:srgbClr val="001D35"/>
                </a:solidFill>
                <a:latin typeface="Google Sans"/>
              </a:rPr>
              <a:t>FIFO – </a:t>
            </a:r>
            <a:r>
              <a:rPr lang="pt-BR" noProof="0" dirty="0" err="1">
                <a:solidFill>
                  <a:srgbClr val="001D35"/>
                </a:solidFill>
                <a:latin typeface="Google Sans"/>
              </a:rPr>
              <a:t>First</a:t>
            </a:r>
            <a:r>
              <a:rPr lang="pt-BR" noProof="0" dirty="0">
                <a:solidFill>
                  <a:srgbClr val="001D35"/>
                </a:solidFill>
                <a:latin typeface="Google Sans"/>
              </a:rPr>
              <a:t> in </a:t>
            </a:r>
            <a:r>
              <a:rPr lang="pt-BR" noProof="0" dirty="0" err="1">
                <a:solidFill>
                  <a:srgbClr val="001D35"/>
                </a:solidFill>
                <a:latin typeface="Google Sans"/>
              </a:rPr>
              <a:t>First</a:t>
            </a:r>
            <a:r>
              <a:rPr lang="pt-BR" noProof="0" dirty="0">
                <a:solidFill>
                  <a:srgbClr val="001D35"/>
                </a:solidFill>
                <a:latin typeface="Google Sans"/>
              </a:rPr>
              <a:t> out, entrega as requisições na ordem que chegam, a ordem de entrega é garantida em ordem.</a:t>
            </a:r>
          </a:p>
          <a:p>
            <a:r>
              <a:rPr lang="pt-BR" noProof="0" dirty="0">
                <a:solidFill>
                  <a:srgbClr val="001D35"/>
                </a:solidFill>
                <a:latin typeface="Google Sans"/>
              </a:rPr>
              <a:t>SQS Também é chamado de pool </a:t>
            </a:r>
            <a:r>
              <a:rPr lang="pt-BR" noProof="0" dirty="0" err="1">
                <a:solidFill>
                  <a:srgbClr val="001D35"/>
                </a:solidFill>
                <a:latin typeface="Google Sans"/>
              </a:rPr>
              <a:t>based</a:t>
            </a:r>
            <a:r>
              <a:rPr lang="pt-BR" noProof="0" dirty="0">
                <a:solidFill>
                  <a:srgbClr val="001D35"/>
                </a:solidFill>
                <a:latin typeface="Google Sans"/>
              </a:rPr>
              <a:t>, as informações são solicitadas a ele. O </a:t>
            </a:r>
            <a:r>
              <a:rPr lang="pt-BR" noProof="0" dirty="0" err="1">
                <a:solidFill>
                  <a:srgbClr val="001D35"/>
                </a:solidFill>
                <a:latin typeface="Google Sans"/>
              </a:rPr>
              <a:t>sqs</a:t>
            </a:r>
            <a:r>
              <a:rPr lang="pt-BR" noProof="0" dirty="0">
                <a:solidFill>
                  <a:srgbClr val="001D35"/>
                </a:solidFill>
                <a:latin typeface="Google Sans"/>
              </a:rPr>
              <a:t> não envia mensagem. </a:t>
            </a:r>
          </a:p>
          <a:p>
            <a:r>
              <a:rPr lang="pt-BR" dirty="0">
                <a:solidFill>
                  <a:srgbClr val="001D35"/>
                </a:solidFill>
                <a:latin typeface="Google Sans"/>
              </a:rPr>
              <a:t>É totalmente gerenciável e garante cópia de mensagens em seus nodes.</a:t>
            </a:r>
          </a:p>
          <a:p>
            <a:r>
              <a:rPr lang="pt-BR" noProof="0" dirty="0"/>
              <a:t>Tem recurso de </a:t>
            </a:r>
            <a:r>
              <a:rPr lang="pt-BR" noProof="0" dirty="0" err="1"/>
              <a:t>dead</a:t>
            </a:r>
            <a:r>
              <a:rPr lang="pt-BR" noProof="0" dirty="0"/>
              <a:t> </a:t>
            </a:r>
            <a:r>
              <a:rPr lang="pt-BR" noProof="0" dirty="0" err="1"/>
              <a:t>letter</a:t>
            </a:r>
            <a:r>
              <a:rPr lang="pt-BR" noProof="0" dirty="0"/>
              <a:t> </a:t>
            </a:r>
            <a:r>
              <a:rPr lang="pt-BR" noProof="0" dirty="0" err="1"/>
              <a:t>queue</a:t>
            </a:r>
            <a:r>
              <a:rPr lang="pt-BR" noProof="0" dirty="0"/>
              <a:t>.</a:t>
            </a:r>
          </a:p>
          <a:p>
            <a:r>
              <a:rPr lang="pt-BR" dirty="0"/>
              <a:t>Mantem os dados criptografados (kms).</a:t>
            </a:r>
          </a:p>
          <a:p>
            <a:endParaRPr lang="pt-BR" noProof="0" dirty="0"/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148203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5A5EE9-8173-7C07-3270-766F470C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AWS - SQS</a:t>
            </a:r>
          </a:p>
        </p:txBody>
      </p:sp>
      <p:pic>
        <p:nvPicPr>
          <p:cNvPr id="4" name="Gráfico 14" descr="Programa">
            <a:extLst>
              <a:ext uri="{FF2B5EF4-FFF2-40B4-BE49-F238E27FC236}">
                <a16:creationId xmlns:a16="http://schemas.microsoft.com/office/drawing/2014/main" id="{22DDA25E-7D08-4A46-113D-7F7014640E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497" y="2606472"/>
            <a:ext cx="965200" cy="9652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9A69B6A-B0B4-3606-F929-911ACA115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356" y="1962622"/>
            <a:ext cx="700776" cy="673294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AD98024-4520-973E-9214-4F790D194299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2888697" y="3089072"/>
            <a:ext cx="1709961" cy="525436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áfico 5" descr="Internet">
            <a:extLst>
              <a:ext uri="{FF2B5EF4-FFF2-40B4-BE49-F238E27FC236}">
                <a16:creationId xmlns:a16="http://schemas.microsoft.com/office/drawing/2014/main" id="{6D922579-E46A-96C1-8FA6-26836CFE97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356" y="3596630"/>
            <a:ext cx="914400" cy="914400"/>
          </a:xfrm>
          <a:prstGeom prst="rect">
            <a:avLst/>
          </a:prstGeom>
        </p:spPr>
      </p:pic>
      <p:pic>
        <p:nvPicPr>
          <p:cNvPr id="9" name="Gráfico 19" descr="Smartphone">
            <a:extLst>
              <a:ext uri="{FF2B5EF4-FFF2-40B4-BE49-F238E27FC236}">
                <a16:creationId xmlns:a16="http://schemas.microsoft.com/office/drawing/2014/main" id="{C4B43C1A-067B-F915-7653-CE3536398F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992" y="4369354"/>
            <a:ext cx="914400" cy="9144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1988082-2117-58F1-EF06-D0A5F7F5BB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8658" y="3285895"/>
            <a:ext cx="561975" cy="657225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FEA2E085-90BA-A2CD-24AD-8A453B05A2D9}"/>
              </a:ext>
            </a:extLst>
          </p:cNvPr>
          <p:cNvSpPr/>
          <p:nvPr/>
        </p:nvSpPr>
        <p:spPr>
          <a:xfrm>
            <a:off x="326457" y="3584364"/>
            <a:ext cx="1167202" cy="7175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3865B6"/>
                </a:solidFill>
              </a:rPr>
              <a:t>Producer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15" name="Conector de Seta Reta 39">
            <a:extLst>
              <a:ext uri="{FF2B5EF4-FFF2-40B4-BE49-F238E27FC236}">
                <a16:creationId xmlns:a16="http://schemas.microsoft.com/office/drawing/2014/main" id="{AAC36628-5925-563E-F2BF-0D77DAB5BA5E}"/>
              </a:ext>
            </a:extLst>
          </p:cNvPr>
          <p:cNvCxnSpPr>
            <a:cxnSpLocks/>
            <a:stCxn id="14" idx="0"/>
            <a:endCxn id="4" idx="1"/>
          </p:cNvCxnSpPr>
          <p:nvPr/>
        </p:nvCxnSpPr>
        <p:spPr>
          <a:xfrm flipV="1">
            <a:off x="910058" y="3089072"/>
            <a:ext cx="1013439" cy="495292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39">
            <a:extLst>
              <a:ext uri="{FF2B5EF4-FFF2-40B4-BE49-F238E27FC236}">
                <a16:creationId xmlns:a16="http://schemas.microsoft.com/office/drawing/2014/main" id="{43571A0F-D21B-65EF-EFF0-61BA433E9B65}"/>
              </a:ext>
            </a:extLst>
          </p:cNvPr>
          <p:cNvCxnSpPr>
            <a:cxnSpLocks/>
            <a:stCxn id="14" idx="2"/>
            <a:endCxn id="9" idx="1"/>
          </p:cNvCxnSpPr>
          <p:nvPr/>
        </p:nvCxnSpPr>
        <p:spPr>
          <a:xfrm>
            <a:off x="910058" y="4301876"/>
            <a:ext cx="957934" cy="524678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8B9C805E-6262-772F-E7D8-24FBB187B117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782392" y="3614508"/>
            <a:ext cx="1816266" cy="1212046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953336D5-6195-DE0C-BE5D-8D65EC4A916C}"/>
              </a:ext>
            </a:extLst>
          </p:cNvPr>
          <p:cNvCxnSpPr>
            <a:cxnSpLocks/>
            <a:stCxn id="11" idx="3"/>
            <a:endCxn id="6" idx="1"/>
          </p:cNvCxnSpPr>
          <p:nvPr/>
        </p:nvCxnSpPr>
        <p:spPr>
          <a:xfrm flipV="1">
            <a:off x="5160633" y="2299269"/>
            <a:ext cx="2454723" cy="1315239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5861DB1E-DEDA-1BFE-CFF0-12BFFDC5BA32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>
          <a:xfrm>
            <a:off x="5160633" y="3614508"/>
            <a:ext cx="2454723" cy="439322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>
            <a:extLst>
              <a:ext uri="{FF2B5EF4-FFF2-40B4-BE49-F238E27FC236}">
                <a16:creationId xmlns:a16="http://schemas.microsoft.com/office/drawing/2014/main" id="{CEBB7D3C-F787-5446-8E9C-78823A8EDBCD}"/>
              </a:ext>
            </a:extLst>
          </p:cNvPr>
          <p:cNvSpPr/>
          <p:nvPr/>
        </p:nvSpPr>
        <p:spPr>
          <a:xfrm>
            <a:off x="10441437" y="1962622"/>
            <a:ext cx="1167202" cy="7175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>
                <a:solidFill>
                  <a:srgbClr val="3865B6"/>
                </a:solidFill>
              </a:rPr>
              <a:t>Consumer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064547A-D051-816B-C8D3-FA5D2D57CFD8}"/>
              </a:ext>
            </a:extLst>
          </p:cNvPr>
          <p:cNvSpPr/>
          <p:nvPr/>
        </p:nvSpPr>
        <p:spPr>
          <a:xfrm>
            <a:off x="4230806" y="4795588"/>
            <a:ext cx="3523351" cy="17047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>
                <a:solidFill>
                  <a:srgbClr val="3865B6"/>
                </a:solidFill>
              </a:rPr>
              <a:t>Visibility</a:t>
            </a:r>
            <a:r>
              <a:rPr lang="pt-BR" b="1" dirty="0">
                <a:solidFill>
                  <a:srgbClr val="3865B6"/>
                </a:solidFill>
              </a:rPr>
              <a:t> Timeout – Em Transito</a:t>
            </a:r>
          </a:p>
          <a:p>
            <a:pPr algn="ctr"/>
            <a:r>
              <a:rPr lang="pt-BR" b="1" noProof="0" dirty="0">
                <a:solidFill>
                  <a:srgbClr val="3865B6"/>
                </a:solidFill>
              </a:rPr>
              <a:t>A mensagem é lida e fica invisível durante determinado tempo, se a mensagem não for retirada da fila neste tempo ela volta.</a:t>
            </a:r>
          </a:p>
        </p:txBody>
      </p:sp>
      <p:cxnSp>
        <p:nvCxnSpPr>
          <p:cNvPr id="35" name="Conector de Seta Reta 39">
            <a:extLst>
              <a:ext uri="{FF2B5EF4-FFF2-40B4-BE49-F238E27FC236}">
                <a16:creationId xmlns:a16="http://schemas.microsoft.com/office/drawing/2014/main" id="{5F664640-4DBF-744E-AAAC-43C34DE6CD24}"/>
              </a:ext>
            </a:extLst>
          </p:cNvPr>
          <p:cNvCxnSpPr>
            <a:cxnSpLocks/>
            <a:stCxn id="33" idx="1"/>
            <a:endCxn id="6" idx="3"/>
          </p:cNvCxnSpPr>
          <p:nvPr/>
        </p:nvCxnSpPr>
        <p:spPr>
          <a:xfrm flipH="1" flipV="1">
            <a:off x="8316132" y="2299269"/>
            <a:ext cx="2125305" cy="22109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9">
            <a:extLst>
              <a:ext uri="{FF2B5EF4-FFF2-40B4-BE49-F238E27FC236}">
                <a16:creationId xmlns:a16="http://schemas.microsoft.com/office/drawing/2014/main" id="{E8CFFCA4-872B-1C24-6ACA-9ACCE26C1144}"/>
              </a:ext>
            </a:extLst>
          </p:cNvPr>
          <p:cNvCxnSpPr>
            <a:cxnSpLocks/>
            <a:stCxn id="33" idx="1"/>
            <a:endCxn id="8" idx="3"/>
          </p:cNvCxnSpPr>
          <p:nvPr/>
        </p:nvCxnSpPr>
        <p:spPr>
          <a:xfrm flipH="1">
            <a:off x="8529756" y="2321378"/>
            <a:ext cx="1911681" cy="1732452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39">
            <a:extLst>
              <a:ext uri="{FF2B5EF4-FFF2-40B4-BE49-F238E27FC236}">
                <a16:creationId xmlns:a16="http://schemas.microsoft.com/office/drawing/2014/main" id="{2EC6C4D1-CAB2-3702-A2D1-053FF292A6B6}"/>
              </a:ext>
            </a:extLst>
          </p:cNvPr>
          <p:cNvCxnSpPr>
            <a:cxnSpLocks/>
            <a:stCxn id="34" idx="0"/>
            <a:endCxn id="11" idx="2"/>
          </p:cNvCxnSpPr>
          <p:nvPr/>
        </p:nvCxnSpPr>
        <p:spPr>
          <a:xfrm flipH="1" flipV="1">
            <a:off x="4879646" y="3943120"/>
            <a:ext cx="1112836" cy="852468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3087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9E33F-4662-7C84-760F-BBCD8145E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EF52A-1840-1E16-CE33-2A7CF816F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SWF – </a:t>
            </a:r>
            <a:r>
              <a:rPr lang="pt-BR" noProof="0" dirty="0" err="1"/>
              <a:t>Simple</a:t>
            </a:r>
            <a:r>
              <a:rPr lang="pt-BR" noProof="0" dirty="0"/>
              <a:t> </a:t>
            </a:r>
            <a:r>
              <a:rPr lang="pt-BR" noProof="0" dirty="0" err="1"/>
              <a:t>Work</a:t>
            </a:r>
            <a:r>
              <a:rPr lang="pt-BR" noProof="0" dirty="0"/>
              <a:t> Flow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F3B18A-B392-47C7-2236-1B38F2BD6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noProof="0" dirty="0"/>
              <a:t>Gerencia um conjunto de tarefas que devem ser executadas em uma ordem especifica.</a:t>
            </a:r>
          </a:p>
          <a:p>
            <a:r>
              <a:rPr lang="pt-BR" noProof="0" dirty="0"/>
              <a:t>Faz interações com outros softwares.</a:t>
            </a:r>
          </a:p>
          <a:p>
            <a:r>
              <a:rPr lang="pt-BR" noProof="0" dirty="0"/>
              <a:t>Faz interações humanas.</a:t>
            </a:r>
          </a:p>
          <a:p>
            <a:r>
              <a:rPr lang="pt-BR" noProof="0" dirty="0"/>
              <a:t>Identifica timeouts.</a:t>
            </a:r>
          </a:p>
          <a:p>
            <a:r>
              <a:rPr lang="pt-BR" noProof="0" dirty="0"/>
              <a:t>Monitora inputs e </a:t>
            </a:r>
            <a:r>
              <a:rPr lang="pt-BR" noProof="0" dirty="0" err="1"/>
              <a:t>outpus</a:t>
            </a:r>
            <a:r>
              <a:rPr lang="pt-BR" noProof="0" dirty="0"/>
              <a:t>, que podem ser acompanhadas.</a:t>
            </a:r>
          </a:p>
          <a:p>
            <a:r>
              <a:rPr lang="pt-BR" noProof="0" dirty="0"/>
              <a:t>Pode automatizar até 10.000 tarefas.</a:t>
            </a:r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5822446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1A35-966E-9B3D-9941-02820FFF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1696D-ED16-966B-216A-2012E796D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Aws</a:t>
            </a:r>
            <a:r>
              <a:rPr lang="pt-BR" noProof="0" dirty="0"/>
              <a:t> – </a:t>
            </a:r>
            <a:r>
              <a:rPr lang="pt-BR" noProof="0" dirty="0" err="1"/>
              <a:t>Elastic</a:t>
            </a:r>
            <a:r>
              <a:rPr lang="pt-BR" noProof="0" dirty="0"/>
              <a:t> </a:t>
            </a:r>
            <a:r>
              <a:rPr lang="pt-BR" noProof="0" dirty="0" err="1"/>
              <a:t>Transcoder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52F850-B23F-346E-D69A-B1997BB36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noProof="0" dirty="0"/>
              <a:t>Utilizado para converter </a:t>
            </a:r>
            <a:r>
              <a:rPr lang="pt-BR" noProof="0" dirty="0" err="1"/>
              <a:t>midias</a:t>
            </a:r>
            <a:r>
              <a:rPr lang="pt-BR" noProof="0" dirty="0"/>
              <a:t>.</a:t>
            </a:r>
          </a:p>
          <a:p>
            <a:r>
              <a:rPr lang="pt-BR" noProof="0" dirty="0"/>
              <a:t>A </a:t>
            </a:r>
            <a:r>
              <a:rPr lang="pt-BR" noProof="0" dirty="0" err="1"/>
              <a:t>midia</a:t>
            </a:r>
            <a:r>
              <a:rPr lang="pt-BR" noProof="0" dirty="0"/>
              <a:t> é salva em uma </a:t>
            </a:r>
            <a:r>
              <a:rPr lang="pt-BR" noProof="0" dirty="0" err="1"/>
              <a:t>bucket</a:t>
            </a:r>
            <a:r>
              <a:rPr lang="pt-BR" noProof="0" dirty="0"/>
              <a:t>, que dispara uma trigger para uma lambda que dispara o </a:t>
            </a:r>
            <a:r>
              <a:rPr lang="pt-BR" noProof="0" dirty="0" err="1"/>
              <a:t>elastic</a:t>
            </a:r>
            <a:r>
              <a:rPr lang="pt-BR" noProof="0" dirty="0"/>
              <a:t> </a:t>
            </a:r>
            <a:r>
              <a:rPr lang="pt-BR" noProof="0" dirty="0" err="1"/>
              <a:t>transcoder</a:t>
            </a:r>
            <a:r>
              <a:rPr lang="pt-BR" noProof="0" dirty="0"/>
              <a:t> que converte a </a:t>
            </a:r>
            <a:r>
              <a:rPr lang="pt-BR" noProof="0" dirty="0" err="1"/>
              <a:t>midia</a:t>
            </a:r>
            <a:r>
              <a:rPr lang="pt-BR" noProof="0" dirty="0"/>
              <a:t> e salva em outra </a:t>
            </a:r>
            <a:r>
              <a:rPr lang="pt-BR" noProof="0" dirty="0" err="1"/>
              <a:t>bucket</a:t>
            </a:r>
            <a:r>
              <a:rPr lang="pt-BR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44251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2C55A-E7AC-679F-BC15-2B21F8D5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5D8EF-5EF4-6DBE-4F6A-C6266F171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23713" cy="1325563"/>
          </a:xfrm>
        </p:spPr>
        <p:txBody>
          <a:bodyPr/>
          <a:lstStyle/>
          <a:p>
            <a:r>
              <a:rPr lang="pt-BR" noProof="0" dirty="0"/>
              <a:t>API Gateway – </a:t>
            </a:r>
            <a:r>
              <a:rPr lang="pt-BR" noProof="0" dirty="0" err="1"/>
              <a:t>Aplication</a:t>
            </a:r>
            <a:r>
              <a:rPr lang="pt-BR" noProof="0" dirty="0"/>
              <a:t> </a:t>
            </a:r>
            <a:r>
              <a:rPr lang="pt-BR" noProof="0" dirty="0" err="1"/>
              <a:t>programing</a:t>
            </a:r>
            <a:r>
              <a:rPr lang="pt-BR" noProof="0" dirty="0"/>
              <a:t> interface.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41D41BB-D386-0105-9891-720328E89217}"/>
              </a:ext>
            </a:extLst>
          </p:cNvPr>
          <p:cNvSpPr/>
          <p:nvPr/>
        </p:nvSpPr>
        <p:spPr>
          <a:xfrm>
            <a:off x="3309503" y="1498558"/>
            <a:ext cx="5564588" cy="49247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400" b="1" noProof="0" dirty="0">
                <a:solidFill>
                  <a:srgbClr val="002060"/>
                </a:solidFill>
              </a:rPr>
              <a:t>Arquitetura </a:t>
            </a:r>
            <a:r>
              <a:rPr lang="pt-BR" sz="2400" b="1" noProof="0" dirty="0" err="1">
                <a:solidFill>
                  <a:srgbClr val="002060"/>
                </a:solidFill>
              </a:rPr>
              <a:t>Servless</a:t>
            </a:r>
            <a:endParaRPr lang="pt-BR" sz="2400" b="1" noProof="0" dirty="0">
              <a:solidFill>
                <a:srgbClr val="002060"/>
              </a:solidFill>
            </a:endParaRPr>
          </a:p>
        </p:txBody>
      </p:sp>
      <p:pic>
        <p:nvPicPr>
          <p:cNvPr id="5" name="Gráfico 14" descr="Programa">
            <a:extLst>
              <a:ext uri="{FF2B5EF4-FFF2-40B4-BE49-F238E27FC236}">
                <a16:creationId xmlns:a16="http://schemas.microsoft.com/office/drawing/2014/main" id="{DF333B5C-8201-02E1-FC0B-DC5D59A32B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656" y="2780492"/>
            <a:ext cx="965200" cy="9652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CD29ED4-E787-DA86-35F7-E4E4CFE3E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975" y="2924306"/>
            <a:ext cx="598521" cy="6775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72E95B7-EC5F-C6AF-7C4F-E82A844DD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169" y="2353059"/>
            <a:ext cx="700776" cy="673294"/>
          </a:xfrm>
          <a:prstGeom prst="rect">
            <a:avLst/>
          </a:prstGeom>
        </p:spPr>
      </p:pic>
      <p:pic>
        <p:nvPicPr>
          <p:cNvPr id="9" name="Gráfico 49" descr="Banco de dados">
            <a:extLst>
              <a:ext uri="{FF2B5EF4-FFF2-40B4-BE49-F238E27FC236}">
                <a16:creationId xmlns:a16="http://schemas.microsoft.com/office/drawing/2014/main" id="{8E8A956B-96B7-732A-1DBF-B0761AB3F4F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809" y="3181791"/>
            <a:ext cx="771842" cy="843742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CD33CB7-A694-A8FA-BD97-D73463030472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5255496" y="3263092"/>
            <a:ext cx="1976313" cy="34057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2D92FBC7-75D4-9870-C158-268B8C0DC0C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5255496" y="2689706"/>
            <a:ext cx="910673" cy="573386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994E78F5-B313-08F1-F6CE-D265939660F5}"/>
              </a:ext>
            </a:extLst>
          </p:cNvPr>
          <p:cNvSpPr/>
          <p:nvPr/>
        </p:nvSpPr>
        <p:spPr>
          <a:xfrm>
            <a:off x="3444931" y="4449190"/>
            <a:ext cx="1810565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APIGatway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19" name="Conector de Seta Reta 39">
            <a:extLst>
              <a:ext uri="{FF2B5EF4-FFF2-40B4-BE49-F238E27FC236}">
                <a16:creationId xmlns:a16="http://schemas.microsoft.com/office/drawing/2014/main" id="{604D0EC3-FCAC-65DA-F9AF-7CB5269E522E}"/>
              </a:ext>
            </a:extLst>
          </p:cNvPr>
          <p:cNvCxnSpPr>
            <a:cxnSpLocks/>
            <a:stCxn id="18" idx="0"/>
            <a:endCxn id="6" idx="2"/>
          </p:cNvCxnSpPr>
          <p:nvPr/>
        </p:nvCxnSpPr>
        <p:spPr>
          <a:xfrm flipV="1">
            <a:off x="4350214" y="3601877"/>
            <a:ext cx="606022" cy="847313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1B782B9A-F78A-ED65-8ED6-35487DA6BF6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189856" y="3263092"/>
            <a:ext cx="467119" cy="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áfico 5" descr="Internet">
            <a:extLst>
              <a:ext uri="{FF2B5EF4-FFF2-40B4-BE49-F238E27FC236}">
                <a16:creationId xmlns:a16="http://schemas.microsoft.com/office/drawing/2014/main" id="{11420A21-B318-4622-79D5-5FA024B8A1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537" y="3684963"/>
            <a:ext cx="914400" cy="914400"/>
          </a:xfrm>
          <a:prstGeom prst="rect">
            <a:avLst/>
          </a:prstGeom>
        </p:spPr>
      </p:pic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DA1D131-3D95-FEB7-0934-64CE31A47369}"/>
              </a:ext>
            </a:extLst>
          </p:cNvPr>
          <p:cNvCxnSpPr>
            <a:cxnSpLocks/>
            <a:stCxn id="6" idx="3"/>
            <a:endCxn id="21" idx="1"/>
          </p:cNvCxnSpPr>
          <p:nvPr/>
        </p:nvCxnSpPr>
        <p:spPr>
          <a:xfrm>
            <a:off x="5255496" y="3263092"/>
            <a:ext cx="846041" cy="879071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368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7E15E-8107-E7C1-F427-96393581D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54FDD-7ED1-1066-BD35-E9CDF6C5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Aws</a:t>
            </a:r>
            <a:r>
              <a:rPr lang="pt-BR" noProof="0" dirty="0"/>
              <a:t> – </a:t>
            </a:r>
            <a:r>
              <a:rPr lang="pt-BR" noProof="0" dirty="0" err="1"/>
              <a:t>Kinesis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F15FF1-706F-1A53-D879-52316F291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noProof="0" dirty="0"/>
              <a:t>Serviço de streaming da AWS. </a:t>
            </a:r>
            <a:r>
              <a:rPr lang="pt-BR" noProof="0" dirty="0" err="1"/>
              <a:t>Kinesis</a:t>
            </a:r>
            <a:r>
              <a:rPr lang="pt-BR" noProof="0" dirty="0"/>
              <a:t> armazena dados de streaming.</a:t>
            </a:r>
          </a:p>
          <a:p>
            <a:r>
              <a:rPr lang="pt-BR" noProof="0" dirty="0"/>
              <a:t>Tipos de </a:t>
            </a:r>
            <a:r>
              <a:rPr lang="pt-BR" noProof="0" dirty="0" err="1"/>
              <a:t>Kinesis</a:t>
            </a:r>
            <a:r>
              <a:rPr lang="pt-BR" noProof="0" dirty="0"/>
              <a:t>:</a:t>
            </a:r>
          </a:p>
          <a:p>
            <a:pPr lvl="1"/>
            <a:r>
              <a:rPr lang="pt-BR" noProof="0" dirty="0" err="1"/>
              <a:t>Strems</a:t>
            </a:r>
            <a:r>
              <a:rPr lang="pt-BR" noProof="0" dirty="0"/>
              <a:t>: recebe os dados e armazenas de 24 horas até 7 dias. </a:t>
            </a:r>
            <a:r>
              <a:rPr lang="pt-BR" noProof="0" dirty="0" err="1"/>
              <a:t>Armazana</a:t>
            </a:r>
            <a:r>
              <a:rPr lang="pt-BR" noProof="0" dirty="0"/>
              <a:t> em partes (</a:t>
            </a:r>
            <a:r>
              <a:rPr lang="pt-BR" noProof="0" dirty="0" err="1"/>
              <a:t>shad</a:t>
            </a:r>
            <a:r>
              <a:rPr lang="pt-BR" noProof="0" dirty="0"/>
              <a:t>).</a:t>
            </a:r>
          </a:p>
          <a:p>
            <a:pPr lvl="1"/>
            <a:r>
              <a:rPr lang="pt-BR" noProof="0" dirty="0" err="1"/>
              <a:t>Firehose</a:t>
            </a:r>
            <a:r>
              <a:rPr lang="pt-BR" noProof="0" dirty="0"/>
              <a:t>: recebe os dados e não armazena já processa os dados ou permite que outro aplicativo faça.</a:t>
            </a:r>
          </a:p>
          <a:p>
            <a:pPr lvl="1"/>
            <a:r>
              <a:rPr lang="pt-BR" noProof="0" dirty="0" err="1"/>
              <a:t>Analitcs</a:t>
            </a:r>
            <a:r>
              <a:rPr lang="pt-BR" noProof="0" dirty="0"/>
              <a:t>: é a Mistura de </a:t>
            </a:r>
            <a:r>
              <a:rPr lang="pt-BR" noProof="0" dirty="0" err="1"/>
              <a:t>strems</a:t>
            </a:r>
            <a:r>
              <a:rPr lang="pt-BR" noProof="0" dirty="0"/>
              <a:t> e </a:t>
            </a:r>
            <a:r>
              <a:rPr lang="pt-BR" noProof="0" dirty="0" err="1"/>
              <a:t>firehose</a:t>
            </a:r>
            <a:r>
              <a:rPr lang="pt-BR" noProof="0" dirty="0"/>
              <a:t>, ele faz analises.</a:t>
            </a:r>
          </a:p>
          <a:p>
            <a:pPr lvl="1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718114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1EE31-F110-9A70-9982-BF3FD0B9A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EBF78-88CE-3D6F-3471-DDF70108C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Aws</a:t>
            </a:r>
            <a:r>
              <a:rPr lang="pt-BR" noProof="0" dirty="0"/>
              <a:t> – </a:t>
            </a:r>
            <a:r>
              <a:rPr lang="pt-BR" noProof="0" dirty="0" err="1"/>
              <a:t>Cognito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1199D4-576A-75B9-FFBF-EE0085808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noProof="0" dirty="0"/>
              <a:t>Serviço de login com web </a:t>
            </a:r>
            <a:r>
              <a:rPr lang="pt-BR" noProof="0" dirty="0" err="1"/>
              <a:t>identity</a:t>
            </a:r>
            <a:r>
              <a:rPr lang="pt-BR" noProof="0" dirty="0"/>
              <a:t> </a:t>
            </a:r>
            <a:r>
              <a:rPr lang="pt-BR" noProof="0" dirty="0" err="1"/>
              <a:t>federation</a:t>
            </a:r>
            <a:r>
              <a:rPr lang="pt-BR" noProof="0" dirty="0"/>
              <a:t>.</a:t>
            </a:r>
          </a:p>
          <a:p>
            <a:r>
              <a:rPr lang="pt-BR" noProof="0" dirty="0"/>
              <a:t>Existem dois tipos de </a:t>
            </a:r>
            <a:r>
              <a:rPr lang="pt-BR" noProof="0" dirty="0" err="1"/>
              <a:t>cognito</a:t>
            </a:r>
            <a:r>
              <a:rPr lang="pt-BR" noProof="0" dirty="0"/>
              <a:t>: </a:t>
            </a:r>
          </a:p>
          <a:p>
            <a:pPr lvl="1"/>
            <a:r>
              <a:rPr lang="pt-BR" noProof="0" dirty="0" err="1"/>
              <a:t>User</a:t>
            </a:r>
            <a:r>
              <a:rPr lang="pt-BR" noProof="0" dirty="0"/>
              <a:t> Poll: A credencial está </a:t>
            </a:r>
            <a:r>
              <a:rPr lang="pt-BR" noProof="0" dirty="0" err="1"/>
              <a:t>armazanada</a:t>
            </a:r>
            <a:r>
              <a:rPr lang="pt-BR" noProof="0" dirty="0"/>
              <a:t> em outro site, o </a:t>
            </a:r>
            <a:r>
              <a:rPr lang="pt-BR" noProof="0" dirty="0" err="1"/>
              <a:t>cognito</a:t>
            </a:r>
            <a:r>
              <a:rPr lang="pt-BR" noProof="0" dirty="0"/>
              <a:t> pega usuário e senha e valida com outro site. É a autenticação.</a:t>
            </a:r>
          </a:p>
          <a:p>
            <a:pPr lvl="1"/>
            <a:r>
              <a:rPr lang="pt-BR" noProof="0" dirty="0" err="1"/>
              <a:t>Identity</a:t>
            </a:r>
            <a:r>
              <a:rPr lang="pt-BR" noProof="0" dirty="0"/>
              <a:t> Poll: Pega o usuário autorizado e atribui a ele as devidas autorizações. É a autorização.</a:t>
            </a:r>
          </a:p>
          <a:p>
            <a:r>
              <a:rPr lang="pt-BR" noProof="0" dirty="0"/>
              <a:t>Usa </a:t>
            </a:r>
            <a:r>
              <a:rPr lang="pt-BR" noProof="0" dirty="0" err="1"/>
              <a:t>sns</a:t>
            </a:r>
            <a:r>
              <a:rPr lang="pt-BR" noProof="0" dirty="0"/>
              <a:t> para identificar e atualizar outros dispositivos, se acessas do </a:t>
            </a:r>
            <a:r>
              <a:rPr lang="pt-BR" noProof="0" dirty="0" err="1"/>
              <a:t>pc</a:t>
            </a:r>
            <a:r>
              <a:rPr lang="pt-BR" noProof="0" dirty="0"/>
              <a:t> ou celular, e depois troca a senha, ele identifica e troca em todos.</a:t>
            </a:r>
          </a:p>
          <a:p>
            <a:r>
              <a:rPr lang="pt-BR" noProof="0" dirty="0"/>
              <a:t>Outros sites de autenticação são por exemplo redes sociais. </a:t>
            </a:r>
          </a:p>
          <a:p>
            <a:endParaRPr lang="pt-BR" noProof="0" dirty="0"/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35986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A6D8-ADB2-A886-4D3C-6A3398D3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01A41-9110-AE68-11CC-DCA537F0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SNS – </a:t>
            </a:r>
            <a:r>
              <a:rPr lang="pt-BR" noProof="0" dirty="0" err="1"/>
              <a:t>Simple</a:t>
            </a:r>
            <a:r>
              <a:rPr lang="pt-BR" noProof="0" dirty="0"/>
              <a:t> </a:t>
            </a:r>
            <a:r>
              <a:rPr lang="pt-BR" noProof="0" dirty="0" err="1"/>
              <a:t>Notification</a:t>
            </a:r>
            <a:r>
              <a:rPr lang="pt-BR" noProof="0" dirty="0"/>
              <a:t> Service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432FEC-2416-B60B-E78C-86B142430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noProof="0" dirty="0"/>
              <a:t>Serviço de notificação da </a:t>
            </a:r>
            <a:r>
              <a:rPr lang="pt-BR" noProof="0" dirty="0" err="1"/>
              <a:t>aws</a:t>
            </a:r>
            <a:r>
              <a:rPr lang="pt-BR" noProof="0" dirty="0"/>
              <a:t>. </a:t>
            </a:r>
          </a:p>
          <a:p>
            <a:r>
              <a:rPr lang="pt-BR" noProof="0" dirty="0"/>
              <a:t> É </a:t>
            </a:r>
            <a:r>
              <a:rPr lang="pt-BR" noProof="0" dirty="0" err="1"/>
              <a:t>push</a:t>
            </a:r>
            <a:r>
              <a:rPr lang="pt-BR" noProof="0" dirty="0"/>
              <a:t> </a:t>
            </a:r>
            <a:r>
              <a:rPr lang="pt-BR" noProof="0" dirty="0" err="1"/>
              <a:t>notification</a:t>
            </a:r>
            <a:r>
              <a:rPr lang="pt-BR" noProof="0" dirty="0"/>
              <a:t>, </a:t>
            </a:r>
            <a:r>
              <a:rPr lang="pt-BR" noProof="0" dirty="0" err="1"/>
              <a:t>text</a:t>
            </a:r>
            <a:r>
              <a:rPr lang="pt-BR" noProof="0" dirty="0"/>
              <a:t> </a:t>
            </a:r>
            <a:r>
              <a:rPr lang="pt-BR" noProof="0" dirty="0" err="1"/>
              <a:t>message</a:t>
            </a:r>
            <a:r>
              <a:rPr lang="pt-BR" noProof="0" dirty="0"/>
              <a:t>, </a:t>
            </a:r>
            <a:r>
              <a:rPr lang="pt-BR" noProof="0" dirty="0" err="1"/>
              <a:t>sms</a:t>
            </a:r>
            <a:r>
              <a:rPr lang="pt-BR" noProof="0" dirty="0"/>
              <a:t>, e-mail entre outros.</a:t>
            </a:r>
          </a:p>
          <a:p>
            <a:r>
              <a:rPr lang="pt-BR" noProof="0" dirty="0"/>
              <a:t>Não tem </a:t>
            </a:r>
            <a:r>
              <a:rPr lang="pt-BR" noProof="0" dirty="0" err="1"/>
              <a:t>pull</a:t>
            </a:r>
            <a:r>
              <a:rPr lang="pt-BR" noProof="0" dirty="0"/>
              <a:t> </a:t>
            </a:r>
            <a:r>
              <a:rPr lang="pt-BR" noProof="0" dirty="0" err="1"/>
              <a:t>notification</a:t>
            </a:r>
            <a:r>
              <a:rPr lang="pt-BR" noProof="0" dirty="0"/>
              <a:t>.</a:t>
            </a:r>
          </a:p>
          <a:p>
            <a:r>
              <a:rPr lang="pt-BR" noProof="0" dirty="0"/>
              <a:t>Permite criação de grupos de mensagem (</a:t>
            </a:r>
            <a:r>
              <a:rPr lang="pt-BR" noProof="0" dirty="0" err="1"/>
              <a:t>topico</a:t>
            </a:r>
            <a:r>
              <a:rPr lang="pt-BR" noProof="0" dirty="0"/>
              <a:t>).</a:t>
            </a:r>
          </a:p>
          <a:p>
            <a:r>
              <a:rPr lang="pt-BR" noProof="0" dirty="0"/>
              <a:t>É pago pelo uso.</a:t>
            </a:r>
          </a:p>
          <a:p>
            <a:endParaRPr lang="pt-BR" noProof="0" dirty="0"/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894724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71B8A-667C-20D3-4115-4A1BDD8E0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7B064-9B86-8A6B-6E41-A4FCA53D4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7" y="2187743"/>
            <a:ext cx="9185229" cy="248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6700" noProof="0" dirty="0" err="1"/>
              <a:t>Servless</a:t>
            </a:r>
            <a:r>
              <a:rPr lang="pt-BR" sz="6700" noProof="0" dirty="0"/>
              <a:t> Lambda</a:t>
            </a:r>
            <a:br>
              <a:rPr lang="pt-BR" sz="8800" noProof="0" dirty="0"/>
            </a:br>
            <a:r>
              <a:rPr lang="pt-BR" sz="3600" noProof="0" dirty="0" err="1"/>
              <a:t>Databases</a:t>
            </a:r>
            <a:endParaRPr lang="pt-BR" sz="3600" kern="1200" noProof="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808DFC-E828-9A91-9FCE-32A784F8E3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1" y="2743201"/>
            <a:ext cx="1371600" cy="13716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63FB374-751E-B5A3-21CE-44A4D2E02D69}"/>
              </a:ext>
            </a:extLst>
          </p:cNvPr>
          <p:cNvSpPr/>
          <p:nvPr/>
        </p:nvSpPr>
        <p:spPr>
          <a:xfrm>
            <a:off x="8434931" y="6226936"/>
            <a:ext cx="3531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noProof="0" dirty="0">
                <a:hlinkClick r:id="rId4"/>
              </a:rPr>
              <a:t>https://docs.aws.amazon.com/</a:t>
            </a:r>
            <a:endParaRPr lang="pt-BR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A3FF663-C834-FDE7-02A8-F34FC90A49B5}"/>
              </a:ext>
            </a:extLst>
          </p:cNvPr>
          <p:cNvSpPr/>
          <p:nvPr/>
        </p:nvSpPr>
        <p:spPr>
          <a:xfrm>
            <a:off x="8434931" y="5857604"/>
            <a:ext cx="289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noProof="0" dirty="0">
                <a:hlinkClick r:id="rId5"/>
              </a:rPr>
              <a:t>https://aws.amazon.com/pt/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6095329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A8C00-9D38-11A0-9E4F-F30DDC70D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D2EE3-835E-DA58-A49B-74192DFAA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Aws</a:t>
            </a:r>
            <a:r>
              <a:rPr lang="pt-BR" noProof="0" dirty="0"/>
              <a:t> Lambda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3AAD41F-0C05-747A-3696-9DEF67C4EF91}"/>
              </a:ext>
            </a:extLst>
          </p:cNvPr>
          <p:cNvSpPr/>
          <p:nvPr/>
        </p:nvSpPr>
        <p:spPr>
          <a:xfrm>
            <a:off x="105578" y="1568132"/>
            <a:ext cx="5564588" cy="49247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400" b="1" noProof="0" dirty="0">
                <a:solidFill>
                  <a:srgbClr val="002060"/>
                </a:solidFill>
              </a:rPr>
              <a:t>Arquitetura Tradicional</a:t>
            </a:r>
          </a:p>
        </p:txBody>
      </p:sp>
      <p:pic>
        <p:nvPicPr>
          <p:cNvPr id="24" name="Gráfico 5" descr="Internet">
            <a:extLst>
              <a:ext uri="{FF2B5EF4-FFF2-40B4-BE49-F238E27FC236}">
                <a16:creationId xmlns:a16="http://schemas.microsoft.com/office/drawing/2014/main" id="{4E4B8F40-719F-FD91-1878-B09E4D44DD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037" y="2302080"/>
            <a:ext cx="914400" cy="914400"/>
          </a:xfrm>
          <a:prstGeom prst="rect">
            <a:avLst/>
          </a:prstGeom>
        </p:spPr>
      </p:pic>
      <p:pic>
        <p:nvPicPr>
          <p:cNvPr id="25" name="Gráfico 14" descr="Programa">
            <a:extLst>
              <a:ext uri="{FF2B5EF4-FFF2-40B4-BE49-F238E27FC236}">
                <a16:creationId xmlns:a16="http://schemas.microsoft.com/office/drawing/2014/main" id="{7C97BAAA-4460-17DF-BDC7-7B27927D8C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68" y="2579482"/>
            <a:ext cx="965200" cy="965200"/>
          </a:xfrm>
          <a:prstGeom prst="rect">
            <a:avLst/>
          </a:prstGeom>
        </p:spPr>
      </p:pic>
      <p:pic>
        <p:nvPicPr>
          <p:cNvPr id="28" name="Gráfico 49" descr="Banco de dados">
            <a:extLst>
              <a:ext uri="{FF2B5EF4-FFF2-40B4-BE49-F238E27FC236}">
                <a16:creationId xmlns:a16="http://schemas.microsoft.com/office/drawing/2014/main" id="{D67400E1-1934-CEDC-6DD3-B41FB1A636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657" y="2481973"/>
            <a:ext cx="771842" cy="843742"/>
          </a:xfrm>
          <a:prstGeom prst="rect">
            <a:avLst/>
          </a:prstGeom>
        </p:spPr>
      </p:pic>
      <p:pic>
        <p:nvPicPr>
          <p:cNvPr id="29" name="Gráfico 5" descr="Internet">
            <a:extLst>
              <a:ext uri="{FF2B5EF4-FFF2-40B4-BE49-F238E27FC236}">
                <a16:creationId xmlns:a16="http://schemas.microsoft.com/office/drawing/2014/main" id="{1506F06F-5355-0EE7-B71B-F0D41F025B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239" y="2993880"/>
            <a:ext cx="914400" cy="9144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79E89737-020F-1B6F-8B6D-D14E53C65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1236" y="2762044"/>
            <a:ext cx="628650" cy="600075"/>
          </a:xfrm>
          <a:prstGeom prst="rect">
            <a:avLst/>
          </a:prstGeom>
        </p:spPr>
      </p:pic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6E6CFD1F-BAED-37EB-D725-639A854D5DAC}"/>
              </a:ext>
            </a:extLst>
          </p:cNvPr>
          <p:cNvCxnSpPr>
            <a:cxnSpLocks/>
            <a:stCxn id="25" idx="3"/>
            <a:endCxn id="31" idx="1"/>
          </p:cNvCxnSpPr>
          <p:nvPr/>
        </p:nvCxnSpPr>
        <p:spPr>
          <a:xfrm>
            <a:off x="1224668" y="3062082"/>
            <a:ext cx="676568" cy="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F8B0DF52-25F8-9905-8FA2-2DF6AE82721B}"/>
              </a:ext>
            </a:extLst>
          </p:cNvPr>
          <p:cNvCxnSpPr>
            <a:cxnSpLocks/>
            <a:stCxn id="31" idx="3"/>
            <a:endCxn id="24" idx="1"/>
          </p:cNvCxnSpPr>
          <p:nvPr/>
        </p:nvCxnSpPr>
        <p:spPr>
          <a:xfrm flipV="1">
            <a:off x="2529886" y="2759280"/>
            <a:ext cx="652151" cy="302802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3048B50F-DC4B-2632-BAC8-FBA4EC53773E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>
            <a:off x="2529886" y="3062082"/>
            <a:ext cx="651353" cy="388998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7715A901-A0C2-E7CA-95A0-EAF11451048C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>
            <a:off x="4096437" y="2759280"/>
            <a:ext cx="847220" cy="144564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A2317718-4CB9-3350-B41C-11EED7239AF9}"/>
              </a:ext>
            </a:extLst>
          </p:cNvPr>
          <p:cNvCxnSpPr>
            <a:cxnSpLocks/>
            <a:stCxn id="29" idx="3"/>
            <a:endCxn id="28" idx="1"/>
          </p:cNvCxnSpPr>
          <p:nvPr/>
        </p:nvCxnSpPr>
        <p:spPr>
          <a:xfrm flipV="1">
            <a:off x="4095639" y="2903844"/>
            <a:ext cx="848018" cy="547236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tângulo 54">
            <a:extLst>
              <a:ext uri="{FF2B5EF4-FFF2-40B4-BE49-F238E27FC236}">
                <a16:creationId xmlns:a16="http://schemas.microsoft.com/office/drawing/2014/main" id="{5A7734FD-B96F-72E9-3AAF-425A21A8672A}"/>
              </a:ext>
            </a:extLst>
          </p:cNvPr>
          <p:cNvSpPr/>
          <p:nvPr/>
        </p:nvSpPr>
        <p:spPr>
          <a:xfrm>
            <a:off x="719321" y="4372799"/>
            <a:ext cx="1810565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Load</a:t>
            </a:r>
            <a:r>
              <a:rPr lang="pt-BR" b="1" noProof="0" dirty="0">
                <a:solidFill>
                  <a:srgbClr val="3865B6"/>
                </a:solidFill>
              </a:rPr>
              <a:t> Balance</a:t>
            </a:r>
          </a:p>
        </p:txBody>
      </p:sp>
      <p:cxnSp>
        <p:nvCxnSpPr>
          <p:cNvPr id="56" name="Conector de Seta Reta 39">
            <a:extLst>
              <a:ext uri="{FF2B5EF4-FFF2-40B4-BE49-F238E27FC236}">
                <a16:creationId xmlns:a16="http://schemas.microsoft.com/office/drawing/2014/main" id="{480A451D-663B-2D92-0384-B3E652C988D4}"/>
              </a:ext>
            </a:extLst>
          </p:cNvPr>
          <p:cNvCxnSpPr>
            <a:cxnSpLocks/>
            <a:stCxn id="55" idx="0"/>
            <a:endCxn id="31" idx="2"/>
          </p:cNvCxnSpPr>
          <p:nvPr/>
        </p:nvCxnSpPr>
        <p:spPr>
          <a:xfrm flipV="1">
            <a:off x="1624604" y="3362119"/>
            <a:ext cx="590957" cy="1010680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D34AA9A7-9562-60F4-1714-64F548CD96A0}"/>
              </a:ext>
            </a:extLst>
          </p:cNvPr>
          <p:cNvSpPr/>
          <p:nvPr/>
        </p:nvSpPr>
        <p:spPr>
          <a:xfrm>
            <a:off x="3007860" y="5754479"/>
            <a:ext cx="2175557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Banco de Dados</a:t>
            </a:r>
          </a:p>
        </p:txBody>
      </p:sp>
      <p:cxnSp>
        <p:nvCxnSpPr>
          <p:cNvPr id="58" name="Conector de Seta Reta 39">
            <a:extLst>
              <a:ext uri="{FF2B5EF4-FFF2-40B4-BE49-F238E27FC236}">
                <a16:creationId xmlns:a16="http://schemas.microsoft.com/office/drawing/2014/main" id="{4A1B7389-DC86-6D9A-B5F9-A283E6210DE8}"/>
              </a:ext>
            </a:extLst>
          </p:cNvPr>
          <p:cNvCxnSpPr>
            <a:cxnSpLocks/>
            <a:stCxn id="57" idx="0"/>
            <a:endCxn id="28" idx="2"/>
          </p:cNvCxnSpPr>
          <p:nvPr/>
        </p:nvCxnSpPr>
        <p:spPr>
          <a:xfrm flipV="1">
            <a:off x="4095639" y="3325715"/>
            <a:ext cx="1233939" cy="2428764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409AB5A4-99A1-8457-4044-722DE66AA76E}"/>
              </a:ext>
            </a:extLst>
          </p:cNvPr>
          <p:cNvSpPr/>
          <p:nvPr/>
        </p:nvSpPr>
        <p:spPr>
          <a:xfrm>
            <a:off x="1789046" y="4980192"/>
            <a:ext cx="2005387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Servidores</a:t>
            </a:r>
          </a:p>
        </p:txBody>
      </p:sp>
      <p:cxnSp>
        <p:nvCxnSpPr>
          <p:cNvPr id="60" name="Conector de Seta Reta 39">
            <a:extLst>
              <a:ext uri="{FF2B5EF4-FFF2-40B4-BE49-F238E27FC236}">
                <a16:creationId xmlns:a16="http://schemas.microsoft.com/office/drawing/2014/main" id="{41B86D76-26AB-6BA1-34E7-6910A16F0888}"/>
              </a:ext>
            </a:extLst>
          </p:cNvPr>
          <p:cNvCxnSpPr>
            <a:cxnSpLocks/>
            <a:stCxn id="59" idx="0"/>
            <a:endCxn id="29" idx="2"/>
          </p:cNvCxnSpPr>
          <p:nvPr/>
        </p:nvCxnSpPr>
        <p:spPr>
          <a:xfrm flipV="1">
            <a:off x="2791740" y="3908280"/>
            <a:ext cx="846699" cy="1071912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tângulo 76">
            <a:extLst>
              <a:ext uri="{FF2B5EF4-FFF2-40B4-BE49-F238E27FC236}">
                <a16:creationId xmlns:a16="http://schemas.microsoft.com/office/drawing/2014/main" id="{595CC0B8-6123-D8E4-6D9B-8D02B58E7BFD}"/>
              </a:ext>
            </a:extLst>
          </p:cNvPr>
          <p:cNvSpPr/>
          <p:nvPr/>
        </p:nvSpPr>
        <p:spPr>
          <a:xfrm>
            <a:off x="6012946" y="1568132"/>
            <a:ext cx="5564588" cy="49247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400" b="1" noProof="0" dirty="0">
                <a:solidFill>
                  <a:srgbClr val="002060"/>
                </a:solidFill>
              </a:rPr>
              <a:t>Arquitetura </a:t>
            </a:r>
            <a:r>
              <a:rPr lang="pt-BR" sz="2400" b="1" noProof="0" dirty="0" err="1">
                <a:solidFill>
                  <a:srgbClr val="002060"/>
                </a:solidFill>
              </a:rPr>
              <a:t>Servless</a:t>
            </a:r>
            <a:endParaRPr lang="pt-BR" sz="2400" b="1" noProof="0" dirty="0">
              <a:solidFill>
                <a:srgbClr val="002060"/>
              </a:solidFill>
            </a:endParaRPr>
          </a:p>
        </p:txBody>
      </p:sp>
      <p:pic>
        <p:nvPicPr>
          <p:cNvPr id="78" name="Gráfico 14" descr="Programa">
            <a:extLst>
              <a:ext uri="{FF2B5EF4-FFF2-40B4-BE49-F238E27FC236}">
                <a16:creationId xmlns:a16="http://schemas.microsoft.com/office/drawing/2014/main" id="{EB3DAB7F-510D-CAFA-1007-B95D33282A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099" y="2850066"/>
            <a:ext cx="965200" cy="965200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EA9C4CEF-4EEA-52DC-8B5E-87769F4E79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418" y="2993880"/>
            <a:ext cx="598521" cy="677571"/>
          </a:xfrm>
          <a:prstGeom prst="rect">
            <a:avLst/>
          </a:prstGeom>
        </p:spPr>
      </p:pic>
      <p:pic>
        <p:nvPicPr>
          <p:cNvPr id="82" name="Imagem 81">
            <a:extLst>
              <a:ext uri="{FF2B5EF4-FFF2-40B4-BE49-F238E27FC236}">
                <a16:creationId xmlns:a16="http://schemas.microsoft.com/office/drawing/2014/main" id="{B557B65D-7016-90AF-438D-769302DBD3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12" y="2422633"/>
            <a:ext cx="700776" cy="673294"/>
          </a:xfrm>
          <a:prstGeom prst="rect">
            <a:avLst/>
          </a:prstGeom>
        </p:spPr>
      </p:pic>
      <p:pic>
        <p:nvPicPr>
          <p:cNvPr id="85" name="Imagem 84">
            <a:extLst>
              <a:ext uri="{FF2B5EF4-FFF2-40B4-BE49-F238E27FC236}">
                <a16:creationId xmlns:a16="http://schemas.microsoft.com/office/drawing/2014/main" id="{3DBB335F-A8B1-22E4-8985-2F4EBB93BD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12" y="3571633"/>
            <a:ext cx="700776" cy="673294"/>
          </a:xfrm>
          <a:prstGeom prst="rect">
            <a:avLst/>
          </a:prstGeom>
        </p:spPr>
      </p:pic>
      <p:pic>
        <p:nvPicPr>
          <p:cNvPr id="86" name="Gráfico 49" descr="Banco de dados">
            <a:extLst>
              <a:ext uri="{FF2B5EF4-FFF2-40B4-BE49-F238E27FC236}">
                <a16:creationId xmlns:a16="http://schemas.microsoft.com/office/drawing/2014/main" id="{9341141B-0626-2BED-FA76-30C10B040D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462" y="2832812"/>
            <a:ext cx="771842" cy="843742"/>
          </a:xfrm>
          <a:prstGeom prst="rect">
            <a:avLst/>
          </a:prstGeom>
        </p:spPr>
      </p:pic>
      <p:sp>
        <p:nvSpPr>
          <p:cNvPr id="87" name="Retângulo 86">
            <a:extLst>
              <a:ext uri="{FF2B5EF4-FFF2-40B4-BE49-F238E27FC236}">
                <a16:creationId xmlns:a16="http://schemas.microsoft.com/office/drawing/2014/main" id="{87935AE6-9C96-AFED-D0E7-2142B1F50B33}"/>
              </a:ext>
            </a:extLst>
          </p:cNvPr>
          <p:cNvSpPr/>
          <p:nvPr/>
        </p:nvSpPr>
        <p:spPr>
          <a:xfrm>
            <a:off x="8482609" y="5795913"/>
            <a:ext cx="2175557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Banco de Dados</a:t>
            </a:r>
          </a:p>
        </p:txBody>
      </p:sp>
      <p:cxnSp>
        <p:nvCxnSpPr>
          <p:cNvPr id="88" name="Conector de Seta Reta 39">
            <a:extLst>
              <a:ext uri="{FF2B5EF4-FFF2-40B4-BE49-F238E27FC236}">
                <a16:creationId xmlns:a16="http://schemas.microsoft.com/office/drawing/2014/main" id="{47203476-E777-79D0-41FC-E7EA8AC30053}"/>
              </a:ext>
            </a:extLst>
          </p:cNvPr>
          <p:cNvCxnSpPr>
            <a:cxnSpLocks/>
            <a:stCxn id="87" idx="0"/>
            <a:endCxn id="86" idx="2"/>
          </p:cNvCxnSpPr>
          <p:nvPr/>
        </p:nvCxnSpPr>
        <p:spPr>
          <a:xfrm flipV="1">
            <a:off x="9570388" y="3676554"/>
            <a:ext cx="1523995" cy="2119359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B6F0DA61-5708-7F2A-B94E-9D39FFAFB9ED}"/>
              </a:ext>
            </a:extLst>
          </p:cNvPr>
          <p:cNvCxnSpPr>
            <a:cxnSpLocks/>
            <a:stCxn id="82" idx="3"/>
            <a:endCxn id="86" idx="1"/>
          </p:cNvCxnSpPr>
          <p:nvPr/>
        </p:nvCxnSpPr>
        <p:spPr>
          <a:xfrm>
            <a:off x="9570388" y="2759280"/>
            <a:ext cx="1138074" cy="495403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90">
            <a:extLst>
              <a:ext uri="{FF2B5EF4-FFF2-40B4-BE49-F238E27FC236}">
                <a16:creationId xmlns:a16="http://schemas.microsoft.com/office/drawing/2014/main" id="{94071AB5-4A1D-699E-5DB3-07496F6BE0C9}"/>
              </a:ext>
            </a:extLst>
          </p:cNvPr>
          <p:cNvCxnSpPr>
            <a:cxnSpLocks/>
            <a:stCxn id="85" idx="3"/>
            <a:endCxn id="86" idx="1"/>
          </p:cNvCxnSpPr>
          <p:nvPr/>
        </p:nvCxnSpPr>
        <p:spPr>
          <a:xfrm flipV="1">
            <a:off x="9570388" y="3254683"/>
            <a:ext cx="1138074" cy="653597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>
            <a:extLst>
              <a:ext uri="{FF2B5EF4-FFF2-40B4-BE49-F238E27FC236}">
                <a16:creationId xmlns:a16="http://schemas.microsoft.com/office/drawing/2014/main" id="{0BB39536-88D7-DDDE-FB38-370963BECAFE}"/>
              </a:ext>
            </a:extLst>
          </p:cNvPr>
          <p:cNvCxnSpPr>
            <a:cxnSpLocks/>
            <a:stCxn id="80" idx="3"/>
            <a:endCxn id="82" idx="1"/>
          </p:cNvCxnSpPr>
          <p:nvPr/>
        </p:nvCxnSpPr>
        <p:spPr>
          <a:xfrm flipV="1">
            <a:off x="7958939" y="2759280"/>
            <a:ext cx="910673" cy="573386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>
            <a:extLst>
              <a:ext uri="{FF2B5EF4-FFF2-40B4-BE49-F238E27FC236}">
                <a16:creationId xmlns:a16="http://schemas.microsoft.com/office/drawing/2014/main" id="{CFF22D28-7791-216A-62A5-40FCDEF97F50}"/>
              </a:ext>
            </a:extLst>
          </p:cNvPr>
          <p:cNvCxnSpPr>
            <a:cxnSpLocks/>
            <a:stCxn id="80" idx="3"/>
            <a:endCxn id="85" idx="1"/>
          </p:cNvCxnSpPr>
          <p:nvPr/>
        </p:nvCxnSpPr>
        <p:spPr>
          <a:xfrm>
            <a:off x="7958939" y="3332666"/>
            <a:ext cx="910673" cy="575614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tângulo 103">
            <a:extLst>
              <a:ext uri="{FF2B5EF4-FFF2-40B4-BE49-F238E27FC236}">
                <a16:creationId xmlns:a16="http://schemas.microsoft.com/office/drawing/2014/main" id="{90DC4D40-F6B1-9871-1552-276B0BB21401}"/>
              </a:ext>
            </a:extLst>
          </p:cNvPr>
          <p:cNvSpPr/>
          <p:nvPr/>
        </p:nvSpPr>
        <p:spPr>
          <a:xfrm>
            <a:off x="6864626" y="5154065"/>
            <a:ext cx="2705762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Código – Função - Lambda</a:t>
            </a:r>
          </a:p>
        </p:txBody>
      </p:sp>
      <p:cxnSp>
        <p:nvCxnSpPr>
          <p:cNvPr id="105" name="Conector de Seta Reta 39">
            <a:extLst>
              <a:ext uri="{FF2B5EF4-FFF2-40B4-BE49-F238E27FC236}">
                <a16:creationId xmlns:a16="http://schemas.microsoft.com/office/drawing/2014/main" id="{0CDEEF29-A3A6-7AF4-3A3D-915455A9589F}"/>
              </a:ext>
            </a:extLst>
          </p:cNvPr>
          <p:cNvCxnSpPr>
            <a:cxnSpLocks/>
            <a:stCxn id="104" idx="0"/>
            <a:endCxn id="85" idx="2"/>
          </p:cNvCxnSpPr>
          <p:nvPr/>
        </p:nvCxnSpPr>
        <p:spPr>
          <a:xfrm flipV="1">
            <a:off x="8217507" y="4244927"/>
            <a:ext cx="1002493" cy="909138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tângulo 108">
            <a:extLst>
              <a:ext uri="{FF2B5EF4-FFF2-40B4-BE49-F238E27FC236}">
                <a16:creationId xmlns:a16="http://schemas.microsoft.com/office/drawing/2014/main" id="{3747CDF5-2B6F-B49C-4C69-78C5AC0A96C8}"/>
              </a:ext>
            </a:extLst>
          </p:cNvPr>
          <p:cNvSpPr/>
          <p:nvPr/>
        </p:nvSpPr>
        <p:spPr>
          <a:xfrm>
            <a:off x="6148374" y="4518764"/>
            <a:ext cx="1810565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APIGatway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110" name="Conector de Seta Reta 39">
            <a:extLst>
              <a:ext uri="{FF2B5EF4-FFF2-40B4-BE49-F238E27FC236}">
                <a16:creationId xmlns:a16="http://schemas.microsoft.com/office/drawing/2014/main" id="{7346DE06-B0DF-266A-2C5A-9D794DB36DF7}"/>
              </a:ext>
            </a:extLst>
          </p:cNvPr>
          <p:cNvCxnSpPr>
            <a:cxnSpLocks/>
            <a:stCxn id="109" idx="0"/>
            <a:endCxn id="80" idx="2"/>
          </p:cNvCxnSpPr>
          <p:nvPr/>
        </p:nvCxnSpPr>
        <p:spPr>
          <a:xfrm flipV="1">
            <a:off x="7053657" y="3671451"/>
            <a:ext cx="606022" cy="847313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to 112">
            <a:extLst>
              <a:ext uri="{FF2B5EF4-FFF2-40B4-BE49-F238E27FC236}">
                <a16:creationId xmlns:a16="http://schemas.microsoft.com/office/drawing/2014/main" id="{61BEB1A2-9A36-43E5-B736-FCDF048DB1F2}"/>
              </a:ext>
            </a:extLst>
          </p:cNvPr>
          <p:cNvCxnSpPr>
            <a:cxnSpLocks/>
            <a:stCxn id="78" idx="3"/>
            <a:endCxn id="80" idx="1"/>
          </p:cNvCxnSpPr>
          <p:nvPr/>
        </p:nvCxnSpPr>
        <p:spPr>
          <a:xfrm>
            <a:off x="6893299" y="3332666"/>
            <a:ext cx="467119" cy="0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78378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D0A72-65C2-87CC-6677-CB3DCD89E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77A2A-7FC1-6C76-A091-A1CCF7359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924"/>
            <a:ext cx="10515600" cy="1325563"/>
          </a:xfrm>
        </p:spPr>
        <p:txBody>
          <a:bodyPr/>
          <a:lstStyle/>
          <a:p>
            <a:r>
              <a:rPr lang="pt-BR" noProof="0" dirty="0"/>
              <a:t>Código Python e HTML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B014F1D-4A57-A406-A7CF-D53E3EA67512}"/>
              </a:ext>
            </a:extLst>
          </p:cNvPr>
          <p:cNvSpPr txBox="1"/>
          <p:nvPr/>
        </p:nvSpPr>
        <p:spPr>
          <a:xfrm>
            <a:off x="5506278" y="1060174"/>
            <a:ext cx="6314661" cy="5565913"/>
          </a:xfrm>
          <a:prstGeom prst="rect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>
              <a:defRPr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noProof="0" dirty="0">
                <a:solidFill>
                  <a:schemeClr val="tx1"/>
                </a:solidFill>
              </a:rPr>
              <a:t>&lt;</a:t>
            </a:r>
            <a:r>
              <a:rPr lang="pt-BR" noProof="0" dirty="0" err="1">
                <a:solidFill>
                  <a:schemeClr val="tx1"/>
                </a:solidFill>
              </a:rPr>
              <a:t>html</a:t>
            </a:r>
            <a:r>
              <a:rPr lang="pt-BR" noProof="0" dirty="0">
                <a:solidFill>
                  <a:schemeClr val="tx1"/>
                </a:solidFill>
              </a:rPr>
              <a:t>&gt;</a:t>
            </a:r>
          </a:p>
          <a:p>
            <a:r>
              <a:rPr lang="pt-BR" noProof="0" dirty="0">
                <a:solidFill>
                  <a:schemeClr val="tx1"/>
                </a:solidFill>
              </a:rPr>
              <a:t>&lt;script&gt;</a:t>
            </a:r>
          </a:p>
          <a:p>
            <a:r>
              <a:rPr lang="pt-BR" noProof="0" dirty="0" err="1">
                <a:solidFill>
                  <a:schemeClr val="tx1"/>
                </a:solidFill>
              </a:rPr>
              <a:t>function</a:t>
            </a:r>
            <a:r>
              <a:rPr lang="pt-BR" noProof="0" dirty="0">
                <a:solidFill>
                  <a:schemeClr val="tx1"/>
                </a:solidFill>
              </a:rPr>
              <a:t> </a:t>
            </a:r>
            <a:r>
              <a:rPr lang="pt-BR" noProof="0" dirty="0" err="1">
                <a:solidFill>
                  <a:schemeClr val="tx1"/>
                </a:solidFill>
              </a:rPr>
              <a:t>myFunction</a:t>
            </a:r>
            <a:r>
              <a:rPr lang="pt-BR" noProof="0" dirty="0">
                <a:solidFill>
                  <a:schemeClr val="tx1"/>
                </a:solidFill>
              </a:rPr>
              <a:t>() {    </a:t>
            </a:r>
          </a:p>
          <a:p>
            <a:r>
              <a:rPr lang="pt-BR" noProof="0" dirty="0">
                <a:solidFill>
                  <a:schemeClr val="tx1"/>
                </a:solidFill>
              </a:rPr>
              <a:t>var </a:t>
            </a:r>
            <a:r>
              <a:rPr lang="pt-BR" noProof="0" dirty="0" err="1">
                <a:solidFill>
                  <a:schemeClr val="tx1"/>
                </a:solidFill>
              </a:rPr>
              <a:t>xhttp</a:t>
            </a:r>
            <a:r>
              <a:rPr lang="pt-BR" noProof="0" dirty="0">
                <a:solidFill>
                  <a:schemeClr val="tx1"/>
                </a:solidFill>
              </a:rPr>
              <a:t> = new </a:t>
            </a:r>
            <a:r>
              <a:rPr lang="pt-BR" noProof="0" dirty="0" err="1">
                <a:solidFill>
                  <a:schemeClr val="tx1"/>
                </a:solidFill>
              </a:rPr>
              <a:t>XMLHttpRequest</a:t>
            </a:r>
            <a:r>
              <a:rPr lang="pt-BR" noProof="0" dirty="0">
                <a:solidFill>
                  <a:schemeClr val="tx1"/>
                </a:solidFill>
              </a:rPr>
              <a:t>();    </a:t>
            </a:r>
          </a:p>
          <a:p>
            <a:r>
              <a:rPr lang="pt-BR" noProof="0" dirty="0" err="1">
                <a:solidFill>
                  <a:schemeClr val="tx1"/>
                </a:solidFill>
              </a:rPr>
              <a:t>xhttp.onreadystatechange</a:t>
            </a:r>
            <a:r>
              <a:rPr lang="pt-BR" noProof="0" dirty="0">
                <a:solidFill>
                  <a:schemeClr val="tx1"/>
                </a:solidFill>
              </a:rPr>
              <a:t> =   </a:t>
            </a:r>
            <a:r>
              <a:rPr lang="pt-BR" noProof="0" dirty="0" err="1">
                <a:solidFill>
                  <a:schemeClr val="tx1"/>
                </a:solidFill>
              </a:rPr>
              <a:t>function</a:t>
            </a:r>
            <a:r>
              <a:rPr lang="pt-BR" noProof="0" dirty="0">
                <a:solidFill>
                  <a:schemeClr val="tx1"/>
                </a:solidFill>
              </a:rPr>
              <a:t>() {        </a:t>
            </a:r>
          </a:p>
          <a:p>
            <a:r>
              <a:rPr lang="pt-BR" noProof="0" dirty="0" err="1">
                <a:solidFill>
                  <a:schemeClr val="tx1"/>
                </a:solidFill>
              </a:rPr>
              <a:t>if</a:t>
            </a:r>
            <a:r>
              <a:rPr lang="pt-BR" noProof="0" dirty="0">
                <a:solidFill>
                  <a:schemeClr val="tx1"/>
                </a:solidFill>
              </a:rPr>
              <a:t> (</a:t>
            </a:r>
            <a:r>
              <a:rPr lang="pt-BR" noProof="0" dirty="0" err="1">
                <a:solidFill>
                  <a:schemeClr val="tx1"/>
                </a:solidFill>
              </a:rPr>
              <a:t>this.readyState</a:t>
            </a:r>
            <a:r>
              <a:rPr lang="pt-BR" noProof="0" dirty="0">
                <a:solidFill>
                  <a:schemeClr val="tx1"/>
                </a:solidFill>
              </a:rPr>
              <a:t> == 4 &amp;&amp; </a:t>
            </a:r>
            <a:r>
              <a:rPr lang="pt-BR" noProof="0" dirty="0" err="1">
                <a:solidFill>
                  <a:schemeClr val="tx1"/>
                </a:solidFill>
              </a:rPr>
              <a:t>this.status</a:t>
            </a:r>
            <a:r>
              <a:rPr lang="pt-BR" noProof="0" dirty="0">
                <a:solidFill>
                  <a:schemeClr val="tx1"/>
                </a:solidFill>
              </a:rPr>
              <a:t> == 200) {        </a:t>
            </a:r>
            <a:r>
              <a:rPr lang="pt-BR" noProof="0" dirty="0" err="1">
                <a:solidFill>
                  <a:schemeClr val="tx1"/>
                </a:solidFill>
              </a:rPr>
              <a:t>document.getElementById</a:t>
            </a:r>
            <a:r>
              <a:rPr lang="pt-BR" noProof="0" dirty="0">
                <a:solidFill>
                  <a:schemeClr val="tx1"/>
                </a:solidFill>
              </a:rPr>
              <a:t>("</a:t>
            </a:r>
            <a:r>
              <a:rPr lang="pt-BR" noProof="0" dirty="0" err="1">
                <a:solidFill>
                  <a:schemeClr val="tx1"/>
                </a:solidFill>
              </a:rPr>
              <a:t>my</a:t>
            </a:r>
            <a:r>
              <a:rPr lang="pt-BR" noProof="0" dirty="0">
                <a:solidFill>
                  <a:schemeClr val="tx1"/>
                </a:solidFill>
              </a:rPr>
              <a:t>-demo").</a:t>
            </a:r>
            <a:r>
              <a:rPr lang="pt-BR" noProof="0" dirty="0" err="1">
                <a:solidFill>
                  <a:schemeClr val="tx1"/>
                </a:solidFill>
              </a:rPr>
              <a:t>innerHTML</a:t>
            </a:r>
            <a:r>
              <a:rPr lang="pt-BR" noProof="0" dirty="0">
                <a:solidFill>
                  <a:schemeClr val="tx1"/>
                </a:solidFill>
              </a:rPr>
              <a:t> = </a:t>
            </a:r>
            <a:r>
              <a:rPr lang="pt-BR" noProof="0" dirty="0" err="1">
                <a:solidFill>
                  <a:schemeClr val="tx1"/>
                </a:solidFill>
              </a:rPr>
              <a:t>this.responseText</a:t>
            </a:r>
            <a:r>
              <a:rPr lang="pt-BR" noProof="0" dirty="0">
                <a:solidFill>
                  <a:schemeClr val="tx1"/>
                </a:solidFill>
              </a:rPr>
              <a:t>;        </a:t>
            </a:r>
          </a:p>
          <a:p>
            <a:r>
              <a:rPr lang="pt-BR" noProof="0" dirty="0">
                <a:solidFill>
                  <a:schemeClr val="tx1"/>
                </a:solidFill>
              </a:rPr>
              <a:t>}    </a:t>
            </a:r>
          </a:p>
          <a:p>
            <a:r>
              <a:rPr lang="pt-BR" noProof="0" dirty="0">
                <a:solidFill>
                  <a:schemeClr val="tx1"/>
                </a:solidFill>
              </a:rPr>
              <a:t>};   </a:t>
            </a:r>
          </a:p>
          <a:p>
            <a:r>
              <a:rPr lang="pt-BR" noProof="0" dirty="0" err="1">
                <a:solidFill>
                  <a:schemeClr val="tx1"/>
                </a:solidFill>
              </a:rPr>
              <a:t>xhttp.open</a:t>
            </a:r>
            <a:r>
              <a:rPr lang="pt-BR" noProof="0" dirty="0">
                <a:solidFill>
                  <a:schemeClr val="tx1"/>
                </a:solidFill>
              </a:rPr>
              <a:t>("GET", "COLAR-URL-AQUI", </a:t>
            </a:r>
            <a:r>
              <a:rPr lang="pt-BR" noProof="0" dirty="0" err="1">
                <a:solidFill>
                  <a:schemeClr val="tx1"/>
                </a:solidFill>
              </a:rPr>
              <a:t>true</a:t>
            </a:r>
            <a:r>
              <a:rPr lang="pt-BR" noProof="0" dirty="0">
                <a:solidFill>
                  <a:schemeClr val="tx1"/>
                </a:solidFill>
              </a:rPr>
              <a:t>);    </a:t>
            </a:r>
          </a:p>
          <a:p>
            <a:r>
              <a:rPr lang="pt-BR" noProof="0" dirty="0" err="1">
                <a:solidFill>
                  <a:schemeClr val="tx1"/>
                </a:solidFill>
              </a:rPr>
              <a:t>xhttp.send</a:t>
            </a:r>
            <a:r>
              <a:rPr lang="pt-BR" noProof="0" dirty="0">
                <a:solidFill>
                  <a:schemeClr val="tx1"/>
                </a:solidFill>
              </a:rPr>
              <a:t>();</a:t>
            </a:r>
          </a:p>
          <a:p>
            <a:r>
              <a:rPr lang="pt-BR" noProof="0" dirty="0">
                <a:solidFill>
                  <a:schemeClr val="tx1"/>
                </a:solidFill>
              </a:rPr>
              <a:t>}</a:t>
            </a:r>
          </a:p>
          <a:p>
            <a:r>
              <a:rPr lang="pt-BR" noProof="0" dirty="0">
                <a:solidFill>
                  <a:schemeClr val="tx1"/>
                </a:solidFill>
              </a:rPr>
              <a:t>&lt;/script&gt;</a:t>
            </a:r>
          </a:p>
          <a:p>
            <a:r>
              <a:rPr lang="pt-BR" noProof="0" dirty="0">
                <a:solidFill>
                  <a:schemeClr val="tx1"/>
                </a:solidFill>
              </a:rPr>
              <a:t>&lt;body&gt;</a:t>
            </a:r>
          </a:p>
          <a:p>
            <a:r>
              <a:rPr lang="pt-BR" noProof="0" dirty="0">
                <a:solidFill>
                  <a:schemeClr val="tx1"/>
                </a:solidFill>
              </a:rPr>
              <a:t>&lt;</a:t>
            </a:r>
            <a:r>
              <a:rPr lang="pt-BR" noProof="0" dirty="0" err="1">
                <a:solidFill>
                  <a:schemeClr val="tx1"/>
                </a:solidFill>
              </a:rPr>
              <a:t>div</a:t>
            </a:r>
            <a:r>
              <a:rPr lang="pt-BR" noProof="0" dirty="0">
                <a:solidFill>
                  <a:schemeClr val="tx1"/>
                </a:solidFill>
              </a:rPr>
              <a:t> </a:t>
            </a:r>
            <a:r>
              <a:rPr lang="pt-BR" noProof="0" dirty="0" err="1">
                <a:solidFill>
                  <a:schemeClr val="tx1"/>
                </a:solidFill>
              </a:rPr>
              <a:t>align</a:t>
            </a:r>
            <a:r>
              <a:rPr lang="pt-BR" noProof="0" dirty="0">
                <a:solidFill>
                  <a:schemeClr val="tx1"/>
                </a:solidFill>
              </a:rPr>
              <a:t>="center"&gt;&lt;</a:t>
            </a:r>
            <a:r>
              <a:rPr lang="pt-BR" noProof="0" dirty="0" err="1">
                <a:solidFill>
                  <a:schemeClr val="tx1"/>
                </a:solidFill>
              </a:rPr>
              <a:t>br</a:t>
            </a:r>
            <a:r>
              <a:rPr lang="pt-BR" noProof="0" dirty="0">
                <a:solidFill>
                  <a:schemeClr val="tx1"/>
                </a:solidFill>
              </a:rPr>
              <a:t>&gt;&lt;</a:t>
            </a:r>
            <a:r>
              <a:rPr lang="pt-BR" noProof="0" dirty="0" err="1">
                <a:solidFill>
                  <a:schemeClr val="tx1"/>
                </a:solidFill>
              </a:rPr>
              <a:t>br</a:t>
            </a:r>
            <a:r>
              <a:rPr lang="pt-BR" noProof="0" dirty="0">
                <a:solidFill>
                  <a:schemeClr val="tx1"/>
                </a:solidFill>
              </a:rPr>
              <a:t>&gt;&lt;</a:t>
            </a:r>
            <a:r>
              <a:rPr lang="pt-BR" noProof="0" dirty="0" err="1">
                <a:solidFill>
                  <a:schemeClr val="tx1"/>
                </a:solidFill>
              </a:rPr>
              <a:t>br</a:t>
            </a:r>
            <a:r>
              <a:rPr lang="pt-BR" noProof="0" dirty="0">
                <a:solidFill>
                  <a:schemeClr val="tx1"/>
                </a:solidFill>
              </a:rPr>
              <a:t>&gt;&lt;</a:t>
            </a:r>
            <a:r>
              <a:rPr lang="pt-BR" noProof="0" dirty="0" err="1">
                <a:solidFill>
                  <a:schemeClr val="tx1"/>
                </a:solidFill>
              </a:rPr>
              <a:t>br</a:t>
            </a:r>
            <a:r>
              <a:rPr lang="pt-BR" noProof="0" dirty="0">
                <a:solidFill>
                  <a:schemeClr val="tx1"/>
                </a:solidFill>
              </a:rPr>
              <a:t>&gt;</a:t>
            </a:r>
          </a:p>
          <a:p>
            <a:r>
              <a:rPr lang="pt-BR" noProof="0" dirty="0">
                <a:solidFill>
                  <a:schemeClr val="tx1"/>
                </a:solidFill>
              </a:rPr>
              <a:t>&lt;h1&gt;&lt;</a:t>
            </a:r>
            <a:r>
              <a:rPr lang="pt-BR" noProof="0" dirty="0" err="1">
                <a:solidFill>
                  <a:schemeClr val="tx1"/>
                </a:solidFill>
              </a:rPr>
              <a:t>span</a:t>
            </a:r>
            <a:r>
              <a:rPr lang="pt-BR" noProof="0" dirty="0">
                <a:solidFill>
                  <a:schemeClr val="tx1"/>
                </a:solidFill>
              </a:rPr>
              <a:t> id="</a:t>
            </a:r>
            <a:r>
              <a:rPr lang="pt-BR" noProof="0" dirty="0" err="1">
                <a:solidFill>
                  <a:schemeClr val="tx1"/>
                </a:solidFill>
              </a:rPr>
              <a:t>my</a:t>
            </a:r>
            <a:r>
              <a:rPr lang="pt-BR" noProof="0" dirty="0">
                <a:solidFill>
                  <a:schemeClr val="tx1"/>
                </a:solidFill>
              </a:rPr>
              <a:t>-demo"&gt;&lt;/</a:t>
            </a:r>
            <a:r>
              <a:rPr lang="pt-BR" noProof="0" dirty="0" err="1">
                <a:solidFill>
                  <a:schemeClr val="tx1"/>
                </a:solidFill>
              </a:rPr>
              <a:t>span</a:t>
            </a:r>
            <a:r>
              <a:rPr lang="pt-BR" noProof="0" dirty="0">
                <a:solidFill>
                  <a:schemeClr val="tx1"/>
                </a:solidFill>
              </a:rPr>
              <a:t>&gt;&lt;/h1&gt;</a:t>
            </a:r>
          </a:p>
          <a:p>
            <a:r>
              <a:rPr lang="pt-BR" noProof="0" dirty="0">
                <a:solidFill>
                  <a:schemeClr val="tx1"/>
                </a:solidFill>
              </a:rPr>
              <a:t>&lt;</a:t>
            </a:r>
            <a:r>
              <a:rPr lang="pt-BR" noProof="0" dirty="0" err="1">
                <a:solidFill>
                  <a:schemeClr val="tx1"/>
                </a:solidFill>
              </a:rPr>
              <a:t>button</a:t>
            </a:r>
            <a:r>
              <a:rPr lang="pt-BR" noProof="0" dirty="0">
                <a:solidFill>
                  <a:schemeClr val="tx1"/>
                </a:solidFill>
              </a:rPr>
              <a:t> </a:t>
            </a:r>
            <a:r>
              <a:rPr lang="pt-BR" noProof="0" dirty="0" err="1">
                <a:solidFill>
                  <a:schemeClr val="tx1"/>
                </a:solidFill>
              </a:rPr>
              <a:t>onclick</a:t>
            </a:r>
            <a:r>
              <a:rPr lang="pt-BR" noProof="0" dirty="0">
                <a:solidFill>
                  <a:schemeClr val="tx1"/>
                </a:solidFill>
              </a:rPr>
              <a:t>="</a:t>
            </a:r>
            <a:r>
              <a:rPr lang="pt-BR" noProof="0" dirty="0" err="1">
                <a:solidFill>
                  <a:schemeClr val="tx1"/>
                </a:solidFill>
              </a:rPr>
              <a:t>myFunction</a:t>
            </a:r>
            <a:r>
              <a:rPr lang="pt-BR" noProof="0" dirty="0">
                <a:solidFill>
                  <a:schemeClr val="tx1"/>
                </a:solidFill>
              </a:rPr>
              <a:t>()"&gt;CLIQUE AQUI&lt;/</a:t>
            </a:r>
            <a:r>
              <a:rPr lang="pt-BR" noProof="0" dirty="0" err="1">
                <a:solidFill>
                  <a:schemeClr val="tx1"/>
                </a:solidFill>
              </a:rPr>
              <a:t>button</a:t>
            </a:r>
            <a:r>
              <a:rPr lang="pt-BR" noProof="0" dirty="0">
                <a:solidFill>
                  <a:schemeClr val="tx1"/>
                </a:solidFill>
              </a:rPr>
              <a:t>&gt;&lt;</a:t>
            </a:r>
            <a:r>
              <a:rPr lang="pt-BR" noProof="0" dirty="0" err="1">
                <a:solidFill>
                  <a:schemeClr val="tx1"/>
                </a:solidFill>
              </a:rPr>
              <a:t>br</a:t>
            </a:r>
            <a:r>
              <a:rPr lang="pt-BR" noProof="0" dirty="0">
                <a:solidFill>
                  <a:schemeClr val="tx1"/>
                </a:solidFill>
              </a:rPr>
              <a:t>&gt;</a:t>
            </a:r>
          </a:p>
          <a:p>
            <a:r>
              <a:rPr lang="pt-BR" noProof="0" dirty="0">
                <a:solidFill>
                  <a:schemeClr val="tx1"/>
                </a:solidFill>
              </a:rPr>
              <a:t>&lt;/body&gt;</a:t>
            </a:r>
          </a:p>
          <a:p>
            <a:r>
              <a:rPr lang="pt-BR" noProof="0" dirty="0">
                <a:solidFill>
                  <a:schemeClr val="tx1"/>
                </a:solidFill>
              </a:rPr>
              <a:t>&lt;/</a:t>
            </a:r>
            <a:r>
              <a:rPr lang="pt-BR" noProof="0" dirty="0" err="1">
                <a:solidFill>
                  <a:schemeClr val="tx1"/>
                </a:solidFill>
              </a:rPr>
              <a:t>html</a:t>
            </a:r>
            <a:r>
              <a:rPr lang="pt-BR" noProof="0" dirty="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57CD227-B3F9-BAE5-421C-108A773E9253}"/>
              </a:ext>
            </a:extLst>
          </p:cNvPr>
          <p:cNvSpPr txBox="1"/>
          <p:nvPr/>
        </p:nvSpPr>
        <p:spPr>
          <a:xfrm>
            <a:off x="125894" y="1444487"/>
            <a:ext cx="5227983" cy="5181600"/>
          </a:xfrm>
          <a:prstGeom prst="rect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pt-BR" noProof="0" dirty="0" err="1">
                <a:solidFill>
                  <a:schemeClr val="tx1"/>
                </a:solidFill>
              </a:rPr>
              <a:t>def</a:t>
            </a:r>
            <a:r>
              <a:rPr lang="pt-BR" noProof="0" dirty="0">
                <a:solidFill>
                  <a:schemeClr val="tx1"/>
                </a:solidFill>
              </a:rPr>
              <a:t> </a:t>
            </a:r>
            <a:r>
              <a:rPr lang="pt-BR" noProof="0" dirty="0" err="1">
                <a:solidFill>
                  <a:schemeClr val="tx1"/>
                </a:solidFill>
              </a:rPr>
              <a:t>lambda_handler</a:t>
            </a:r>
            <a:r>
              <a:rPr lang="pt-BR" noProof="0" dirty="0">
                <a:solidFill>
                  <a:schemeClr val="tx1"/>
                </a:solidFill>
              </a:rPr>
              <a:t>(</a:t>
            </a:r>
            <a:r>
              <a:rPr lang="pt-BR" noProof="0" dirty="0" err="1">
                <a:solidFill>
                  <a:schemeClr val="tx1"/>
                </a:solidFill>
              </a:rPr>
              <a:t>event</a:t>
            </a:r>
            <a:r>
              <a:rPr lang="pt-BR" noProof="0" dirty="0">
                <a:solidFill>
                  <a:schemeClr val="tx1"/>
                </a:solidFill>
              </a:rPr>
              <a:t>, </a:t>
            </a:r>
            <a:r>
              <a:rPr lang="pt-BR" noProof="0" dirty="0" err="1">
                <a:solidFill>
                  <a:schemeClr val="tx1"/>
                </a:solidFill>
              </a:rPr>
              <a:t>context</a:t>
            </a:r>
            <a:r>
              <a:rPr lang="pt-BR" noProof="0" dirty="0">
                <a:solidFill>
                  <a:schemeClr val="tx1"/>
                </a:solidFill>
              </a:rPr>
              <a:t>):</a:t>
            </a:r>
          </a:p>
          <a:p>
            <a:pPr algn="l"/>
            <a:r>
              <a:rPr lang="pt-BR" noProof="0" dirty="0">
                <a:solidFill>
                  <a:schemeClr val="tx1"/>
                </a:solidFill>
              </a:rPr>
              <a:t>print("In lambda </a:t>
            </a:r>
            <a:r>
              <a:rPr lang="pt-BR" noProof="0" dirty="0" err="1">
                <a:solidFill>
                  <a:schemeClr val="tx1"/>
                </a:solidFill>
              </a:rPr>
              <a:t>handler</a:t>
            </a:r>
            <a:r>
              <a:rPr lang="pt-BR" noProof="0" dirty="0">
                <a:solidFill>
                  <a:schemeClr val="tx1"/>
                </a:solidFill>
              </a:rPr>
              <a:t>")    </a:t>
            </a:r>
          </a:p>
          <a:p>
            <a:pPr algn="l"/>
            <a:r>
              <a:rPr lang="pt-BR" noProof="0" dirty="0" err="1">
                <a:solidFill>
                  <a:schemeClr val="tx1"/>
                </a:solidFill>
              </a:rPr>
              <a:t>resp</a:t>
            </a:r>
            <a:r>
              <a:rPr lang="pt-BR" noProof="0" dirty="0">
                <a:solidFill>
                  <a:schemeClr val="tx1"/>
                </a:solidFill>
              </a:rPr>
              <a:t> = {        </a:t>
            </a:r>
          </a:p>
          <a:p>
            <a:pPr algn="l"/>
            <a:r>
              <a:rPr lang="pt-BR" noProof="0" dirty="0">
                <a:solidFill>
                  <a:schemeClr val="tx1"/>
                </a:solidFill>
              </a:rPr>
              <a:t>"</a:t>
            </a:r>
            <a:r>
              <a:rPr lang="pt-BR" noProof="0" dirty="0" err="1">
                <a:solidFill>
                  <a:schemeClr val="tx1"/>
                </a:solidFill>
              </a:rPr>
              <a:t>statusCode</a:t>
            </a:r>
            <a:r>
              <a:rPr lang="pt-BR" noProof="0" dirty="0">
                <a:solidFill>
                  <a:schemeClr val="tx1"/>
                </a:solidFill>
              </a:rPr>
              <a:t>": 200,        </a:t>
            </a:r>
          </a:p>
          <a:p>
            <a:pPr algn="l"/>
            <a:r>
              <a:rPr lang="pt-BR" noProof="0" dirty="0">
                <a:solidFill>
                  <a:schemeClr val="tx1"/>
                </a:solidFill>
              </a:rPr>
              <a:t>"</a:t>
            </a:r>
            <a:r>
              <a:rPr lang="pt-BR" noProof="0" dirty="0" err="1">
                <a:solidFill>
                  <a:schemeClr val="tx1"/>
                </a:solidFill>
              </a:rPr>
              <a:t>headers</a:t>
            </a:r>
            <a:r>
              <a:rPr lang="pt-BR" noProof="0" dirty="0">
                <a:solidFill>
                  <a:schemeClr val="tx1"/>
                </a:solidFill>
              </a:rPr>
              <a:t>": {            </a:t>
            </a:r>
          </a:p>
          <a:p>
            <a:pPr algn="l"/>
            <a:r>
              <a:rPr lang="pt-BR" noProof="0" dirty="0">
                <a:solidFill>
                  <a:schemeClr val="tx1"/>
                </a:solidFill>
              </a:rPr>
              <a:t>"Access-</a:t>
            </a:r>
            <a:r>
              <a:rPr lang="pt-BR" noProof="0" dirty="0" err="1">
                <a:solidFill>
                  <a:schemeClr val="tx1"/>
                </a:solidFill>
              </a:rPr>
              <a:t>Control</a:t>
            </a:r>
            <a:r>
              <a:rPr lang="pt-BR" noProof="0" dirty="0">
                <a:solidFill>
                  <a:schemeClr val="tx1"/>
                </a:solidFill>
              </a:rPr>
              <a:t>-</a:t>
            </a:r>
            <a:r>
              <a:rPr lang="pt-BR" noProof="0" dirty="0" err="1">
                <a:solidFill>
                  <a:schemeClr val="tx1"/>
                </a:solidFill>
              </a:rPr>
              <a:t>Allow-Origin</a:t>
            </a:r>
            <a:r>
              <a:rPr lang="pt-BR" noProof="0" dirty="0">
                <a:solidFill>
                  <a:schemeClr val="tx1"/>
                </a:solidFill>
              </a:rPr>
              <a:t>": "*",        </a:t>
            </a:r>
          </a:p>
          <a:p>
            <a:pPr algn="l"/>
            <a:r>
              <a:rPr lang="pt-BR" noProof="0" dirty="0">
                <a:solidFill>
                  <a:schemeClr val="tx1"/>
                </a:solidFill>
              </a:rPr>
              <a:t>},</a:t>
            </a:r>
          </a:p>
          <a:p>
            <a:pPr algn="l"/>
            <a:r>
              <a:rPr lang="pt-BR" noProof="0" dirty="0">
                <a:solidFill>
                  <a:schemeClr val="tx1"/>
                </a:solidFill>
              </a:rPr>
              <a:t>"body": "--- SITE SERVERLESS FUNCIONANDO ---"    }    </a:t>
            </a:r>
          </a:p>
          <a:p>
            <a:pPr algn="l"/>
            <a:r>
              <a:rPr lang="pt-BR" noProof="0" dirty="0" err="1">
                <a:solidFill>
                  <a:schemeClr val="tx1"/>
                </a:solidFill>
              </a:rPr>
              <a:t>return</a:t>
            </a:r>
            <a:r>
              <a:rPr lang="pt-BR" noProof="0" dirty="0">
                <a:solidFill>
                  <a:schemeClr val="tx1"/>
                </a:solidFill>
              </a:rPr>
              <a:t> </a:t>
            </a:r>
            <a:r>
              <a:rPr lang="pt-BR" noProof="0" dirty="0" err="1">
                <a:solidFill>
                  <a:schemeClr val="tx1"/>
                </a:solidFill>
              </a:rPr>
              <a:t>resp</a:t>
            </a:r>
            <a:endParaRPr lang="pt-B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2034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0C22A-C389-AAEF-4240-E66EBB31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073B0-F108-8EB1-E15C-6672876B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7" y="2187743"/>
            <a:ext cx="9185229" cy="248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6700" noProof="0" dirty="0"/>
              <a:t>AWS - </a:t>
            </a:r>
            <a:r>
              <a:rPr lang="pt-BR" sz="6700" noProof="0" dirty="0" err="1"/>
              <a:t>Conteiners</a:t>
            </a:r>
            <a:r>
              <a:rPr lang="pt-BR" sz="6700" noProof="0" dirty="0"/>
              <a:t> </a:t>
            </a:r>
            <a:endParaRPr lang="pt-BR" sz="3600" kern="1200" noProof="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B460A6E-A6CB-B662-18AF-EC017DD6AB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1" y="2743201"/>
            <a:ext cx="1371600" cy="13716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1EBA46B-1033-C189-392D-099FF82A3506}"/>
              </a:ext>
            </a:extLst>
          </p:cNvPr>
          <p:cNvSpPr/>
          <p:nvPr/>
        </p:nvSpPr>
        <p:spPr>
          <a:xfrm>
            <a:off x="8434931" y="6226936"/>
            <a:ext cx="3531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noProof="0" dirty="0">
                <a:hlinkClick r:id="rId4"/>
              </a:rPr>
              <a:t>https://docs.aws.amazon.com/</a:t>
            </a:r>
            <a:endParaRPr lang="pt-BR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1A03314-CFCF-B0DC-A797-BCBF176EAFCA}"/>
              </a:ext>
            </a:extLst>
          </p:cNvPr>
          <p:cNvSpPr/>
          <p:nvPr/>
        </p:nvSpPr>
        <p:spPr>
          <a:xfrm>
            <a:off x="8434931" y="5857604"/>
            <a:ext cx="289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noProof="0" dirty="0">
                <a:hlinkClick r:id="rId5"/>
              </a:rPr>
              <a:t>https://aws.amazon.com/pt/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7370472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CE08D-FAFB-A537-3BA9-74877CC33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AWS – ECS </a:t>
            </a:r>
            <a:r>
              <a:rPr lang="pt-BR" dirty="0" err="1"/>
              <a:t>Elastic</a:t>
            </a:r>
            <a:r>
              <a:rPr lang="pt-BR" dirty="0"/>
              <a:t> </a:t>
            </a:r>
            <a:r>
              <a:rPr lang="pt-BR" dirty="0" err="1"/>
              <a:t>Conteiner</a:t>
            </a:r>
            <a:r>
              <a:rPr lang="pt-BR" dirty="0"/>
              <a:t> Service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C360F0-E67A-396D-5F2D-52DE05522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ECS </a:t>
            </a:r>
            <a:r>
              <a:rPr lang="pt-BR" dirty="0" err="1"/>
              <a:t>Controler</a:t>
            </a:r>
            <a:r>
              <a:rPr lang="pt-BR" dirty="0"/>
              <a:t> – É o orquestrador e gerenciador de contêiners, ele cria e gerencia contêiners.</a:t>
            </a:r>
          </a:p>
          <a:p>
            <a:r>
              <a:rPr lang="pt-BR" dirty="0" err="1"/>
              <a:t>Capacity</a:t>
            </a:r>
            <a:r>
              <a:rPr lang="pt-BR" dirty="0"/>
              <a:t> – É a infraestrutura que vai ser utilizada pelos contêiners (EC2 ou </a:t>
            </a:r>
            <a:r>
              <a:rPr lang="pt-BR" dirty="0" err="1"/>
              <a:t>Fargate</a:t>
            </a:r>
            <a:r>
              <a:rPr lang="pt-BR" dirty="0"/>
              <a:t>).</a:t>
            </a:r>
          </a:p>
          <a:p>
            <a:r>
              <a:rPr lang="pt-BR" dirty="0" err="1"/>
              <a:t>Armazanamento</a:t>
            </a:r>
            <a:r>
              <a:rPr lang="pt-BR" dirty="0"/>
              <a:t> de Imagem – </a:t>
            </a:r>
            <a:r>
              <a:rPr lang="pt-BR" dirty="0" err="1"/>
              <a:t>DockerHub</a:t>
            </a:r>
            <a:r>
              <a:rPr lang="pt-BR" dirty="0"/>
              <a:t> ou </a:t>
            </a:r>
            <a:r>
              <a:rPr lang="pt-BR" dirty="0" err="1"/>
              <a:t>Elastic</a:t>
            </a:r>
            <a:r>
              <a:rPr lang="pt-BR" dirty="0"/>
              <a:t> </a:t>
            </a:r>
            <a:r>
              <a:rPr lang="pt-BR" dirty="0" err="1"/>
              <a:t>Conteiner</a:t>
            </a:r>
            <a:r>
              <a:rPr lang="pt-BR" dirty="0"/>
              <a:t> Registry AWS.</a:t>
            </a:r>
          </a:p>
        </p:txBody>
      </p:sp>
    </p:spTree>
    <p:extLst>
      <p:ext uri="{BB962C8B-B14F-4D97-AF65-F5344CB8AC3E}">
        <p14:creationId xmlns:p14="http://schemas.microsoft.com/office/powerpoint/2010/main" val="7647572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BF0F0-1AD7-61CD-0AEB-5C48D2436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AWS - </a:t>
            </a:r>
            <a:r>
              <a:rPr lang="pt-BR" dirty="0" err="1"/>
              <a:t>Deploy</a:t>
            </a:r>
            <a:r>
              <a:rPr lang="pt-BR" dirty="0"/>
              <a:t> no ECS com </a:t>
            </a:r>
            <a:r>
              <a:rPr lang="pt-BR" dirty="0" err="1"/>
              <a:t>DockerHub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5DF3C3-1F01-2520-FD51-2D185F9E3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Task </a:t>
            </a:r>
            <a:r>
              <a:rPr lang="pt-BR" dirty="0" err="1"/>
              <a:t>Definition</a:t>
            </a:r>
            <a:r>
              <a:rPr lang="pt-BR" dirty="0"/>
              <a:t> – É o </a:t>
            </a:r>
            <a:r>
              <a:rPr lang="pt-BR" dirty="0" err="1"/>
              <a:t>template</a:t>
            </a:r>
            <a:r>
              <a:rPr lang="pt-BR" dirty="0"/>
              <a:t> para executar a aplicação no ECS, é onde está tudo que é necessário para executar uma aplicação no ECS.</a:t>
            </a:r>
          </a:p>
          <a:p>
            <a:r>
              <a:rPr lang="pt-BR" dirty="0"/>
              <a:t>Task – É a execução do contêiner dentro do ECS, criado a partir da </a:t>
            </a:r>
            <a:r>
              <a:rPr lang="pt-BR" dirty="0" err="1"/>
              <a:t>task</a:t>
            </a:r>
            <a:r>
              <a:rPr lang="pt-BR" dirty="0"/>
              <a:t> </a:t>
            </a:r>
            <a:r>
              <a:rPr lang="pt-BR" dirty="0" err="1"/>
              <a:t>definition</a:t>
            </a:r>
            <a:r>
              <a:rPr lang="pt-BR" dirty="0"/>
              <a:t>, funciona de forma continua ou agendada.</a:t>
            </a:r>
          </a:p>
          <a:p>
            <a:r>
              <a:rPr lang="pt-BR" dirty="0"/>
              <a:t>Service – É o componente que fara o gerenciamento e é capaz de criar replicas a partir da </a:t>
            </a:r>
            <a:r>
              <a:rPr lang="pt-BR" dirty="0" err="1"/>
              <a:t>task</a:t>
            </a:r>
            <a:r>
              <a:rPr lang="pt-BR" dirty="0"/>
              <a:t> </a:t>
            </a:r>
            <a:r>
              <a:rPr lang="pt-BR" dirty="0" err="1"/>
              <a:t>definition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259067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CF9FA-335C-F53D-EDA0-806ACAEE5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B44E3-32FB-6858-A827-7F40EA33A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7" y="2187743"/>
            <a:ext cx="9185229" cy="248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6700" noProof="0" dirty="0"/>
              <a:t>Segurança </a:t>
            </a:r>
            <a:r>
              <a:rPr lang="pt-BR" sz="6700" noProof="0" dirty="0" err="1"/>
              <a:t>aws</a:t>
            </a:r>
            <a:endParaRPr lang="pt-BR" sz="3600" kern="1200" noProof="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B9A48F-D4B9-014F-7754-B8ACC4A532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1" y="2743201"/>
            <a:ext cx="1371600" cy="13716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E390D68-2D19-DA69-981C-0CCF426C7BC4}"/>
              </a:ext>
            </a:extLst>
          </p:cNvPr>
          <p:cNvSpPr/>
          <p:nvPr/>
        </p:nvSpPr>
        <p:spPr>
          <a:xfrm>
            <a:off x="8434931" y="6226936"/>
            <a:ext cx="3531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noProof="0" dirty="0">
                <a:hlinkClick r:id="rId4"/>
              </a:rPr>
              <a:t>https://docs.aws.amazon.com/</a:t>
            </a:r>
            <a:endParaRPr lang="pt-BR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EF65862-C65F-F7AA-1C5D-EC837C5D1464}"/>
              </a:ext>
            </a:extLst>
          </p:cNvPr>
          <p:cNvSpPr/>
          <p:nvPr/>
        </p:nvSpPr>
        <p:spPr>
          <a:xfrm>
            <a:off x="8434931" y="5857604"/>
            <a:ext cx="289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noProof="0" dirty="0">
                <a:hlinkClick r:id="rId5"/>
              </a:rPr>
              <a:t>https://aws.amazon.com/pt/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6839616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5C17F-2491-92C0-ADEC-198C3C42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5CAB0-1E86-6EA3-A789-C1E31C6D8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65" y="-3697"/>
            <a:ext cx="11539110" cy="1325563"/>
          </a:xfrm>
        </p:spPr>
        <p:txBody>
          <a:bodyPr/>
          <a:lstStyle/>
          <a:p>
            <a:r>
              <a:rPr lang="pt-BR" noProof="0" dirty="0"/>
              <a:t>AWS –</a:t>
            </a:r>
            <a:r>
              <a:rPr lang="pt-BR" noProof="0" dirty="0" err="1"/>
              <a:t>Directory</a:t>
            </a:r>
            <a:r>
              <a:rPr lang="pt-BR" noProof="0" dirty="0"/>
              <a:t> Services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FE0E4CB-7491-2B08-64E5-DE8504127F72}"/>
              </a:ext>
            </a:extLst>
          </p:cNvPr>
          <p:cNvSpPr/>
          <p:nvPr/>
        </p:nvSpPr>
        <p:spPr>
          <a:xfrm>
            <a:off x="5685183" y="1457739"/>
            <a:ext cx="6344258" cy="5035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Cloud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pic>
        <p:nvPicPr>
          <p:cNvPr id="5" name="Gráfico 5" descr="Internet">
            <a:extLst>
              <a:ext uri="{FF2B5EF4-FFF2-40B4-BE49-F238E27FC236}">
                <a16:creationId xmlns:a16="http://schemas.microsoft.com/office/drawing/2014/main" id="{19491684-9E64-C037-3B6B-C383C7915B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971" y="3076858"/>
            <a:ext cx="914400" cy="91440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17FB040-82D1-0C4F-D57E-7D452479EAF7}"/>
              </a:ext>
            </a:extLst>
          </p:cNvPr>
          <p:cNvSpPr/>
          <p:nvPr/>
        </p:nvSpPr>
        <p:spPr>
          <a:xfrm>
            <a:off x="5837583" y="2256736"/>
            <a:ext cx="6062869" cy="196626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Subnet</a:t>
            </a:r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2DF1716-7201-FD7C-37B7-7184301A650E}"/>
              </a:ext>
            </a:extLst>
          </p:cNvPr>
          <p:cNvSpPr/>
          <p:nvPr/>
        </p:nvSpPr>
        <p:spPr>
          <a:xfrm>
            <a:off x="5849260" y="4320993"/>
            <a:ext cx="6062869" cy="16675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Subnet</a:t>
            </a:r>
            <a:endParaRPr lang="pt-BR" noProof="0" dirty="0">
              <a:solidFill>
                <a:schemeClr val="tx1"/>
              </a:solidFill>
            </a:endParaRPr>
          </a:p>
        </p:txBody>
      </p:sp>
      <p:pic>
        <p:nvPicPr>
          <p:cNvPr id="16" name="Gráfico 5" descr="Internet">
            <a:extLst>
              <a:ext uri="{FF2B5EF4-FFF2-40B4-BE49-F238E27FC236}">
                <a16:creationId xmlns:a16="http://schemas.microsoft.com/office/drawing/2014/main" id="{6BBE534D-17AC-3F88-BCCC-D8C62B2C7B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624" y="5030005"/>
            <a:ext cx="914400" cy="914400"/>
          </a:xfrm>
          <a:prstGeom prst="rect">
            <a:avLst/>
          </a:prstGeom>
        </p:spPr>
      </p:pic>
      <p:sp>
        <p:nvSpPr>
          <p:cNvPr id="23" name="Retângulo 22">
            <a:extLst>
              <a:ext uri="{FF2B5EF4-FFF2-40B4-BE49-F238E27FC236}">
                <a16:creationId xmlns:a16="http://schemas.microsoft.com/office/drawing/2014/main" id="{29763D01-B793-761D-737D-7E32172874A1}"/>
              </a:ext>
            </a:extLst>
          </p:cNvPr>
          <p:cNvSpPr/>
          <p:nvPr/>
        </p:nvSpPr>
        <p:spPr>
          <a:xfrm>
            <a:off x="6965401" y="514128"/>
            <a:ext cx="2509794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AWS </a:t>
            </a:r>
            <a:r>
              <a:rPr lang="pt-BR" b="1" noProof="0" dirty="0" err="1">
                <a:solidFill>
                  <a:srgbClr val="3865B6"/>
                </a:solidFill>
              </a:rPr>
              <a:t>Directory</a:t>
            </a:r>
            <a:r>
              <a:rPr lang="pt-BR" b="1" noProof="0" dirty="0">
                <a:solidFill>
                  <a:srgbClr val="3865B6"/>
                </a:solidFill>
              </a:rPr>
              <a:t> Services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FB39697-9C9F-BEFB-5163-F4ED4654B06B}"/>
              </a:ext>
            </a:extLst>
          </p:cNvPr>
          <p:cNvCxnSpPr>
            <a:cxnSpLocks/>
            <a:stCxn id="23" idx="1"/>
            <a:endCxn id="12" idx="0"/>
          </p:cNvCxnSpPr>
          <p:nvPr/>
        </p:nvCxnSpPr>
        <p:spPr>
          <a:xfrm flipH="1">
            <a:off x="6719877" y="754663"/>
            <a:ext cx="245524" cy="2674337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EDC12FD4-5C54-64F0-E751-A405023AA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227" y="3429000"/>
            <a:ext cx="495300" cy="581025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4CD0EEC-1A08-F601-30B6-196B66705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101" y="5025099"/>
            <a:ext cx="495300" cy="581025"/>
          </a:xfrm>
          <a:prstGeom prst="rect">
            <a:avLst/>
          </a:prstGeom>
        </p:spPr>
      </p:pic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E45C89B-07B8-291D-1CD0-E6E35669CDAA}"/>
              </a:ext>
            </a:extLst>
          </p:cNvPr>
          <p:cNvCxnSpPr>
            <a:cxnSpLocks/>
            <a:stCxn id="23" idx="2"/>
            <a:endCxn id="18" idx="3"/>
          </p:cNvCxnSpPr>
          <p:nvPr/>
        </p:nvCxnSpPr>
        <p:spPr>
          <a:xfrm flipH="1">
            <a:off x="6965401" y="995197"/>
            <a:ext cx="1254897" cy="4320415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1111A7F4-7676-CC69-0CEF-DFFCFFDBF8EF}"/>
              </a:ext>
            </a:extLst>
          </p:cNvPr>
          <p:cNvCxnSpPr>
            <a:cxnSpLocks/>
            <a:stCxn id="18" idx="0"/>
            <a:endCxn id="12" idx="2"/>
          </p:cNvCxnSpPr>
          <p:nvPr/>
        </p:nvCxnSpPr>
        <p:spPr>
          <a:xfrm flipV="1">
            <a:off x="6717751" y="4010025"/>
            <a:ext cx="2126" cy="1015074"/>
          </a:xfrm>
          <a:prstGeom prst="line">
            <a:avLst/>
          </a:prstGeom>
          <a:ln w="4762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ângulo 39">
            <a:extLst>
              <a:ext uri="{FF2B5EF4-FFF2-40B4-BE49-F238E27FC236}">
                <a16:creationId xmlns:a16="http://schemas.microsoft.com/office/drawing/2014/main" id="{CE5FED5E-FBAB-475F-D616-147AE72DCBB1}"/>
              </a:ext>
            </a:extLst>
          </p:cNvPr>
          <p:cNvSpPr/>
          <p:nvPr/>
        </p:nvSpPr>
        <p:spPr>
          <a:xfrm>
            <a:off x="1308482" y="6103337"/>
            <a:ext cx="3153060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Trust – Relação de confiança</a:t>
            </a:r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803D7692-307D-1094-55FD-4320BC03B07E}"/>
              </a:ext>
            </a:extLst>
          </p:cNvPr>
          <p:cNvCxnSpPr>
            <a:cxnSpLocks/>
            <a:stCxn id="40" idx="3"/>
            <a:endCxn id="48" idx="2"/>
          </p:cNvCxnSpPr>
          <p:nvPr/>
        </p:nvCxnSpPr>
        <p:spPr>
          <a:xfrm flipV="1">
            <a:off x="4461542" y="4508179"/>
            <a:ext cx="2008559" cy="1835693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81B36C67-BBD5-99DE-8787-3D4F9A1BCEBD}"/>
              </a:ext>
            </a:extLst>
          </p:cNvPr>
          <p:cNvSpPr/>
          <p:nvPr/>
        </p:nvSpPr>
        <p:spPr>
          <a:xfrm>
            <a:off x="6470101" y="3991258"/>
            <a:ext cx="495300" cy="1033842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007D2DFB-6342-2705-5A52-3B92BD3424B3}"/>
              </a:ext>
            </a:extLst>
          </p:cNvPr>
          <p:cNvSpPr/>
          <p:nvPr/>
        </p:nvSpPr>
        <p:spPr>
          <a:xfrm>
            <a:off x="395265" y="1391964"/>
            <a:ext cx="3776685" cy="16365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noProof="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On</a:t>
            </a:r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 </a:t>
            </a:r>
            <a:r>
              <a:rPr lang="pt-BR" sz="2800" noProof="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Premises</a:t>
            </a:r>
            <a:endParaRPr lang="pt-BR" sz="2800" noProof="0" dirty="0">
              <a:ln>
                <a:solidFill>
                  <a:schemeClr val="accent1">
                    <a:shade val="50000"/>
                  </a:schemeClr>
                </a:solidFill>
              </a:ln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OFFICE 365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AZURE</a:t>
            </a:r>
            <a:endParaRPr lang="pt-BR" noProof="0" dirty="0">
              <a:solidFill>
                <a:schemeClr val="tx1"/>
              </a:solidFill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705B8FB0-A435-7ED8-977A-C857476F1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404" y="1953289"/>
            <a:ext cx="495300" cy="581025"/>
          </a:xfrm>
          <a:prstGeom prst="rect">
            <a:avLst/>
          </a:prstGeom>
        </p:spPr>
      </p:pic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EAAEA56B-3C42-23A6-DD06-DCB98947B6E4}"/>
              </a:ext>
            </a:extLst>
          </p:cNvPr>
          <p:cNvCxnSpPr>
            <a:cxnSpLocks/>
            <a:stCxn id="12" idx="1"/>
            <a:endCxn id="51" idx="3"/>
          </p:cNvCxnSpPr>
          <p:nvPr/>
        </p:nvCxnSpPr>
        <p:spPr>
          <a:xfrm flipH="1" flipV="1">
            <a:off x="3856704" y="2243802"/>
            <a:ext cx="2615523" cy="1475711"/>
          </a:xfrm>
          <a:prstGeom prst="line">
            <a:avLst/>
          </a:prstGeom>
          <a:ln w="4762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ipse 54">
            <a:extLst>
              <a:ext uri="{FF2B5EF4-FFF2-40B4-BE49-F238E27FC236}">
                <a16:creationId xmlns:a16="http://schemas.microsoft.com/office/drawing/2014/main" id="{981DF67A-F8CA-BA2B-BEE8-101ADB51529F}"/>
              </a:ext>
            </a:extLst>
          </p:cNvPr>
          <p:cNvSpPr/>
          <p:nvPr/>
        </p:nvSpPr>
        <p:spPr>
          <a:xfrm rot="17936121">
            <a:off x="4923644" y="1373776"/>
            <a:ext cx="495300" cy="3264129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EDF23530-9311-E622-854A-28D005A26E66}"/>
              </a:ext>
            </a:extLst>
          </p:cNvPr>
          <p:cNvCxnSpPr>
            <a:cxnSpLocks/>
            <a:stCxn id="40" idx="3"/>
            <a:endCxn id="55" idx="2"/>
          </p:cNvCxnSpPr>
          <p:nvPr/>
        </p:nvCxnSpPr>
        <p:spPr>
          <a:xfrm flipV="1">
            <a:off x="4461542" y="3222576"/>
            <a:ext cx="589934" cy="3121296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D2F7EEEB-F180-600C-DFAD-C98D3E715C8D}"/>
              </a:ext>
            </a:extLst>
          </p:cNvPr>
          <p:cNvSpPr/>
          <p:nvPr/>
        </p:nvSpPr>
        <p:spPr>
          <a:xfrm>
            <a:off x="47561" y="3471245"/>
            <a:ext cx="3776685" cy="16365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Cloud</a:t>
            </a:r>
          </a:p>
        </p:txBody>
      </p: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B086FA9-439E-9A9A-D175-265E6EF01E7D}"/>
              </a:ext>
            </a:extLst>
          </p:cNvPr>
          <p:cNvCxnSpPr>
            <a:cxnSpLocks/>
            <a:stCxn id="23" idx="1"/>
            <a:endCxn id="51" idx="0"/>
          </p:cNvCxnSpPr>
          <p:nvPr/>
        </p:nvCxnSpPr>
        <p:spPr>
          <a:xfrm flipH="1">
            <a:off x="3609054" y="754663"/>
            <a:ext cx="3356347" cy="1198626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Gráfico 5" descr="Internet">
            <a:extLst>
              <a:ext uri="{FF2B5EF4-FFF2-40B4-BE49-F238E27FC236}">
                <a16:creationId xmlns:a16="http://schemas.microsoft.com/office/drawing/2014/main" id="{F7D16A70-FE8E-C635-EA8B-C6BEC0A05D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77" y="4060087"/>
            <a:ext cx="914400" cy="914400"/>
          </a:xfrm>
          <a:prstGeom prst="rect">
            <a:avLst/>
          </a:prstGeom>
        </p:spPr>
      </p:pic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E5CA773C-683D-B9B1-2351-A4D18E87A7D3}"/>
              </a:ext>
            </a:extLst>
          </p:cNvPr>
          <p:cNvSpPr/>
          <p:nvPr/>
        </p:nvSpPr>
        <p:spPr>
          <a:xfrm>
            <a:off x="125441" y="3936309"/>
            <a:ext cx="3234499" cy="10289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Subnet</a:t>
            </a:r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80" name="Triângulo isósceles 79">
            <a:extLst>
              <a:ext uri="{FF2B5EF4-FFF2-40B4-BE49-F238E27FC236}">
                <a16:creationId xmlns:a16="http://schemas.microsoft.com/office/drawing/2014/main" id="{73C3B08D-DBAD-6570-53E9-54E241EA10F0}"/>
              </a:ext>
            </a:extLst>
          </p:cNvPr>
          <p:cNvSpPr/>
          <p:nvPr/>
        </p:nvSpPr>
        <p:spPr>
          <a:xfrm>
            <a:off x="2307156" y="4179792"/>
            <a:ext cx="605380" cy="60343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2E0410E7-21DC-CF0D-76A5-E681A5A20086}"/>
              </a:ext>
            </a:extLst>
          </p:cNvPr>
          <p:cNvCxnSpPr>
            <a:cxnSpLocks/>
            <a:stCxn id="51" idx="2"/>
            <a:endCxn id="80" idx="5"/>
          </p:cNvCxnSpPr>
          <p:nvPr/>
        </p:nvCxnSpPr>
        <p:spPr>
          <a:xfrm flipH="1">
            <a:off x="2761191" y="2534314"/>
            <a:ext cx="847863" cy="1947194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tângulo 87">
            <a:extLst>
              <a:ext uri="{FF2B5EF4-FFF2-40B4-BE49-F238E27FC236}">
                <a16:creationId xmlns:a16="http://schemas.microsoft.com/office/drawing/2014/main" id="{61CFD477-2C27-5A72-A893-8BF34DCDE72C}"/>
              </a:ext>
            </a:extLst>
          </p:cNvPr>
          <p:cNvSpPr/>
          <p:nvPr/>
        </p:nvSpPr>
        <p:spPr>
          <a:xfrm>
            <a:off x="1037632" y="5488974"/>
            <a:ext cx="3153060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AD - Conector</a:t>
            </a:r>
          </a:p>
        </p:txBody>
      </p: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50FE7987-7E13-0F17-3974-22FE3518F43A}"/>
              </a:ext>
            </a:extLst>
          </p:cNvPr>
          <p:cNvCxnSpPr>
            <a:cxnSpLocks/>
            <a:stCxn id="88" idx="0"/>
            <a:endCxn id="80" idx="3"/>
          </p:cNvCxnSpPr>
          <p:nvPr/>
        </p:nvCxnSpPr>
        <p:spPr>
          <a:xfrm flipH="1" flipV="1">
            <a:off x="2609846" y="4783224"/>
            <a:ext cx="4316" cy="705750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31170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3F7B2-E3C3-98B3-31BF-F7FABBBB9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9826B-E516-B3D4-E74F-C07FAC494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AWS – </a:t>
            </a:r>
            <a:r>
              <a:rPr lang="pt-BR" noProof="0" dirty="0" err="1"/>
              <a:t>Identity</a:t>
            </a:r>
            <a:r>
              <a:rPr lang="pt-BR" noProof="0" dirty="0"/>
              <a:t> Federation</a:t>
            </a:r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5F7EE21C-5AD4-109B-A80A-05DCC352CFE9}"/>
              </a:ext>
            </a:extLst>
          </p:cNvPr>
          <p:cNvSpPr/>
          <p:nvPr/>
        </p:nvSpPr>
        <p:spPr>
          <a:xfrm>
            <a:off x="1974574" y="2825568"/>
            <a:ext cx="605380" cy="60343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DC70729-1179-0037-1CB5-636854772C13}"/>
              </a:ext>
            </a:extLst>
          </p:cNvPr>
          <p:cNvSpPr txBox="1"/>
          <p:nvPr/>
        </p:nvSpPr>
        <p:spPr>
          <a:xfrm>
            <a:off x="5513150" y="3432498"/>
            <a:ext cx="1844821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600" noProof="0" dirty="0"/>
              <a:t>IAM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5E029BE-02EA-B05B-864A-6A65C16EE327}"/>
              </a:ext>
            </a:extLst>
          </p:cNvPr>
          <p:cNvSpPr/>
          <p:nvPr/>
        </p:nvSpPr>
        <p:spPr>
          <a:xfrm>
            <a:off x="316423" y="1299255"/>
            <a:ext cx="1756403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AD - Conector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1FE02813-CFDA-5794-E4E1-07A86F02322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194625" y="1780324"/>
            <a:ext cx="931293" cy="1367522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m 13">
            <a:extLst>
              <a:ext uri="{FF2B5EF4-FFF2-40B4-BE49-F238E27FC236}">
                <a16:creationId xmlns:a16="http://schemas.microsoft.com/office/drawing/2014/main" id="{643BE7A7-5BF8-01F7-001D-3214A573E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070" y="5016494"/>
            <a:ext cx="1298879" cy="1084501"/>
          </a:xfrm>
          <a:prstGeom prst="rect">
            <a:avLst/>
          </a:prstGeom>
        </p:spPr>
      </p:pic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82E4212F-C4A4-B37A-AE87-A45286ADCE7E}"/>
              </a:ext>
            </a:extLst>
          </p:cNvPr>
          <p:cNvCxnSpPr>
            <a:cxnSpLocks/>
            <a:stCxn id="14" idx="3"/>
            <a:endCxn id="6" idx="1"/>
          </p:cNvCxnSpPr>
          <p:nvPr/>
        </p:nvCxnSpPr>
        <p:spPr>
          <a:xfrm flipV="1">
            <a:off x="3246949" y="3755664"/>
            <a:ext cx="2266201" cy="1803081"/>
          </a:xfrm>
          <a:prstGeom prst="line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5E45B17F-3D23-6662-9F8F-F912573EF7CE}"/>
              </a:ext>
            </a:extLst>
          </p:cNvPr>
          <p:cNvCxnSpPr>
            <a:cxnSpLocks/>
            <a:stCxn id="5" idx="5"/>
            <a:endCxn id="6" idx="1"/>
          </p:cNvCxnSpPr>
          <p:nvPr/>
        </p:nvCxnSpPr>
        <p:spPr>
          <a:xfrm>
            <a:off x="2428609" y="3127284"/>
            <a:ext cx="3084541" cy="628380"/>
          </a:xfrm>
          <a:prstGeom prst="line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ângulo 27">
            <a:extLst>
              <a:ext uri="{FF2B5EF4-FFF2-40B4-BE49-F238E27FC236}">
                <a16:creationId xmlns:a16="http://schemas.microsoft.com/office/drawing/2014/main" id="{FDB8D860-6B83-E8F3-7008-81214C48674D}"/>
              </a:ext>
            </a:extLst>
          </p:cNvPr>
          <p:cNvSpPr/>
          <p:nvPr/>
        </p:nvSpPr>
        <p:spPr>
          <a:xfrm>
            <a:off x="5734633" y="5314557"/>
            <a:ext cx="1756403" cy="10121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noProof="0" dirty="0">
                <a:solidFill>
                  <a:srgbClr val="3865B6"/>
                </a:solidFill>
              </a:rPr>
              <a:t>Usuários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noProof="0" dirty="0">
                <a:solidFill>
                  <a:srgbClr val="3865B6"/>
                </a:solidFill>
              </a:rPr>
              <a:t>Grupos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noProof="0" dirty="0" err="1">
                <a:solidFill>
                  <a:srgbClr val="3865B6"/>
                </a:solidFill>
              </a:rPr>
              <a:t>Polices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C11594B4-3FF8-421E-13FF-A0AEA42B8303}"/>
              </a:ext>
            </a:extLst>
          </p:cNvPr>
          <p:cNvCxnSpPr>
            <a:cxnSpLocks/>
            <a:stCxn id="28" idx="0"/>
            <a:endCxn id="6" idx="2"/>
          </p:cNvCxnSpPr>
          <p:nvPr/>
        </p:nvCxnSpPr>
        <p:spPr>
          <a:xfrm flipH="1" flipV="1">
            <a:off x="6435561" y="4078829"/>
            <a:ext cx="177274" cy="1235728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9FA7B11-7738-BDBC-4E7C-090F2EBED3F7}"/>
              </a:ext>
            </a:extLst>
          </p:cNvPr>
          <p:cNvSpPr/>
          <p:nvPr/>
        </p:nvSpPr>
        <p:spPr>
          <a:xfrm>
            <a:off x="5138628" y="1690688"/>
            <a:ext cx="6344258" cy="5035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Cloud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423CF476-1514-CACB-0809-BE355C4DFB7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357971" y="3755664"/>
            <a:ext cx="1717213" cy="6855"/>
          </a:xfrm>
          <a:prstGeom prst="line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tângulo 53">
            <a:extLst>
              <a:ext uri="{FF2B5EF4-FFF2-40B4-BE49-F238E27FC236}">
                <a16:creationId xmlns:a16="http://schemas.microsoft.com/office/drawing/2014/main" id="{3A0EE9FF-5403-4D21-ABB1-759F3F450EC7}"/>
              </a:ext>
            </a:extLst>
          </p:cNvPr>
          <p:cNvSpPr/>
          <p:nvPr/>
        </p:nvSpPr>
        <p:spPr>
          <a:xfrm>
            <a:off x="1777425" y="1893379"/>
            <a:ext cx="1302368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LDAP</a:t>
            </a: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A46B73F5-F2C6-AF42-215D-2EA4BC8D271A}"/>
              </a:ext>
            </a:extLst>
          </p:cNvPr>
          <p:cNvCxnSpPr>
            <a:cxnSpLocks/>
            <a:stCxn id="54" idx="2"/>
            <a:endCxn id="5" idx="0"/>
          </p:cNvCxnSpPr>
          <p:nvPr/>
        </p:nvCxnSpPr>
        <p:spPr>
          <a:xfrm flipH="1">
            <a:off x="2277264" y="2374448"/>
            <a:ext cx="151345" cy="451120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A8ABEE6E-FCB8-12CD-9A8E-652FA0C7E1D0}"/>
              </a:ext>
            </a:extLst>
          </p:cNvPr>
          <p:cNvCxnSpPr>
            <a:cxnSpLocks/>
            <a:stCxn id="72" idx="3"/>
            <a:endCxn id="71" idx="2"/>
          </p:cNvCxnSpPr>
          <p:nvPr/>
        </p:nvCxnSpPr>
        <p:spPr>
          <a:xfrm flipV="1">
            <a:off x="1667768" y="3720141"/>
            <a:ext cx="2352073" cy="154912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tângulo 60">
            <a:extLst>
              <a:ext uri="{FF2B5EF4-FFF2-40B4-BE49-F238E27FC236}">
                <a16:creationId xmlns:a16="http://schemas.microsoft.com/office/drawing/2014/main" id="{024847B4-F12A-A5D9-EFCD-4A44070DBC77}"/>
              </a:ext>
            </a:extLst>
          </p:cNvPr>
          <p:cNvSpPr/>
          <p:nvPr/>
        </p:nvSpPr>
        <p:spPr>
          <a:xfrm>
            <a:off x="429845" y="4341683"/>
            <a:ext cx="2817104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OIDC – OPEN ID Connect</a:t>
            </a:r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FE3F528D-C8DE-03B8-48AC-CF5FCACE7314}"/>
              </a:ext>
            </a:extLst>
          </p:cNvPr>
          <p:cNvSpPr/>
          <p:nvPr/>
        </p:nvSpPr>
        <p:spPr>
          <a:xfrm rot="16948172">
            <a:off x="3825664" y="1776078"/>
            <a:ext cx="495300" cy="3404510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D671245F-7CDC-3078-FF91-B54A8D34D32E}"/>
              </a:ext>
            </a:extLst>
          </p:cNvPr>
          <p:cNvSpPr/>
          <p:nvPr/>
        </p:nvSpPr>
        <p:spPr>
          <a:xfrm>
            <a:off x="365400" y="3634518"/>
            <a:ext cx="1302368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SAML</a:t>
            </a:r>
          </a:p>
        </p:txBody>
      </p: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14F081CC-D7A6-A1F8-1801-34C84371E712}"/>
              </a:ext>
            </a:extLst>
          </p:cNvPr>
          <p:cNvCxnSpPr>
            <a:cxnSpLocks/>
            <a:stCxn id="61" idx="0"/>
            <a:endCxn id="71" idx="2"/>
          </p:cNvCxnSpPr>
          <p:nvPr/>
        </p:nvCxnSpPr>
        <p:spPr>
          <a:xfrm flipV="1">
            <a:off x="1838397" y="3720141"/>
            <a:ext cx="2181444" cy="621542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67F76247-EED2-FE4F-C898-BA143242635C}"/>
              </a:ext>
            </a:extLst>
          </p:cNvPr>
          <p:cNvCxnSpPr>
            <a:cxnSpLocks/>
            <a:stCxn id="61" idx="3"/>
            <a:endCxn id="84" idx="6"/>
          </p:cNvCxnSpPr>
          <p:nvPr/>
        </p:nvCxnSpPr>
        <p:spPr>
          <a:xfrm flipV="1">
            <a:off x="3246949" y="4499457"/>
            <a:ext cx="854243" cy="82761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Elipse 83">
            <a:extLst>
              <a:ext uri="{FF2B5EF4-FFF2-40B4-BE49-F238E27FC236}">
                <a16:creationId xmlns:a16="http://schemas.microsoft.com/office/drawing/2014/main" id="{C6D6FA56-B6A4-98BC-E6DA-C19987A4908F}"/>
              </a:ext>
            </a:extLst>
          </p:cNvPr>
          <p:cNvSpPr/>
          <p:nvPr/>
        </p:nvSpPr>
        <p:spPr>
          <a:xfrm rot="13967424">
            <a:off x="4003304" y="2994438"/>
            <a:ext cx="495300" cy="3404510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060774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FF086-A305-CD41-0695-E47870A3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06416-A89B-F2D5-51E2-17424ED6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AWS – </a:t>
            </a:r>
            <a:r>
              <a:rPr lang="pt-BR" noProof="0" dirty="0" err="1"/>
              <a:t>Cognito</a:t>
            </a:r>
            <a:endParaRPr lang="pt-BR" noProof="0" dirty="0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0803497-FA18-57C9-6E45-A4AA095E02A4}"/>
              </a:ext>
            </a:extLst>
          </p:cNvPr>
          <p:cNvSpPr/>
          <p:nvPr/>
        </p:nvSpPr>
        <p:spPr>
          <a:xfrm>
            <a:off x="10857567" y="2538546"/>
            <a:ext cx="605380" cy="60343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792E1B2-0F7F-DBBF-0946-6FAB9F0B12F8}"/>
              </a:ext>
            </a:extLst>
          </p:cNvPr>
          <p:cNvSpPr txBox="1"/>
          <p:nvPr/>
        </p:nvSpPr>
        <p:spPr>
          <a:xfrm>
            <a:off x="4866105" y="2584174"/>
            <a:ext cx="2926174" cy="1508105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600" noProof="0" dirty="0" err="1"/>
              <a:t>Cognito</a:t>
            </a:r>
            <a:endParaRPr lang="pt-BR" sz="3600" noProof="0" dirty="0"/>
          </a:p>
          <a:p>
            <a:r>
              <a:rPr lang="pt-BR" sz="2800" noProof="0" dirty="0" err="1"/>
              <a:t>User</a:t>
            </a:r>
            <a:r>
              <a:rPr lang="pt-BR" sz="2800" noProof="0" dirty="0"/>
              <a:t> Pool</a:t>
            </a:r>
          </a:p>
          <a:p>
            <a:r>
              <a:rPr lang="pt-BR" sz="2800" noProof="0" dirty="0" err="1"/>
              <a:t>Identity</a:t>
            </a:r>
            <a:r>
              <a:rPr lang="pt-BR" sz="2800" noProof="0" dirty="0"/>
              <a:t> Pool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13CE66A-72AB-5B18-0DE9-8E5D34034103}"/>
              </a:ext>
            </a:extLst>
          </p:cNvPr>
          <p:cNvSpPr/>
          <p:nvPr/>
        </p:nvSpPr>
        <p:spPr>
          <a:xfrm>
            <a:off x="10380722" y="4877128"/>
            <a:ext cx="1559070" cy="481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AD - Conector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5E404E5-BA4A-9EA3-59F7-5C45E03A5928}"/>
              </a:ext>
            </a:extLst>
          </p:cNvPr>
          <p:cNvCxnSpPr>
            <a:cxnSpLocks/>
            <a:stCxn id="7" idx="0"/>
            <a:endCxn id="5" idx="3"/>
          </p:cNvCxnSpPr>
          <p:nvPr/>
        </p:nvCxnSpPr>
        <p:spPr>
          <a:xfrm flipV="1">
            <a:off x="11160257" y="3141978"/>
            <a:ext cx="0" cy="1735150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m 13">
            <a:extLst>
              <a:ext uri="{FF2B5EF4-FFF2-40B4-BE49-F238E27FC236}">
                <a16:creationId xmlns:a16="http://schemas.microsoft.com/office/drawing/2014/main" id="{CA67C2E8-D6CA-BAFC-C34C-EA5166FDF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721" y="1363414"/>
            <a:ext cx="1298879" cy="1084501"/>
          </a:xfrm>
          <a:prstGeom prst="rect">
            <a:avLst/>
          </a:prstGeom>
        </p:spPr>
      </p:pic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ABF9EA50-C703-93B2-8B8C-25EC076202B1}"/>
              </a:ext>
            </a:extLst>
          </p:cNvPr>
          <p:cNvSpPr/>
          <p:nvPr/>
        </p:nvSpPr>
        <p:spPr>
          <a:xfrm>
            <a:off x="4207991" y="1570125"/>
            <a:ext cx="5964829" cy="5035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Cloud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6AF12BEA-AE39-CE6B-D07B-3E01FB3D770C}"/>
              </a:ext>
            </a:extLst>
          </p:cNvPr>
          <p:cNvCxnSpPr>
            <a:cxnSpLocks/>
            <a:stCxn id="39" idx="4"/>
            <a:endCxn id="14" idx="1"/>
          </p:cNvCxnSpPr>
          <p:nvPr/>
        </p:nvCxnSpPr>
        <p:spPr>
          <a:xfrm flipV="1">
            <a:off x="6864630" y="1905665"/>
            <a:ext cx="3773091" cy="1463908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áfico 14" descr="Programa">
            <a:extLst>
              <a:ext uri="{FF2B5EF4-FFF2-40B4-BE49-F238E27FC236}">
                <a16:creationId xmlns:a16="http://schemas.microsoft.com/office/drawing/2014/main" id="{F4A90BEC-19A3-31BF-5AF8-1266380649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13" y="2797319"/>
            <a:ext cx="965200" cy="965200"/>
          </a:xfrm>
          <a:prstGeom prst="rect">
            <a:avLst/>
          </a:prstGeom>
        </p:spPr>
      </p:pic>
      <p:sp>
        <p:nvSpPr>
          <p:cNvPr id="39" name="Elipse 38">
            <a:extLst>
              <a:ext uri="{FF2B5EF4-FFF2-40B4-BE49-F238E27FC236}">
                <a16:creationId xmlns:a16="http://schemas.microsoft.com/office/drawing/2014/main" id="{71E74C0A-8796-6812-F54D-A3E87C7F42FB}"/>
              </a:ext>
            </a:extLst>
          </p:cNvPr>
          <p:cNvSpPr/>
          <p:nvPr/>
        </p:nvSpPr>
        <p:spPr>
          <a:xfrm rot="16200000">
            <a:off x="5522639" y="2229884"/>
            <a:ext cx="404604" cy="2279378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963FC50F-917A-8368-1B9B-A64384E59930}"/>
              </a:ext>
            </a:extLst>
          </p:cNvPr>
          <p:cNvCxnSpPr>
            <a:cxnSpLocks/>
            <a:stCxn id="33" idx="3"/>
            <a:endCxn id="39" idx="0"/>
          </p:cNvCxnSpPr>
          <p:nvPr/>
        </p:nvCxnSpPr>
        <p:spPr>
          <a:xfrm>
            <a:off x="1496313" y="3279919"/>
            <a:ext cx="3088939" cy="89654"/>
          </a:xfrm>
          <a:prstGeom prst="line">
            <a:avLst/>
          </a:prstGeom>
          <a:ln w="4762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FBB0A597-3000-207B-A498-16C896B121B2}"/>
              </a:ext>
            </a:extLst>
          </p:cNvPr>
          <p:cNvSpPr/>
          <p:nvPr/>
        </p:nvSpPr>
        <p:spPr>
          <a:xfrm rot="16200000">
            <a:off x="5617139" y="2692388"/>
            <a:ext cx="520404" cy="2279378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1AA7D0E6-19E8-B81A-EBA5-EC991FCB6716}"/>
              </a:ext>
            </a:extLst>
          </p:cNvPr>
          <p:cNvCxnSpPr>
            <a:cxnSpLocks/>
            <a:stCxn id="33" idx="3"/>
            <a:endCxn id="48" idx="0"/>
          </p:cNvCxnSpPr>
          <p:nvPr/>
        </p:nvCxnSpPr>
        <p:spPr>
          <a:xfrm>
            <a:off x="1496313" y="3279919"/>
            <a:ext cx="3241339" cy="552158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B3AB8499-D901-58B7-B8CB-488118953E0F}"/>
              </a:ext>
            </a:extLst>
          </p:cNvPr>
          <p:cNvCxnSpPr>
            <a:cxnSpLocks/>
            <a:stCxn id="48" idx="2"/>
            <a:endCxn id="59" idx="0"/>
          </p:cNvCxnSpPr>
          <p:nvPr/>
        </p:nvCxnSpPr>
        <p:spPr>
          <a:xfrm>
            <a:off x="5877341" y="4092279"/>
            <a:ext cx="2234672" cy="1012447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D14583BE-E77C-2CFB-C6A8-6D45CBA2CBE1}"/>
              </a:ext>
            </a:extLst>
          </p:cNvPr>
          <p:cNvSpPr txBox="1"/>
          <p:nvPr/>
        </p:nvSpPr>
        <p:spPr>
          <a:xfrm>
            <a:off x="6648926" y="5104726"/>
            <a:ext cx="2926174" cy="523220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pt-BR" sz="2800" noProof="0" dirty="0"/>
              <a:t>Serviços AWS</a:t>
            </a: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E9613D3F-3F5D-F9D0-40E6-1E9A8425283E}"/>
              </a:ext>
            </a:extLst>
          </p:cNvPr>
          <p:cNvSpPr/>
          <p:nvPr/>
        </p:nvSpPr>
        <p:spPr>
          <a:xfrm>
            <a:off x="2307773" y="1905666"/>
            <a:ext cx="2238598" cy="71114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Usuário e Senha</a:t>
            </a:r>
          </a:p>
          <a:p>
            <a:pPr algn="ctr"/>
            <a:r>
              <a:rPr lang="pt-BR" b="1" noProof="0" dirty="0">
                <a:solidFill>
                  <a:srgbClr val="3865B6"/>
                </a:solidFill>
              </a:rPr>
              <a:t>Token JWT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99A16095-48CF-CFDE-1B61-D46813B8C99F}"/>
              </a:ext>
            </a:extLst>
          </p:cNvPr>
          <p:cNvCxnSpPr>
            <a:cxnSpLocks/>
            <a:stCxn id="62" idx="2"/>
            <a:endCxn id="33" idx="3"/>
          </p:cNvCxnSpPr>
          <p:nvPr/>
        </p:nvCxnSpPr>
        <p:spPr>
          <a:xfrm flipH="1">
            <a:off x="1496313" y="2616812"/>
            <a:ext cx="1930759" cy="663107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tângulo 67">
            <a:extLst>
              <a:ext uri="{FF2B5EF4-FFF2-40B4-BE49-F238E27FC236}">
                <a16:creationId xmlns:a16="http://schemas.microsoft.com/office/drawing/2014/main" id="{B91FFECA-D63B-088C-D019-E1C94208E305}"/>
              </a:ext>
            </a:extLst>
          </p:cNvPr>
          <p:cNvSpPr/>
          <p:nvPr/>
        </p:nvSpPr>
        <p:spPr>
          <a:xfrm>
            <a:off x="2185988" y="4814178"/>
            <a:ext cx="1734529" cy="5521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Token JWT</a:t>
            </a:r>
          </a:p>
        </p:txBody>
      </p: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0FF72322-E72A-91D7-02DF-C25B40721D8F}"/>
              </a:ext>
            </a:extLst>
          </p:cNvPr>
          <p:cNvCxnSpPr>
            <a:cxnSpLocks/>
            <a:stCxn id="68" idx="0"/>
            <a:endCxn id="48" idx="0"/>
          </p:cNvCxnSpPr>
          <p:nvPr/>
        </p:nvCxnSpPr>
        <p:spPr>
          <a:xfrm flipV="1">
            <a:off x="3053253" y="3832077"/>
            <a:ext cx="1684399" cy="982101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tângulo 78">
            <a:extLst>
              <a:ext uri="{FF2B5EF4-FFF2-40B4-BE49-F238E27FC236}">
                <a16:creationId xmlns:a16="http://schemas.microsoft.com/office/drawing/2014/main" id="{97A3CAF0-7D53-5427-95C4-98F1A9BF102D}"/>
              </a:ext>
            </a:extLst>
          </p:cNvPr>
          <p:cNvSpPr/>
          <p:nvPr/>
        </p:nvSpPr>
        <p:spPr>
          <a:xfrm>
            <a:off x="179216" y="4530841"/>
            <a:ext cx="1907301" cy="67661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AWS Service </a:t>
            </a:r>
            <a:r>
              <a:rPr lang="pt-BR" b="1" noProof="0" dirty="0" err="1">
                <a:solidFill>
                  <a:srgbClr val="3865B6"/>
                </a:solidFill>
              </a:rPr>
              <a:t>Credential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9BEA9F07-E8AA-8DB8-0F5C-DA463CDAA238}"/>
              </a:ext>
            </a:extLst>
          </p:cNvPr>
          <p:cNvCxnSpPr>
            <a:cxnSpLocks/>
            <a:stCxn id="79" idx="0"/>
            <a:endCxn id="33" idx="2"/>
          </p:cNvCxnSpPr>
          <p:nvPr/>
        </p:nvCxnSpPr>
        <p:spPr>
          <a:xfrm flipH="1" flipV="1">
            <a:off x="1013713" y="3762519"/>
            <a:ext cx="119154" cy="768322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1A1C8F6A-F838-C75D-0721-D8A7DA7BFDFF}"/>
              </a:ext>
            </a:extLst>
          </p:cNvPr>
          <p:cNvCxnSpPr>
            <a:cxnSpLocks/>
            <a:stCxn id="39" idx="4"/>
            <a:endCxn id="5" idx="1"/>
          </p:cNvCxnSpPr>
          <p:nvPr/>
        </p:nvCxnSpPr>
        <p:spPr>
          <a:xfrm flipV="1">
            <a:off x="6864630" y="2840262"/>
            <a:ext cx="4144282" cy="529311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15296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FAC6F-7D9C-F57C-A40E-6FE4E718D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E252A-8792-A033-4A44-5DE293F21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AWS – </a:t>
            </a:r>
            <a:r>
              <a:rPr lang="pt-BR" noProof="0" dirty="0" err="1"/>
              <a:t>Encryption</a:t>
            </a:r>
            <a:endParaRPr lang="pt-BR" noProof="0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E044EB80-B870-C07C-CEF2-AED69EAC094B}"/>
              </a:ext>
            </a:extLst>
          </p:cNvPr>
          <p:cNvSpPr/>
          <p:nvPr/>
        </p:nvSpPr>
        <p:spPr>
          <a:xfrm>
            <a:off x="5029201" y="1431699"/>
            <a:ext cx="6986958" cy="5035136"/>
          </a:xfrm>
          <a:custGeom>
            <a:avLst/>
            <a:gdLst>
              <a:gd name="connsiteX0" fmla="*/ 0 w 5964829"/>
              <a:gd name="connsiteY0" fmla="*/ 839206 h 5035136"/>
              <a:gd name="connsiteX1" fmla="*/ 839206 w 5964829"/>
              <a:gd name="connsiteY1" fmla="*/ 0 h 5035136"/>
              <a:gd name="connsiteX2" fmla="*/ 5125623 w 5964829"/>
              <a:gd name="connsiteY2" fmla="*/ 0 h 5035136"/>
              <a:gd name="connsiteX3" fmla="*/ 5964829 w 5964829"/>
              <a:gd name="connsiteY3" fmla="*/ 839206 h 5035136"/>
              <a:gd name="connsiteX4" fmla="*/ 5964829 w 5964829"/>
              <a:gd name="connsiteY4" fmla="*/ 4195930 h 5035136"/>
              <a:gd name="connsiteX5" fmla="*/ 5125623 w 5964829"/>
              <a:gd name="connsiteY5" fmla="*/ 5035136 h 5035136"/>
              <a:gd name="connsiteX6" fmla="*/ 839206 w 5964829"/>
              <a:gd name="connsiteY6" fmla="*/ 5035136 h 5035136"/>
              <a:gd name="connsiteX7" fmla="*/ 0 w 5964829"/>
              <a:gd name="connsiteY7" fmla="*/ 4195930 h 5035136"/>
              <a:gd name="connsiteX8" fmla="*/ 0 w 5964829"/>
              <a:gd name="connsiteY8" fmla="*/ 839206 h 5035136"/>
              <a:gd name="connsiteX0" fmla="*/ 0 w 5964829"/>
              <a:gd name="connsiteY0" fmla="*/ 839206 h 5035136"/>
              <a:gd name="connsiteX1" fmla="*/ 839206 w 5964829"/>
              <a:gd name="connsiteY1" fmla="*/ 0 h 5035136"/>
              <a:gd name="connsiteX2" fmla="*/ 5125623 w 5964829"/>
              <a:gd name="connsiteY2" fmla="*/ 0 h 5035136"/>
              <a:gd name="connsiteX3" fmla="*/ 5964829 w 5964829"/>
              <a:gd name="connsiteY3" fmla="*/ 839206 h 5035136"/>
              <a:gd name="connsiteX4" fmla="*/ 5964829 w 5964829"/>
              <a:gd name="connsiteY4" fmla="*/ 4195930 h 5035136"/>
              <a:gd name="connsiteX5" fmla="*/ 5125623 w 5964829"/>
              <a:gd name="connsiteY5" fmla="*/ 5035136 h 5035136"/>
              <a:gd name="connsiteX6" fmla="*/ 839206 w 5964829"/>
              <a:gd name="connsiteY6" fmla="*/ 5035136 h 5035136"/>
              <a:gd name="connsiteX7" fmla="*/ 0 w 5964829"/>
              <a:gd name="connsiteY7" fmla="*/ 4195930 h 5035136"/>
              <a:gd name="connsiteX8" fmla="*/ 6571 w 5964829"/>
              <a:gd name="connsiteY8" fmla="*/ 1397226 h 5035136"/>
              <a:gd name="connsiteX9" fmla="*/ 0 w 5964829"/>
              <a:gd name="connsiteY9" fmla="*/ 839206 h 503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64829" h="5035136">
                <a:moveTo>
                  <a:pt x="0" y="839206"/>
                </a:moveTo>
                <a:cubicBezTo>
                  <a:pt x="0" y="375725"/>
                  <a:pt x="375725" y="0"/>
                  <a:pt x="839206" y="0"/>
                </a:cubicBezTo>
                <a:lnTo>
                  <a:pt x="5125623" y="0"/>
                </a:lnTo>
                <a:cubicBezTo>
                  <a:pt x="5589104" y="0"/>
                  <a:pt x="5964829" y="375725"/>
                  <a:pt x="5964829" y="839206"/>
                </a:cubicBezTo>
                <a:lnTo>
                  <a:pt x="5964829" y="4195930"/>
                </a:lnTo>
                <a:cubicBezTo>
                  <a:pt x="5964829" y="4659411"/>
                  <a:pt x="5589104" y="5035136"/>
                  <a:pt x="5125623" y="5035136"/>
                </a:cubicBezTo>
                <a:lnTo>
                  <a:pt x="839206" y="5035136"/>
                </a:lnTo>
                <a:cubicBezTo>
                  <a:pt x="375725" y="5035136"/>
                  <a:pt x="0" y="4659411"/>
                  <a:pt x="0" y="4195930"/>
                </a:cubicBezTo>
                <a:cubicBezTo>
                  <a:pt x="2190" y="3263029"/>
                  <a:pt x="4381" y="2330127"/>
                  <a:pt x="6571" y="1397226"/>
                </a:cubicBezTo>
                <a:cubicBezTo>
                  <a:pt x="4381" y="1211219"/>
                  <a:pt x="2190" y="1025213"/>
                  <a:pt x="0" y="83920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0" rtlCol="0" anchor="t"/>
          <a:lstStyle/>
          <a:p>
            <a:pPr algn="ctr"/>
            <a:r>
              <a:rPr lang="pt-BR" sz="2800" noProof="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AWS Cloud</a:t>
            </a:r>
          </a:p>
          <a:p>
            <a:pPr algn="r"/>
            <a:endParaRPr lang="pt-BR" noProof="0" dirty="0">
              <a:solidFill>
                <a:schemeClr val="tx1"/>
              </a:solidFill>
            </a:endParaRPr>
          </a:p>
        </p:txBody>
      </p:sp>
      <p:pic>
        <p:nvPicPr>
          <p:cNvPr id="33" name="Gráfico 14" descr="Programa">
            <a:extLst>
              <a:ext uri="{FF2B5EF4-FFF2-40B4-BE49-F238E27FC236}">
                <a16:creationId xmlns:a16="http://schemas.microsoft.com/office/drawing/2014/main" id="{E20D595D-9921-4B4D-2A2A-49AAC98173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56" y="2261239"/>
            <a:ext cx="965200" cy="965200"/>
          </a:xfrm>
          <a:prstGeom prst="rect">
            <a:avLst/>
          </a:prstGeom>
        </p:spPr>
      </p:pic>
      <p:sp>
        <p:nvSpPr>
          <p:cNvPr id="62" name="Retângulo 61">
            <a:extLst>
              <a:ext uri="{FF2B5EF4-FFF2-40B4-BE49-F238E27FC236}">
                <a16:creationId xmlns:a16="http://schemas.microsoft.com/office/drawing/2014/main" id="{B54B06F7-2437-FB76-9DE7-7DE8FC70748C}"/>
              </a:ext>
            </a:extLst>
          </p:cNvPr>
          <p:cNvSpPr/>
          <p:nvPr/>
        </p:nvSpPr>
        <p:spPr>
          <a:xfrm>
            <a:off x="179378" y="1401466"/>
            <a:ext cx="1362156" cy="49400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In Transit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AB66A54-496B-9045-A982-76CD3C9BF840}"/>
              </a:ext>
            </a:extLst>
          </p:cNvPr>
          <p:cNvCxnSpPr>
            <a:cxnSpLocks/>
            <a:stCxn id="33" idx="3"/>
            <a:endCxn id="32" idx="0"/>
          </p:cNvCxnSpPr>
          <p:nvPr/>
        </p:nvCxnSpPr>
        <p:spPr>
          <a:xfrm flipV="1">
            <a:off x="1825656" y="2270905"/>
            <a:ext cx="3203545" cy="472934"/>
          </a:xfrm>
          <a:prstGeom prst="line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58DC1B78-2C30-4D49-7ED6-2662F0CD1EAF}"/>
              </a:ext>
            </a:extLst>
          </p:cNvPr>
          <p:cNvSpPr/>
          <p:nvPr/>
        </p:nvSpPr>
        <p:spPr>
          <a:xfrm>
            <a:off x="2200356" y="1548066"/>
            <a:ext cx="1362156" cy="57844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SSL</a:t>
            </a:r>
          </a:p>
          <a:p>
            <a:pPr algn="ctr"/>
            <a:r>
              <a:rPr lang="pt-BR" b="1" noProof="0" dirty="0">
                <a:solidFill>
                  <a:srgbClr val="3865B6"/>
                </a:solidFill>
              </a:rPr>
              <a:t>HTTPS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9FCCF7A-D7DC-65FA-8C15-D8F55A46E89D}"/>
              </a:ext>
            </a:extLst>
          </p:cNvPr>
          <p:cNvCxnSpPr>
            <a:cxnSpLocks/>
            <a:stCxn id="62" idx="3"/>
            <a:endCxn id="21" idx="1"/>
          </p:cNvCxnSpPr>
          <p:nvPr/>
        </p:nvCxnSpPr>
        <p:spPr>
          <a:xfrm>
            <a:off x="1541534" y="1648469"/>
            <a:ext cx="658822" cy="188819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C74CD9D5-9339-E727-C91B-94422B8B7C34}"/>
              </a:ext>
            </a:extLst>
          </p:cNvPr>
          <p:cNvSpPr/>
          <p:nvPr/>
        </p:nvSpPr>
        <p:spPr>
          <a:xfrm rot="15664483">
            <a:off x="3125250" y="607482"/>
            <a:ext cx="395126" cy="3863175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B725BA96-9457-8378-84EB-867EBC031F09}"/>
              </a:ext>
            </a:extLst>
          </p:cNvPr>
          <p:cNvCxnSpPr>
            <a:cxnSpLocks/>
            <a:stCxn id="21" idx="3"/>
            <a:endCxn id="26" idx="5"/>
          </p:cNvCxnSpPr>
          <p:nvPr/>
        </p:nvCxnSpPr>
        <p:spPr>
          <a:xfrm>
            <a:off x="3562512" y="1837288"/>
            <a:ext cx="1087928" cy="351870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EAC94C8-C793-6FCF-4169-77A097B81C18}"/>
              </a:ext>
            </a:extLst>
          </p:cNvPr>
          <p:cNvSpPr txBox="1"/>
          <p:nvPr/>
        </p:nvSpPr>
        <p:spPr>
          <a:xfrm>
            <a:off x="6270388" y="3727021"/>
            <a:ext cx="1416287" cy="461665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noProof="0" dirty="0"/>
              <a:t>Clear </a:t>
            </a:r>
            <a:r>
              <a:rPr lang="pt-BR" sz="2400" noProof="0" dirty="0" err="1"/>
              <a:t>Text</a:t>
            </a:r>
            <a:endParaRPr lang="pt-BR" sz="2400" noProof="0" dirty="0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FF570AE5-FA13-3E66-9B9C-7C725D137C05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7686675" y="3957854"/>
            <a:ext cx="571500" cy="0"/>
          </a:xfrm>
          <a:prstGeom prst="line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4E13A7A7-27CC-3765-E089-394403BBE370}"/>
              </a:ext>
            </a:extLst>
          </p:cNvPr>
          <p:cNvSpPr txBox="1"/>
          <p:nvPr/>
        </p:nvSpPr>
        <p:spPr>
          <a:xfrm>
            <a:off x="8258176" y="3718434"/>
            <a:ext cx="1100138" cy="461665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noProof="0" dirty="0" err="1"/>
              <a:t>Encript</a:t>
            </a:r>
            <a:endParaRPr lang="pt-BR" sz="2400" noProof="0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DFC1617B-189F-57B5-A6EF-D8111F6F399F}"/>
              </a:ext>
            </a:extLst>
          </p:cNvPr>
          <p:cNvSpPr txBox="1"/>
          <p:nvPr/>
        </p:nvSpPr>
        <p:spPr>
          <a:xfrm>
            <a:off x="10101263" y="3727021"/>
            <a:ext cx="1644579" cy="461665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noProof="0" dirty="0"/>
              <a:t>Clear </a:t>
            </a:r>
            <a:r>
              <a:rPr lang="pt-BR" sz="2400" noProof="0" dirty="0" err="1"/>
              <a:t>Text</a:t>
            </a:r>
            <a:endParaRPr lang="pt-BR" sz="2400" noProof="0" dirty="0"/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65848D3C-8AF8-45F0-716D-A2FD27A37F11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>
            <a:off x="9358314" y="3949267"/>
            <a:ext cx="742949" cy="8587"/>
          </a:xfrm>
          <a:prstGeom prst="line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tângulo 63">
            <a:extLst>
              <a:ext uri="{FF2B5EF4-FFF2-40B4-BE49-F238E27FC236}">
                <a16:creationId xmlns:a16="http://schemas.microsoft.com/office/drawing/2014/main" id="{7CA39167-D8D6-6F50-4C9F-48F21769F30B}"/>
              </a:ext>
            </a:extLst>
          </p:cNvPr>
          <p:cNvSpPr/>
          <p:nvPr/>
        </p:nvSpPr>
        <p:spPr>
          <a:xfrm>
            <a:off x="2306629" y="4503375"/>
            <a:ext cx="1362156" cy="49400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>
                <a:solidFill>
                  <a:srgbClr val="3865B6"/>
                </a:solidFill>
              </a:rPr>
              <a:t>At </a:t>
            </a:r>
            <a:r>
              <a:rPr lang="pt-BR" b="1" noProof="0" dirty="0" err="1">
                <a:solidFill>
                  <a:srgbClr val="3865B6"/>
                </a:solidFill>
              </a:rPr>
              <a:t>Rest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E58C6957-A12D-F1F3-F392-B4BFF3704ECD}"/>
              </a:ext>
            </a:extLst>
          </p:cNvPr>
          <p:cNvCxnSpPr>
            <a:cxnSpLocks/>
            <a:stCxn id="64" idx="3"/>
            <a:endCxn id="67" idx="0"/>
          </p:cNvCxnSpPr>
          <p:nvPr/>
        </p:nvCxnSpPr>
        <p:spPr>
          <a:xfrm flipV="1">
            <a:off x="3668785" y="3955253"/>
            <a:ext cx="1974779" cy="795125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Elipse 66">
            <a:extLst>
              <a:ext uri="{FF2B5EF4-FFF2-40B4-BE49-F238E27FC236}">
                <a16:creationId xmlns:a16="http://schemas.microsoft.com/office/drawing/2014/main" id="{04134F06-C674-D5C6-B9D1-476E596F3EB6}"/>
              </a:ext>
            </a:extLst>
          </p:cNvPr>
          <p:cNvSpPr/>
          <p:nvPr/>
        </p:nvSpPr>
        <p:spPr>
          <a:xfrm rot="16200000">
            <a:off x="6719887" y="819146"/>
            <a:ext cx="4119568" cy="6272214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C0A7F1D7-2031-355F-2EAB-BFE4C66D9FBA}"/>
              </a:ext>
            </a:extLst>
          </p:cNvPr>
          <p:cNvSpPr/>
          <p:nvPr/>
        </p:nvSpPr>
        <p:spPr>
          <a:xfrm>
            <a:off x="7319614" y="2536610"/>
            <a:ext cx="1362156" cy="4616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Public</a:t>
            </a:r>
            <a:r>
              <a:rPr lang="pt-BR" b="1" noProof="0" dirty="0">
                <a:solidFill>
                  <a:srgbClr val="3865B6"/>
                </a:solidFill>
              </a:rPr>
              <a:t> Key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A20F99F7-91B6-F816-8697-7C32754B093F}"/>
              </a:ext>
            </a:extLst>
          </p:cNvPr>
          <p:cNvCxnSpPr>
            <a:cxnSpLocks/>
            <a:stCxn id="71" idx="2"/>
            <a:endCxn id="35" idx="3"/>
          </p:cNvCxnSpPr>
          <p:nvPr/>
        </p:nvCxnSpPr>
        <p:spPr>
          <a:xfrm flipH="1">
            <a:off x="7686675" y="2998276"/>
            <a:ext cx="314017" cy="959578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tângulo 74">
            <a:extLst>
              <a:ext uri="{FF2B5EF4-FFF2-40B4-BE49-F238E27FC236}">
                <a16:creationId xmlns:a16="http://schemas.microsoft.com/office/drawing/2014/main" id="{DB35B698-258D-8C6F-69AE-8447F47481A3}"/>
              </a:ext>
            </a:extLst>
          </p:cNvPr>
          <p:cNvSpPr/>
          <p:nvPr/>
        </p:nvSpPr>
        <p:spPr>
          <a:xfrm>
            <a:off x="9048831" y="2536610"/>
            <a:ext cx="1362156" cy="4616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Public</a:t>
            </a:r>
            <a:r>
              <a:rPr lang="pt-BR" b="1" noProof="0" dirty="0">
                <a:solidFill>
                  <a:srgbClr val="3865B6"/>
                </a:solidFill>
              </a:rPr>
              <a:t> Key</a:t>
            </a:r>
          </a:p>
        </p:txBody>
      </p:sp>
      <p:cxnSp>
        <p:nvCxnSpPr>
          <p:cNvPr id="77" name="Conector reto 76">
            <a:extLst>
              <a:ext uri="{FF2B5EF4-FFF2-40B4-BE49-F238E27FC236}">
                <a16:creationId xmlns:a16="http://schemas.microsoft.com/office/drawing/2014/main" id="{67D42C5F-D2D2-DF73-C662-B8E15960AD16}"/>
              </a:ext>
            </a:extLst>
          </p:cNvPr>
          <p:cNvCxnSpPr>
            <a:cxnSpLocks/>
            <a:stCxn id="75" idx="2"/>
            <a:endCxn id="40" idx="3"/>
          </p:cNvCxnSpPr>
          <p:nvPr/>
        </p:nvCxnSpPr>
        <p:spPr>
          <a:xfrm flipH="1">
            <a:off x="9358314" y="2998276"/>
            <a:ext cx="371595" cy="950991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tângulo 81">
            <a:extLst>
              <a:ext uri="{FF2B5EF4-FFF2-40B4-BE49-F238E27FC236}">
                <a16:creationId xmlns:a16="http://schemas.microsoft.com/office/drawing/2014/main" id="{AFE09C64-F138-B64B-43CB-62567F83B402}"/>
              </a:ext>
            </a:extLst>
          </p:cNvPr>
          <p:cNvSpPr/>
          <p:nvPr/>
        </p:nvSpPr>
        <p:spPr>
          <a:xfrm>
            <a:off x="3255108" y="5574311"/>
            <a:ext cx="1362156" cy="4616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Symmetric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BB4DC95A-BCEA-6DC9-1AB2-25412D1CB4D6}"/>
              </a:ext>
            </a:extLst>
          </p:cNvPr>
          <p:cNvSpPr/>
          <p:nvPr/>
        </p:nvSpPr>
        <p:spPr>
          <a:xfrm>
            <a:off x="3295690" y="3207944"/>
            <a:ext cx="1633129" cy="4616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Asymmetric</a:t>
            </a:r>
            <a:endParaRPr lang="pt-BR" b="1" noProof="0" dirty="0">
              <a:solidFill>
                <a:srgbClr val="3865B6"/>
              </a:solidFill>
            </a:endParaRP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74E0BFB1-2862-975E-88CF-B56DC90DEB14}"/>
              </a:ext>
            </a:extLst>
          </p:cNvPr>
          <p:cNvSpPr/>
          <p:nvPr/>
        </p:nvSpPr>
        <p:spPr>
          <a:xfrm>
            <a:off x="9072805" y="5025356"/>
            <a:ext cx="1644579" cy="4616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>
                <a:solidFill>
                  <a:srgbClr val="3865B6"/>
                </a:solidFill>
              </a:rPr>
              <a:t>Encription</a:t>
            </a:r>
            <a:r>
              <a:rPr lang="pt-BR" b="1" noProof="0" dirty="0">
                <a:solidFill>
                  <a:srgbClr val="3865B6"/>
                </a:solidFill>
              </a:rPr>
              <a:t> Key</a:t>
            </a:r>
          </a:p>
        </p:txBody>
      </p: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76279C83-6671-5BD7-33C5-B6F5C8B279F1}"/>
              </a:ext>
            </a:extLst>
          </p:cNvPr>
          <p:cNvCxnSpPr>
            <a:cxnSpLocks/>
            <a:stCxn id="85" idx="0"/>
            <a:endCxn id="40" idx="3"/>
          </p:cNvCxnSpPr>
          <p:nvPr/>
        </p:nvCxnSpPr>
        <p:spPr>
          <a:xfrm flipH="1" flipV="1">
            <a:off x="9358314" y="3949267"/>
            <a:ext cx="536781" cy="1076089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1C284CD6-AE90-7E77-5C13-C0BE1A257066}"/>
              </a:ext>
            </a:extLst>
          </p:cNvPr>
          <p:cNvCxnSpPr>
            <a:cxnSpLocks/>
            <a:stCxn id="85" idx="0"/>
            <a:endCxn id="35" idx="3"/>
          </p:cNvCxnSpPr>
          <p:nvPr/>
        </p:nvCxnSpPr>
        <p:spPr>
          <a:xfrm flipH="1" flipV="1">
            <a:off x="7686675" y="3957854"/>
            <a:ext cx="2208420" cy="1067502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Elipse 94">
            <a:extLst>
              <a:ext uri="{FF2B5EF4-FFF2-40B4-BE49-F238E27FC236}">
                <a16:creationId xmlns:a16="http://schemas.microsoft.com/office/drawing/2014/main" id="{B09F13D5-AE57-D93A-5B0D-69E1D0FEE92A}"/>
              </a:ext>
            </a:extLst>
          </p:cNvPr>
          <p:cNvSpPr/>
          <p:nvPr/>
        </p:nvSpPr>
        <p:spPr>
          <a:xfrm rot="16200000">
            <a:off x="8437636" y="534110"/>
            <a:ext cx="955534" cy="4429123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5D0BAAAC-921B-1D5E-8C78-4E0FFEAD8F75}"/>
              </a:ext>
            </a:extLst>
          </p:cNvPr>
          <p:cNvSpPr/>
          <p:nvPr/>
        </p:nvSpPr>
        <p:spPr>
          <a:xfrm rot="16200000">
            <a:off x="9018974" y="3807003"/>
            <a:ext cx="964119" cy="3000684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0079D6"/>
                </a:gs>
                <a:gs pos="82000">
                  <a:srgbClr val="FF0000"/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cxnSp>
        <p:nvCxnSpPr>
          <p:cNvPr id="97" name="Conector reto 96">
            <a:extLst>
              <a:ext uri="{FF2B5EF4-FFF2-40B4-BE49-F238E27FC236}">
                <a16:creationId xmlns:a16="http://schemas.microsoft.com/office/drawing/2014/main" id="{73B721C6-A5A3-C0F8-3B76-DD5BD7D575C0}"/>
              </a:ext>
            </a:extLst>
          </p:cNvPr>
          <p:cNvCxnSpPr>
            <a:cxnSpLocks/>
            <a:stCxn id="83" idx="3"/>
            <a:endCxn id="95" idx="0"/>
          </p:cNvCxnSpPr>
          <p:nvPr/>
        </p:nvCxnSpPr>
        <p:spPr>
          <a:xfrm flipV="1">
            <a:off x="4928819" y="2748672"/>
            <a:ext cx="1772023" cy="690105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>
            <a:extLst>
              <a:ext uri="{FF2B5EF4-FFF2-40B4-BE49-F238E27FC236}">
                <a16:creationId xmlns:a16="http://schemas.microsoft.com/office/drawing/2014/main" id="{85E1AE7B-1AAE-0284-0062-766B7AD42A77}"/>
              </a:ext>
            </a:extLst>
          </p:cNvPr>
          <p:cNvCxnSpPr>
            <a:cxnSpLocks/>
            <a:stCxn id="82" idx="3"/>
            <a:endCxn id="96" idx="0"/>
          </p:cNvCxnSpPr>
          <p:nvPr/>
        </p:nvCxnSpPr>
        <p:spPr>
          <a:xfrm flipV="1">
            <a:off x="4617264" y="5307345"/>
            <a:ext cx="3383428" cy="497799"/>
          </a:xfrm>
          <a:prstGeom prst="line">
            <a:avLst/>
          </a:prstGeom>
          <a:ln w="476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8786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496F5-C69D-585A-532F-C515FAFE9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E4BA9-87D2-0872-4FF4-93BA3A663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KMS – KEY MANAGER SERVICE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67FBA9-C7A8-5AD6-B32C-BFD900F88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463"/>
            <a:ext cx="10515600" cy="5300662"/>
          </a:xfrm>
        </p:spPr>
        <p:txBody>
          <a:bodyPr>
            <a:normAutofit/>
          </a:bodyPr>
          <a:lstStyle/>
          <a:p>
            <a:r>
              <a:rPr lang="pt-BR" noProof="0" dirty="0"/>
              <a:t>É uma Caixa de armazenamento de chaves (</a:t>
            </a:r>
            <a:r>
              <a:rPr lang="pt-BR" noProof="0" dirty="0" err="1"/>
              <a:t>keys</a:t>
            </a:r>
            <a:r>
              <a:rPr lang="pt-BR" noProof="0" dirty="0"/>
              <a:t>).</a:t>
            </a:r>
          </a:p>
          <a:p>
            <a:r>
              <a:rPr lang="pt-BR" noProof="0" dirty="0"/>
              <a:t>É usado em muitos serviços da </a:t>
            </a:r>
            <a:r>
              <a:rPr lang="pt-BR" noProof="0" dirty="0" err="1"/>
              <a:t>aws</a:t>
            </a:r>
            <a:r>
              <a:rPr lang="pt-BR" noProof="0" dirty="0"/>
              <a:t>.</a:t>
            </a:r>
          </a:p>
          <a:p>
            <a:r>
              <a:rPr lang="pt-BR" noProof="0" dirty="0"/>
              <a:t>Tem o conceito de master KEY, como recurso </a:t>
            </a:r>
            <a:r>
              <a:rPr lang="pt-BR" noProof="0" dirty="0" err="1"/>
              <a:t>primario</a:t>
            </a:r>
            <a:r>
              <a:rPr lang="pt-BR" noProof="0" dirty="0"/>
              <a:t>.</a:t>
            </a:r>
          </a:p>
          <a:p>
            <a:r>
              <a:rPr lang="pt-BR" noProof="0" dirty="0"/>
              <a:t>Todas as chaves </a:t>
            </a:r>
            <a:r>
              <a:rPr lang="pt-BR" noProof="0" dirty="0" err="1"/>
              <a:t>simetricas</a:t>
            </a:r>
            <a:r>
              <a:rPr lang="pt-BR" noProof="0" dirty="0"/>
              <a:t> ou </a:t>
            </a:r>
            <a:r>
              <a:rPr lang="pt-BR" noProof="0" dirty="0" err="1"/>
              <a:t>assimetricas</a:t>
            </a:r>
            <a:r>
              <a:rPr lang="pt-BR" noProof="0" dirty="0"/>
              <a:t> não saem do kms sem estar encriptada.</a:t>
            </a:r>
          </a:p>
          <a:p>
            <a:r>
              <a:rPr lang="pt-BR" noProof="0" dirty="0" err="1"/>
              <a:t>Rotation</a:t>
            </a:r>
            <a:r>
              <a:rPr lang="pt-BR" noProof="0" dirty="0"/>
              <a:t> – É a rotação de chaves, ele gerencia a mudança de chaves.</a:t>
            </a:r>
          </a:p>
          <a:p>
            <a:pPr lvl="1"/>
            <a:r>
              <a:rPr lang="pt-BR" noProof="0" dirty="0"/>
              <a:t>Chaves gerenciadas pelo cliente a rotação é opcional.</a:t>
            </a:r>
          </a:p>
          <a:p>
            <a:pPr lvl="1"/>
            <a:r>
              <a:rPr lang="pt-BR" noProof="0" dirty="0"/>
              <a:t>Chaves gerenciadas pela </a:t>
            </a:r>
            <a:r>
              <a:rPr lang="pt-BR" noProof="0" dirty="0" err="1"/>
              <a:t>aws</a:t>
            </a:r>
            <a:r>
              <a:rPr lang="pt-BR" noProof="0" dirty="0"/>
              <a:t> a rotação é obrigatória.</a:t>
            </a:r>
          </a:p>
          <a:p>
            <a:r>
              <a:rPr lang="pt-BR" noProof="0" dirty="0"/>
              <a:t>É um serviço dentro da </a:t>
            </a:r>
            <a:r>
              <a:rPr lang="pt-BR" noProof="0" dirty="0" err="1"/>
              <a:t>aws</a:t>
            </a:r>
            <a:r>
              <a:rPr lang="pt-BR" noProof="0" dirty="0"/>
              <a:t>, mas é publico, a </a:t>
            </a:r>
            <a:r>
              <a:rPr lang="pt-BR" noProof="0" dirty="0" err="1"/>
              <a:t>aws</a:t>
            </a:r>
            <a:r>
              <a:rPr lang="pt-BR" noProof="0" dirty="0"/>
              <a:t> consegue visualizar as chaves.</a:t>
            </a:r>
          </a:p>
          <a:p>
            <a:r>
              <a:rPr lang="pt-BR" noProof="0" dirty="0" err="1"/>
              <a:t>Hms</a:t>
            </a:r>
            <a:r>
              <a:rPr lang="pt-BR" noProof="0" dirty="0"/>
              <a:t> é o kms privado, host e servidor privado.</a:t>
            </a:r>
          </a:p>
        </p:txBody>
      </p:sp>
    </p:spTree>
    <p:extLst>
      <p:ext uri="{BB962C8B-B14F-4D97-AF65-F5344CB8AC3E}">
        <p14:creationId xmlns:p14="http://schemas.microsoft.com/office/powerpoint/2010/main" val="12522652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C0D539-7997-1853-5883-9515366D4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3101"/>
          </a:xfrm>
        </p:spPr>
        <p:txBody>
          <a:bodyPr/>
          <a:lstStyle/>
          <a:p>
            <a:r>
              <a:rPr lang="pt-BR" dirty="0"/>
              <a:t>AWS – </a:t>
            </a:r>
            <a:r>
              <a:rPr lang="pt-BR" dirty="0" err="1"/>
              <a:t>Control</a:t>
            </a:r>
            <a:r>
              <a:rPr lang="pt-BR" dirty="0"/>
              <a:t> Tower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98EC89-4D91-81CB-019F-1CCD0E1E1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225"/>
            <a:ext cx="10515600" cy="4956313"/>
          </a:xfrm>
        </p:spPr>
        <p:txBody>
          <a:bodyPr>
            <a:normAutofit fontScale="25000" lnSpcReduction="20000"/>
          </a:bodyPr>
          <a:lstStyle/>
          <a:p>
            <a:r>
              <a:rPr lang="pt-BR" sz="9600" dirty="0"/>
              <a:t>É um serviço que simplifica a configuração e governança de ambientes AWS de múltiplas contas. Atua como um console de gerenciamento de contas dentro do Amazon AWS </a:t>
            </a:r>
            <a:r>
              <a:rPr lang="pt-BR" sz="9600" dirty="0" err="1"/>
              <a:t>Organizations</a:t>
            </a:r>
            <a:r>
              <a:rPr lang="pt-BR" sz="9600" dirty="0"/>
              <a:t>.</a:t>
            </a:r>
          </a:p>
          <a:p>
            <a:r>
              <a:rPr lang="pt-BR" sz="9600" dirty="0"/>
              <a:t>Landing Zone: Cria uma base </a:t>
            </a:r>
            <a:r>
              <a:rPr lang="pt-BR" sz="9600" dirty="0" err="1"/>
              <a:t>multicontas</a:t>
            </a:r>
            <a:r>
              <a:rPr lang="pt-BR" sz="9600" dirty="0"/>
              <a:t> com arquitetura bem definida e segurança integrada. </a:t>
            </a:r>
          </a:p>
          <a:p>
            <a:r>
              <a:rPr lang="pt-BR" sz="9600" dirty="0"/>
              <a:t>Governança: Aplica controles pré-definidos para segurança, conformidade e operações, garantindo que as contas permaneçam alinhadas com as melhores práticas da AWS. </a:t>
            </a:r>
          </a:p>
          <a:p>
            <a:r>
              <a:rPr lang="pt-BR" sz="9600" dirty="0"/>
              <a:t>Automação: Automatiza a </a:t>
            </a:r>
            <a:r>
              <a:rPr lang="pt-BR" sz="9600" dirty="0" err="1"/>
              <a:t>riação</a:t>
            </a:r>
            <a:r>
              <a:rPr lang="pt-BR" sz="9600" dirty="0"/>
              <a:t> de contas e a aplicação de configurações, facilitando a expansão do ambiente. </a:t>
            </a:r>
          </a:p>
          <a:p>
            <a:r>
              <a:rPr lang="pt-BR" sz="9600" dirty="0"/>
              <a:t>Integração: Permite a integração com outros serviços AWS, como Amazon </a:t>
            </a:r>
            <a:r>
              <a:rPr lang="pt-BR" sz="9600" dirty="0" err="1"/>
              <a:t>GuardDuty</a:t>
            </a:r>
            <a:r>
              <a:rPr lang="pt-BR" sz="9600" dirty="0"/>
              <a:t> e Systems Manager. </a:t>
            </a:r>
          </a:p>
          <a:p>
            <a:r>
              <a:rPr lang="pt-BR" sz="9600" dirty="0"/>
              <a:t>Controles Pré-definidos: Oferece uma variedade de controles </a:t>
            </a:r>
            <a:r>
              <a:rPr lang="pt-BR" sz="9600" dirty="0" err="1"/>
              <a:t>pré</a:t>
            </a:r>
            <a:r>
              <a:rPr lang="pt-BR" sz="9600" dirty="0"/>
              <a:t>-configurados para atender às necessidades específicas de cada cliente. </a:t>
            </a:r>
          </a:p>
          <a:p>
            <a:r>
              <a:rPr lang="pt-BR" sz="9600" dirty="0"/>
              <a:t>Visibilidade: Permite a visualização e o gerenciamento centralizado de todas as contas e recursos da organização.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240670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5AB27-B3CD-B766-2244-E5F67995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3DA82-42FD-B19D-FC30-57F51F42A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7" y="2187743"/>
            <a:ext cx="9185229" cy="248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6700" noProof="0" dirty="0"/>
              <a:t>Machine Learning</a:t>
            </a:r>
            <a:endParaRPr lang="pt-BR" sz="3600" kern="1200" noProof="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20E7D59-FB7D-D450-E36E-351B9E8531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1" y="2743201"/>
            <a:ext cx="1371600" cy="13716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005BD91-318A-F354-7AA1-CB987B20BBC4}"/>
              </a:ext>
            </a:extLst>
          </p:cNvPr>
          <p:cNvSpPr/>
          <p:nvPr/>
        </p:nvSpPr>
        <p:spPr>
          <a:xfrm>
            <a:off x="8434931" y="6226936"/>
            <a:ext cx="3531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noProof="0" dirty="0">
                <a:hlinkClick r:id="rId4"/>
              </a:rPr>
              <a:t>https://docs.aws.amazon.com/</a:t>
            </a:r>
            <a:endParaRPr lang="pt-BR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6F00B4A-3075-3813-2A24-8859DDC1151B}"/>
              </a:ext>
            </a:extLst>
          </p:cNvPr>
          <p:cNvSpPr/>
          <p:nvPr/>
        </p:nvSpPr>
        <p:spPr>
          <a:xfrm>
            <a:off x="8434931" y="5857604"/>
            <a:ext cx="289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noProof="0" dirty="0">
                <a:hlinkClick r:id="rId5"/>
              </a:rPr>
              <a:t>https://aws.amazon.com/pt/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4958975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111821" y="58640"/>
            <a:ext cx="5401815" cy="174375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gradFill flip="none" rotWithShape="1">
              <a:gsLst>
                <a:gs pos="0">
                  <a:srgbClr val="0070C0">
                    <a:alpha val="50000"/>
                  </a:srgbClr>
                </a:gs>
                <a:gs pos="51000">
                  <a:srgbClr val="7030A0">
                    <a:alpha val="50000"/>
                  </a:srgbClr>
                </a:gs>
                <a:gs pos="100000">
                  <a:srgbClr val="0070C0">
                    <a:alpha val="50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noProof="0" dirty="0">
                <a:solidFill>
                  <a:schemeClr val="tx1"/>
                </a:solidFill>
              </a:rPr>
              <a:t>O BIOS um sistema operacional pré-gravado no chipset que garante a tradução dos códigos de hardware para a tela com uma interface de configuração (</a:t>
            </a:r>
            <a:r>
              <a:rPr lang="pt-BR" sz="1200" i="1" noProof="0" dirty="0">
                <a:solidFill>
                  <a:schemeClr val="tx1"/>
                </a:solidFill>
              </a:rPr>
              <a:t>Setup </a:t>
            </a:r>
            <a:r>
              <a:rPr lang="pt-BR" sz="1200" i="1" noProof="0" dirty="0" err="1">
                <a:solidFill>
                  <a:schemeClr val="tx1"/>
                </a:solidFill>
              </a:rPr>
              <a:t>Utillity</a:t>
            </a:r>
            <a:r>
              <a:rPr lang="pt-BR" sz="1200" noProof="0" dirty="0">
                <a:solidFill>
                  <a:schemeClr val="tx1"/>
                </a:solidFill>
              </a:rPr>
              <a:t>).</a:t>
            </a:r>
          </a:p>
          <a:p>
            <a:pPr algn="ctr"/>
            <a:r>
              <a:rPr lang="pt-BR" sz="1200" noProof="0" dirty="0">
                <a:solidFill>
                  <a:schemeClr val="tx1"/>
                </a:solidFill>
              </a:rPr>
              <a:t>O BIOS é o primeiro a começar a funcionar, passando os primeiras comandos ao processador e a verificar os itens instalados na máquina, como memória RAM, placa de vídeo, teclado, cachê básico.</a:t>
            </a:r>
          </a:p>
        </p:txBody>
      </p:sp>
      <p:cxnSp>
        <p:nvCxnSpPr>
          <p:cNvPr id="7" name="Conector de seta reta 6"/>
          <p:cNvCxnSpPr>
            <a:stCxn id="4" idx="6"/>
            <a:endCxn id="11" idx="2"/>
          </p:cNvCxnSpPr>
          <p:nvPr/>
        </p:nvCxnSpPr>
        <p:spPr>
          <a:xfrm flipV="1">
            <a:off x="5513636" y="673134"/>
            <a:ext cx="727595" cy="257382"/>
          </a:xfrm>
          <a:prstGeom prst="straightConnector1">
            <a:avLst/>
          </a:prstGeom>
          <a:ln w="127000">
            <a:solidFill>
              <a:srgbClr val="FFC000">
                <a:alpha val="7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6241231" y="63963"/>
            <a:ext cx="4796360" cy="121834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gradFill flip="none" rotWithShape="1">
              <a:gsLst>
                <a:gs pos="0">
                  <a:srgbClr val="0070C0">
                    <a:alpha val="50000"/>
                  </a:srgbClr>
                </a:gs>
                <a:gs pos="51000">
                  <a:srgbClr val="7030A0">
                    <a:alpha val="50000"/>
                  </a:srgbClr>
                </a:gs>
                <a:gs pos="100000">
                  <a:srgbClr val="0070C0">
                    <a:alpha val="50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noProof="0" dirty="0">
                <a:solidFill>
                  <a:schemeClr val="tx1"/>
                </a:solidFill>
              </a:rPr>
              <a:t>O BIOS Acessa a memória CMOS, um circuito integrado que grava informações referentes ao hardware e estabelece reconhecimento e comunicação com peças como placas de vídeo e memória RAM.</a:t>
            </a:r>
          </a:p>
        </p:txBody>
      </p:sp>
      <p:sp>
        <p:nvSpPr>
          <p:cNvPr id="21" name="Elipse 20"/>
          <p:cNvSpPr/>
          <p:nvPr/>
        </p:nvSpPr>
        <p:spPr>
          <a:xfrm>
            <a:off x="8275629" y="1364836"/>
            <a:ext cx="3863397" cy="979505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gradFill flip="none" rotWithShape="1">
              <a:gsLst>
                <a:gs pos="0">
                  <a:srgbClr val="0070C0">
                    <a:alpha val="50000"/>
                  </a:srgbClr>
                </a:gs>
                <a:gs pos="51000">
                  <a:srgbClr val="7030A0">
                    <a:alpha val="50000"/>
                  </a:srgbClr>
                </a:gs>
                <a:gs pos="100000">
                  <a:srgbClr val="0070C0">
                    <a:alpha val="50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noProof="0" dirty="0">
                <a:solidFill>
                  <a:schemeClr val="tx1"/>
                </a:solidFill>
              </a:rPr>
              <a:t>O BIOS executa um conjunto de teste verificando se tudo inicializa da maneira correta, e se algo falha emite </a:t>
            </a:r>
            <a:r>
              <a:rPr lang="pt-BR" sz="1200" noProof="0" dirty="0" err="1">
                <a:solidFill>
                  <a:schemeClr val="tx1"/>
                </a:solidFill>
              </a:rPr>
              <a:t>beeps</a:t>
            </a:r>
            <a:r>
              <a:rPr lang="pt-BR" sz="1200" noProof="0" dirty="0">
                <a:solidFill>
                  <a:schemeClr val="tx1"/>
                </a:solidFill>
              </a:rPr>
              <a:t> ou mensagens. Power-</a:t>
            </a:r>
            <a:r>
              <a:rPr lang="pt-BR" sz="1200" noProof="0" dirty="0" err="1">
                <a:solidFill>
                  <a:schemeClr val="tx1"/>
                </a:solidFill>
              </a:rPr>
              <a:t>on</a:t>
            </a:r>
            <a:r>
              <a:rPr lang="pt-BR" sz="1200" noProof="0" dirty="0">
                <a:solidFill>
                  <a:schemeClr val="tx1"/>
                </a:solidFill>
              </a:rPr>
              <a:t> Self Test (POST)</a:t>
            </a:r>
          </a:p>
        </p:txBody>
      </p:sp>
      <p:sp>
        <p:nvSpPr>
          <p:cNvPr id="22" name="Elipse 21"/>
          <p:cNvSpPr/>
          <p:nvPr/>
        </p:nvSpPr>
        <p:spPr>
          <a:xfrm>
            <a:off x="4617386" y="1341971"/>
            <a:ext cx="3092462" cy="1426387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gradFill flip="none" rotWithShape="1">
              <a:gsLst>
                <a:gs pos="0">
                  <a:srgbClr val="0070C0">
                    <a:alpha val="50000"/>
                  </a:srgbClr>
                </a:gs>
                <a:gs pos="51000">
                  <a:srgbClr val="7030A0">
                    <a:alpha val="50000"/>
                  </a:srgbClr>
                </a:gs>
                <a:gs pos="100000">
                  <a:srgbClr val="0070C0">
                    <a:alpha val="50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noProof="0" dirty="0">
                <a:solidFill>
                  <a:schemeClr val="tx1"/>
                </a:solidFill>
              </a:rPr>
              <a:t>O BIOS procura alguma fonte para inicializar o sistema operacional. Pode ser um disco rígido (padrão), CD-ROM, </a:t>
            </a:r>
            <a:r>
              <a:rPr lang="pt-BR" sz="1200" noProof="0" dirty="0" err="1">
                <a:solidFill>
                  <a:schemeClr val="tx1"/>
                </a:solidFill>
              </a:rPr>
              <a:t>pendrive</a:t>
            </a:r>
            <a:r>
              <a:rPr lang="pt-BR" sz="1200" noProof="0" dirty="0">
                <a:solidFill>
                  <a:schemeClr val="tx1"/>
                </a:solidFill>
              </a:rPr>
              <a:t>, disquete, entre outros.</a:t>
            </a:r>
          </a:p>
        </p:txBody>
      </p:sp>
      <p:sp>
        <p:nvSpPr>
          <p:cNvPr id="23" name="Elipse 22"/>
          <p:cNvSpPr/>
          <p:nvPr/>
        </p:nvSpPr>
        <p:spPr>
          <a:xfrm>
            <a:off x="270423" y="1898655"/>
            <a:ext cx="3781182" cy="2268664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gradFill flip="none" rotWithShape="1">
              <a:gsLst>
                <a:gs pos="0">
                  <a:srgbClr val="0070C0">
                    <a:alpha val="50000"/>
                  </a:srgbClr>
                </a:gs>
                <a:gs pos="51000">
                  <a:srgbClr val="7030A0">
                    <a:alpha val="50000"/>
                  </a:srgbClr>
                </a:gs>
                <a:gs pos="100000">
                  <a:srgbClr val="0070C0">
                    <a:alpha val="50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noProof="0" dirty="0">
                <a:solidFill>
                  <a:schemeClr val="tx1"/>
                </a:solidFill>
              </a:rPr>
              <a:t>4.   Agora, o BIOS lê o setor zero (que contém apenas 512 bytes, denominado Master Boot Record) do HD. Essa área contém um código que alavanca a inicialização do sistema operacional. Outros dispositivos de boot (CDs, disquetes etc.) têm a capacidade de emular esse setor zero.</a:t>
            </a:r>
          </a:p>
          <a:p>
            <a:pPr algn="ctr"/>
            <a:endParaRPr lang="pt-BR" sz="1200" noProof="0" dirty="0">
              <a:solidFill>
                <a:schemeClr val="tx1"/>
              </a:solidFill>
            </a:endParaRPr>
          </a:p>
        </p:txBody>
      </p:sp>
      <p:sp>
        <p:nvSpPr>
          <p:cNvPr id="24" name="Elipse 23"/>
          <p:cNvSpPr/>
          <p:nvPr/>
        </p:nvSpPr>
        <p:spPr>
          <a:xfrm>
            <a:off x="4966167" y="2840890"/>
            <a:ext cx="3078811" cy="1929878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gradFill flip="none" rotWithShape="1">
              <a:gsLst>
                <a:gs pos="0">
                  <a:srgbClr val="0070C0">
                    <a:alpha val="50000"/>
                  </a:srgbClr>
                </a:gs>
                <a:gs pos="51000">
                  <a:srgbClr val="7030A0">
                    <a:alpha val="50000"/>
                  </a:srgbClr>
                </a:gs>
                <a:gs pos="100000">
                  <a:srgbClr val="0070C0">
                    <a:alpha val="50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noProof="0" dirty="0">
                <a:solidFill>
                  <a:schemeClr val="tx1"/>
                </a:solidFill>
              </a:rPr>
              <a:t>5.   No caso do Windows, o Master Boot Record (MBR) verifica qual partição do HD está ativa (configurada como Master) e inicializa o “setor um” dela — essa área tem um código com a simples missão de carregar o setor dois.</a:t>
            </a:r>
          </a:p>
        </p:txBody>
      </p:sp>
      <p:sp>
        <p:nvSpPr>
          <p:cNvPr id="25" name="Elipse 24"/>
          <p:cNvSpPr/>
          <p:nvPr/>
        </p:nvSpPr>
        <p:spPr>
          <a:xfrm>
            <a:off x="8759225" y="3954619"/>
            <a:ext cx="3380374" cy="194905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gradFill flip="none" rotWithShape="1">
              <a:gsLst>
                <a:gs pos="0">
                  <a:srgbClr val="0070C0">
                    <a:alpha val="50000"/>
                  </a:srgbClr>
                </a:gs>
                <a:gs pos="51000">
                  <a:srgbClr val="7030A0">
                    <a:alpha val="50000"/>
                  </a:srgbClr>
                </a:gs>
                <a:gs pos="100000">
                  <a:srgbClr val="0070C0">
                    <a:alpha val="50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noProof="0" dirty="0">
                <a:solidFill>
                  <a:schemeClr val="tx1"/>
                </a:solidFill>
              </a:rPr>
              <a:t>7.   A partir dele, é inicializado o núcleo (kernel). Assim como o BIOS estabelece a ligação entre hardware e sistema, o kernel serve para firmar uma comunicação estável entre hardware e software.  Nessa fase, é ele quem assume o controle do computador.</a:t>
            </a:r>
          </a:p>
          <a:p>
            <a:pPr algn="ctr"/>
            <a:endParaRPr lang="pt-BR" sz="1200" noProof="0" dirty="0">
              <a:solidFill>
                <a:schemeClr val="tx1"/>
              </a:solidFill>
            </a:endParaRPr>
          </a:p>
        </p:txBody>
      </p:sp>
      <p:sp>
        <p:nvSpPr>
          <p:cNvPr id="26" name="Elipse 25"/>
          <p:cNvSpPr/>
          <p:nvPr/>
        </p:nvSpPr>
        <p:spPr>
          <a:xfrm>
            <a:off x="0" y="4045058"/>
            <a:ext cx="4796360" cy="121834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gradFill flip="none" rotWithShape="1">
              <a:gsLst>
                <a:gs pos="0">
                  <a:srgbClr val="0070C0">
                    <a:alpha val="50000"/>
                  </a:srgbClr>
                </a:gs>
                <a:gs pos="51000">
                  <a:srgbClr val="7030A0">
                    <a:alpha val="50000"/>
                  </a:srgbClr>
                </a:gs>
                <a:gs pos="100000">
                  <a:srgbClr val="0070C0">
                    <a:alpha val="50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noProof="0" dirty="0">
                <a:solidFill>
                  <a:schemeClr val="tx1"/>
                </a:solidFill>
              </a:rPr>
              <a:t>9.   No entanto, o kernel não carrega todos os processos para não sobrecarregar o sistema — somente as operações essenciais são colocadas em atividade para possibilitar o início do Windows.</a:t>
            </a:r>
          </a:p>
          <a:p>
            <a:pPr algn="ctr"/>
            <a:endParaRPr lang="pt-BR" sz="1200" noProof="0" dirty="0">
              <a:solidFill>
                <a:schemeClr val="tx1"/>
              </a:solidFill>
            </a:endParaRPr>
          </a:p>
        </p:txBody>
      </p:sp>
      <p:sp>
        <p:nvSpPr>
          <p:cNvPr id="27" name="Elipse 26"/>
          <p:cNvSpPr/>
          <p:nvPr/>
        </p:nvSpPr>
        <p:spPr>
          <a:xfrm>
            <a:off x="4733793" y="4888413"/>
            <a:ext cx="3830474" cy="169652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gradFill flip="none" rotWithShape="1">
              <a:gsLst>
                <a:gs pos="0">
                  <a:srgbClr val="0070C0">
                    <a:alpha val="50000"/>
                  </a:srgbClr>
                </a:gs>
                <a:gs pos="51000">
                  <a:srgbClr val="7030A0">
                    <a:alpha val="50000"/>
                  </a:srgbClr>
                </a:gs>
                <a:gs pos="100000">
                  <a:srgbClr val="0070C0">
                    <a:alpha val="50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noProof="0" dirty="0">
                <a:solidFill>
                  <a:schemeClr val="tx1"/>
                </a:solidFill>
              </a:rPr>
              <a:t>8 O kernel carrega os arquivos principais e informações básicas do sistema operacional (incluindo o registro), além de relacionar os componentes de hardware com as respectivas </a:t>
            </a:r>
            <a:r>
              <a:rPr lang="pt-BR" sz="1200" noProof="0" dirty="0" err="1">
                <a:solidFill>
                  <a:schemeClr val="tx1"/>
                </a:solidFill>
              </a:rPr>
              <a:t>DLLs</a:t>
            </a:r>
            <a:r>
              <a:rPr lang="pt-BR" sz="1200" noProof="0" dirty="0">
                <a:solidFill>
                  <a:schemeClr val="tx1"/>
                </a:solidFill>
              </a:rPr>
              <a:t> e drivers</a:t>
            </a:r>
          </a:p>
        </p:txBody>
      </p:sp>
      <p:sp>
        <p:nvSpPr>
          <p:cNvPr id="28" name="Elipse 27"/>
          <p:cNvSpPr/>
          <p:nvPr/>
        </p:nvSpPr>
        <p:spPr>
          <a:xfrm>
            <a:off x="407955" y="5463542"/>
            <a:ext cx="4228359" cy="121834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gradFill flip="none" rotWithShape="1">
              <a:gsLst>
                <a:gs pos="0">
                  <a:srgbClr val="0070C0">
                    <a:alpha val="50000"/>
                  </a:srgbClr>
                </a:gs>
                <a:gs pos="51000">
                  <a:srgbClr val="7030A0">
                    <a:alpha val="50000"/>
                  </a:srgbClr>
                </a:gs>
                <a:gs pos="100000">
                  <a:srgbClr val="0070C0">
                    <a:alpha val="50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noProof="0" dirty="0">
                <a:solidFill>
                  <a:schemeClr val="tx1"/>
                </a:solidFill>
              </a:rPr>
              <a:t>10.  A tela de escolha de usuários é exibida e, após o </a:t>
            </a:r>
            <a:r>
              <a:rPr lang="pt-BR" sz="1200" noProof="0" dirty="0" err="1">
                <a:solidFill>
                  <a:schemeClr val="tx1"/>
                </a:solidFill>
              </a:rPr>
              <a:t>logon</a:t>
            </a:r>
            <a:r>
              <a:rPr lang="pt-BR" sz="1200" noProof="0" dirty="0">
                <a:solidFill>
                  <a:schemeClr val="tx1"/>
                </a:solidFill>
              </a:rPr>
              <a:t>, os programas relacionados para começar junto com o sistema são carregados.</a:t>
            </a:r>
          </a:p>
          <a:p>
            <a:pPr algn="ctr"/>
            <a:endParaRPr lang="pt-BR" sz="1200" noProof="0" dirty="0">
              <a:solidFill>
                <a:schemeClr val="tx1"/>
              </a:solidFill>
            </a:endParaRPr>
          </a:p>
        </p:txBody>
      </p:sp>
      <p:sp>
        <p:nvSpPr>
          <p:cNvPr id="31" name="Elipse 30"/>
          <p:cNvSpPr/>
          <p:nvPr/>
        </p:nvSpPr>
        <p:spPr>
          <a:xfrm>
            <a:off x="7986992" y="2500645"/>
            <a:ext cx="3941882" cy="121834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gradFill flip="none" rotWithShape="1">
              <a:gsLst>
                <a:gs pos="0">
                  <a:srgbClr val="0070C0">
                    <a:alpha val="50000"/>
                  </a:srgbClr>
                </a:gs>
                <a:gs pos="51000">
                  <a:srgbClr val="7030A0">
                    <a:alpha val="50000"/>
                  </a:srgbClr>
                </a:gs>
                <a:gs pos="100000">
                  <a:srgbClr val="0070C0">
                    <a:alpha val="50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noProof="0" dirty="0">
                <a:solidFill>
                  <a:schemeClr val="tx1"/>
                </a:solidFill>
              </a:rPr>
              <a:t>6.   A etapa seguinte consiste na leitura de um arquivo de configuração de boot, o Boot </a:t>
            </a:r>
            <a:r>
              <a:rPr lang="pt-BR" sz="1200" noProof="0" dirty="0" err="1">
                <a:solidFill>
                  <a:schemeClr val="tx1"/>
                </a:solidFill>
              </a:rPr>
              <a:t>Loader</a:t>
            </a:r>
            <a:r>
              <a:rPr lang="pt-BR" sz="1200" noProof="0" dirty="0">
                <a:solidFill>
                  <a:schemeClr val="tx1"/>
                </a:solidFill>
              </a:rPr>
              <a:t> (quando falamos do Windows, trata-se do NTLDR).</a:t>
            </a:r>
          </a:p>
        </p:txBody>
      </p:sp>
      <p:cxnSp>
        <p:nvCxnSpPr>
          <p:cNvPr id="34" name="Conector de seta reta 33"/>
          <p:cNvCxnSpPr>
            <a:stCxn id="11" idx="6"/>
            <a:endCxn id="21" idx="7"/>
          </p:cNvCxnSpPr>
          <p:nvPr/>
        </p:nvCxnSpPr>
        <p:spPr>
          <a:xfrm>
            <a:off x="11037591" y="673134"/>
            <a:ext cx="535654" cy="835147"/>
          </a:xfrm>
          <a:prstGeom prst="straightConnector1">
            <a:avLst/>
          </a:prstGeom>
          <a:ln w="127000">
            <a:solidFill>
              <a:srgbClr val="FFC000">
                <a:alpha val="7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21" idx="2"/>
            <a:endCxn id="22" idx="6"/>
          </p:cNvCxnSpPr>
          <p:nvPr/>
        </p:nvCxnSpPr>
        <p:spPr>
          <a:xfrm flipH="1">
            <a:off x="7709848" y="1854589"/>
            <a:ext cx="565781" cy="200576"/>
          </a:xfrm>
          <a:prstGeom prst="straightConnector1">
            <a:avLst/>
          </a:prstGeom>
          <a:ln w="127000">
            <a:solidFill>
              <a:srgbClr val="FFC000">
                <a:alpha val="7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22" idx="2"/>
            <a:endCxn id="23" idx="7"/>
          </p:cNvCxnSpPr>
          <p:nvPr/>
        </p:nvCxnSpPr>
        <p:spPr>
          <a:xfrm flipH="1">
            <a:off x="3497864" y="2055165"/>
            <a:ext cx="1119522" cy="175728"/>
          </a:xfrm>
          <a:prstGeom prst="straightConnector1">
            <a:avLst/>
          </a:prstGeom>
          <a:ln w="127000">
            <a:solidFill>
              <a:srgbClr val="FFC000">
                <a:alpha val="7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>
            <a:stCxn id="23" idx="6"/>
            <a:endCxn id="24" idx="1"/>
          </p:cNvCxnSpPr>
          <p:nvPr/>
        </p:nvCxnSpPr>
        <p:spPr>
          <a:xfrm>
            <a:off x="4051605" y="3032987"/>
            <a:ext cx="1365443" cy="90527"/>
          </a:xfrm>
          <a:prstGeom prst="straightConnector1">
            <a:avLst/>
          </a:prstGeom>
          <a:ln w="127000">
            <a:solidFill>
              <a:srgbClr val="FFC000">
                <a:alpha val="7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>
            <a:endCxn id="31" idx="3"/>
          </p:cNvCxnSpPr>
          <p:nvPr/>
        </p:nvCxnSpPr>
        <p:spPr>
          <a:xfrm flipV="1">
            <a:off x="7986992" y="3540564"/>
            <a:ext cx="577275" cy="334726"/>
          </a:xfrm>
          <a:prstGeom prst="straightConnector1">
            <a:avLst/>
          </a:prstGeom>
          <a:ln w="127000">
            <a:solidFill>
              <a:srgbClr val="FFC000">
                <a:alpha val="7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de seta reta 50"/>
          <p:cNvCxnSpPr>
            <a:stCxn id="31" idx="5"/>
            <a:endCxn id="25" idx="7"/>
          </p:cNvCxnSpPr>
          <p:nvPr/>
        </p:nvCxnSpPr>
        <p:spPr>
          <a:xfrm>
            <a:off x="11351599" y="3540564"/>
            <a:ext cx="292956" cy="699487"/>
          </a:xfrm>
          <a:prstGeom prst="straightConnector1">
            <a:avLst/>
          </a:prstGeom>
          <a:ln w="127000">
            <a:solidFill>
              <a:srgbClr val="FFC000">
                <a:alpha val="7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25" idx="2"/>
            <a:endCxn id="27" idx="7"/>
          </p:cNvCxnSpPr>
          <p:nvPr/>
        </p:nvCxnSpPr>
        <p:spPr>
          <a:xfrm flipH="1">
            <a:off x="8003307" y="4929145"/>
            <a:ext cx="755918" cy="207718"/>
          </a:xfrm>
          <a:prstGeom prst="straightConnector1">
            <a:avLst/>
          </a:prstGeom>
          <a:ln w="127000">
            <a:solidFill>
              <a:srgbClr val="FFC000">
                <a:alpha val="7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/>
          <p:cNvCxnSpPr>
            <a:stCxn id="27" idx="1"/>
            <a:endCxn id="26" idx="6"/>
          </p:cNvCxnSpPr>
          <p:nvPr/>
        </p:nvCxnSpPr>
        <p:spPr>
          <a:xfrm flipH="1" flipV="1">
            <a:off x="4796360" y="4654229"/>
            <a:ext cx="498393" cy="482634"/>
          </a:xfrm>
          <a:prstGeom prst="straightConnector1">
            <a:avLst/>
          </a:prstGeom>
          <a:ln w="127000">
            <a:solidFill>
              <a:srgbClr val="FFC000">
                <a:alpha val="7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stCxn id="26" idx="3"/>
            <a:endCxn id="28" idx="1"/>
          </p:cNvCxnSpPr>
          <p:nvPr/>
        </p:nvCxnSpPr>
        <p:spPr>
          <a:xfrm>
            <a:off x="702411" y="5084977"/>
            <a:ext cx="324773" cy="556987"/>
          </a:xfrm>
          <a:prstGeom prst="straightConnector1">
            <a:avLst/>
          </a:prstGeom>
          <a:ln w="127000">
            <a:solidFill>
              <a:srgbClr val="FFC000">
                <a:alpha val="7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24173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tângulo 64">
            <a:extLst>
              <a:ext uri="{FF2B5EF4-FFF2-40B4-BE49-F238E27FC236}">
                <a16:creationId xmlns:a16="http://schemas.microsoft.com/office/drawing/2014/main" id="{A1639814-37C4-4E2E-A8D5-03FADEF7DE56}"/>
              </a:ext>
            </a:extLst>
          </p:cNvPr>
          <p:cNvSpPr/>
          <p:nvPr/>
        </p:nvSpPr>
        <p:spPr>
          <a:xfrm>
            <a:off x="5072580" y="618493"/>
            <a:ext cx="1187072" cy="32155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400" b="1" noProof="0" dirty="0">
                <a:solidFill>
                  <a:srgbClr val="002060"/>
                </a:solidFill>
              </a:rPr>
              <a:t>Docker</a:t>
            </a:r>
          </a:p>
          <a:p>
            <a:pPr algn="ctr"/>
            <a:r>
              <a:rPr lang="pt-BR" sz="2400" b="1" noProof="0" dirty="0">
                <a:solidFill>
                  <a:srgbClr val="002060"/>
                </a:solidFill>
              </a:rPr>
              <a:t>HUB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57A051-D158-4590-AFA5-24692D92A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89" y="328010"/>
            <a:ext cx="1921451" cy="969187"/>
          </a:xfrm>
        </p:spPr>
        <p:txBody>
          <a:bodyPr/>
          <a:lstStyle/>
          <a:p>
            <a:r>
              <a:rPr lang="pt-BR" noProof="0" dirty="0"/>
              <a:t>Docker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1C73AFB-C657-4B5C-A6A0-064AD35637B7}"/>
              </a:ext>
            </a:extLst>
          </p:cNvPr>
          <p:cNvGrpSpPr/>
          <p:nvPr/>
        </p:nvGrpSpPr>
        <p:grpSpPr>
          <a:xfrm>
            <a:off x="191045" y="4029183"/>
            <a:ext cx="2006339" cy="2647939"/>
            <a:chOff x="909581" y="1832620"/>
            <a:chExt cx="2905760" cy="3553143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D82FD0A6-4C25-4B64-B4E6-D003834226CD}"/>
                </a:ext>
              </a:extLst>
            </p:cNvPr>
            <p:cNvSpPr/>
            <p:nvPr/>
          </p:nvSpPr>
          <p:spPr>
            <a:xfrm>
              <a:off x="909581" y="1832620"/>
              <a:ext cx="2905760" cy="35531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pt-BR" sz="2400" b="1" noProof="0" dirty="0">
                  <a:solidFill>
                    <a:srgbClr val="002060"/>
                  </a:solidFill>
                </a:rPr>
                <a:t>Virtualização</a:t>
              </a:r>
            </a:p>
            <a:p>
              <a:pPr algn="ctr"/>
              <a:r>
                <a:rPr lang="pt-BR" sz="2400" b="1" noProof="0" dirty="0">
                  <a:solidFill>
                    <a:srgbClr val="002060"/>
                  </a:solidFill>
                </a:rPr>
                <a:t>BARE METAL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F5BF401-56A3-483D-90AA-72F15E31C4D1}"/>
                </a:ext>
              </a:extLst>
            </p:cNvPr>
            <p:cNvSpPr/>
            <p:nvPr/>
          </p:nvSpPr>
          <p:spPr>
            <a:xfrm>
              <a:off x="1074341" y="4635437"/>
              <a:ext cx="2576241" cy="373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Hardware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845B6F8E-B47A-439B-AD04-07760663DB13}"/>
                </a:ext>
              </a:extLst>
            </p:cNvPr>
            <p:cNvSpPr/>
            <p:nvPr/>
          </p:nvSpPr>
          <p:spPr>
            <a:xfrm>
              <a:off x="1074341" y="4164235"/>
              <a:ext cx="2576241" cy="373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 err="1"/>
                <a:t>Hypervisor</a:t>
              </a:r>
              <a:endParaRPr lang="pt-BR" noProof="0" dirty="0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6654C25A-F7F4-42CC-A891-54920E24D0DC}"/>
                </a:ext>
              </a:extLst>
            </p:cNvPr>
            <p:cNvSpPr/>
            <p:nvPr/>
          </p:nvSpPr>
          <p:spPr>
            <a:xfrm>
              <a:off x="1074341" y="3429000"/>
              <a:ext cx="1146297" cy="63787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SO</a:t>
              </a:r>
            </a:p>
            <a:p>
              <a:pPr algn="ctr"/>
              <a:r>
                <a:rPr lang="pt-BR" noProof="0" dirty="0"/>
                <a:t>Kernel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BC6AF86A-329D-4C97-B6FA-A0F79ED985BD}"/>
                </a:ext>
              </a:extLst>
            </p:cNvPr>
            <p:cNvSpPr/>
            <p:nvPr/>
          </p:nvSpPr>
          <p:spPr>
            <a:xfrm>
              <a:off x="1074341" y="2914099"/>
              <a:ext cx="1146297" cy="4576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APP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AE28CCD8-B9B9-43DE-9320-D6E3C5581CD4}"/>
                </a:ext>
              </a:extLst>
            </p:cNvPr>
            <p:cNvSpPr/>
            <p:nvPr/>
          </p:nvSpPr>
          <p:spPr>
            <a:xfrm>
              <a:off x="2500775" y="2872094"/>
              <a:ext cx="1149808" cy="4576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APP</a:t>
              </a: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1DE50148-CFD2-4654-A318-2029E09D44A6}"/>
                </a:ext>
              </a:extLst>
            </p:cNvPr>
            <p:cNvSpPr/>
            <p:nvPr/>
          </p:nvSpPr>
          <p:spPr>
            <a:xfrm>
              <a:off x="2500774" y="3434080"/>
              <a:ext cx="1146297" cy="63787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SO</a:t>
              </a:r>
            </a:p>
            <a:p>
              <a:pPr algn="ctr"/>
              <a:r>
                <a:rPr lang="pt-BR" noProof="0" dirty="0"/>
                <a:t>Kernel</a:t>
              </a: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09BBFDA-48C6-429E-9AD0-FA75E68E1364}"/>
              </a:ext>
            </a:extLst>
          </p:cNvPr>
          <p:cNvSpPr/>
          <p:nvPr/>
        </p:nvSpPr>
        <p:spPr>
          <a:xfrm>
            <a:off x="6338356" y="618493"/>
            <a:ext cx="3794712" cy="56400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400" b="1" noProof="0" dirty="0">
                <a:solidFill>
                  <a:srgbClr val="002060"/>
                </a:solidFill>
              </a:rPr>
              <a:t>Conteinerização</a:t>
            </a:r>
          </a:p>
          <a:p>
            <a:pPr algn="ctr"/>
            <a:r>
              <a:rPr lang="pt-BR" sz="2400" b="1" noProof="0" dirty="0">
                <a:solidFill>
                  <a:srgbClr val="002060"/>
                </a:solidFill>
              </a:rPr>
              <a:t>Docker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719F666-719C-43C8-8BB5-0F985CE7D66D}"/>
              </a:ext>
            </a:extLst>
          </p:cNvPr>
          <p:cNvSpPr/>
          <p:nvPr/>
        </p:nvSpPr>
        <p:spPr>
          <a:xfrm>
            <a:off x="6478552" y="5710363"/>
            <a:ext cx="3505364" cy="449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/>
              <a:t>Hardware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B2B0D3D-875D-49A0-AEB1-56615A723EEB}"/>
              </a:ext>
            </a:extLst>
          </p:cNvPr>
          <p:cNvSpPr/>
          <p:nvPr/>
        </p:nvSpPr>
        <p:spPr>
          <a:xfrm>
            <a:off x="6484321" y="5137326"/>
            <a:ext cx="3505364" cy="449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/>
              <a:t>OS/Kernel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E204818-2D6C-47FD-BE1F-C12812790F7A}"/>
              </a:ext>
            </a:extLst>
          </p:cNvPr>
          <p:cNvSpPr/>
          <p:nvPr/>
        </p:nvSpPr>
        <p:spPr>
          <a:xfrm>
            <a:off x="6484321" y="4545046"/>
            <a:ext cx="3505364" cy="449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 err="1"/>
              <a:t>Dockerd</a:t>
            </a:r>
            <a:r>
              <a:rPr lang="pt-BR" noProof="0" dirty="0"/>
              <a:t> </a:t>
            </a:r>
            <a:r>
              <a:rPr lang="pt-BR" noProof="0" dirty="0" err="1"/>
              <a:t>Daemom</a:t>
            </a:r>
            <a:endParaRPr lang="pt-BR" noProof="0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775567B-BCD4-426A-9E57-319F2F52C285}"/>
              </a:ext>
            </a:extLst>
          </p:cNvPr>
          <p:cNvSpPr txBox="1"/>
          <p:nvPr/>
        </p:nvSpPr>
        <p:spPr>
          <a:xfrm>
            <a:off x="6634299" y="1826304"/>
            <a:ext cx="1725508" cy="923330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 err="1"/>
              <a:t>Conteiners</a:t>
            </a:r>
            <a:endParaRPr lang="pt-BR" noProof="0" dirty="0"/>
          </a:p>
          <a:p>
            <a:pPr algn="ctr"/>
            <a:r>
              <a:rPr lang="pt-BR" noProof="0" dirty="0" err="1"/>
              <a:t>NameSpace</a:t>
            </a:r>
            <a:r>
              <a:rPr lang="pt-BR" noProof="0" dirty="0"/>
              <a:t> Isolado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93EDCA3C-1D2A-45F4-ADF5-F0957B2F9358}"/>
              </a:ext>
            </a:extLst>
          </p:cNvPr>
          <p:cNvCxnSpPr>
            <a:cxnSpLocks/>
            <a:stCxn id="41" idx="2"/>
            <a:endCxn id="62" idx="0"/>
          </p:cNvCxnSpPr>
          <p:nvPr/>
        </p:nvCxnSpPr>
        <p:spPr>
          <a:xfrm flipH="1">
            <a:off x="7072718" y="2749634"/>
            <a:ext cx="424335" cy="983239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B9C20293-ADEF-403A-964D-37F98E7FB2C2}"/>
              </a:ext>
            </a:extLst>
          </p:cNvPr>
          <p:cNvCxnSpPr>
            <a:cxnSpLocks/>
            <a:stCxn id="41" idx="2"/>
            <a:endCxn id="63" idx="0"/>
          </p:cNvCxnSpPr>
          <p:nvPr/>
        </p:nvCxnSpPr>
        <p:spPr>
          <a:xfrm>
            <a:off x="7497053" y="2749634"/>
            <a:ext cx="163247" cy="970677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8421AC94-C446-4413-9A5F-2DF92D269C22}"/>
              </a:ext>
            </a:extLst>
          </p:cNvPr>
          <p:cNvCxnSpPr>
            <a:cxnSpLocks/>
            <a:stCxn id="41" idx="2"/>
            <a:endCxn id="64" idx="0"/>
          </p:cNvCxnSpPr>
          <p:nvPr/>
        </p:nvCxnSpPr>
        <p:spPr>
          <a:xfrm>
            <a:off x="7497053" y="2749634"/>
            <a:ext cx="802873" cy="1014926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áfico 61" descr="Banco de dados">
            <a:extLst>
              <a:ext uri="{FF2B5EF4-FFF2-40B4-BE49-F238E27FC236}">
                <a16:creationId xmlns:a16="http://schemas.microsoft.com/office/drawing/2014/main" id="{C311A502-7777-4ADA-9A2E-9C0C98D4A1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4299" y="3732873"/>
            <a:ext cx="876837" cy="67662"/>
          </a:xfrm>
          <a:prstGeom prst="rect">
            <a:avLst/>
          </a:prstGeom>
        </p:spPr>
      </p:pic>
      <p:pic>
        <p:nvPicPr>
          <p:cNvPr id="63" name="Gráfico 62" descr="Banco de dados">
            <a:extLst>
              <a:ext uri="{FF2B5EF4-FFF2-40B4-BE49-F238E27FC236}">
                <a16:creationId xmlns:a16="http://schemas.microsoft.com/office/drawing/2014/main" id="{A72368CF-2F13-4885-B842-698AF26B7C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881" y="3720311"/>
            <a:ext cx="876837" cy="67662"/>
          </a:xfrm>
          <a:prstGeom prst="rect">
            <a:avLst/>
          </a:prstGeom>
        </p:spPr>
      </p:pic>
      <p:pic>
        <p:nvPicPr>
          <p:cNvPr id="64" name="Gráfico 63" descr="Banco de dados">
            <a:extLst>
              <a:ext uri="{FF2B5EF4-FFF2-40B4-BE49-F238E27FC236}">
                <a16:creationId xmlns:a16="http://schemas.microsoft.com/office/drawing/2014/main" id="{48ABF119-56B4-4AEB-B514-4A669C38F1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1507" y="3764560"/>
            <a:ext cx="876837" cy="67662"/>
          </a:xfrm>
          <a:prstGeom prst="rect">
            <a:avLst/>
          </a:prstGeom>
        </p:spPr>
      </p:pic>
      <p:sp>
        <p:nvSpPr>
          <p:cNvPr id="84" name="CaixaDeTexto 83">
            <a:extLst>
              <a:ext uri="{FF2B5EF4-FFF2-40B4-BE49-F238E27FC236}">
                <a16:creationId xmlns:a16="http://schemas.microsoft.com/office/drawing/2014/main" id="{6283EE10-CE8A-49BF-A4DF-DDC2183681B9}"/>
              </a:ext>
            </a:extLst>
          </p:cNvPr>
          <p:cNvSpPr txBox="1"/>
          <p:nvPr/>
        </p:nvSpPr>
        <p:spPr>
          <a:xfrm>
            <a:off x="304808" y="1572504"/>
            <a:ext cx="2200770" cy="369332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Sem Persistência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085CA0F1-1279-4B0B-B300-B749EB8E7A09}"/>
              </a:ext>
            </a:extLst>
          </p:cNvPr>
          <p:cNvSpPr txBox="1"/>
          <p:nvPr/>
        </p:nvSpPr>
        <p:spPr>
          <a:xfrm>
            <a:off x="10304559" y="256222"/>
            <a:ext cx="1524717" cy="923330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Visão Abstraída do Kernel</a:t>
            </a:r>
          </a:p>
        </p:txBody>
      </p:sp>
      <p:cxnSp>
        <p:nvCxnSpPr>
          <p:cNvPr id="95" name="Conector de Seta Reta 94">
            <a:extLst>
              <a:ext uri="{FF2B5EF4-FFF2-40B4-BE49-F238E27FC236}">
                <a16:creationId xmlns:a16="http://schemas.microsoft.com/office/drawing/2014/main" id="{C8F56344-34F4-4864-ABA7-B67ED53C8887}"/>
              </a:ext>
            </a:extLst>
          </p:cNvPr>
          <p:cNvCxnSpPr>
            <a:cxnSpLocks/>
            <a:stCxn id="41" idx="0"/>
            <a:endCxn id="94" idx="1"/>
          </p:cNvCxnSpPr>
          <p:nvPr/>
        </p:nvCxnSpPr>
        <p:spPr>
          <a:xfrm flipV="1">
            <a:off x="7497053" y="717887"/>
            <a:ext cx="2807506" cy="1108417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0C6072B2-148F-404B-839E-C56B572BB4FB}"/>
              </a:ext>
            </a:extLst>
          </p:cNvPr>
          <p:cNvSpPr txBox="1"/>
          <p:nvPr/>
        </p:nvSpPr>
        <p:spPr>
          <a:xfrm>
            <a:off x="3612815" y="119276"/>
            <a:ext cx="1524717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Leve, portátil e  imutável</a:t>
            </a:r>
          </a:p>
        </p:txBody>
      </p:sp>
      <p:cxnSp>
        <p:nvCxnSpPr>
          <p:cNvPr id="120" name="Conector de Seta Reta 119">
            <a:extLst>
              <a:ext uri="{FF2B5EF4-FFF2-40B4-BE49-F238E27FC236}">
                <a16:creationId xmlns:a16="http://schemas.microsoft.com/office/drawing/2014/main" id="{18273CAE-8D4D-4A57-90F8-CF4DCE247D6B}"/>
              </a:ext>
            </a:extLst>
          </p:cNvPr>
          <p:cNvCxnSpPr>
            <a:cxnSpLocks/>
            <a:stCxn id="70" idx="0"/>
            <a:endCxn id="119" idx="2"/>
          </p:cNvCxnSpPr>
          <p:nvPr/>
        </p:nvCxnSpPr>
        <p:spPr>
          <a:xfrm flipH="1" flipV="1">
            <a:off x="4375174" y="765607"/>
            <a:ext cx="1311036" cy="739702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de Seta Reta 122">
            <a:extLst>
              <a:ext uri="{FF2B5EF4-FFF2-40B4-BE49-F238E27FC236}">
                <a16:creationId xmlns:a16="http://schemas.microsoft.com/office/drawing/2014/main" id="{8453F8B0-0E32-49FE-89E1-87EBCBC1D49D}"/>
              </a:ext>
            </a:extLst>
          </p:cNvPr>
          <p:cNvCxnSpPr>
            <a:cxnSpLocks/>
            <a:stCxn id="70" idx="1"/>
            <a:endCxn id="84" idx="3"/>
          </p:cNvCxnSpPr>
          <p:nvPr/>
        </p:nvCxnSpPr>
        <p:spPr>
          <a:xfrm flipH="1" flipV="1">
            <a:off x="2505578" y="1757170"/>
            <a:ext cx="2677290" cy="27069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F047BA2E-BE43-4771-BAFC-828FF9E8FA12}"/>
              </a:ext>
            </a:extLst>
          </p:cNvPr>
          <p:cNvSpPr txBox="1"/>
          <p:nvPr/>
        </p:nvSpPr>
        <p:spPr>
          <a:xfrm>
            <a:off x="10304559" y="1334312"/>
            <a:ext cx="1524717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Persistência</a:t>
            </a:r>
          </a:p>
          <a:p>
            <a:pPr algn="ctr"/>
            <a:r>
              <a:rPr lang="pt-BR" noProof="0" dirty="0"/>
              <a:t>Mapeada</a:t>
            </a:r>
          </a:p>
        </p:txBody>
      </p:sp>
      <p:cxnSp>
        <p:nvCxnSpPr>
          <p:cNvPr id="128" name="Conector de Seta Reta 127">
            <a:extLst>
              <a:ext uri="{FF2B5EF4-FFF2-40B4-BE49-F238E27FC236}">
                <a16:creationId xmlns:a16="http://schemas.microsoft.com/office/drawing/2014/main" id="{14D633E6-F89D-411E-BAAC-6C9BCC75CD60}"/>
              </a:ext>
            </a:extLst>
          </p:cNvPr>
          <p:cNvCxnSpPr>
            <a:cxnSpLocks/>
            <a:stCxn id="41" idx="3"/>
            <a:endCxn id="127" idx="1"/>
          </p:cNvCxnSpPr>
          <p:nvPr/>
        </p:nvCxnSpPr>
        <p:spPr>
          <a:xfrm flipV="1">
            <a:off x="8359807" y="1657478"/>
            <a:ext cx="1944752" cy="630491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FAEB9163-BEFE-4A88-89F7-BF8C13F3D6CE}"/>
              </a:ext>
            </a:extLst>
          </p:cNvPr>
          <p:cNvSpPr txBox="1"/>
          <p:nvPr/>
        </p:nvSpPr>
        <p:spPr>
          <a:xfrm>
            <a:off x="5482429" y="52120"/>
            <a:ext cx="3753521" cy="369332"/>
          </a:xfrm>
          <a:prstGeom prst="rect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pt-BR" noProof="0" dirty="0" err="1"/>
              <a:t>Conteiner</a:t>
            </a:r>
            <a:r>
              <a:rPr lang="pt-BR" noProof="0" dirty="0"/>
              <a:t> Registre</a:t>
            </a:r>
          </a:p>
        </p:txBody>
      </p:sp>
      <p:cxnSp>
        <p:nvCxnSpPr>
          <p:cNvPr id="133" name="Conector de Seta Reta 132">
            <a:extLst>
              <a:ext uri="{FF2B5EF4-FFF2-40B4-BE49-F238E27FC236}">
                <a16:creationId xmlns:a16="http://schemas.microsoft.com/office/drawing/2014/main" id="{B7A66536-26CC-4CB5-A1BD-58C2A612149C}"/>
              </a:ext>
            </a:extLst>
          </p:cNvPr>
          <p:cNvCxnSpPr>
            <a:cxnSpLocks/>
            <a:stCxn id="132" idx="2"/>
            <a:endCxn id="65" idx="0"/>
          </p:cNvCxnSpPr>
          <p:nvPr/>
        </p:nvCxnSpPr>
        <p:spPr>
          <a:xfrm flipH="1">
            <a:off x="5666116" y="421452"/>
            <a:ext cx="1693074" cy="197041"/>
          </a:xfrm>
          <a:prstGeom prst="straightConnector1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Gráfico 136" descr="Programa">
            <a:extLst>
              <a:ext uri="{FF2B5EF4-FFF2-40B4-BE49-F238E27FC236}">
                <a16:creationId xmlns:a16="http://schemas.microsoft.com/office/drawing/2014/main" id="{3D76FBCD-D1DA-42F6-B594-13AFD3DBBD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59651" y="4936186"/>
            <a:ext cx="845500" cy="845500"/>
          </a:xfrm>
          <a:prstGeom prst="rect">
            <a:avLst/>
          </a:prstGeom>
        </p:spPr>
      </p:pic>
      <p:cxnSp>
        <p:nvCxnSpPr>
          <p:cNvPr id="138" name="Conector de Seta Reta 137">
            <a:extLst>
              <a:ext uri="{FF2B5EF4-FFF2-40B4-BE49-F238E27FC236}">
                <a16:creationId xmlns:a16="http://schemas.microsoft.com/office/drawing/2014/main" id="{BB30AAAE-0847-4BBD-92E1-18C10B754120}"/>
              </a:ext>
            </a:extLst>
          </p:cNvPr>
          <p:cNvCxnSpPr>
            <a:cxnSpLocks/>
            <a:stCxn id="161" idx="0"/>
            <a:endCxn id="65" idx="2"/>
          </p:cNvCxnSpPr>
          <p:nvPr/>
        </p:nvCxnSpPr>
        <p:spPr>
          <a:xfrm flipV="1">
            <a:off x="5461425" y="3834033"/>
            <a:ext cx="204691" cy="1342196"/>
          </a:xfrm>
          <a:prstGeom prst="straightConnector1">
            <a:avLst/>
          </a:prstGeom>
          <a:ln w="47625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48F4C348-7081-4114-B1E5-BC6A8B3E40AE}"/>
              </a:ext>
            </a:extLst>
          </p:cNvPr>
          <p:cNvCxnSpPr>
            <a:cxnSpLocks/>
            <a:stCxn id="48" idx="1"/>
            <a:endCxn id="32" idx="3"/>
          </p:cNvCxnSpPr>
          <p:nvPr/>
        </p:nvCxnSpPr>
        <p:spPr>
          <a:xfrm flipH="1" flipV="1">
            <a:off x="9989685" y="4769937"/>
            <a:ext cx="504347" cy="132749"/>
          </a:xfrm>
          <a:prstGeom prst="straightConnector1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C4929001-9E9C-410D-9E61-8F63F21325D2}"/>
              </a:ext>
            </a:extLst>
          </p:cNvPr>
          <p:cNvSpPr txBox="1"/>
          <p:nvPr/>
        </p:nvSpPr>
        <p:spPr>
          <a:xfrm>
            <a:off x="10494032" y="4579520"/>
            <a:ext cx="1524717" cy="646331"/>
          </a:xfrm>
          <a:prstGeom prst="rect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Servidor Docker</a:t>
            </a:r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E5825900-1D50-4DDB-85B8-E641A9CBFC3B}"/>
              </a:ext>
            </a:extLst>
          </p:cNvPr>
          <p:cNvSpPr/>
          <p:nvPr/>
        </p:nvSpPr>
        <p:spPr>
          <a:xfrm>
            <a:off x="5182868" y="1505309"/>
            <a:ext cx="1006683" cy="5578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/>
              <a:t>APP</a:t>
            </a:r>
          </a:p>
        </p:txBody>
      </p:sp>
      <p:cxnSp>
        <p:nvCxnSpPr>
          <p:cNvPr id="77" name="Conector de Seta Reta 76">
            <a:extLst>
              <a:ext uri="{FF2B5EF4-FFF2-40B4-BE49-F238E27FC236}">
                <a16:creationId xmlns:a16="http://schemas.microsoft.com/office/drawing/2014/main" id="{9D661380-7814-4735-8BE7-18E26B3F2592}"/>
              </a:ext>
            </a:extLst>
          </p:cNvPr>
          <p:cNvCxnSpPr>
            <a:cxnSpLocks/>
            <a:stCxn id="78" idx="1"/>
            <a:endCxn id="264" idx="0"/>
          </p:cNvCxnSpPr>
          <p:nvPr/>
        </p:nvCxnSpPr>
        <p:spPr>
          <a:xfrm flipH="1">
            <a:off x="9005332" y="2494226"/>
            <a:ext cx="1364816" cy="610407"/>
          </a:xfrm>
          <a:prstGeom prst="straightConnector1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3052EBC-F276-4048-A0F6-197FCB8B08D6}"/>
              </a:ext>
            </a:extLst>
          </p:cNvPr>
          <p:cNvSpPr txBox="1"/>
          <p:nvPr/>
        </p:nvSpPr>
        <p:spPr>
          <a:xfrm>
            <a:off x="10370148" y="2171060"/>
            <a:ext cx="1524717" cy="646331"/>
          </a:xfrm>
          <a:prstGeom prst="rect">
            <a:avLst/>
          </a:prstGeom>
          <a:ln w="476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Cliente Docker</a:t>
            </a: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4192C262-85CD-44FF-8428-336DBC942DB5}"/>
              </a:ext>
            </a:extLst>
          </p:cNvPr>
          <p:cNvSpPr txBox="1"/>
          <p:nvPr/>
        </p:nvSpPr>
        <p:spPr>
          <a:xfrm>
            <a:off x="6504474" y="3762056"/>
            <a:ext cx="3443337" cy="652962"/>
          </a:xfrm>
          <a:prstGeom prst="rect">
            <a:avLst/>
          </a:prstGeom>
          <a:ln w="34925">
            <a:solidFill>
              <a:srgbClr val="CC3399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endParaRPr lang="pt-BR" noProof="0" dirty="0"/>
          </a:p>
        </p:txBody>
      </p:sp>
      <p:sp>
        <p:nvSpPr>
          <p:cNvPr id="151" name="CaixaDeTexto 150">
            <a:extLst>
              <a:ext uri="{FF2B5EF4-FFF2-40B4-BE49-F238E27FC236}">
                <a16:creationId xmlns:a16="http://schemas.microsoft.com/office/drawing/2014/main" id="{1C913B8B-B5D5-4AE1-A7FF-01C8CB06EB7C}"/>
              </a:ext>
            </a:extLst>
          </p:cNvPr>
          <p:cNvSpPr txBox="1"/>
          <p:nvPr/>
        </p:nvSpPr>
        <p:spPr>
          <a:xfrm>
            <a:off x="296278" y="2365064"/>
            <a:ext cx="3870515" cy="1200329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Código do aplicativo,  pacotes do sistema, binários, bibliotecas, arquivos de configuração e “sistema operacional”.</a:t>
            </a:r>
          </a:p>
        </p:txBody>
      </p:sp>
      <p:cxnSp>
        <p:nvCxnSpPr>
          <p:cNvPr id="152" name="Conector de Seta Reta 151">
            <a:extLst>
              <a:ext uri="{FF2B5EF4-FFF2-40B4-BE49-F238E27FC236}">
                <a16:creationId xmlns:a16="http://schemas.microsoft.com/office/drawing/2014/main" id="{A5EC619C-7FE6-4A38-897E-BBE9FD3FD5B1}"/>
              </a:ext>
            </a:extLst>
          </p:cNvPr>
          <p:cNvCxnSpPr>
            <a:cxnSpLocks/>
            <a:stCxn id="70" idx="1"/>
            <a:endCxn id="151" idx="3"/>
          </p:cNvCxnSpPr>
          <p:nvPr/>
        </p:nvCxnSpPr>
        <p:spPr>
          <a:xfrm flipH="1">
            <a:off x="4166793" y="1784239"/>
            <a:ext cx="1016075" cy="1180990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CaixaDeTexto 155">
            <a:extLst>
              <a:ext uri="{FF2B5EF4-FFF2-40B4-BE49-F238E27FC236}">
                <a16:creationId xmlns:a16="http://schemas.microsoft.com/office/drawing/2014/main" id="{BFF27B1F-336D-4708-B1C9-BE9269136C45}"/>
              </a:ext>
            </a:extLst>
          </p:cNvPr>
          <p:cNvSpPr txBox="1"/>
          <p:nvPr/>
        </p:nvSpPr>
        <p:spPr>
          <a:xfrm>
            <a:off x="2309735" y="6061715"/>
            <a:ext cx="2452217" cy="646331"/>
          </a:xfrm>
          <a:prstGeom prst="rect">
            <a:avLst/>
          </a:prstGeom>
          <a:ln w="47625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pt-BR" b="1" noProof="0" dirty="0"/>
              <a:t>Arquivos de Unificação Empilhável </a:t>
            </a:r>
            <a:r>
              <a:rPr lang="pt-BR" b="1" noProof="0" dirty="0" err="1"/>
              <a:t>Unionfs</a:t>
            </a:r>
            <a:endParaRPr lang="pt-BR" b="1" noProof="0" dirty="0"/>
          </a:p>
        </p:txBody>
      </p:sp>
      <p:sp>
        <p:nvSpPr>
          <p:cNvPr id="160" name="CaixaDeTexto 159">
            <a:extLst>
              <a:ext uri="{FF2B5EF4-FFF2-40B4-BE49-F238E27FC236}">
                <a16:creationId xmlns:a16="http://schemas.microsoft.com/office/drawing/2014/main" id="{36FD4468-818F-421C-8ACD-85FBD4950957}"/>
              </a:ext>
            </a:extLst>
          </p:cNvPr>
          <p:cNvSpPr txBox="1"/>
          <p:nvPr/>
        </p:nvSpPr>
        <p:spPr>
          <a:xfrm>
            <a:off x="2415983" y="4042323"/>
            <a:ext cx="1521489" cy="365763"/>
          </a:xfrm>
          <a:prstGeom prst="rect">
            <a:avLst/>
          </a:prstGeom>
          <a:ln w="47625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pt-BR" b="1" noProof="0" dirty="0"/>
              <a:t>Imagem Base</a:t>
            </a: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567C8E11-8D22-41FC-9DE0-CBB24D0B1CFE}"/>
              </a:ext>
            </a:extLst>
          </p:cNvPr>
          <p:cNvSpPr txBox="1"/>
          <p:nvPr/>
        </p:nvSpPr>
        <p:spPr>
          <a:xfrm>
            <a:off x="4747121" y="5176229"/>
            <a:ext cx="1428608" cy="369332"/>
          </a:xfrm>
          <a:prstGeom prst="rect">
            <a:avLst/>
          </a:prstGeom>
          <a:ln w="47625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pt-BR" b="1" noProof="0" dirty="0"/>
              <a:t>Imagem PAI</a:t>
            </a:r>
          </a:p>
        </p:txBody>
      </p:sp>
      <p:cxnSp>
        <p:nvCxnSpPr>
          <p:cNvPr id="162" name="Conector de Seta Reta 161">
            <a:extLst>
              <a:ext uri="{FF2B5EF4-FFF2-40B4-BE49-F238E27FC236}">
                <a16:creationId xmlns:a16="http://schemas.microsoft.com/office/drawing/2014/main" id="{62355FF3-F16C-4DD7-B5E8-026B2F022FE1}"/>
              </a:ext>
            </a:extLst>
          </p:cNvPr>
          <p:cNvCxnSpPr>
            <a:cxnSpLocks/>
            <a:stCxn id="161" idx="2"/>
            <a:endCxn id="156" idx="3"/>
          </p:cNvCxnSpPr>
          <p:nvPr/>
        </p:nvCxnSpPr>
        <p:spPr>
          <a:xfrm flipH="1">
            <a:off x="4761952" y="5545561"/>
            <a:ext cx="699473" cy="839320"/>
          </a:xfrm>
          <a:prstGeom prst="straightConnector1">
            <a:avLst/>
          </a:prstGeom>
          <a:ln w="47625">
            <a:solidFill>
              <a:srgbClr val="7030A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de Seta Reta 165">
            <a:extLst>
              <a:ext uri="{FF2B5EF4-FFF2-40B4-BE49-F238E27FC236}">
                <a16:creationId xmlns:a16="http://schemas.microsoft.com/office/drawing/2014/main" id="{B8D6FBEC-1B9D-420F-8F53-C360622695A9}"/>
              </a:ext>
            </a:extLst>
          </p:cNvPr>
          <p:cNvCxnSpPr>
            <a:cxnSpLocks/>
            <a:stCxn id="137" idx="0"/>
            <a:endCxn id="160" idx="2"/>
          </p:cNvCxnSpPr>
          <p:nvPr/>
        </p:nvCxnSpPr>
        <p:spPr>
          <a:xfrm flipH="1" flipV="1">
            <a:off x="3176728" y="4408086"/>
            <a:ext cx="5673" cy="528100"/>
          </a:xfrm>
          <a:prstGeom prst="straightConnector1">
            <a:avLst/>
          </a:prstGeom>
          <a:ln w="47625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F6BDDD0C-FCE7-403C-B8B3-87E22CC2780A}"/>
              </a:ext>
            </a:extLst>
          </p:cNvPr>
          <p:cNvCxnSpPr>
            <a:cxnSpLocks/>
            <a:stCxn id="160" idx="3"/>
            <a:endCxn id="65" idx="2"/>
          </p:cNvCxnSpPr>
          <p:nvPr/>
        </p:nvCxnSpPr>
        <p:spPr>
          <a:xfrm flipV="1">
            <a:off x="3937472" y="3834033"/>
            <a:ext cx="1728644" cy="391172"/>
          </a:xfrm>
          <a:prstGeom prst="straightConnector1">
            <a:avLst/>
          </a:prstGeom>
          <a:ln w="47625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ector de Seta Reta 216">
            <a:extLst>
              <a:ext uri="{FF2B5EF4-FFF2-40B4-BE49-F238E27FC236}">
                <a16:creationId xmlns:a16="http://schemas.microsoft.com/office/drawing/2014/main" id="{F756D9ED-7D0C-4BAF-97CA-43C42DB0D165}"/>
              </a:ext>
            </a:extLst>
          </p:cNvPr>
          <p:cNvCxnSpPr>
            <a:cxnSpLocks/>
            <a:stCxn id="137" idx="3"/>
            <a:endCxn id="161" idx="1"/>
          </p:cNvCxnSpPr>
          <p:nvPr/>
        </p:nvCxnSpPr>
        <p:spPr>
          <a:xfrm>
            <a:off x="3605151" y="5358936"/>
            <a:ext cx="1141970" cy="1959"/>
          </a:xfrm>
          <a:prstGeom prst="straightConnector1">
            <a:avLst/>
          </a:prstGeom>
          <a:ln w="47625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o Explicativo: Seta para a Esquerda e para a Direita 19">
            <a:extLst>
              <a:ext uri="{FF2B5EF4-FFF2-40B4-BE49-F238E27FC236}">
                <a16:creationId xmlns:a16="http://schemas.microsoft.com/office/drawing/2014/main" id="{9B6F7E9F-333E-49B9-A9F0-1959C425F281}"/>
              </a:ext>
            </a:extLst>
          </p:cNvPr>
          <p:cNvSpPr/>
          <p:nvPr/>
        </p:nvSpPr>
        <p:spPr>
          <a:xfrm rot="5400000">
            <a:off x="8983083" y="3594382"/>
            <a:ext cx="572541" cy="971692"/>
          </a:xfrm>
          <a:prstGeom prst="leftRightArrowCallout">
            <a:avLst>
              <a:gd name="adj1" fmla="val 48553"/>
              <a:gd name="adj2" fmla="val 236458"/>
              <a:gd name="adj3" fmla="val 18587"/>
              <a:gd name="adj4" fmla="val 50578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noProof="0" dirty="0">
                <a:solidFill>
                  <a:schemeClr val="tx1"/>
                </a:solidFill>
              </a:rPr>
              <a:t>API REST</a:t>
            </a:r>
          </a:p>
        </p:txBody>
      </p:sp>
      <p:sp>
        <p:nvSpPr>
          <p:cNvPr id="264" name="Retângulo 263">
            <a:extLst>
              <a:ext uri="{FF2B5EF4-FFF2-40B4-BE49-F238E27FC236}">
                <a16:creationId xmlns:a16="http://schemas.microsoft.com/office/drawing/2014/main" id="{FCBDBCD2-6B95-43C3-8474-09AA9AC66DBB}"/>
              </a:ext>
            </a:extLst>
          </p:cNvPr>
          <p:cNvSpPr/>
          <p:nvPr/>
        </p:nvSpPr>
        <p:spPr>
          <a:xfrm>
            <a:off x="8693929" y="3104633"/>
            <a:ext cx="622805" cy="5506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/>
              <a:t>CLI</a:t>
            </a:r>
          </a:p>
        </p:txBody>
      </p:sp>
      <p:sp>
        <p:nvSpPr>
          <p:cNvPr id="265" name="Retângulo 264">
            <a:extLst>
              <a:ext uri="{FF2B5EF4-FFF2-40B4-BE49-F238E27FC236}">
                <a16:creationId xmlns:a16="http://schemas.microsoft.com/office/drawing/2014/main" id="{754D03CE-C0B2-4646-A360-90089534F8D1}"/>
              </a:ext>
            </a:extLst>
          </p:cNvPr>
          <p:cNvSpPr/>
          <p:nvPr/>
        </p:nvSpPr>
        <p:spPr>
          <a:xfrm>
            <a:off x="9443797" y="3104483"/>
            <a:ext cx="2079642" cy="5506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 err="1"/>
              <a:t>Dockerd</a:t>
            </a:r>
            <a:r>
              <a:rPr lang="pt-BR" noProof="0" dirty="0"/>
              <a:t> </a:t>
            </a:r>
            <a:r>
              <a:rPr lang="pt-BR" noProof="0" dirty="0" err="1"/>
              <a:t>Daemom</a:t>
            </a:r>
            <a:endParaRPr lang="pt-BR" noProof="0" dirty="0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D7D8FB29-DB96-4287-BCD9-B1C9DBF95779}"/>
              </a:ext>
            </a:extLst>
          </p:cNvPr>
          <p:cNvSpPr txBox="1"/>
          <p:nvPr/>
        </p:nvSpPr>
        <p:spPr>
          <a:xfrm>
            <a:off x="2309735" y="838658"/>
            <a:ext cx="1524717" cy="369332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Docker </a:t>
            </a:r>
            <a:r>
              <a:rPr lang="pt-BR" noProof="0" dirty="0" err="1"/>
              <a:t>Image</a:t>
            </a:r>
            <a:endParaRPr lang="pt-BR" noProof="0" dirty="0"/>
          </a:p>
        </p:txBody>
      </p: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47A21EEA-0C7C-41DD-9776-6B2884C2526D}"/>
              </a:ext>
            </a:extLst>
          </p:cNvPr>
          <p:cNvCxnSpPr>
            <a:cxnSpLocks/>
            <a:stCxn id="70" idx="1"/>
            <a:endCxn id="56" idx="3"/>
          </p:cNvCxnSpPr>
          <p:nvPr/>
        </p:nvCxnSpPr>
        <p:spPr>
          <a:xfrm flipH="1" flipV="1">
            <a:off x="3834452" y="1023324"/>
            <a:ext cx="1348416" cy="760915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459E198A-C404-4FE9-AEAB-1D76FA86FB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8836" y="3799309"/>
            <a:ext cx="653963" cy="601118"/>
          </a:xfrm>
          <a:prstGeom prst="rect">
            <a:avLst/>
          </a:prstGeom>
        </p:spPr>
      </p:pic>
      <p:pic>
        <p:nvPicPr>
          <p:cNvPr id="66" name="Imagem 65">
            <a:extLst>
              <a:ext uri="{FF2B5EF4-FFF2-40B4-BE49-F238E27FC236}">
                <a16:creationId xmlns:a16="http://schemas.microsoft.com/office/drawing/2014/main" id="{479C4596-55ED-4D16-9BC9-338FA88AE5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914" y="3789178"/>
            <a:ext cx="653963" cy="601118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40BE7E2B-3007-4D73-9D5D-7E3220650E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9529" y="3799309"/>
            <a:ext cx="653963" cy="60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9201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34">
            <a:extLst>
              <a:ext uri="{FF2B5EF4-FFF2-40B4-BE49-F238E27FC236}">
                <a16:creationId xmlns:a16="http://schemas.microsoft.com/office/drawing/2014/main" id="{69464BBE-54F2-48F0-83E7-A8941DE73E15}"/>
              </a:ext>
            </a:extLst>
          </p:cNvPr>
          <p:cNvSpPr/>
          <p:nvPr/>
        </p:nvSpPr>
        <p:spPr>
          <a:xfrm>
            <a:off x="3456026" y="1879600"/>
            <a:ext cx="6200401" cy="212372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CC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400" b="1" noProof="0" dirty="0" err="1">
                <a:solidFill>
                  <a:srgbClr val="002060"/>
                </a:solidFill>
              </a:rPr>
              <a:t>Kubernetes</a:t>
            </a:r>
            <a:r>
              <a:rPr lang="pt-BR" sz="2400" b="1" noProof="0" dirty="0">
                <a:solidFill>
                  <a:srgbClr val="002060"/>
                </a:solidFill>
              </a:rPr>
              <a:t> Master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9C5FF0-F430-429B-AEBF-DC11D1029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41" y="1443037"/>
            <a:ext cx="4191000" cy="686805"/>
          </a:xfrm>
        </p:spPr>
        <p:txBody>
          <a:bodyPr>
            <a:normAutofit fontScale="90000"/>
          </a:bodyPr>
          <a:lstStyle/>
          <a:p>
            <a:r>
              <a:rPr lang="pt-BR" noProof="0" dirty="0" err="1"/>
              <a:t>Kubernetes</a:t>
            </a:r>
            <a:endParaRPr lang="pt-BR" noProof="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A152941-9812-43E9-ADF9-1AC458CE920F}"/>
              </a:ext>
            </a:extLst>
          </p:cNvPr>
          <p:cNvSpPr txBox="1"/>
          <p:nvPr/>
        </p:nvSpPr>
        <p:spPr>
          <a:xfrm>
            <a:off x="10071725" y="2571795"/>
            <a:ext cx="2101148" cy="2031325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Lê os manifestos do container e garante que os containers definidos foram iniciados e estão em execução.</a:t>
            </a:r>
          </a:p>
          <a:p>
            <a:pPr algn="ctr"/>
            <a:r>
              <a:rPr lang="pt-BR" noProof="0" dirty="0"/>
              <a:t>Gerencia o estado</a:t>
            </a:r>
          </a:p>
        </p:txBody>
      </p:sp>
      <p:sp>
        <p:nvSpPr>
          <p:cNvPr id="30" name="Texto Explicativo: Seta para a Esquerda e para a Direita 29">
            <a:extLst>
              <a:ext uri="{FF2B5EF4-FFF2-40B4-BE49-F238E27FC236}">
                <a16:creationId xmlns:a16="http://schemas.microsoft.com/office/drawing/2014/main" id="{AA90DF99-9E97-416A-A64E-666A54A1903D}"/>
              </a:ext>
            </a:extLst>
          </p:cNvPr>
          <p:cNvSpPr/>
          <p:nvPr/>
        </p:nvSpPr>
        <p:spPr>
          <a:xfrm rot="5400000">
            <a:off x="6282377" y="909773"/>
            <a:ext cx="572541" cy="5911710"/>
          </a:xfrm>
          <a:prstGeom prst="leftRightArrowCallout">
            <a:avLst>
              <a:gd name="adj1" fmla="val 48553"/>
              <a:gd name="adj2" fmla="val 236458"/>
              <a:gd name="adj3" fmla="val 18587"/>
              <a:gd name="adj4" fmla="val 50578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noProof="0" dirty="0">
                <a:solidFill>
                  <a:schemeClr val="tx1"/>
                </a:solidFill>
              </a:rPr>
              <a:t>API SERVER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33239204-FC8D-4FBA-8497-46F5B1B788CA}"/>
              </a:ext>
            </a:extLst>
          </p:cNvPr>
          <p:cNvSpPr/>
          <p:nvPr/>
        </p:nvSpPr>
        <p:spPr>
          <a:xfrm>
            <a:off x="3633821" y="2278770"/>
            <a:ext cx="1780265" cy="1197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 err="1"/>
              <a:t>Scheduler</a:t>
            </a:r>
            <a:endParaRPr lang="pt-BR" noProof="0" dirty="0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1FF40C9C-B736-498D-BC53-CAB300789BAE}"/>
              </a:ext>
            </a:extLst>
          </p:cNvPr>
          <p:cNvSpPr/>
          <p:nvPr/>
        </p:nvSpPr>
        <p:spPr>
          <a:xfrm>
            <a:off x="5666095" y="2268284"/>
            <a:ext cx="1780265" cy="1197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 err="1"/>
              <a:t>Controllers</a:t>
            </a:r>
            <a:endParaRPr lang="pt-BR" noProof="0" dirty="0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8B13388D-96A0-410D-ABF9-3292AB47D95B}"/>
              </a:ext>
            </a:extLst>
          </p:cNvPr>
          <p:cNvSpPr/>
          <p:nvPr/>
        </p:nvSpPr>
        <p:spPr>
          <a:xfrm>
            <a:off x="7752079" y="2281374"/>
            <a:ext cx="1780265" cy="1197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 err="1"/>
              <a:t>Etcd</a:t>
            </a:r>
            <a:endParaRPr lang="pt-BR" noProof="0" dirty="0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1A837278-449E-45CB-A163-8B4D1ED63523}"/>
              </a:ext>
            </a:extLst>
          </p:cNvPr>
          <p:cNvSpPr/>
          <p:nvPr/>
        </p:nvSpPr>
        <p:spPr>
          <a:xfrm>
            <a:off x="3220805" y="1423883"/>
            <a:ext cx="6614075" cy="5196100"/>
          </a:xfrm>
          <a:prstGeom prst="rect">
            <a:avLst/>
          </a:prstGeom>
          <a:noFill/>
          <a:ln w="38100">
            <a:solidFill>
              <a:srgbClr val="CC339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pt-BR" sz="3200" b="1" noProof="0" dirty="0">
                <a:solidFill>
                  <a:srgbClr val="002060"/>
                </a:solidFill>
              </a:rPr>
              <a:t>Cluster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7B6507A3-FF95-402C-991F-BEBDD7E82368}"/>
              </a:ext>
            </a:extLst>
          </p:cNvPr>
          <p:cNvSpPr txBox="1"/>
          <p:nvPr/>
        </p:nvSpPr>
        <p:spPr>
          <a:xfrm>
            <a:off x="169880" y="3724453"/>
            <a:ext cx="2135861" cy="1200329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NÓ - Máquinas que realizam as tarefas solicitadas e atribuídas</a:t>
            </a:r>
          </a:p>
        </p:txBody>
      </p:sp>
      <p:cxnSp>
        <p:nvCxnSpPr>
          <p:cNvPr id="115" name="Conector de Seta Reta 114">
            <a:extLst>
              <a:ext uri="{FF2B5EF4-FFF2-40B4-BE49-F238E27FC236}">
                <a16:creationId xmlns:a16="http://schemas.microsoft.com/office/drawing/2014/main" id="{89252D02-F9E3-4565-9441-B769045D43FE}"/>
              </a:ext>
            </a:extLst>
          </p:cNvPr>
          <p:cNvCxnSpPr>
            <a:cxnSpLocks/>
            <a:stCxn id="200" idx="1"/>
            <a:endCxn id="114" idx="3"/>
          </p:cNvCxnSpPr>
          <p:nvPr/>
        </p:nvCxnSpPr>
        <p:spPr>
          <a:xfrm flipH="1" flipV="1">
            <a:off x="2305741" y="4324618"/>
            <a:ext cx="1167760" cy="1092477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 de Seta Reta 126">
            <a:extLst>
              <a:ext uri="{FF2B5EF4-FFF2-40B4-BE49-F238E27FC236}">
                <a16:creationId xmlns:a16="http://schemas.microsoft.com/office/drawing/2014/main" id="{C8722DBE-FFAF-4346-A36B-34259B23297D}"/>
              </a:ext>
            </a:extLst>
          </p:cNvPr>
          <p:cNvCxnSpPr>
            <a:cxnSpLocks/>
            <a:stCxn id="35" idx="1"/>
            <a:endCxn id="114" idx="3"/>
          </p:cNvCxnSpPr>
          <p:nvPr/>
        </p:nvCxnSpPr>
        <p:spPr>
          <a:xfrm flipH="1">
            <a:off x="2305741" y="2941464"/>
            <a:ext cx="1150285" cy="1383154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F94843D4-97ED-4E1D-8341-71D97CDB8617}"/>
              </a:ext>
            </a:extLst>
          </p:cNvPr>
          <p:cNvSpPr/>
          <p:nvPr/>
        </p:nvSpPr>
        <p:spPr>
          <a:xfrm>
            <a:off x="8287908" y="3722773"/>
            <a:ext cx="1352511" cy="31428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noProof="0" dirty="0" err="1"/>
              <a:t>kubectl</a:t>
            </a:r>
            <a:endParaRPr lang="pt-BR" noProof="0" dirty="0"/>
          </a:p>
        </p:txBody>
      </p:sp>
      <p:sp>
        <p:nvSpPr>
          <p:cNvPr id="134" name="CaixaDeTexto 133">
            <a:extLst>
              <a:ext uri="{FF2B5EF4-FFF2-40B4-BE49-F238E27FC236}">
                <a16:creationId xmlns:a16="http://schemas.microsoft.com/office/drawing/2014/main" id="{F6DCB450-C196-49A2-BBF1-BD581AB39E3D}"/>
              </a:ext>
            </a:extLst>
          </p:cNvPr>
          <p:cNvSpPr txBox="1"/>
          <p:nvPr/>
        </p:nvSpPr>
        <p:spPr>
          <a:xfrm>
            <a:off x="169881" y="2479799"/>
            <a:ext cx="2365692" cy="923330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MASTER - Controla todos os nós e é a origem das solicitações</a:t>
            </a:r>
          </a:p>
        </p:txBody>
      </p:sp>
      <p:cxnSp>
        <p:nvCxnSpPr>
          <p:cNvPr id="137" name="Conector de Seta Reta 136">
            <a:extLst>
              <a:ext uri="{FF2B5EF4-FFF2-40B4-BE49-F238E27FC236}">
                <a16:creationId xmlns:a16="http://schemas.microsoft.com/office/drawing/2014/main" id="{3292819C-3FEE-4B8C-8A54-A4F223F37410}"/>
              </a:ext>
            </a:extLst>
          </p:cNvPr>
          <p:cNvCxnSpPr>
            <a:cxnSpLocks/>
            <a:stCxn id="35" idx="1"/>
            <a:endCxn id="134" idx="3"/>
          </p:cNvCxnSpPr>
          <p:nvPr/>
        </p:nvCxnSpPr>
        <p:spPr>
          <a:xfrm flipH="1">
            <a:off x="2535573" y="2941464"/>
            <a:ext cx="920453" cy="0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A38ED791-7739-4AC0-BF4C-88A804BF6EDB}"/>
              </a:ext>
            </a:extLst>
          </p:cNvPr>
          <p:cNvSpPr txBox="1"/>
          <p:nvPr/>
        </p:nvSpPr>
        <p:spPr>
          <a:xfrm>
            <a:off x="156553" y="5146323"/>
            <a:ext cx="2276655" cy="1477328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POD - Grupo de um ou mais containers que compartilham IP, IPC, nome do host e outros recursos.</a:t>
            </a:r>
          </a:p>
        </p:txBody>
      </p:sp>
      <p:grpSp>
        <p:nvGrpSpPr>
          <p:cNvPr id="183" name="Agrupar 182">
            <a:extLst>
              <a:ext uri="{FF2B5EF4-FFF2-40B4-BE49-F238E27FC236}">
                <a16:creationId xmlns:a16="http://schemas.microsoft.com/office/drawing/2014/main" id="{A94A1A0E-37F2-4D74-A6B0-E85D5A0AB320}"/>
              </a:ext>
            </a:extLst>
          </p:cNvPr>
          <p:cNvGrpSpPr/>
          <p:nvPr/>
        </p:nvGrpSpPr>
        <p:grpSpPr>
          <a:xfrm>
            <a:off x="7683915" y="4316831"/>
            <a:ext cx="1972512" cy="2200529"/>
            <a:chOff x="3465481" y="4210431"/>
            <a:chExt cx="1972512" cy="2200529"/>
          </a:xfrm>
        </p:grpSpPr>
        <p:grpSp>
          <p:nvGrpSpPr>
            <p:cNvPr id="166" name="Agrupar 165">
              <a:extLst>
                <a:ext uri="{FF2B5EF4-FFF2-40B4-BE49-F238E27FC236}">
                  <a16:creationId xmlns:a16="http://schemas.microsoft.com/office/drawing/2014/main" id="{B285EF9A-6A67-466A-9DC9-EED01488CB7E}"/>
                </a:ext>
              </a:extLst>
            </p:cNvPr>
            <p:cNvGrpSpPr/>
            <p:nvPr/>
          </p:nvGrpSpPr>
          <p:grpSpPr>
            <a:xfrm>
              <a:off x="3465481" y="4210431"/>
              <a:ext cx="1972512" cy="2200529"/>
              <a:chOff x="3465481" y="4210431"/>
              <a:chExt cx="1972512" cy="2200529"/>
            </a:xfrm>
          </p:grpSpPr>
          <p:grpSp>
            <p:nvGrpSpPr>
              <p:cNvPr id="85" name="Agrupar 84">
                <a:extLst>
                  <a:ext uri="{FF2B5EF4-FFF2-40B4-BE49-F238E27FC236}">
                    <a16:creationId xmlns:a16="http://schemas.microsoft.com/office/drawing/2014/main" id="{C5813C3E-053E-4C76-B08F-F268785EE2FB}"/>
                  </a:ext>
                </a:extLst>
              </p:cNvPr>
              <p:cNvGrpSpPr/>
              <p:nvPr/>
            </p:nvGrpSpPr>
            <p:grpSpPr>
              <a:xfrm>
                <a:off x="3465481" y="4210431"/>
                <a:ext cx="1972512" cy="2200529"/>
                <a:chOff x="3465481" y="4210431"/>
                <a:chExt cx="1972512" cy="2200529"/>
              </a:xfrm>
            </p:grpSpPr>
            <p:sp>
              <p:nvSpPr>
                <p:cNvPr id="61" name="Retângulo 60">
                  <a:extLst>
                    <a:ext uri="{FF2B5EF4-FFF2-40B4-BE49-F238E27FC236}">
                      <a16:creationId xmlns:a16="http://schemas.microsoft.com/office/drawing/2014/main" id="{0318BF01-5EA3-4B32-B83C-AA1FFEC04649}"/>
                    </a:ext>
                  </a:extLst>
                </p:cNvPr>
                <p:cNvSpPr/>
                <p:nvPr/>
              </p:nvSpPr>
              <p:spPr>
                <a:xfrm>
                  <a:off x="3465481" y="4210431"/>
                  <a:ext cx="1972512" cy="220052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CC339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pt-BR" sz="2400" b="1" noProof="0" dirty="0">
                      <a:solidFill>
                        <a:srgbClr val="002060"/>
                      </a:solidFill>
                    </a:rPr>
                    <a:t>Nó</a:t>
                  </a:r>
                </a:p>
              </p:txBody>
            </p:sp>
            <p:sp>
              <p:nvSpPr>
                <p:cNvPr id="62" name="Retângulo 61">
                  <a:extLst>
                    <a:ext uri="{FF2B5EF4-FFF2-40B4-BE49-F238E27FC236}">
                      <a16:creationId xmlns:a16="http://schemas.microsoft.com/office/drawing/2014/main" id="{40C65370-0AE0-48AD-8F69-EA4949051663}"/>
                    </a:ext>
                  </a:extLst>
                </p:cNvPr>
                <p:cNvSpPr/>
                <p:nvPr/>
              </p:nvSpPr>
              <p:spPr>
                <a:xfrm>
                  <a:off x="3612794" y="5487212"/>
                  <a:ext cx="1688168" cy="839590"/>
                </a:xfrm>
                <a:prstGeom prst="rect">
                  <a:avLst/>
                </a:prstGeom>
                <a:solidFill>
                  <a:srgbClr val="B4C7E7"/>
                </a:solidFill>
                <a:ln w="22225">
                  <a:solidFill>
                    <a:srgbClr val="CC339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pt-BR" b="1" noProof="0" dirty="0" err="1">
                      <a:solidFill>
                        <a:srgbClr val="002060"/>
                      </a:solidFill>
                    </a:rPr>
                    <a:t>Pod</a:t>
                  </a:r>
                  <a:endParaRPr lang="pt-BR" b="1" noProof="0" dirty="0">
                    <a:solidFill>
                      <a:srgbClr val="002060"/>
                    </a:solidFill>
                  </a:endParaRPr>
                </a:p>
              </p:txBody>
            </p:sp>
            <p:sp>
              <p:nvSpPr>
                <p:cNvPr id="66" name="Retângulo 65">
                  <a:extLst>
                    <a:ext uri="{FF2B5EF4-FFF2-40B4-BE49-F238E27FC236}">
                      <a16:creationId xmlns:a16="http://schemas.microsoft.com/office/drawing/2014/main" id="{C1F076B9-CAC2-4223-8BCB-68AF2C4874C3}"/>
                    </a:ext>
                  </a:extLst>
                </p:cNvPr>
                <p:cNvSpPr/>
                <p:nvPr/>
              </p:nvSpPr>
              <p:spPr>
                <a:xfrm>
                  <a:off x="3630190" y="5049206"/>
                  <a:ext cx="1660612" cy="384911"/>
                </a:xfrm>
                <a:prstGeom prst="rect">
                  <a:avLst/>
                </a:prstGeom>
                <a:solidFill>
                  <a:srgbClr val="7093D2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600" noProof="0" dirty="0" err="1"/>
                    <a:t>Kube</a:t>
                  </a:r>
                  <a:r>
                    <a:rPr lang="pt-BR" sz="1600" noProof="0" dirty="0"/>
                    <a:t>-Proxy</a:t>
                  </a:r>
                </a:p>
              </p:txBody>
            </p:sp>
            <p:sp>
              <p:nvSpPr>
                <p:cNvPr id="67" name="Retângulo 66">
                  <a:extLst>
                    <a:ext uri="{FF2B5EF4-FFF2-40B4-BE49-F238E27FC236}">
                      <a16:creationId xmlns:a16="http://schemas.microsoft.com/office/drawing/2014/main" id="{7887086E-618B-4C58-A54D-16183D286581}"/>
                    </a:ext>
                  </a:extLst>
                </p:cNvPr>
                <p:cNvSpPr/>
                <p:nvPr/>
              </p:nvSpPr>
              <p:spPr>
                <a:xfrm>
                  <a:off x="3630190" y="4601078"/>
                  <a:ext cx="1660612" cy="396219"/>
                </a:xfrm>
                <a:prstGeom prst="rect">
                  <a:avLst/>
                </a:prstGeom>
                <a:solidFill>
                  <a:srgbClr val="7093D2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600" noProof="0" dirty="0" err="1"/>
                    <a:t>Kubelet</a:t>
                  </a:r>
                  <a:endParaRPr lang="pt-BR" sz="1600" noProof="0" dirty="0"/>
                </a:p>
              </p:txBody>
            </p:sp>
          </p:grpSp>
          <p:pic>
            <p:nvPicPr>
              <p:cNvPr id="163" name="Imagem 162">
                <a:extLst>
                  <a:ext uri="{FF2B5EF4-FFF2-40B4-BE49-F238E27FC236}">
                    <a16:creationId xmlns:a16="http://schemas.microsoft.com/office/drawing/2014/main" id="{0CA203C6-C2CA-468E-BC6D-704CDE13EC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70916" y="5855178"/>
                <a:ext cx="491332" cy="451629"/>
              </a:xfrm>
              <a:prstGeom prst="rect">
                <a:avLst/>
              </a:prstGeom>
            </p:spPr>
          </p:pic>
          <p:pic>
            <p:nvPicPr>
              <p:cNvPr id="164" name="Imagem 163">
                <a:extLst>
                  <a:ext uri="{FF2B5EF4-FFF2-40B4-BE49-F238E27FC236}">
                    <a16:creationId xmlns:a16="http://schemas.microsoft.com/office/drawing/2014/main" id="{77BF37C4-D590-414B-ABF8-C9D1160055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12450" y="5851936"/>
                <a:ext cx="491332" cy="451629"/>
              </a:xfrm>
              <a:prstGeom prst="rect">
                <a:avLst/>
              </a:prstGeom>
            </p:spPr>
          </p:pic>
        </p:grpSp>
        <p:pic>
          <p:nvPicPr>
            <p:cNvPr id="165" name="Imagem 164">
              <a:extLst>
                <a:ext uri="{FF2B5EF4-FFF2-40B4-BE49-F238E27FC236}">
                  <a16:creationId xmlns:a16="http://schemas.microsoft.com/office/drawing/2014/main" id="{F68FCF7F-ADCB-4D80-87EB-0716E85A7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69915" y="5851936"/>
              <a:ext cx="491332" cy="451629"/>
            </a:xfrm>
            <a:prstGeom prst="rect">
              <a:avLst/>
            </a:prstGeom>
          </p:spPr>
        </p:pic>
      </p:grpSp>
      <p:grpSp>
        <p:nvGrpSpPr>
          <p:cNvPr id="184" name="Agrupar 183">
            <a:extLst>
              <a:ext uri="{FF2B5EF4-FFF2-40B4-BE49-F238E27FC236}">
                <a16:creationId xmlns:a16="http://schemas.microsoft.com/office/drawing/2014/main" id="{B2FC4D45-CED7-404E-940A-C5BBB1B35313}"/>
              </a:ext>
            </a:extLst>
          </p:cNvPr>
          <p:cNvGrpSpPr/>
          <p:nvPr/>
        </p:nvGrpSpPr>
        <p:grpSpPr>
          <a:xfrm>
            <a:off x="5572808" y="4316829"/>
            <a:ext cx="1972512" cy="2200529"/>
            <a:chOff x="3465481" y="4210431"/>
            <a:chExt cx="1972512" cy="2200529"/>
          </a:xfrm>
        </p:grpSpPr>
        <p:grpSp>
          <p:nvGrpSpPr>
            <p:cNvPr id="185" name="Agrupar 184">
              <a:extLst>
                <a:ext uri="{FF2B5EF4-FFF2-40B4-BE49-F238E27FC236}">
                  <a16:creationId xmlns:a16="http://schemas.microsoft.com/office/drawing/2014/main" id="{8BD47308-D91D-4C53-B781-D12F15A536D7}"/>
                </a:ext>
              </a:extLst>
            </p:cNvPr>
            <p:cNvGrpSpPr/>
            <p:nvPr/>
          </p:nvGrpSpPr>
          <p:grpSpPr>
            <a:xfrm>
              <a:off x="3465481" y="4210431"/>
              <a:ext cx="1972512" cy="2200529"/>
              <a:chOff x="3465481" y="4210431"/>
              <a:chExt cx="1972512" cy="2200529"/>
            </a:xfrm>
          </p:grpSpPr>
          <p:grpSp>
            <p:nvGrpSpPr>
              <p:cNvPr id="187" name="Agrupar 186">
                <a:extLst>
                  <a:ext uri="{FF2B5EF4-FFF2-40B4-BE49-F238E27FC236}">
                    <a16:creationId xmlns:a16="http://schemas.microsoft.com/office/drawing/2014/main" id="{886FAB09-0602-4148-829F-5AD10C245868}"/>
                  </a:ext>
                </a:extLst>
              </p:cNvPr>
              <p:cNvGrpSpPr/>
              <p:nvPr/>
            </p:nvGrpSpPr>
            <p:grpSpPr>
              <a:xfrm>
                <a:off x="3465481" y="4210431"/>
                <a:ext cx="1972512" cy="2200529"/>
                <a:chOff x="3465481" y="4210431"/>
                <a:chExt cx="1972512" cy="2200529"/>
              </a:xfrm>
            </p:grpSpPr>
            <p:sp>
              <p:nvSpPr>
                <p:cNvPr id="190" name="Retângulo 189">
                  <a:extLst>
                    <a:ext uri="{FF2B5EF4-FFF2-40B4-BE49-F238E27FC236}">
                      <a16:creationId xmlns:a16="http://schemas.microsoft.com/office/drawing/2014/main" id="{7F876E8D-BAE3-4AB4-A5F9-99C722BB4388}"/>
                    </a:ext>
                  </a:extLst>
                </p:cNvPr>
                <p:cNvSpPr/>
                <p:nvPr/>
              </p:nvSpPr>
              <p:spPr>
                <a:xfrm>
                  <a:off x="3465481" y="4210431"/>
                  <a:ext cx="1972512" cy="220052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CC339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pt-BR" sz="2400" b="1" noProof="0" dirty="0">
                      <a:solidFill>
                        <a:srgbClr val="002060"/>
                      </a:solidFill>
                    </a:rPr>
                    <a:t>Nó</a:t>
                  </a:r>
                </a:p>
              </p:txBody>
            </p:sp>
            <p:sp>
              <p:nvSpPr>
                <p:cNvPr id="191" name="Retângulo 190">
                  <a:extLst>
                    <a:ext uri="{FF2B5EF4-FFF2-40B4-BE49-F238E27FC236}">
                      <a16:creationId xmlns:a16="http://schemas.microsoft.com/office/drawing/2014/main" id="{198260DF-C059-43D3-8721-6744024BF0EE}"/>
                    </a:ext>
                  </a:extLst>
                </p:cNvPr>
                <p:cNvSpPr/>
                <p:nvPr/>
              </p:nvSpPr>
              <p:spPr>
                <a:xfrm>
                  <a:off x="3612794" y="5487212"/>
                  <a:ext cx="1688168" cy="839590"/>
                </a:xfrm>
                <a:prstGeom prst="rect">
                  <a:avLst/>
                </a:prstGeom>
                <a:solidFill>
                  <a:srgbClr val="B4C7E7"/>
                </a:solidFill>
                <a:ln w="22225">
                  <a:solidFill>
                    <a:srgbClr val="CC339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pt-BR" b="1" noProof="0" dirty="0" err="1">
                      <a:solidFill>
                        <a:srgbClr val="002060"/>
                      </a:solidFill>
                    </a:rPr>
                    <a:t>Pod</a:t>
                  </a:r>
                  <a:endParaRPr lang="pt-BR" b="1" noProof="0" dirty="0">
                    <a:solidFill>
                      <a:srgbClr val="002060"/>
                    </a:solidFill>
                  </a:endParaRPr>
                </a:p>
              </p:txBody>
            </p:sp>
            <p:sp>
              <p:nvSpPr>
                <p:cNvPr id="192" name="Retângulo 191">
                  <a:extLst>
                    <a:ext uri="{FF2B5EF4-FFF2-40B4-BE49-F238E27FC236}">
                      <a16:creationId xmlns:a16="http://schemas.microsoft.com/office/drawing/2014/main" id="{55FD8703-30C0-4271-BAC1-04EB13E63A02}"/>
                    </a:ext>
                  </a:extLst>
                </p:cNvPr>
                <p:cNvSpPr/>
                <p:nvPr/>
              </p:nvSpPr>
              <p:spPr>
                <a:xfrm>
                  <a:off x="3630190" y="5049206"/>
                  <a:ext cx="1660612" cy="384911"/>
                </a:xfrm>
                <a:prstGeom prst="rect">
                  <a:avLst/>
                </a:prstGeom>
                <a:solidFill>
                  <a:srgbClr val="7093D2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600" noProof="0" dirty="0" err="1"/>
                    <a:t>Kube</a:t>
                  </a:r>
                  <a:r>
                    <a:rPr lang="pt-BR" sz="1600" noProof="0" dirty="0"/>
                    <a:t>-Proxy</a:t>
                  </a:r>
                </a:p>
              </p:txBody>
            </p:sp>
            <p:sp>
              <p:nvSpPr>
                <p:cNvPr id="193" name="Retângulo 192">
                  <a:extLst>
                    <a:ext uri="{FF2B5EF4-FFF2-40B4-BE49-F238E27FC236}">
                      <a16:creationId xmlns:a16="http://schemas.microsoft.com/office/drawing/2014/main" id="{6817A631-7DC6-4558-A2C7-E2747599C66C}"/>
                    </a:ext>
                  </a:extLst>
                </p:cNvPr>
                <p:cNvSpPr/>
                <p:nvPr/>
              </p:nvSpPr>
              <p:spPr>
                <a:xfrm>
                  <a:off x="3630190" y="4601078"/>
                  <a:ext cx="1660612" cy="396219"/>
                </a:xfrm>
                <a:prstGeom prst="rect">
                  <a:avLst/>
                </a:prstGeom>
                <a:solidFill>
                  <a:srgbClr val="7093D2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600" noProof="0" dirty="0" err="1"/>
                    <a:t>Kubelet</a:t>
                  </a:r>
                  <a:endParaRPr lang="pt-BR" sz="1600" noProof="0" dirty="0"/>
                </a:p>
              </p:txBody>
            </p:sp>
          </p:grpSp>
          <p:pic>
            <p:nvPicPr>
              <p:cNvPr id="188" name="Imagem 187">
                <a:extLst>
                  <a:ext uri="{FF2B5EF4-FFF2-40B4-BE49-F238E27FC236}">
                    <a16:creationId xmlns:a16="http://schemas.microsoft.com/office/drawing/2014/main" id="{76C291FB-CBD6-4095-BF9F-DBD5354E97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70916" y="5855178"/>
                <a:ext cx="491332" cy="451629"/>
              </a:xfrm>
              <a:prstGeom prst="rect">
                <a:avLst/>
              </a:prstGeom>
            </p:spPr>
          </p:pic>
          <p:pic>
            <p:nvPicPr>
              <p:cNvPr id="189" name="Imagem 188">
                <a:extLst>
                  <a:ext uri="{FF2B5EF4-FFF2-40B4-BE49-F238E27FC236}">
                    <a16:creationId xmlns:a16="http://schemas.microsoft.com/office/drawing/2014/main" id="{1EDB5B07-B78B-4EF7-9912-85D45A3B56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12450" y="5851936"/>
                <a:ext cx="491332" cy="451629"/>
              </a:xfrm>
              <a:prstGeom prst="rect">
                <a:avLst/>
              </a:prstGeom>
            </p:spPr>
          </p:pic>
        </p:grpSp>
        <p:pic>
          <p:nvPicPr>
            <p:cNvPr id="186" name="Imagem 185">
              <a:extLst>
                <a:ext uri="{FF2B5EF4-FFF2-40B4-BE49-F238E27FC236}">
                  <a16:creationId xmlns:a16="http://schemas.microsoft.com/office/drawing/2014/main" id="{77B8173A-92BA-4F0B-8BFD-4532CC246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69915" y="5851936"/>
              <a:ext cx="491332" cy="451629"/>
            </a:xfrm>
            <a:prstGeom prst="rect">
              <a:avLst/>
            </a:prstGeom>
          </p:spPr>
        </p:pic>
      </p:grpSp>
      <p:grpSp>
        <p:nvGrpSpPr>
          <p:cNvPr id="194" name="Agrupar 193">
            <a:extLst>
              <a:ext uri="{FF2B5EF4-FFF2-40B4-BE49-F238E27FC236}">
                <a16:creationId xmlns:a16="http://schemas.microsoft.com/office/drawing/2014/main" id="{EF5E6926-7C66-409B-9C85-1A19A715B50D}"/>
              </a:ext>
            </a:extLst>
          </p:cNvPr>
          <p:cNvGrpSpPr/>
          <p:nvPr/>
        </p:nvGrpSpPr>
        <p:grpSpPr>
          <a:xfrm>
            <a:off x="3473501" y="4316830"/>
            <a:ext cx="1972512" cy="2200529"/>
            <a:chOff x="3465481" y="4210431"/>
            <a:chExt cx="1972512" cy="2200529"/>
          </a:xfrm>
        </p:grpSpPr>
        <p:grpSp>
          <p:nvGrpSpPr>
            <p:cNvPr id="195" name="Agrupar 194">
              <a:extLst>
                <a:ext uri="{FF2B5EF4-FFF2-40B4-BE49-F238E27FC236}">
                  <a16:creationId xmlns:a16="http://schemas.microsoft.com/office/drawing/2014/main" id="{7BA631F1-0B35-4F66-AF95-5F2BD3565802}"/>
                </a:ext>
              </a:extLst>
            </p:cNvPr>
            <p:cNvGrpSpPr/>
            <p:nvPr/>
          </p:nvGrpSpPr>
          <p:grpSpPr>
            <a:xfrm>
              <a:off x="3465481" y="4210431"/>
              <a:ext cx="1972512" cy="2200529"/>
              <a:chOff x="3465481" y="4210431"/>
              <a:chExt cx="1972512" cy="2200529"/>
            </a:xfrm>
          </p:grpSpPr>
          <p:grpSp>
            <p:nvGrpSpPr>
              <p:cNvPr id="197" name="Agrupar 196">
                <a:extLst>
                  <a:ext uri="{FF2B5EF4-FFF2-40B4-BE49-F238E27FC236}">
                    <a16:creationId xmlns:a16="http://schemas.microsoft.com/office/drawing/2014/main" id="{92877D4D-CB68-45EE-A1FD-931915D172EC}"/>
                  </a:ext>
                </a:extLst>
              </p:cNvPr>
              <p:cNvGrpSpPr/>
              <p:nvPr/>
            </p:nvGrpSpPr>
            <p:grpSpPr>
              <a:xfrm>
                <a:off x="3465481" y="4210431"/>
                <a:ext cx="1972512" cy="2200529"/>
                <a:chOff x="3465481" y="4210431"/>
                <a:chExt cx="1972512" cy="2200529"/>
              </a:xfrm>
            </p:grpSpPr>
            <p:sp>
              <p:nvSpPr>
                <p:cNvPr id="200" name="Retângulo 199">
                  <a:extLst>
                    <a:ext uri="{FF2B5EF4-FFF2-40B4-BE49-F238E27FC236}">
                      <a16:creationId xmlns:a16="http://schemas.microsoft.com/office/drawing/2014/main" id="{548E2F83-24F8-4B3D-A4DB-AC58A79A0B5D}"/>
                    </a:ext>
                  </a:extLst>
                </p:cNvPr>
                <p:cNvSpPr/>
                <p:nvPr/>
              </p:nvSpPr>
              <p:spPr>
                <a:xfrm>
                  <a:off x="3465481" y="4210431"/>
                  <a:ext cx="1972512" cy="220052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CC339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pt-BR" sz="2400" b="1" noProof="0" dirty="0">
                      <a:solidFill>
                        <a:srgbClr val="002060"/>
                      </a:solidFill>
                    </a:rPr>
                    <a:t>Nó</a:t>
                  </a:r>
                </a:p>
              </p:txBody>
            </p:sp>
            <p:sp>
              <p:nvSpPr>
                <p:cNvPr id="201" name="Retângulo 200">
                  <a:extLst>
                    <a:ext uri="{FF2B5EF4-FFF2-40B4-BE49-F238E27FC236}">
                      <a16:creationId xmlns:a16="http://schemas.microsoft.com/office/drawing/2014/main" id="{8033C258-CFC2-4305-809D-A54EB27AA50E}"/>
                    </a:ext>
                  </a:extLst>
                </p:cNvPr>
                <p:cNvSpPr/>
                <p:nvPr/>
              </p:nvSpPr>
              <p:spPr>
                <a:xfrm>
                  <a:off x="3612794" y="5487212"/>
                  <a:ext cx="1688168" cy="839590"/>
                </a:xfrm>
                <a:prstGeom prst="rect">
                  <a:avLst/>
                </a:prstGeom>
                <a:solidFill>
                  <a:srgbClr val="B4C7E7"/>
                </a:solidFill>
                <a:ln w="22225">
                  <a:solidFill>
                    <a:srgbClr val="CC339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pt-BR" b="1" noProof="0" dirty="0" err="1">
                      <a:solidFill>
                        <a:srgbClr val="002060"/>
                      </a:solidFill>
                    </a:rPr>
                    <a:t>Pod</a:t>
                  </a:r>
                  <a:endParaRPr lang="pt-BR" b="1" noProof="0" dirty="0">
                    <a:solidFill>
                      <a:srgbClr val="002060"/>
                    </a:solidFill>
                  </a:endParaRPr>
                </a:p>
              </p:txBody>
            </p:sp>
            <p:sp>
              <p:nvSpPr>
                <p:cNvPr id="202" name="Retângulo 201">
                  <a:extLst>
                    <a:ext uri="{FF2B5EF4-FFF2-40B4-BE49-F238E27FC236}">
                      <a16:creationId xmlns:a16="http://schemas.microsoft.com/office/drawing/2014/main" id="{9B8E6630-5A35-40FE-A992-DEABBDA8A2C6}"/>
                    </a:ext>
                  </a:extLst>
                </p:cNvPr>
                <p:cNvSpPr/>
                <p:nvPr/>
              </p:nvSpPr>
              <p:spPr>
                <a:xfrm>
                  <a:off x="3630190" y="5049206"/>
                  <a:ext cx="1660612" cy="384911"/>
                </a:xfrm>
                <a:prstGeom prst="rect">
                  <a:avLst/>
                </a:prstGeom>
                <a:solidFill>
                  <a:srgbClr val="7093D2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600" noProof="0" dirty="0" err="1"/>
                    <a:t>Kube</a:t>
                  </a:r>
                  <a:r>
                    <a:rPr lang="pt-BR" sz="1600" noProof="0" dirty="0"/>
                    <a:t>-Proxy</a:t>
                  </a:r>
                </a:p>
              </p:txBody>
            </p:sp>
            <p:sp>
              <p:nvSpPr>
                <p:cNvPr id="203" name="Retângulo 202">
                  <a:extLst>
                    <a:ext uri="{FF2B5EF4-FFF2-40B4-BE49-F238E27FC236}">
                      <a16:creationId xmlns:a16="http://schemas.microsoft.com/office/drawing/2014/main" id="{34292223-8766-4403-801A-EAAC440D9D52}"/>
                    </a:ext>
                  </a:extLst>
                </p:cNvPr>
                <p:cNvSpPr/>
                <p:nvPr/>
              </p:nvSpPr>
              <p:spPr>
                <a:xfrm>
                  <a:off x="3630190" y="4601078"/>
                  <a:ext cx="1660612" cy="396219"/>
                </a:xfrm>
                <a:prstGeom prst="rect">
                  <a:avLst/>
                </a:prstGeom>
                <a:solidFill>
                  <a:srgbClr val="7093D2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600" noProof="0" dirty="0" err="1"/>
                    <a:t>Kubelet</a:t>
                  </a:r>
                  <a:endParaRPr lang="pt-BR" sz="1600" noProof="0" dirty="0"/>
                </a:p>
              </p:txBody>
            </p:sp>
          </p:grpSp>
          <p:pic>
            <p:nvPicPr>
              <p:cNvPr id="198" name="Imagem 197">
                <a:extLst>
                  <a:ext uri="{FF2B5EF4-FFF2-40B4-BE49-F238E27FC236}">
                    <a16:creationId xmlns:a16="http://schemas.microsoft.com/office/drawing/2014/main" id="{6DECE9EC-EC31-48BA-BDB8-E953922C68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70916" y="5855178"/>
                <a:ext cx="491332" cy="451629"/>
              </a:xfrm>
              <a:prstGeom prst="rect">
                <a:avLst/>
              </a:prstGeom>
            </p:spPr>
          </p:pic>
          <p:pic>
            <p:nvPicPr>
              <p:cNvPr id="199" name="Imagem 198">
                <a:extLst>
                  <a:ext uri="{FF2B5EF4-FFF2-40B4-BE49-F238E27FC236}">
                    <a16:creationId xmlns:a16="http://schemas.microsoft.com/office/drawing/2014/main" id="{D7CFB639-0367-48BD-A2A0-A4042B5C06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12450" y="5851936"/>
                <a:ext cx="491332" cy="451629"/>
              </a:xfrm>
              <a:prstGeom prst="rect">
                <a:avLst/>
              </a:prstGeom>
            </p:spPr>
          </p:pic>
        </p:grpSp>
        <p:pic>
          <p:nvPicPr>
            <p:cNvPr id="196" name="Imagem 195">
              <a:extLst>
                <a:ext uri="{FF2B5EF4-FFF2-40B4-BE49-F238E27FC236}">
                  <a16:creationId xmlns:a16="http://schemas.microsoft.com/office/drawing/2014/main" id="{D41F5797-F12B-443F-A700-DFA91064B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69915" y="5851936"/>
              <a:ext cx="491332" cy="451629"/>
            </a:xfrm>
            <a:prstGeom prst="rect">
              <a:avLst/>
            </a:prstGeom>
          </p:spPr>
        </p:pic>
      </p:grp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34AAB404-6A36-47DB-AC28-DBDC79C865A3}"/>
              </a:ext>
            </a:extLst>
          </p:cNvPr>
          <p:cNvCxnSpPr>
            <a:cxnSpLocks/>
            <a:stCxn id="67" idx="3"/>
            <a:endCxn id="17" idx="1"/>
          </p:cNvCxnSpPr>
          <p:nvPr/>
        </p:nvCxnSpPr>
        <p:spPr>
          <a:xfrm flipV="1">
            <a:off x="9509236" y="3587458"/>
            <a:ext cx="562489" cy="1318130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de Seta Reta 140">
            <a:extLst>
              <a:ext uri="{FF2B5EF4-FFF2-40B4-BE49-F238E27FC236}">
                <a16:creationId xmlns:a16="http://schemas.microsoft.com/office/drawing/2014/main" id="{AB95505D-A9CA-4FF7-9CEF-EF1D015ED7AA}"/>
              </a:ext>
            </a:extLst>
          </p:cNvPr>
          <p:cNvCxnSpPr>
            <a:cxnSpLocks/>
            <a:stCxn id="201" idx="1"/>
            <a:endCxn id="140" idx="3"/>
          </p:cNvCxnSpPr>
          <p:nvPr/>
        </p:nvCxnSpPr>
        <p:spPr>
          <a:xfrm flipH="1" flipV="1">
            <a:off x="2433208" y="5884987"/>
            <a:ext cx="1187606" cy="128419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49761A82-5879-474D-A5B4-CA2E5C279208}"/>
              </a:ext>
            </a:extLst>
          </p:cNvPr>
          <p:cNvSpPr txBox="1"/>
          <p:nvPr/>
        </p:nvSpPr>
        <p:spPr>
          <a:xfrm>
            <a:off x="211084" y="165247"/>
            <a:ext cx="4846721" cy="923330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Rastreia e gerencia cargas de trabalho.</a:t>
            </a:r>
          </a:p>
          <a:p>
            <a:pPr algn="ctr"/>
            <a:r>
              <a:rPr lang="pt-BR" noProof="0" dirty="0"/>
              <a:t>Controla a capacidade e recursos dos nós.</a:t>
            </a:r>
          </a:p>
          <a:p>
            <a:pPr algn="ctr"/>
            <a:r>
              <a:rPr lang="pt-BR" noProof="0" dirty="0"/>
              <a:t>Atribui trabalho com base na disponibilidade.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49765B16-1AC7-4B48-A993-0998F7B96646}"/>
              </a:ext>
            </a:extLst>
          </p:cNvPr>
          <p:cNvSpPr txBox="1"/>
          <p:nvPr/>
        </p:nvSpPr>
        <p:spPr>
          <a:xfrm>
            <a:off x="10066712" y="4707476"/>
            <a:ext cx="2106161" cy="1754326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Proxy de rede executado nos nós.</a:t>
            </a:r>
          </a:p>
          <a:p>
            <a:pPr algn="ctr"/>
            <a:r>
              <a:rPr lang="pt-BR" noProof="0" dirty="0"/>
              <a:t>Balanceador de carga para serviços em execução em um nó</a:t>
            </a:r>
          </a:p>
        </p:txBody>
      </p: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38DA8C69-4C2C-449C-9DF9-C5816373456C}"/>
              </a:ext>
            </a:extLst>
          </p:cNvPr>
          <p:cNvCxnSpPr>
            <a:cxnSpLocks/>
            <a:stCxn id="43" idx="0"/>
            <a:endCxn id="50" idx="2"/>
          </p:cNvCxnSpPr>
          <p:nvPr/>
        </p:nvCxnSpPr>
        <p:spPr>
          <a:xfrm flipH="1" flipV="1">
            <a:off x="2634445" y="1088577"/>
            <a:ext cx="1889509" cy="1190193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B23F9081-6CD3-454D-8692-84421FC0D525}"/>
              </a:ext>
            </a:extLst>
          </p:cNvPr>
          <p:cNvCxnSpPr>
            <a:cxnSpLocks/>
            <a:stCxn id="66" idx="3"/>
            <a:endCxn id="51" idx="1"/>
          </p:cNvCxnSpPr>
          <p:nvPr/>
        </p:nvCxnSpPr>
        <p:spPr>
          <a:xfrm>
            <a:off x="9509236" y="5348062"/>
            <a:ext cx="557476" cy="236577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7409CFDC-F3C6-4DCE-AD8E-06897FCF52FA}"/>
              </a:ext>
            </a:extLst>
          </p:cNvPr>
          <p:cNvSpPr txBox="1"/>
          <p:nvPr/>
        </p:nvSpPr>
        <p:spPr>
          <a:xfrm>
            <a:off x="5213902" y="161046"/>
            <a:ext cx="3774448" cy="923330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Gerencia os loops de controle que gerenciam o estado do cluster como implantações, réplicas e nós.</a:t>
            </a:r>
          </a:p>
        </p:txBody>
      </p: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60EABAE5-BC59-4545-A1A7-8B6670512BFA}"/>
              </a:ext>
            </a:extLst>
          </p:cNvPr>
          <p:cNvCxnSpPr>
            <a:cxnSpLocks/>
            <a:stCxn id="44" idx="0"/>
            <a:endCxn id="63" idx="2"/>
          </p:cNvCxnSpPr>
          <p:nvPr/>
        </p:nvCxnSpPr>
        <p:spPr>
          <a:xfrm flipV="1">
            <a:off x="6556228" y="1084376"/>
            <a:ext cx="544898" cy="1183908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FE9CA440-4F77-48FA-9F6D-A4A5B23A972D}"/>
              </a:ext>
            </a:extLst>
          </p:cNvPr>
          <p:cNvSpPr txBox="1"/>
          <p:nvPr/>
        </p:nvSpPr>
        <p:spPr>
          <a:xfrm>
            <a:off x="10066711" y="161046"/>
            <a:ext cx="1978339" cy="2031325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Armazenamento de dados de valor-chave persistente e distribuído.</a:t>
            </a:r>
          </a:p>
          <a:p>
            <a:pPr algn="ctr"/>
            <a:r>
              <a:rPr lang="pt-BR" noProof="0" dirty="0"/>
              <a:t>Dados de estado e configuração de todo o cluster </a:t>
            </a:r>
          </a:p>
        </p:txBody>
      </p:sp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4A57F7F5-BFBC-42D9-A66B-C34AD87BF3EF}"/>
              </a:ext>
            </a:extLst>
          </p:cNvPr>
          <p:cNvCxnSpPr>
            <a:cxnSpLocks/>
            <a:stCxn id="45" idx="0"/>
            <a:endCxn id="65" idx="1"/>
          </p:cNvCxnSpPr>
          <p:nvPr/>
        </p:nvCxnSpPr>
        <p:spPr>
          <a:xfrm flipV="1">
            <a:off x="8642212" y="1176709"/>
            <a:ext cx="1424499" cy="1104665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80309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0D702-2A62-4250-A092-17E3BD71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Servless</a:t>
            </a:r>
            <a:r>
              <a:rPr lang="pt-BR" noProof="0" dirty="0"/>
              <a:t> Sem Servidor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5E6EE64-6E5B-49AA-8E92-1F7954079A57}"/>
              </a:ext>
            </a:extLst>
          </p:cNvPr>
          <p:cNvGrpSpPr/>
          <p:nvPr/>
        </p:nvGrpSpPr>
        <p:grpSpPr>
          <a:xfrm>
            <a:off x="7963536" y="1568131"/>
            <a:ext cx="3740784" cy="4924743"/>
            <a:chOff x="396240" y="1568132"/>
            <a:chExt cx="3942080" cy="4924743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293EEB4D-5E7B-44EB-A998-6C8F25633374}"/>
                </a:ext>
              </a:extLst>
            </p:cNvPr>
            <p:cNvSpPr/>
            <p:nvPr/>
          </p:nvSpPr>
          <p:spPr>
            <a:xfrm>
              <a:off x="396240" y="1568132"/>
              <a:ext cx="3942080" cy="49247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pt-BR" sz="2400" b="1" noProof="0" dirty="0">
                  <a:solidFill>
                    <a:srgbClr val="002060"/>
                  </a:solidFill>
                </a:rPr>
                <a:t>Sem Servidor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41150B5C-8FA5-4414-8655-598AD9E150FF}"/>
                </a:ext>
              </a:extLst>
            </p:cNvPr>
            <p:cNvSpPr/>
            <p:nvPr/>
          </p:nvSpPr>
          <p:spPr>
            <a:xfrm>
              <a:off x="619760" y="5764211"/>
              <a:ext cx="349504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Hardware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3C5C8523-1075-462B-B5C3-4500F839561C}"/>
                </a:ext>
              </a:extLst>
            </p:cNvPr>
            <p:cNvSpPr/>
            <p:nvPr/>
          </p:nvSpPr>
          <p:spPr>
            <a:xfrm>
              <a:off x="619760" y="5111114"/>
              <a:ext cx="349504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Sistema Operacional Host</a:t>
              </a: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BDEEA519-C399-470E-A184-D7B575D7AAEB}"/>
                </a:ext>
              </a:extLst>
            </p:cNvPr>
            <p:cNvSpPr/>
            <p:nvPr/>
          </p:nvSpPr>
          <p:spPr>
            <a:xfrm>
              <a:off x="608965" y="4458017"/>
              <a:ext cx="349504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Tempo de Execução sem Servidor</a:t>
              </a: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E1C5F1D-54E6-47CA-8DC7-A75601E0A9BE}"/>
                </a:ext>
              </a:extLst>
            </p:cNvPr>
            <p:cNvSpPr/>
            <p:nvPr/>
          </p:nvSpPr>
          <p:spPr>
            <a:xfrm>
              <a:off x="619760" y="3713321"/>
              <a:ext cx="1706245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Função</a:t>
              </a: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774F0D98-9682-4516-A1B6-AA92CC75C004}"/>
                </a:ext>
              </a:extLst>
            </p:cNvPr>
            <p:cNvSpPr/>
            <p:nvPr/>
          </p:nvSpPr>
          <p:spPr>
            <a:xfrm>
              <a:off x="2451099" y="3713321"/>
              <a:ext cx="1663701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Função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CD1E415-D496-41CB-9777-C041DBE4D35F}"/>
              </a:ext>
            </a:extLst>
          </p:cNvPr>
          <p:cNvGrpSpPr/>
          <p:nvPr/>
        </p:nvGrpSpPr>
        <p:grpSpPr>
          <a:xfrm>
            <a:off x="3959240" y="1568130"/>
            <a:ext cx="3865882" cy="4924743"/>
            <a:chOff x="396240" y="1568132"/>
            <a:chExt cx="3942080" cy="4924743"/>
          </a:xfrm>
        </p:grpSpPr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AA80399B-4939-4F93-A547-DB49220F7DAB}"/>
                </a:ext>
              </a:extLst>
            </p:cNvPr>
            <p:cNvSpPr/>
            <p:nvPr/>
          </p:nvSpPr>
          <p:spPr>
            <a:xfrm>
              <a:off x="396240" y="1568132"/>
              <a:ext cx="3942080" cy="49247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pt-BR" sz="2400" b="1" noProof="0" dirty="0">
                  <a:solidFill>
                    <a:srgbClr val="002060"/>
                  </a:solidFill>
                </a:rPr>
                <a:t>Contêineres</a:t>
              </a: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1A06DF64-408A-4E28-8105-44EBD1F58EF9}"/>
                </a:ext>
              </a:extLst>
            </p:cNvPr>
            <p:cNvSpPr/>
            <p:nvPr/>
          </p:nvSpPr>
          <p:spPr>
            <a:xfrm>
              <a:off x="619760" y="5764211"/>
              <a:ext cx="349504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Hardware</a:t>
              </a:r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B3507899-ED15-47D8-8281-6AC7FAD06557}"/>
                </a:ext>
              </a:extLst>
            </p:cNvPr>
            <p:cNvSpPr/>
            <p:nvPr/>
          </p:nvSpPr>
          <p:spPr>
            <a:xfrm>
              <a:off x="619760" y="5111114"/>
              <a:ext cx="349504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Sistema Operacional Host</a:t>
              </a:r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2197E6C4-6DF5-44C5-A09F-8CC4C6C63C93}"/>
                </a:ext>
              </a:extLst>
            </p:cNvPr>
            <p:cNvSpPr/>
            <p:nvPr/>
          </p:nvSpPr>
          <p:spPr>
            <a:xfrm>
              <a:off x="608965" y="4458017"/>
              <a:ext cx="349504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Mecanismos de </a:t>
              </a:r>
              <a:r>
                <a:rPr lang="pt-BR" noProof="0" dirty="0" err="1"/>
                <a:t>Conteiners</a:t>
              </a:r>
              <a:endParaRPr lang="pt-BR" noProof="0" dirty="0"/>
            </a:p>
          </p:txBody>
        </p: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D5B64B51-AE37-437C-9EFF-4EEE45BF07A5}"/>
                </a:ext>
              </a:extLst>
            </p:cNvPr>
            <p:cNvSpPr/>
            <p:nvPr/>
          </p:nvSpPr>
          <p:spPr>
            <a:xfrm>
              <a:off x="619760" y="3713321"/>
              <a:ext cx="1706245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Dependências</a:t>
              </a: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31542919-9809-4AC4-85BB-4D7BA916D590}"/>
                </a:ext>
              </a:extLst>
            </p:cNvPr>
            <p:cNvSpPr/>
            <p:nvPr/>
          </p:nvSpPr>
          <p:spPr>
            <a:xfrm>
              <a:off x="2451099" y="3713321"/>
              <a:ext cx="1663701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Dependências</a:t>
              </a: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0313D6FC-15F7-4B35-8B09-3BA045A5485F}"/>
                </a:ext>
              </a:extLst>
            </p:cNvPr>
            <p:cNvSpPr/>
            <p:nvPr/>
          </p:nvSpPr>
          <p:spPr>
            <a:xfrm>
              <a:off x="606107" y="2968625"/>
              <a:ext cx="1733549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Aplicativo</a:t>
              </a:r>
            </a:p>
          </p:txBody>
        </p:sp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id="{4A777274-8236-4022-B597-C4839C48244F}"/>
                </a:ext>
              </a:extLst>
            </p:cNvPr>
            <p:cNvSpPr/>
            <p:nvPr/>
          </p:nvSpPr>
          <p:spPr>
            <a:xfrm>
              <a:off x="2451099" y="2968625"/>
              <a:ext cx="1663701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Aplicativo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FC0AE322-B66E-4B88-B888-1D5E5073B1AA}"/>
              </a:ext>
            </a:extLst>
          </p:cNvPr>
          <p:cNvGrpSpPr/>
          <p:nvPr/>
        </p:nvGrpSpPr>
        <p:grpSpPr>
          <a:xfrm>
            <a:off x="128906" y="1568131"/>
            <a:ext cx="3740784" cy="4924743"/>
            <a:chOff x="396240" y="1568132"/>
            <a:chExt cx="3942080" cy="4924743"/>
          </a:xfrm>
        </p:grpSpPr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6FD0CE12-4F1A-4187-A712-06D4B1BE4640}"/>
                </a:ext>
              </a:extLst>
            </p:cNvPr>
            <p:cNvSpPr/>
            <p:nvPr/>
          </p:nvSpPr>
          <p:spPr>
            <a:xfrm>
              <a:off x="396240" y="1568132"/>
              <a:ext cx="3942080" cy="49247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pt-BR" sz="2400" b="1" noProof="0" dirty="0">
                  <a:solidFill>
                    <a:srgbClr val="002060"/>
                  </a:solidFill>
                </a:rPr>
                <a:t>Máquinas Virtuais</a:t>
              </a:r>
            </a:p>
          </p:txBody>
        </p:sp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id="{4B7FE4E0-A6A7-428E-AEF9-0E2E96228E7A}"/>
                </a:ext>
              </a:extLst>
            </p:cNvPr>
            <p:cNvSpPr/>
            <p:nvPr/>
          </p:nvSpPr>
          <p:spPr>
            <a:xfrm>
              <a:off x="619760" y="5764211"/>
              <a:ext cx="349504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Hardware</a:t>
              </a:r>
            </a:p>
          </p:txBody>
        </p:sp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4D5AC5BF-AD2F-4FDF-9C25-3F852FCB3C7F}"/>
                </a:ext>
              </a:extLst>
            </p:cNvPr>
            <p:cNvSpPr/>
            <p:nvPr/>
          </p:nvSpPr>
          <p:spPr>
            <a:xfrm>
              <a:off x="619760" y="5111114"/>
              <a:ext cx="349504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Sistema Operacional Host</a:t>
              </a:r>
            </a:p>
          </p:txBody>
        </p:sp>
        <p:sp>
          <p:nvSpPr>
            <p:cNvPr id="39" name="Retângulo 38">
              <a:extLst>
                <a:ext uri="{FF2B5EF4-FFF2-40B4-BE49-F238E27FC236}">
                  <a16:creationId xmlns:a16="http://schemas.microsoft.com/office/drawing/2014/main" id="{BD7843B4-5535-4E77-B182-52EA174A361D}"/>
                </a:ext>
              </a:extLst>
            </p:cNvPr>
            <p:cNvSpPr/>
            <p:nvPr/>
          </p:nvSpPr>
          <p:spPr>
            <a:xfrm>
              <a:off x="608965" y="4458017"/>
              <a:ext cx="3495040" cy="51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Controlador </a:t>
              </a:r>
              <a:r>
                <a:rPr lang="pt-BR" noProof="0" dirty="0" err="1"/>
                <a:t>Hipervisor</a:t>
              </a:r>
              <a:endParaRPr lang="pt-BR" noProof="0" dirty="0"/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19A288D7-C413-47D2-B7DA-909ECE63AA48}"/>
                </a:ext>
              </a:extLst>
            </p:cNvPr>
            <p:cNvSpPr/>
            <p:nvPr/>
          </p:nvSpPr>
          <p:spPr>
            <a:xfrm>
              <a:off x="619760" y="3713321"/>
              <a:ext cx="1706245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Hardware</a:t>
              </a:r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B2307D68-18ED-497B-A7A8-28E4E7E49389}"/>
                </a:ext>
              </a:extLst>
            </p:cNvPr>
            <p:cNvSpPr/>
            <p:nvPr/>
          </p:nvSpPr>
          <p:spPr>
            <a:xfrm>
              <a:off x="2451099" y="3713321"/>
              <a:ext cx="1663701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Hardware</a:t>
              </a:r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E20DA103-3A51-4519-A32D-183D05F0D995}"/>
                </a:ext>
              </a:extLst>
            </p:cNvPr>
            <p:cNvSpPr/>
            <p:nvPr/>
          </p:nvSpPr>
          <p:spPr>
            <a:xfrm>
              <a:off x="606107" y="2968625"/>
              <a:ext cx="1733549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SO</a:t>
              </a:r>
            </a:p>
          </p:txBody>
        </p:sp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8D914E21-B190-4919-946F-644E99DCFF3D}"/>
                </a:ext>
              </a:extLst>
            </p:cNvPr>
            <p:cNvSpPr/>
            <p:nvPr/>
          </p:nvSpPr>
          <p:spPr>
            <a:xfrm>
              <a:off x="2451099" y="2968625"/>
              <a:ext cx="1663701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SO</a:t>
              </a:r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242DDC42-7358-44ED-8412-BAAE7067C2E3}"/>
                </a:ext>
              </a:extLst>
            </p:cNvPr>
            <p:cNvSpPr/>
            <p:nvPr/>
          </p:nvSpPr>
          <p:spPr>
            <a:xfrm>
              <a:off x="592456" y="2228531"/>
              <a:ext cx="1733549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Aplicativo</a:t>
              </a:r>
            </a:p>
          </p:txBody>
        </p:sp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id="{F6B337C3-9628-41ED-89AB-8F519729D43E}"/>
                </a:ext>
              </a:extLst>
            </p:cNvPr>
            <p:cNvSpPr/>
            <p:nvPr/>
          </p:nvSpPr>
          <p:spPr>
            <a:xfrm>
              <a:off x="2451099" y="2223929"/>
              <a:ext cx="1663701" cy="63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Aplicativo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846208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02AC7-022F-4700-A03A-8A07CF0BF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Docker Definições.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5DDAC0-7016-4285-9471-9E3E0433D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Contêiner é um ambiente livremente isolado que nos permite criar e executar pacotes de software, código e todas as dependências, esses pacotes são baseados em </a:t>
            </a:r>
            <a:r>
              <a:rPr lang="pt-BR" i="1" noProof="0" dirty="0"/>
              <a:t>imagens de contêiner</a:t>
            </a:r>
            <a:r>
              <a:rPr lang="pt-BR" noProof="0" dirty="0"/>
              <a:t>.</a:t>
            </a:r>
          </a:p>
          <a:p>
            <a:r>
              <a:rPr lang="pt-BR" noProof="0" dirty="0"/>
              <a:t>Transporte em contêineres é um método de virtualização do sistema operacional usado para implantar e executar contêineres sem usar uma VM (máquina virtual).</a:t>
            </a:r>
          </a:p>
          <a:p>
            <a:r>
              <a:rPr lang="pt-BR" noProof="0" dirty="0"/>
              <a:t>Docker é uma plataforma de transporte em contêineres usada para desenvolver, enviar e executar contêineres.</a:t>
            </a:r>
          </a:p>
          <a:p>
            <a:r>
              <a:rPr lang="pt-BR" noProof="0" dirty="0"/>
              <a:t>Plataforma do Docker consiste em vários componentes que usamos para criar, executar e gerenciar nossos aplicativos em contêineres</a:t>
            </a:r>
          </a:p>
        </p:txBody>
      </p:sp>
    </p:spTree>
    <p:extLst>
      <p:ext uri="{BB962C8B-B14F-4D97-AF65-F5344CB8AC3E}">
        <p14:creationId xmlns:p14="http://schemas.microsoft.com/office/powerpoint/2010/main" val="288899188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02AC7-022F-4700-A03A-8A07CF0BF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Docker Definições.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5DDAC0-7016-4285-9471-9E3E0433D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" y="1300480"/>
            <a:ext cx="11734800" cy="5557519"/>
          </a:xfrm>
        </p:spPr>
        <p:txBody>
          <a:bodyPr>
            <a:normAutofit fontScale="92500" lnSpcReduction="10000"/>
          </a:bodyPr>
          <a:lstStyle/>
          <a:p>
            <a:r>
              <a:rPr lang="pt-BR" noProof="0" dirty="0"/>
              <a:t>Servidor do Docker é um </a:t>
            </a:r>
            <a:r>
              <a:rPr lang="pt-BR" noProof="0" dirty="0" err="1"/>
              <a:t>daemon</a:t>
            </a:r>
            <a:r>
              <a:rPr lang="pt-BR" noProof="0" dirty="0"/>
              <a:t> chamado </a:t>
            </a:r>
            <a:r>
              <a:rPr lang="pt-BR" noProof="0" dirty="0" err="1"/>
              <a:t>dockerd</a:t>
            </a:r>
            <a:r>
              <a:rPr lang="pt-BR" noProof="0" dirty="0"/>
              <a:t> que responde às solicitações do cliente por meio da API REST do Docker e pode interagir com outros </a:t>
            </a:r>
            <a:r>
              <a:rPr lang="pt-BR" noProof="0" dirty="0" err="1"/>
              <a:t>daemons</a:t>
            </a:r>
            <a:r>
              <a:rPr lang="pt-BR" noProof="0" dirty="0"/>
              <a:t>. O servidor do Docker também é responsável por acompanhar o ciclo de vida de nossos contêineres.</a:t>
            </a:r>
          </a:p>
          <a:p>
            <a:r>
              <a:rPr lang="pt-BR" noProof="0" dirty="0"/>
              <a:t>Cliente do Docker aplicativo de linha de comando chamado Docker que nos fornece uma CLI (interface de linha de comando) para interagir com um servidor do Docker usando a API REST do Docker para enviar instruções para um servidor local ou remoto e funções como a interface primária que usamos para gerenciar nossos contêineres.</a:t>
            </a:r>
          </a:p>
          <a:p>
            <a:r>
              <a:rPr lang="pt-BR" noProof="0" dirty="0"/>
              <a:t>Objetos Docker dão suporte às implantações de contêiner. Isso inclui redes, volumes de armazenamento, plug-ins e outros objetos de serviço. </a:t>
            </a:r>
          </a:p>
          <a:p>
            <a:r>
              <a:rPr lang="pt-BR" noProof="0" dirty="0"/>
              <a:t>Docker Hub é um registro de contêiner de SaaS (software como serviço) do Docker. São repositórios que usamos para armazenar e distribuir as imagens de contêiner. Você pode usar o Registro de Contêiner do Azure para armazenar contêineres do Docker para usá-los em vários serviços habilitados para contêiner do Azure.</a:t>
            </a:r>
          </a:p>
        </p:txBody>
      </p:sp>
    </p:spTree>
    <p:extLst>
      <p:ext uri="{BB962C8B-B14F-4D97-AF65-F5344CB8AC3E}">
        <p14:creationId xmlns:p14="http://schemas.microsoft.com/office/powerpoint/2010/main" val="270895365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02AC7-022F-4700-A03A-8A07CF0BF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Docker Definições.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5DDAC0-7016-4285-9471-9E3E0433D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Contêiner é um ambiente livremente isolado que nos permite criar e executar pacotes de software, código e todas as dependências, esses pacotes são baseados em </a:t>
            </a:r>
            <a:r>
              <a:rPr lang="pt-BR" i="1" noProof="0" dirty="0"/>
              <a:t>imagens de contêiner</a:t>
            </a:r>
            <a:r>
              <a:rPr lang="pt-BR" noProof="0" dirty="0"/>
              <a:t>.</a:t>
            </a:r>
          </a:p>
          <a:p>
            <a:r>
              <a:rPr lang="pt-BR" noProof="0" dirty="0"/>
              <a:t>Transporte em contêineres é um método de virtualização do sistema operacional usado para implantar e executar contêineres sem usar uma VM (máquina virtual).</a:t>
            </a:r>
          </a:p>
          <a:p>
            <a:r>
              <a:rPr lang="pt-BR" noProof="0" dirty="0"/>
              <a:t>Docker é uma plataforma de transporte em contêineres usada para desenvolver, enviar e executar contêineres.</a:t>
            </a:r>
          </a:p>
          <a:p>
            <a:r>
              <a:rPr lang="pt-BR" noProof="0" dirty="0"/>
              <a:t>Plataforma do Docker consiste em vários componentes que usamos para criar, executar e gerenciar nossos aplicativos em contêineres</a:t>
            </a:r>
          </a:p>
        </p:txBody>
      </p:sp>
    </p:spTree>
    <p:extLst>
      <p:ext uri="{BB962C8B-B14F-4D97-AF65-F5344CB8AC3E}">
        <p14:creationId xmlns:p14="http://schemas.microsoft.com/office/powerpoint/2010/main" val="332187543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A55D0-1FC8-4106-92CA-2ADD4777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DockerFile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7ABC9-3BB9-403E-867C-74D42058B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noProof="0" dirty="0"/>
              <a:t>Um </a:t>
            </a:r>
            <a:r>
              <a:rPr lang="pt-BR" noProof="0" dirty="0" err="1"/>
              <a:t>Dockerfile</a:t>
            </a:r>
            <a:r>
              <a:rPr lang="pt-BR" noProof="0" dirty="0"/>
              <a:t> é um arquivo de texto que contém as instruções que usamos para compilar e executar uma imagem do Docker</a:t>
            </a:r>
          </a:p>
          <a:p>
            <a:pPr lvl="1"/>
            <a:r>
              <a:rPr lang="pt-BR" noProof="0" dirty="0"/>
              <a:t>A imagem base ou pai que usamos para criar a imagem</a:t>
            </a:r>
          </a:p>
          <a:p>
            <a:pPr lvl="1"/>
            <a:r>
              <a:rPr lang="pt-BR" noProof="0" dirty="0"/>
              <a:t>Comandos usados para atualizar o sistema operacional base e instalar software adicional</a:t>
            </a:r>
          </a:p>
          <a:p>
            <a:pPr lvl="1"/>
            <a:r>
              <a:rPr lang="pt-BR" noProof="0" dirty="0"/>
              <a:t>Artefatos de compilação a serem incluídos, como um aplicativo desenvolvido</a:t>
            </a:r>
          </a:p>
          <a:p>
            <a:pPr lvl="1"/>
            <a:r>
              <a:rPr lang="pt-BR" noProof="0" dirty="0"/>
              <a:t>Serviços a serem expostos, como um armazenamento e uma configuração de rede</a:t>
            </a:r>
          </a:p>
          <a:p>
            <a:pPr lvl="1"/>
            <a:r>
              <a:rPr lang="pt-BR" noProof="0" dirty="0"/>
              <a:t>Comando a ser executado quando o contêiner é iniciado</a:t>
            </a:r>
          </a:p>
          <a:p>
            <a:pPr lvl="1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1930148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23">
            <a:extLst>
              <a:ext uri="{FF2B5EF4-FFF2-40B4-BE49-F238E27FC236}">
                <a16:creationId xmlns:a16="http://schemas.microsoft.com/office/drawing/2014/main" id="{05D48B5D-E681-4B9A-BCEF-16E7A476DA0A}"/>
              </a:ext>
            </a:extLst>
          </p:cNvPr>
          <p:cNvSpPr txBox="1"/>
          <p:nvPr/>
        </p:nvSpPr>
        <p:spPr>
          <a:xfrm>
            <a:off x="4083357" y="2569537"/>
            <a:ext cx="1844821" cy="646331"/>
          </a:xfrm>
          <a:prstGeom prst="rect">
            <a:avLst/>
          </a:prstGeom>
          <a:ln w="3175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Pausar Docker</a:t>
            </a:r>
          </a:p>
          <a:p>
            <a:pPr algn="ctr"/>
            <a:r>
              <a:rPr lang="pt-BR" noProof="0" dirty="0"/>
              <a:t>Retomar Docker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8329D82-7C18-4E8A-AB7E-510B3C728A60}"/>
              </a:ext>
            </a:extLst>
          </p:cNvPr>
          <p:cNvSpPr txBox="1"/>
          <p:nvPr/>
        </p:nvSpPr>
        <p:spPr>
          <a:xfrm>
            <a:off x="7159815" y="3590867"/>
            <a:ext cx="1844821" cy="369332"/>
          </a:xfrm>
          <a:prstGeom prst="rect">
            <a:avLst/>
          </a:prstGeom>
          <a:ln w="3175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Parar Docker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4240F52-6FBB-4DF2-AF70-89F63E8185B6}"/>
              </a:ext>
            </a:extLst>
          </p:cNvPr>
          <p:cNvSpPr txBox="1"/>
          <p:nvPr/>
        </p:nvSpPr>
        <p:spPr>
          <a:xfrm>
            <a:off x="5730240" y="4675179"/>
            <a:ext cx="1844821" cy="369332"/>
          </a:xfrm>
          <a:prstGeom prst="rect">
            <a:avLst/>
          </a:prstGeom>
          <a:ln w="3175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Parar Docker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B13C4E-1454-45A5-A787-7744C3A6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Ciclo de vida do </a:t>
            </a:r>
            <a:r>
              <a:rPr lang="pt-BR" noProof="0" dirty="0" err="1"/>
              <a:t>Conteiner</a:t>
            </a:r>
            <a:endParaRPr lang="pt-BR" noProof="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C2B6E4E-3B6A-406E-93D9-728C36BEBB44}"/>
              </a:ext>
            </a:extLst>
          </p:cNvPr>
          <p:cNvSpPr txBox="1"/>
          <p:nvPr/>
        </p:nvSpPr>
        <p:spPr>
          <a:xfrm>
            <a:off x="9123458" y="3567182"/>
            <a:ext cx="1963643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/>
            </a:lvl1pPr>
          </a:lstStyle>
          <a:p>
            <a:r>
              <a:rPr lang="pt-BR" noProof="0" dirty="0"/>
              <a:t>Remover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63803CC-3C93-4003-9DB0-45AA838F1EBC}"/>
              </a:ext>
            </a:extLst>
          </p:cNvPr>
          <p:cNvSpPr txBox="1"/>
          <p:nvPr/>
        </p:nvSpPr>
        <p:spPr>
          <a:xfrm>
            <a:off x="4946358" y="5382437"/>
            <a:ext cx="1963643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/>
            </a:lvl1pPr>
          </a:lstStyle>
          <a:p>
            <a:r>
              <a:rPr lang="pt-BR" noProof="0" dirty="0"/>
              <a:t>Parado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9476AA-A695-4DBF-BC0B-13EE6D0B3D10}"/>
              </a:ext>
            </a:extLst>
          </p:cNvPr>
          <p:cNvSpPr txBox="1"/>
          <p:nvPr/>
        </p:nvSpPr>
        <p:spPr>
          <a:xfrm>
            <a:off x="4946358" y="1751929"/>
            <a:ext cx="1963643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/>
            </a:lvl1pPr>
          </a:lstStyle>
          <a:p>
            <a:r>
              <a:rPr lang="pt-BR" noProof="0" dirty="0"/>
              <a:t>Pausado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CCCC74E-BCB8-4104-AD51-D56AC95B6EA3}"/>
              </a:ext>
            </a:extLst>
          </p:cNvPr>
          <p:cNvSpPr txBox="1"/>
          <p:nvPr/>
        </p:nvSpPr>
        <p:spPr>
          <a:xfrm>
            <a:off x="4946357" y="3567183"/>
            <a:ext cx="1963643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/>
            </a:lvl1pPr>
          </a:lstStyle>
          <a:p>
            <a:r>
              <a:rPr lang="pt-BR" noProof="0" dirty="0"/>
              <a:t>Execução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98CB900-BAE9-4103-AEA0-8B358544914E}"/>
              </a:ext>
            </a:extLst>
          </p:cNvPr>
          <p:cNvSpPr txBox="1"/>
          <p:nvPr/>
        </p:nvSpPr>
        <p:spPr>
          <a:xfrm>
            <a:off x="1208182" y="3596441"/>
            <a:ext cx="1524717" cy="646331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600" noProof="0" dirty="0"/>
              <a:t>Criado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F0CFC580-5524-485A-B442-38BEE40EE466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flipH="1">
            <a:off x="2732899" y="3890349"/>
            <a:ext cx="2213458" cy="29258"/>
          </a:xfrm>
          <a:prstGeom prst="straightConnector1">
            <a:avLst/>
          </a:prstGeom>
          <a:ln w="47625">
            <a:solidFill>
              <a:srgbClr val="CC3399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02D65340-3201-4541-8905-F2B717C7FFBA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 flipV="1">
            <a:off x="6910000" y="3890348"/>
            <a:ext cx="2213458" cy="1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429A661-C9A5-4630-A616-139535DAB428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5928179" y="2398260"/>
            <a:ext cx="1" cy="1168923"/>
          </a:xfrm>
          <a:prstGeom prst="straightConnector1">
            <a:avLst/>
          </a:prstGeom>
          <a:ln w="47625">
            <a:solidFill>
              <a:srgbClr val="CC339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38A6AD60-EF64-41F6-9AC0-6F4520282786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5928179" y="4213514"/>
            <a:ext cx="1" cy="1168923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66F76BD-FF18-487C-82D2-F89E0ED5F28C}"/>
              </a:ext>
            </a:extLst>
          </p:cNvPr>
          <p:cNvSpPr txBox="1"/>
          <p:nvPr/>
        </p:nvSpPr>
        <p:spPr>
          <a:xfrm>
            <a:off x="2917217" y="3927831"/>
            <a:ext cx="1844821" cy="369332"/>
          </a:xfrm>
          <a:prstGeom prst="rect">
            <a:avLst/>
          </a:prstGeom>
          <a:ln w="3175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noProof="0" dirty="0"/>
              <a:t>Executar Docker</a:t>
            </a:r>
          </a:p>
        </p:txBody>
      </p:sp>
    </p:spTree>
    <p:extLst>
      <p:ext uri="{BB962C8B-B14F-4D97-AF65-F5344CB8AC3E}">
        <p14:creationId xmlns:p14="http://schemas.microsoft.com/office/powerpoint/2010/main" val="108712678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626A7-CA2B-4D7D-9E6D-C34F80AE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/>
              <a:t>Armazenamento no Contêiner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56D1C6-D3CB-4631-81C2-9A4BD9568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Diretamente no sistema de arquivos do contêiner.</a:t>
            </a:r>
          </a:p>
          <a:p>
            <a:pPr lvl="1"/>
            <a:r>
              <a:rPr lang="pt-BR" noProof="0" dirty="0"/>
              <a:t>O armazenamento de contêiner é temporário</a:t>
            </a:r>
          </a:p>
          <a:p>
            <a:pPr lvl="1"/>
            <a:r>
              <a:rPr lang="pt-BR" noProof="0" dirty="0"/>
              <a:t>O armazenamento de contêiner é acoplado ao computador host subjacente</a:t>
            </a:r>
          </a:p>
          <a:p>
            <a:pPr lvl="1"/>
            <a:r>
              <a:rPr lang="pt-BR" noProof="0" dirty="0"/>
              <a:t>As unidades de armazenamento de contêiner têm um desempenho inferior</a:t>
            </a:r>
          </a:p>
          <a:p>
            <a:r>
              <a:rPr lang="pt-BR" noProof="0" dirty="0"/>
              <a:t>Contêineres podem fazer uso de duas opções para persistir os dados:</a:t>
            </a:r>
          </a:p>
          <a:p>
            <a:pPr lvl="1"/>
            <a:r>
              <a:rPr lang="pt-BR" i="1" noProof="0" dirty="0"/>
              <a:t>Volumes (pasta especifica no computador host)</a:t>
            </a:r>
          </a:p>
          <a:p>
            <a:pPr lvl="1"/>
            <a:r>
              <a:rPr lang="pt-BR" i="1" noProof="0" dirty="0"/>
              <a:t>Montagem de associação (sem pasta especifica no computador host)</a:t>
            </a:r>
          </a:p>
          <a:p>
            <a:pPr marL="457200" lvl="1" indent="0"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06429420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CB3F6-29D2-4F98-8AAB-42C9991B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/>
              <a:t>Rede de contêiner no Docker</a:t>
            </a:r>
            <a:br>
              <a:rPr lang="pt-BR" b="1" noProof="0" dirty="0"/>
            </a:b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91658A-4413-45F9-8EBF-E9935E145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noProof="0" dirty="0"/>
              <a:t>Bridge</a:t>
            </a:r>
          </a:p>
          <a:p>
            <a:pPr lvl="1"/>
            <a:r>
              <a:rPr lang="pt-BR" noProof="0" dirty="0"/>
              <a:t>É uma rede privada interna usada pelo contêiner e isola a rede de contêiner da rede de host.</a:t>
            </a:r>
          </a:p>
          <a:p>
            <a:pPr lvl="1"/>
            <a:r>
              <a:rPr lang="pt-BR" noProof="0" dirty="0"/>
              <a:t>Contêiner recebe um endereço IP, </a:t>
            </a:r>
            <a:r>
              <a:rPr lang="pt-BR" noProof="0" dirty="0" err="1"/>
              <a:t>sub-rede</a:t>
            </a:r>
            <a:r>
              <a:rPr lang="pt-BR" noProof="0" dirty="0"/>
              <a:t>, nome do host e têm permissão para acessar outros contêineres conectados à ponte pelo endereço IP.</a:t>
            </a:r>
          </a:p>
          <a:p>
            <a:pPr lvl="1"/>
            <a:r>
              <a:rPr lang="pt-BR" noProof="0" dirty="0"/>
              <a:t>Podemos criar um mapeamento de portas entre as portas do contêiner e as portas do host do Docker.</a:t>
            </a:r>
          </a:p>
          <a:p>
            <a:r>
              <a:rPr lang="pt-BR" noProof="0" dirty="0"/>
              <a:t>Host</a:t>
            </a:r>
          </a:p>
          <a:p>
            <a:pPr lvl="1"/>
            <a:r>
              <a:rPr lang="pt-BR" noProof="0" dirty="0"/>
              <a:t>Permite executar o contêiner diretamente na rede do host.</a:t>
            </a:r>
          </a:p>
          <a:p>
            <a:pPr lvl="1"/>
            <a:r>
              <a:rPr lang="pt-BR" noProof="0" dirty="0"/>
              <a:t>Remove efetivamente o isolamento entre o host e o contêiner em um nível de rede.</a:t>
            </a:r>
          </a:p>
          <a:p>
            <a:pPr lvl="1"/>
            <a:r>
              <a:rPr lang="pt-BR" noProof="0" dirty="0"/>
              <a:t>Contêiner só pode usar as portas ainda não usadas pelo host.</a:t>
            </a:r>
          </a:p>
          <a:p>
            <a:r>
              <a:rPr lang="pt-BR" noProof="0" dirty="0" err="1"/>
              <a:t>None</a:t>
            </a:r>
            <a:endParaRPr lang="pt-BR" noProof="0" dirty="0"/>
          </a:p>
          <a:p>
            <a:pPr lvl="1"/>
            <a:r>
              <a:rPr lang="pt-BR" noProof="0" dirty="0"/>
              <a:t>É uma opção de rede para desabilitar a rede para os contêineres</a:t>
            </a:r>
          </a:p>
        </p:txBody>
      </p:sp>
    </p:spTree>
    <p:extLst>
      <p:ext uri="{BB962C8B-B14F-4D97-AF65-F5344CB8AC3E}">
        <p14:creationId xmlns:p14="http://schemas.microsoft.com/office/powerpoint/2010/main" val="150297626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F90ABF47-1576-4797-9714-8AD1D48D44A0}"/>
              </a:ext>
            </a:extLst>
          </p:cNvPr>
          <p:cNvSpPr/>
          <p:nvPr/>
        </p:nvSpPr>
        <p:spPr>
          <a:xfrm>
            <a:off x="3124693" y="2335171"/>
            <a:ext cx="3245628" cy="2187658"/>
          </a:xfrm>
          <a:prstGeom prst="rect">
            <a:avLst/>
          </a:prstGeom>
          <a:noFill/>
          <a:ln w="476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noProof="0" dirty="0">
                <a:solidFill>
                  <a:schemeClr val="tx1"/>
                </a:solidFill>
              </a:rPr>
              <a:t>Contêiner Docker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03B4F0-F35E-456D-9A0B-6D3F0118D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/>
              <a:t>Rede de contêiner no Docker</a:t>
            </a:r>
            <a:endParaRPr lang="pt-BR" noProof="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A759381-FCEB-4FBC-A201-FB93229B7F46}"/>
              </a:ext>
            </a:extLst>
          </p:cNvPr>
          <p:cNvSpPr txBox="1"/>
          <p:nvPr/>
        </p:nvSpPr>
        <p:spPr>
          <a:xfrm>
            <a:off x="191972" y="3220501"/>
            <a:ext cx="1575868" cy="461665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noProof="0" dirty="0"/>
              <a:t>Navegador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879101-277E-46D8-84E4-6A3B41F98EFA}"/>
              </a:ext>
            </a:extLst>
          </p:cNvPr>
          <p:cNvSpPr txBox="1"/>
          <p:nvPr/>
        </p:nvSpPr>
        <p:spPr>
          <a:xfrm>
            <a:off x="4415533" y="3220499"/>
            <a:ext cx="1670308" cy="461665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/>
            </a:lvl1pPr>
          </a:lstStyle>
          <a:p>
            <a:r>
              <a:rPr lang="pt-BR" noProof="0" dirty="0"/>
              <a:t>Aplicativo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DB3E383-2B63-4627-8688-387FD020F1CF}"/>
              </a:ext>
            </a:extLst>
          </p:cNvPr>
          <p:cNvSpPr/>
          <p:nvPr/>
        </p:nvSpPr>
        <p:spPr>
          <a:xfrm>
            <a:off x="2165064" y="3109026"/>
            <a:ext cx="1919256" cy="697083"/>
          </a:xfrm>
          <a:prstGeom prst="ellipse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600" noProof="0" dirty="0">
                <a:solidFill>
                  <a:schemeClr val="tx1"/>
                </a:solidFill>
              </a:rPr>
              <a:t>Mapeamento de Porta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EE0D046-DF0D-44FD-B694-7A00CAFDCFE4}"/>
              </a:ext>
            </a:extLst>
          </p:cNvPr>
          <p:cNvSpPr/>
          <p:nvPr/>
        </p:nvSpPr>
        <p:spPr>
          <a:xfrm>
            <a:off x="9011920" y="2335172"/>
            <a:ext cx="2967788" cy="2162704"/>
          </a:xfrm>
          <a:prstGeom prst="rect">
            <a:avLst/>
          </a:prstGeom>
          <a:noFill/>
          <a:ln w="476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noProof="0" dirty="0">
                <a:solidFill>
                  <a:schemeClr val="tx1"/>
                </a:solidFill>
              </a:rPr>
              <a:t>Contêiner Docker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F171267-CA14-4758-95A0-DF2B8ECCD78A}"/>
              </a:ext>
            </a:extLst>
          </p:cNvPr>
          <p:cNvSpPr/>
          <p:nvPr/>
        </p:nvSpPr>
        <p:spPr>
          <a:xfrm>
            <a:off x="6701534" y="3109028"/>
            <a:ext cx="1844646" cy="697081"/>
          </a:xfrm>
          <a:prstGeom prst="ellipse">
            <a:avLst/>
          </a:prstGeom>
          <a:solidFill>
            <a:schemeClr val="bg1"/>
          </a:solidFill>
          <a:ln w="476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600" noProof="0" dirty="0">
                <a:solidFill>
                  <a:schemeClr val="tx1"/>
                </a:solidFill>
              </a:rPr>
              <a:t>Rede Padrão Bridge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30E2666-A560-4A34-8800-AE53CFF405D1}"/>
              </a:ext>
            </a:extLst>
          </p:cNvPr>
          <p:cNvSpPr txBox="1"/>
          <p:nvPr/>
        </p:nvSpPr>
        <p:spPr>
          <a:xfrm>
            <a:off x="9344936" y="3220498"/>
            <a:ext cx="2429234" cy="461665"/>
          </a:xfrm>
          <a:prstGeom prst="rect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/>
            </a:lvl1pPr>
          </a:lstStyle>
          <a:p>
            <a:r>
              <a:rPr lang="pt-BR" noProof="0" dirty="0"/>
              <a:t>Banco de Dados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1FAFBD37-3220-4755-9E11-A629D8DD0C4A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>
            <a:off x="1767840" y="3451334"/>
            <a:ext cx="397224" cy="6234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3D6DC63A-4592-467F-B1AA-29A9FE317D42}"/>
              </a:ext>
            </a:extLst>
          </p:cNvPr>
          <p:cNvCxnSpPr>
            <a:cxnSpLocks/>
            <a:stCxn id="6" idx="6"/>
            <a:endCxn id="5" idx="1"/>
          </p:cNvCxnSpPr>
          <p:nvPr/>
        </p:nvCxnSpPr>
        <p:spPr>
          <a:xfrm flipV="1">
            <a:off x="4084320" y="3451332"/>
            <a:ext cx="331213" cy="6236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180D34FB-8F36-4CB7-BF48-021BFC6C497D}"/>
              </a:ext>
            </a:extLst>
          </p:cNvPr>
          <p:cNvCxnSpPr>
            <a:cxnSpLocks/>
            <a:stCxn id="5" idx="3"/>
            <a:endCxn id="9" idx="2"/>
          </p:cNvCxnSpPr>
          <p:nvPr/>
        </p:nvCxnSpPr>
        <p:spPr>
          <a:xfrm>
            <a:off x="6085841" y="3451332"/>
            <a:ext cx="615693" cy="6237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D8A268A-A54D-4AAE-B0C9-DCA971940431}"/>
              </a:ext>
            </a:extLst>
          </p:cNvPr>
          <p:cNvCxnSpPr>
            <a:cxnSpLocks/>
            <a:stCxn id="9" idx="6"/>
            <a:endCxn id="10" idx="1"/>
          </p:cNvCxnSpPr>
          <p:nvPr/>
        </p:nvCxnSpPr>
        <p:spPr>
          <a:xfrm flipV="1">
            <a:off x="8546180" y="3451331"/>
            <a:ext cx="798756" cy="6238"/>
          </a:xfrm>
          <a:prstGeom prst="straightConnector1">
            <a:avLst/>
          </a:prstGeom>
          <a:ln w="47625">
            <a:solidFill>
              <a:srgbClr val="CC339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23656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C5FF0-F430-429B-AEBF-DC11D102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O </a:t>
            </a:r>
            <a:r>
              <a:rPr lang="pt-BR" noProof="0" dirty="0" err="1"/>
              <a:t>Kubernetes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03456F-67BA-47C4-943D-850C7BB43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noProof="0" dirty="0"/>
              <a:t>Cria uma camada de abstração sobre um grupo de hosts,</a:t>
            </a:r>
          </a:p>
          <a:p>
            <a:r>
              <a:rPr lang="pt-BR" noProof="0" dirty="0"/>
              <a:t>Orquestrar containers em vários hosts.</a:t>
            </a:r>
          </a:p>
          <a:p>
            <a:r>
              <a:rPr lang="pt-BR" noProof="0" dirty="0"/>
              <a:t>Aproveitar melhor o hardware para maximizar os recursos necessários na execução das aplicações corporativas.</a:t>
            </a:r>
          </a:p>
          <a:p>
            <a:r>
              <a:rPr lang="pt-BR" noProof="0" dirty="0"/>
              <a:t>Controlar e automatizar as implantações e atualizações de aplicações.</a:t>
            </a:r>
          </a:p>
          <a:p>
            <a:r>
              <a:rPr lang="pt-BR" noProof="0" dirty="0"/>
              <a:t>Montar e adicionar armazenamento para executar aplicações com monitoração de estado.</a:t>
            </a:r>
          </a:p>
          <a:p>
            <a:r>
              <a:rPr lang="pt-BR" noProof="0" dirty="0"/>
              <a:t>Escalar rapidamente as aplicações em containers e recursos relacionados.</a:t>
            </a:r>
          </a:p>
          <a:p>
            <a:r>
              <a:rPr lang="pt-BR" noProof="0" dirty="0"/>
              <a:t>Gerenciar serviços de forma declarativa, garantindo que as aplicações sejam executadas sempre da mesma maneira como foram implantadas.</a:t>
            </a:r>
          </a:p>
          <a:p>
            <a:r>
              <a:rPr lang="pt-BR" noProof="0" dirty="0"/>
              <a:t>Verificar a integridade e </a:t>
            </a:r>
            <a:r>
              <a:rPr lang="pt-BR" noProof="0" dirty="0" err="1"/>
              <a:t>autorrecuperação</a:t>
            </a:r>
            <a:r>
              <a:rPr lang="pt-BR" noProof="0" dirty="0"/>
              <a:t> das aplicações com posicionamento, reinício, replicação e escalonamento automáticos.</a:t>
            </a:r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6222801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514E5-FC89-47FB-BCFC-248B55978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Kubernetes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137248-7AF5-4F78-95F3-A0BBD778E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noProof="0" dirty="0"/>
              <a:t>O </a:t>
            </a:r>
            <a:r>
              <a:rPr lang="pt-BR" noProof="0" dirty="0" err="1"/>
              <a:t>Kubernetes</a:t>
            </a:r>
            <a:r>
              <a:rPr lang="pt-BR" noProof="0" dirty="0"/>
              <a:t> não é uma oferta completa de PaaS, opera no nível de contêiner.</a:t>
            </a:r>
          </a:p>
          <a:p>
            <a:r>
              <a:rPr lang="pt-BR" noProof="0" dirty="0"/>
              <a:t>O </a:t>
            </a:r>
            <a:r>
              <a:rPr lang="pt-BR" noProof="0" dirty="0" err="1"/>
              <a:t>Kubernetes</a:t>
            </a:r>
            <a:r>
              <a:rPr lang="pt-BR" noProof="0" dirty="0"/>
              <a:t> não é monolítico, não é um aplicativo único instalado. </a:t>
            </a:r>
          </a:p>
          <a:p>
            <a:pPr lvl="1"/>
            <a:r>
              <a:rPr lang="pt-BR" noProof="0" dirty="0"/>
              <a:t>implantação, dimensionamento, balanceamento de carga, registro em log e monitoramento são todos opcionais.</a:t>
            </a:r>
          </a:p>
          <a:p>
            <a:r>
              <a:rPr lang="pt-BR" noProof="0" dirty="0" err="1"/>
              <a:t>Kubernetes</a:t>
            </a:r>
            <a:r>
              <a:rPr lang="pt-BR" noProof="0" dirty="0"/>
              <a:t> não limita os tipos de aplicativos que podem ser executados, o aplicativo deve ser executado em um contêiner.</a:t>
            </a:r>
          </a:p>
          <a:p>
            <a:r>
              <a:rPr lang="pt-BR" noProof="0" dirty="0"/>
              <a:t>O </a:t>
            </a:r>
            <a:r>
              <a:rPr lang="pt-BR" noProof="0" dirty="0" err="1"/>
              <a:t>Kubernetes</a:t>
            </a:r>
            <a:r>
              <a:rPr lang="pt-BR" noProof="0" dirty="0"/>
              <a:t> não fornece middleware, estruturas de processamento de dados, bancos de dados, caches nem sistemas de armazenamento de cluster. </a:t>
            </a:r>
          </a:p>
          <a:p>
            <a:r>
              <a:rPr lang="pt-BR" noProof="0" dirty="0"/>
              <a:t>Uma implantação do </a:t>
            </a:r>
            <a:r>
              <a:rPr lang="pt-BR" noProof="0" dirty="0" err="1"/>
              <a:t>Kubernetes</a:t>
            </a:r>
            <a:r>
              <a:rPr lang="pt-BR" noProof="0" dirty="0"/>
              <a:t> é configurada como um cluster. Um cluster é formado por pelo menos um computador mestre e três ou mais computadores de trabalho para implantações de produção (hardware físico ou </a:t>
            </a:r>
            <a:r>
              <a:rPr lang="pt-BR" noProof="0" dirty="0" err="1"/>
              <a:t>VMs</a:t>
            </a:r>
            <a:r>
              <a:rPr lang="pt-BR" noProof="0" dirty="0"/>
              <a:t>).</a:t>
            </a:r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368445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C5FF0-F430-429B-AEBF-DC11D102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O </a:t>
            </a:r>
            <a:r>
              <a:rPr lang="pt-BR" noProof="0" dirty="0" err="1"/>
              <a:t>Kubernetes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03456F-67BA-47C4-943D-850C7BB43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pt-BR" b="1" noProof="0" dirty="0"/>
              <a:t>Master:</a:t>
            </a:r>
            <a:r>
              <a:rPr lang="pt-BR" noProof="0" dirty="0"/>
              <a:t> a máquina que controla os nós do </a:t>
            </a:r>
            <a:r>
              <a:rPr lang="pt-BR" noProof="0" dirty="0" err="1"/>
              <a:t>Kubernetes</a:t>
            </a:r>
            <a:r>
              <a:rPr lang="pt-BR" noProof="0" dirty="0"/>
              <a:t>. É nela que todas as atribuições de tarefas se originam.</a:t>
            </a:r>
          </a:p>
          <a:p>
            <a:r>
              <a:rPr lang="pt-BR" b="1" noProof="0" dirty="0"/>
              <a:t>Nó:</a:t>
            </a:r>
            <a:r>
              <a:rPr lang="pt-BR" noProof="0" dirty="0"/>
              <a:t> são máquinas que realizam as tarefas solicitadas e atribuídas. A máquina mestre do </a:t>
            </a:r>
            <a:r>
              <a:rPr lang="pt-BR" noProof="0" dirty="0" err="1"/>
              <a:t>Kubernetes</a:t>
            </a:r>
            <a:r>
              <a:rPr lang="pt-BR" noProof="0" dirty="0"/>
              <a:t> controla os nós.</a:t>
            </a:r>
          </a:p>
          <a:p>
            <a:r>
              <a:rPr lang="pt-BR" b="1" noProof="0" dirty="0" err="1"/>
              <a:t>Pod</a:t>
            </a:r>
            <a:r>
              <a:rPr lang="pt-BR" b="1" noProof="0" dirty="0"/>
              <a:t>:</a:t>
            </a:r>
            <a:r>
              <a:rPr lang="pt-BR" noProof="0" dirty="0"/>
              <a:t> .</a:t>
            </a:r>
          </a:p>
          <a:p>
            <a:r>
              <a:rPr lang="pt-BR" b="1" noProof="0" dirty="0"/>
              <a:t>Controlador de replicações: </a:t>
            </a:r>
            <a:r>
              <a:rPr lang="pt-BR" noProof="0" dirty="0"/>
              <a:t>controla quantas cópias idênticas de um </a:t>
            </a:r>
            <a:r>
              <a:rPr lang="pt-BR" noProof="0" dirty="0" err="1"/>
              <a:t>pod</a:t>
            </a:r>
            <a:r>
              <a:rPr lang="pt-BR" noProof="0" dirty="0"/>
              <a:t> devem ser executadas em um determinado local do cluster.</a:t>
            </a:r>
          </a:p>
          <a:p>
            <a:r>
              <a:rPr lang="pt-BR" b="1" noProof="0" dirty="0"/>
              <a:t>Serviço:</a:t>
            </a:r>
            <a:r>
              <a:rPr lang="pt-BR" noProof="0" dirty="0"/>
              <a:t> desacopla as definições de trabalho dos </a:t>
            </a:r>
            <a:r>
              <a:rPr lang="pt-BR" noProof="0" dirty="0" err="1"/>
              <a:t>pods</a:t>
            </a:r>
            <a:r>
              <a:rPr lang="pt-BR" noProof="0" dirty="0"/>
              <a:t>. Os proxies de serviço do </a:t>
            </a:r>
            <a:r>
              <a:rPr lang="pt-BR" noProof="0" dirty="0" err="1"/>
              <a:t>Kubernetes</a:t>
            </a:r>
            <a:r>
              <a:rPr lang="pt-BR" noProof="0" dirty="0"/>
              <a:t> automaticamente levam as solicitações de serviço para o </a:t>
            </a:r>
            <a:r>
              <a:rPr lang="pt-BR" noProof="0" dirty="0" err="1"/>
              <a:t>pod</a:t>
            </a:r>
            <a:r>
              <a:rPr lang="pt-BR" noProof="0" dirty="0"/>
              <a:t> correto, independentemente do local do </a:t>
            </a:r>
            <a:r>
              <a:rPr lang="pt-BR" noProof="0" dirty="0" err="1"/>
              <a:t>pod</a:t>
            </a:r>
            <a:r>
              <a:rPr lang="pt-BR" noProof="0" dirty="0"/>
              <a:t> no cluster ou se foi substituído.</a:t>
            </a:r>
          </a:p>
          <a:p>
            <a:r>
              <a:rPr lang="pt-BR" b="1" noProof="0" dirty="0" err="1"/>
              <a:t>kubectl</a:t>
            </a:r>
            <a:r>
              <a:rPr lang="pt-BR" b="1" noProof="0" dirty="0"/>
              <a:t>:</a:t>
            </a:r>
            <a:r>
              <a:rPr lang="pt-BR" noProof="0" dirty="0"/>
              <a:t> a ferramenta de configuração da linha de comando do </a:t>
            </a:r>
            <a:r>
              <a:rPr lang="pt-BR" noProof="0" dirty="0" err="1"/>
              <a:t>Kubernetes</a:t>
            </a:r>
            <a:r>
              <a:rPr lang="pt-BR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65835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8996701" y="2139451"/>
            <a:ext cx="1946366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>
                <a:solidFill>
                  <a:schemeClr val="tx1"/>
                </a:solidFill>
              </a:rPr>
              <a:t>Serviço</a:t>
            </a:r>
          </a:p>
        </p:txBody>
      </p:sp>
      <p:sp>
        <p:nvSpPr>
          <p:cNvPr id="5" name="Retângulo 4"/>
          <p:cNvSpPr/>
          <p:nvPr/>
        </p:nvSpPr>
        <p:spPr>
          <a:xfrm>
            <a:off x="5187515" y="4082551"/>
            <a:ext cx="1007338" cy="76689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>
                <a:solidFill>
                  <a:schemeClr val="tx1"/>
                </a:solidFill>
              </a:rPr>
              <a:t>Função</a:t>
            </a:r>
          </a:p>
          <a:p>
            <a:pPr algn="ctr"/>
            <a:r>
              <a:rPr lang="pt-BR" noProof="0" dirty="0">
                <a:solidFill>
                  <a:schemeClr val="tx1"/>
                </a:solidFill>
              </a:rPr>
              <a:t>Lambda</a:t>
            </a:r>
          </a:p>
        </p:txBody>
      </p:sp>
      <p:sp>
        <p:nvSpPr>
          <p:cNvPr id="6" name="Retângulo 5"/>
          <p:cNvSpPr/>
          <p:nvPr/>
        </p:nvSpPr>
        <p:spPr>
          <a:xfrm>
            <a:off x="3985868" y="2833552"/>
            <a:ext cx="1007338" cy="76689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>
                <a:solidFill>
                  <a:schemeClr val="tx1"/>
                </a:solidFill>
              </a:rPr>
              <a:t>Função</a:t>
            </a:r>
          </a:p>
        </p:txBody>
      </p:sp>
      <p:sp>
        <p:nvSpPr>
          <p:cNvPr id="7" name="Retângulo 6"/>
          <p:cNvSpPr/>
          <p:nvPr/>
        </p:nvSpPr>
        <p:spPr>
          <a:xfrm>
            <a:off x="4489537" y="2139451"/>
            <a:ext cx="1946366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>
                <a:solidFill>
                  <a:schemeClr val="tx1"/>
                </a:solidFill>
              </a:rPr>
              <a:t>Serviço</a:t>
            </a:r>
          </a:p>
        </p:txBody>
      </p:sp>
      <p:cxnSp>
        <p:nvCxnSpPr>
          <p:cNvPr id="9" name="Conector de Seta Reta 8"/>
          <p:cNvCxnSpPr>
            <a:stCxn id="4" idx="1"/>
            <a:endCxn id="5" idx="3"/>
          </p:cNvCxnSpPr>
          <p:nvPr/>
        </p:nvCxnSpPr>
        <p:spPr>
          <a:xfrm flipH="1">
            <a:off x="6194853" y="2596651"/>
            <a:ext cx="2801848" cy="1869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7861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22707</TotalTime>
  <Words>8005</Words>
  <Application>Microsoft Office PowerPoint</Application>
  <PresentationFormat>Widescreen</PresentationFormat>
  <Paragraphs>880</Paragraphs>
  <Slides>110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110</vt:i4>
      </vt:variant>
    </vt:vector>
  </HeadingPairs>
  <TitlesOfParts>
    <vt:vector size="115" baseType="lpstr">
      <vt:lpstr>Arial</vt:lpstr>
      <vt:lpstr>Calibri</vt:lpstr>
      <vt:lpstr>Calibri Light</vt:lpstr>
      <vt:lpstr>Google Sans</vt:lpstr>
      <vt:lpstr>Tema do Office</vt:lpstr>
      <vt:lpstr>Apresentação do PowerPoint</vt:lpstr>
      <vt:lpstr>Apresentação do PowerPoint</vt:lpstr>
      <vt:lpstr>Vantagens Cloud</vt:lpstr>
      <vt:lpstr>Tipos de Cloud</vt:lpstr>
      <vt:lpstr>Tipos de Cloud</vt:lpstr>
      <vt:lpstr>Serviços AWS</vt:lpstr>
      <vt:lpstr>Shared Responsibility Model</vt:lpstr>
      <vt:lpstr>Conta Amazon.</vt:lpstr>
      <vt:lpstr>Tela Inicial AWS</vt:lpstr>
      <vt:lpstr>Modelos de Pagamento</vt:lpstr>
      <vt:lpstr>Billing e Cost Alert - Budgets</vt:lpstr>
      <vt:lpstr>CONSOLE, CLI e CLOUDSHEL</vt:lpstr>
      <vt:lpstr>Command Line Interface – CLI AWS</vt:lpstr>
      <vt:lpstr>Estrutura Geral da AWS</vt:lpstr>
      <vt:lpstr>Infraestrutura Global AWS – 04/2025 https://aws.amazon.com/pt/about-aws/global-infrastructure/</vt:lpstr>
      <vt:lpstr>Apresentação do PowerPoint</vt:lpstr>
      <vt:lpstr>IAM - Identity Access Management</vt:lpstr>
      <vt:lpstr>IAM - Identity Access Management</vt:lpstr>
      <vt:lpstr>IAM – Tipos de Usuários.</vt:lpstr>
      <vt:lpstr>Permissões de Usuário</vt:lpstr>
      <vt:lpstr>MFA Autenticação Multifator</vt:lpstr>
      <vt:lpstr>STS – Security Token Service - Role</vt:lpstr>
      <vt:lpstr>Resources Policy X Identity Policy</vt:lpstr>
      <vt:lpstr>Menu Services – IAM - DASHBOARD </vt:lpstr>
      <vt:lpstr>Storage Amazon S3 – Simple Storage Service</vt:lpstr>
      <vt:lpstr>Amazon S3 – Simple Storage Service</vt:lpstr>
      <vt:lpstr>Configurações Bucket S3</vt:lpstr>
      <vt:lpstr>Classes de Armazenamento S3</vt:lpstr>
      <vt:lpstr>Segurança S3</vt:lpstr>
      <vt:lpstr>Computer Amazon EC2 – Elastic Compute Cloud</vt:lpstr>
      <vt:lpstr>EC2 – Instancia</vt:lpstr>
      <vt:lpstr>Hypervisor</vt:lpstr>
      <vt:lpstr>EC2 – Elastic Compute Cloud - Custos</vt:lpstr>
      <vt:lpstr>EC2 – Elastic Compute Cloud - Componentes</vt:lpstr>
      <vt:lpstr>Status da instancia EC2</vt:lpstr>
      <vt:lpstr>Placement Group (Posicionamento) - EC2</vt:lpstr>
      <vt:lpstr>Placa de Rede EC2 – ENI ENA e EFA</vt:lpstr>
      <vt:lpstr>EC2 – Publico, Privado, Internet Gatway e Elastic IP</vt:lpstr>
      <vt:lpstr>Aws - Amazon Machine Images (AMI)</vt:lpstr>
      <vt:lpstr>REDES AWS VPC – Elastic Compute Cloud</vt:lpstr>
      <vt:lpstr>Redes IP</vt:lpstr>
      <vt:lpstr>Redes AWS Conceitos.</vt:lpstr>
      <vt:lpstr>EC2 – Publico, Privado, Internet Gatway e Elastic IP</vt:lpstr>
      <vt:lpstr>AWS – Conceito de Rede</vt:lpstr>
      <vt:lpstr>AWS – Conceito de Rede</vt:lpstr>
      <vt:lpstr>Firewal – Statefull X Stateless</vt:lpstr>
      <vt:lpstr>AWS – Segurança de Rede</vt:lpstr>
      <vt:lpstr>LOAD BALANCE E AUTO SCALING API GATEWAY</vt:lpstr>
      <vt:lpstr>AWS - Scaling up e Scaling out</vt:lpstr>
      <vt:lpstr>Load Balance</vt:lpstr>
      <vt:lpstr>AWS - Tipos de Load Balance </vt:lpstr>
      <vt:lpstr>AWS API Gateway</vt:lpstr>
      <vt:lpstr>AWS Funções da API Gateway</vt:lpstr>
      <vt:lpstr>Banco de Dados aws Databases</vt:lpstr>
      <vt:lpstr>AWS - Banco de Dados</vt:lpstr>
      <vt:lpstr>Aws - Database Backup</vt:lpstr>
      <vt:lpstr>AWS Dynamo DB</vt:lpstr>
      <vt:lpstr>AWS - Elasticache</vt:lpstr>
      <vt:lpstr>AWS RedShift</vt:lpstr>
      <vt:lpstr>AWS Aurora</vt:lpstr>
      <vt:lpstr>AWS – Databases.</vt:lpstr>
      <vt:lpstr>DNS CACHE e PERFORMACE </vt:lpstr>
      <vt:lpstr>DNS – Domain Name System.</vt:lpstr>
      <vt:lpstr>Aws - Route53</vt:lpstr>
      <vt:lpstr>Aws - Route53 Hosted Zone</vt:lpstr>
      <vt:lpstr>Politicas do Route53 - AWS</vt:lpstr>
      <vt:lpstr>Aws - CloudFront – CDN Content Delivery Network</vt:lpstr>
      <vt:lpstr>Lambda Edge</vt:lpstr>
      <vt:lpstr>Block e File Storage </vt:lpstr>
      <vt:lpstr>AWS – EBS Elastic Block Storage.</vt:lpstr>
      <vt:lpstr>Aplicações aws</vt:lpstr>
      <vt:lpstr>Cloud Formation</vt:lpstr>
      <vt:lpstr>SQS – Simple Queue Service</vt:lpstr>
      <vt:lpstr>AWS - SQS</vt:lpstr>
      <vt:lpstr>SWF – Simple Work Flow</vt:lpstr>
      <vt:lpstr>Aws – Elastic Transcoder</vt:lpstr>
      <vt:lpstr>API Gateway – Aplication programing interface.</vt:lpstr>
      <vt:lpstr>Aws – Kinesis</vt:lpstr>
      <vt:lpstr>Aws – Cognito</vt:lpstr>
      <vt:lpstr>SNS – Simple Notification Service</vt:lpstr>
      <vt:lpstr>Servless Lambda Databases</vt:lpstr>
      <vt:lpstr>Aws Lambda</vt:lpstr>
      <vt:lpstr>Código Python e HTML</vt:lpstr>
      <vt:lpstr>AWS - Conteiners </vt:lpstr>
      <vt:lpstr>AWS – ECS Elastic Conteiner Service</vt:lpstr>
      <vt:lpstr>AWS - Deploy no ECS com DockerHub</vt:lpstr>
      <vt:lpstr>Segurança aws</vt:lpstr>
      <vt:lpstr>AWS –Directory Services</vt:lpstr>
      <vt:lpstr>AWS – Identity Federation</vt:lpstr>
      <vt:lpstr>AWS – Cognito</vt:lpstr>
      <vt:lpstr>AWS – Encryption</vt:lpstr>
      <vt:lpstr>KMS – KEY MANAGER SERVICE</vt:lpstr>
      <vt:lpstr>AWS – Control Tower</vt:lpstr>
      <vt:lpstr>Machine Learning</vt:lpstr>
      <vt:lpstr>Apresentação do PowerPoint</vt:lpstr>
      <vt:lpstr>Docker</vt:lpstr>
      <vt:lpstr>Kubernetes</vt:lpstr>
      <vt:lpstr>Servless Sem Servidor</vt:lpstr>
      <vt:lpstr>Docker Definições.</vt:lpstr>
      <vt:lpstr>Docker Definições.</vt:lpstr>
      <vt:lpstr>Docker Definições.</vt:lpstr>
      <vt:lpstr>DockerFile</vt:lpstr>
      <vt:lpstr>Ciclo de vida do Conteiner</vt:lpstr>
      <vt:lpstr>Armazenamento no Contêiner</vt:lpstr>
      <vt:lpstr>Rede de contêiner no Docker </vt:lpstr>
      <vt:lpstr>Rede de contêiner no Docker</vt:lpstr>
      <vt:lpstr>O Kubernetes</vt:lpstr>
      <vt:lpstr>Kubernetes</vt:lpstr>
      <vt:lpstr>O Kubernetes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gorayb</dc:creator>
  <cp:lastModifiedBy>Elder Gorayb</cp:lastModifiedBy>
  <cp:revision>400</cp:revision>
  <dcterms:created xsi:type="dcterms:W3CDTF">2020-01-23T18:45:27Z</dcterms:created>
  <dcterms:modified xsi:type="dcterms:W3CDTF">2025-05-19T21:00:31Z</dcterms:modified>
</cp:coreProperties>
</file>